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7" r:id="rId2"/>
    <p:sldMasterId id="2147483670" r:id="rId3"/>
  </p:sldMasterIdLst>
  <p:notesMasterIdLst>
    <p:notesMasterId r:id="rId12"/>
  </p:notesMasterIdLst>
  <p:sldIdLst>
    <p:sldId id="495" r:id="rId4"/>
    <p:sldId id="2088198058" r:id="rId5"/>
    <p:sldId id="2088198060" r:id="rId6"/>
    <p:sldId id="493" r:id="rId7"/>
    <p:sldId id="2088198109" r:id="rId8"/>
    <p:sldId id="490" r:id="rId9"/>
    <p:sldId id="494" r:id="rId10"/>
    <p:sldId id="208819811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4D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9A5C3E-F8A4-479B-B898-0D14C4E16DDB}" v="1" dt="2026-08-31T15:27:48.5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1797" autoAdjust="0"/>
  </p:normalViewPr>
  <p:slideViewPr>
    <p:cSldViewPr snapToGrid="0">
      <p:cViewPr varScale="1">
        <p:scale>
          <a:sx n="65" d="100"/>
          <a:sy n="65" d="100"/>
        </p:scale>
        <p:origin x="231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Peterson" userId="2f0c7ad8fcbba8e1" providerId="LiveId" clId="{2132ECFC-A075-4FD6-8455-521CAC7DB5CB}"/>
    <pc:docChg chg="modSld">
      <pc:chgData name="Josh Peterson" userId="2f0c7ad8fcbba8e1" providerId="LiveId" clId="{2132ECFC-A075-4FD6-8455-521CAC7DB5CB}" dt="2026-08-31T15:28:11.903" v="33" actId="22"/>
      <pc:docMkLst>
        <pc:docMk/>
      </pc:docMkLst>
      <pc:sldChg chg="modSp mod">
        <pc:chgData name="Josh Peterson" userId="2f0c7ad8fcbba8e1" providerId="LiveId" clId="{2132ECFC-A075-4FD6-8455-521CAC7DB5CB}" dt="2026-08-31T15:27:21.092" v="11" actId="2711"/>
        <pc:sldMkLst>
          <pc:docMk/>
          <pc:sldMk cId="2479526191" sldId="490"/>
        </pc:sldMkLst>
        <pc:spChg chg="mod">
          <ac:chgData name="Josh Peterson" userId="2f0c7ad8fcbba8e1" providerId="LiveId" clId="{2132ECFC-A075-4FD6-8455-521CAC7DB5CB}" dt="2026-08-31T15:27:21.092" v="11" actId="2711"/>
          <ac:spMkLst>
            <pc:docMk/>
            <pc:sldMk cId="2479526191" sldId="490"/>
            <ac:spMk id="6" creationId="{00000000-0000-0000-0000-000000000000}"/>
          </ac:spMkLst>
        </pc:spChg>
        <pc:spChg chg="mod">
          <ac:chgData name="Josh Peterson" userId="2f0c7ad8fcbba8e1" providerId="LiveId" clId="{2132ECFC-A075-4FD6-8455-521CAC7DB5CB}" dt="2026-08-31T15:27:21.092" v="11" actId="2711"/>
          <ac:spMkLst>
            <pc:docMk/>
            <pc:sldMk cId="2479526191" sldId="490"/>
            <ac:spMk id="9" creationId="{00000000-0000-0000-0000-000000000000}"/>
          </ac:spMkLst>
        </pc:spChg>
        <pc:spChg chg="mod">
          <ac:chgData name="Josh Peterson" userId="2f0c7ad8fcbba8e1" providerId="LiveId" clId="{2132ECFC-A075-4FD6-8455-521CAC7DB5CB}" dt="2026-08-31T15:27:21.092" v="11" actId="2711"/>
          <ac:spMkLst>
            <pc:docMk/>
            <pc:sldMk cId="2479526191" sldId="490"/>
            <ac:spMk id="16" creationId="{00000000-0000-0000-0000-000000000000}"/>
          </ac:spMkLst>
        </pc:spChg>
        <pc:spChg chg="mod">
          <ac:chgData name="Josh Peterson" userId="2f0c7ad8fcbba8e1" providerId="LiveId" clId="{2132ECFC-A075-4FD6-8455-521CAC7DB5CB}" dt="2026-08-31T15:27:21.092" v="11" actId="2711"/>
          <ac:spMkLst>
            <pc:docMk/>
            <pc:sldMk cId="2479526191" sldId="490"/>
            <ac:spMk id="20" creationId="{00000000-0000-0000-0000-000000000000}"/>
          </ac:spMkLst>
        </pc:spChg>
        <pc:spChg chg="mod">
          <ac:chgData name="Josh Peterson" userId="2f0c7ad8fcbba8e1" providerId="LiveId" clId="{2132ECFC-A075-4FD6-8455-521CAC7DB5CB}" dt="2026-08-31T15:27:21.092" v="11" actId="2711"/>
          <ac:spMkLst>
            <pc:docMk/>
            <pc:sldMk cId="2479526191" sldId="490"/>
            <ac:spMk id="21" creationId="{00000000-0000-0000-0000-000000000000}"/>
          </ac:spMkLst>
        </pc:spChg>
        <pc:spChg chg="mod">
          <ac:chgData name="Josh Peterson" userId="2f0c7ad8fcbba8e1" providerId="LiveId" clId="{2132ECFC-A075-4FD6-8455-521CAC7DB5CB}" dt="2026-08-31T15:27:21.092" v="11" actId="2711"/>
          <ac:spMkLst>
            <pc:docMk/>
            <pc:sldMk cId="2479526191" sldId="490"/>
            <ac:spMk id="23" creationId="{00000000-0000-0000-0000-000000000000}"/>
          </ac:spMkLst>
        </pc:spChg>
        <pc:spChg chg="mod">
          <ac:chgData name="Josh Peterson" userId="2f0c7ad8fcbba8e1" providerId="LiveId" clId="{2132ECFC-A075-4FD6-8455-521CAC7DB5CB}" dt="2026-08-31T15:27:21.092" v="11" actId="2711"/>
          <ac:spMkLst>
            <pc:docMk/>
            <pc:sldMk cId="2479526191" sldId="490"/>
            <ac:spMk id="30" creationId="{00000000-0000-0000-0000-000000000000}"/>
          </ac:spMkLst>
        </pc:spChg>
        <pc:spChg chg="mod">
          <ac:chgData name="Josh Peterson" userId="2f0c7ad8fcbba8e1" providerId="LiveId" clId="{2132ECFC-A075-4FD6-8455-521CAC7DB5CB}" dt="2026-08-31T15:27:21.092" v="11" actId="2711"/>
          <ac:spMkLst>
            <pc:docMk/>
            <pc:sldMk cId="2479526191" sldId="490"/>
            <ac:spMk id="31" creationId="{00000000-0000-0000-0000-000000000000}"/>
          </ac:spMkLst>
        </pc:spChg>
        <pc:spChg chg="mod">
          <ac:chgData name="Josh Peterson" userId="2f0c7ad8fcbba8e1" providerId="LiveId" clId="{2132ECFC-A075-4FD6-8455-521CAC7DB5CB}" dt="2026-08-31T15:27:21.092" v="11" actId="2711"/>
          <ac:spMkLst>
            <pc:docMk/>
            <pc:sldMk cId="2479526191" sldId="490"/>
            <ac:spMk id="32" creationId="{00000000-0000-0000-0000-000000000000}"/>
          </ac:spMkLst>
        </pc:spChg>
        <pc:spChg chg="mod">
          <ac:chgData name="Josh Peterson" userId="2f0c7ad8fcbba8e1" providerId="LiveId" clId="{2132ECFC-A075-4FD6-8455-521CAC7DB5CB}" dt="2026-08-31T15:27:21.092" v="11" actId="2711"/>
          <ac:spMkLst>
            <pc:docMk/>
            <pc:sldMk cId="2479526191" sldId="490"/>
            <ac:spMk id="34" creationId="{00000000-0000-0000-0000-000000000000}"/>
          </ac:spMkLst>
        </pc:spChg>
      </pc:sldChg>
      <pc:sldChg chg="addSp modSp mod">
        <pc:chgData name="Josh Peterson" userId="2f0c7ad8fcbba8e1" providerId="LiveId" clId="{2132ECFC-A075-4FD6-8455-521CAC7DB5CB}" dt="2026-08-31T15:28:08.946" v="32" actId="1076"/>
        <pc:sldMkLst>
          <pc:docMk/>
          <pc:sldMk cId="4196645517" sldId="492"/>
        </pc:sldMkLst>
        <pc:spChg chg="add mod">
          <ac:chgData name="Josh Peterson" userId="2f0c7ad8fcbba8e1" providerId="LiveId" clId="{2132ECFC-A075-4FD6-8455-521CAC7DB5CB}" dt="2026-08-31T15:28:08.946" v="32" actId="1076"/>
          <ac:spMkLst>
            <pc:docMk/>
            <pc:sldMk cId="4196645517" sldId="492"/>
            <ac:spMk id="5" creationId="{3A9C3D02-3540-E59C-DDBD-6A8667CC6B95}"/>
          </ac:spMkLst>
        </pc:spChg>
      </pc:sldChg>
      <pc:sldChg chg="modSp mod">
        <pc:chgData name="Josh Peterson" userId="2f0c7ad8fcbba8e1" providerId="LiveId" clId="{2132ECFC-A075-4FD6-8455-521CAC7DB5CB}" dt="2026-08-31T15:27:02.313" v="10" actId="15"/>
        <pc:sldMkLst>
          <pc:docMk/>
          <pc:sldMk cId="1848747055" sldId="494"/>
        </pc:sldMkLst>
        <pc:spChg chg="mod">
          <ac:chgData name="Josh Peterson" userId="2f0c7ad8fcbba8e1" providerId="LiveId" clId="{2132ECFC-A075-4FD6-8455-521CAC7DB5CB}" dt="2026-08-31T15:27:02.313" v="10" actId="15"/>
          <ac:spMkLst>
            <pc:docMk/>
            <pc:sldMk cId="1848747055" sldId="494"/>
            <ac:spMk id="3" creationId="{8BB024B4-230E-476E-A81C-18D9BE1FFF6A}"/>
          </ac:spMkLst>
        </pc:spChg>
      </pc:sldChg>
      <pc:sldChg chg="addSp mod">
        <pc:chgData name="Josh Peterson" userId="2f0c7ad8fcbba8e1" providerId="LiveId" clId="{2132ECFC-A075-4FD6-8455-521CAC7DB5CB}" dt="2026-08-31T15:28:11.903" v="33" actId="22"/>
        <pc:sldMkLst>
          <pc:docMk/>
          <pc:sldMk cId="1726967206" sldId="2088198059"/>
        </pc:sldMkLst>
        <pc:spChg chg="add">
          <ac:chgData name="Josh Peterson" userId="2f0c7ad8fcbba8e1" providerId="LiveId" clId="{2132ECFC-A075-4FD6-8455-521CAC7DB5CB}" dt="2026-08-31T15:28:11.903" v="33" actId="22"/>
          <ac:spMkLst>
            <pc:docMk/>
            <pc:sldMk cId="1726967206" sldId="2088198059"/>
            <ac:spMk id="5" creationId="{6C3B0228-C37A-044A-4A3B-22F210CDF5AE}"/>
          </ac:spMkLst>
        </pc:spChg>
      </pc:sldChg>
    </pc:docChg>
  </pc:docChgLst>
  <pc:docChgLst>
    <pc:chgData name="Josh Peterson" userId="2f0c7ad8fcbba8e1" providerId="LiveId" clId="{B158E36D-E8E3-4E88-86C0-71CD988363E7}"/>
    <pc:docChg chg="custSel addSld delSld modSld">
      <pc:chgData name="Josh Peterson" userId="2f0c7ad8fcbba8e1" providerId="LiveId" clId="{B158E36D-E8E3-4E88-86C0-71CD988363E7}" dt="2026-08-30T05:22:58.286" v="25" actId="47"/>
      <pc:docMkLst>
        <pc:docMk/>
      </pc:docMkLst>
      <pc:sldChg chg="add del">
        <pc:chgData name="Josh Peterson" userId="2f0c7ad8fcbba8e1" providerId="LiveId" clId="{B158E36D-E8E3-4E88-86C0-71CD988363E7}" dt="2026-08-30T05:22:44.427" v="24" actId="47"/>
        <pc:sldMkLst>
          <pc:docMk/>
          <pc:sldMk cId="323035411" sldId="491"/>
        </pc:sldMkLst>
      </pc:sldChg>
      <pc:sldChg chg="add del">
        <pc:chgData name="Josh Peterson" userId="2f0c7ad8fcbba8e1" providerId="LiveId" clId="{B158E36D-E8E3-4E88-86C0-71CD988363E7}" dt="2026-08-30T05:20:51.563" v="2"/>
        <pc:sldMkLst>
          <pc:docMk/>
          <pc:sldMk cId="4196645517" sldId="492"/>
        </pc:sldMkLst>
      </pc:sldChg>
      <pc:sldChg chg="del">
        <pc:chgData name="Josh Peterson" userId="2f0c7ad8fcbba8e1" providerId="LiveId" clId="{B158E36D-E8E3-4E88-86C0-71CD988363E7}" dt="2026-08-30T05:22:58.286" v="25" actId="47"/>
        <pc:sldMkLst>
          <pc:docMk/>
          <pc:sldMk cId="3540148430" sldId="493"/>
        </pc:sldMkLst>
      </pc:sldChg>
      <pc:sldChg chg="addSp delSp modSp mod">
        <pc:chgData name="Josh Peterson" userId="2f0c7ad8fcbba8e1" providerId="LiveId" clId="{B158E36D-E8E3-4E88-86C0-71CD988363E7}" dt="2026-08-30T05:21:51.655" v="23"/>
        <pc:sldMkLst>
          <pc:docMk/>
          <pc:sldMk cId="1709961432" sldId="495"/>
        </pc:sldMkLst>
        <pc:spChg chg="mod">
          <ac:chgData name="Josh Peterson" userId="2f0c7ad8fcbba8e1" providerId="LiveId" clId="{B158E36D-E8E3-4E88-86C0-71CD988363E7}" dt="2026-08-30T05:21:24.388" v="20" actId="20577"/>
          <ac:spMkLst>
            <pc:docMk/>
            <pc:sldMk cId="1709961432" sldId="495"/>
            <ac:spMk id="2" creationId="{4D1BE079-E601-4C76-BE39-9EECF0DD54F1}"/>
          </ac:spMkLst>
        </pc:spChg>
        <pc:spChg chg="del">
          <ac:chgData name="Josh Peterson" userId="2f0c7ad8fcbba8e1" providerId="LiveId" clId="{B158E36D-E8E3-4E88-86C0-71CD988363E7}" dt="2026-08-30T05:21:46.062" v="21" actId="478"/>
          <ac:spMkLst>
            <pc:docMk/>
            <pc:sldMk cId="1709961432" sldId="495"/>
            <ac:spMk id="3" creationId="{ADDCF111-9D3D-456A-8EA0-07182249C513}"/>
          </ac:spMkLst>
        </pc:spChg>
        <pc:spChg chg="add del mod">
          <ac:chgData name="Josh Peterson" userId="2f0c7ad8fcbba8e1" providerId="LiveId" clId="{B158E36D-E8E3-4E88-86C0-71CD988363E7}" dt="2026-08-30T05:21:51.051" v="22" actId="478"/>
          <ac:spMkLst>
            <pc:docMk/>
            <pc:sldMk cId="1709961432" sldId="495"/>
            <ac:spMk id="5" creationId="{149332D2-19F3-7AAA-281C-2F8C656EFB62}"/>
          </ac:spMkLst>
        </pc:spChg>
        <pc:spChg chg="add mod">
          <ac:chgData name="Josh Peterson" userId="2f0c7ad8fcbba8e1" providerId="LiveId" clId="{B158E36D-E8E3-4E88-86C0-71CD988363E7}" dt="2026-08-30T05:21:51.655" v="23"/>
          <ac:spMkLst>
            <pc:docMk/>
            <pc:sldMk cId="1709961432" sldId="495"/>
            <ac:spMk id="6" creationId="{0EC45CCC-C771-0DAB-88E1-E2FD06BD79BC}"/>
          </ac:spMkLst>
        </pc:spChg>
      </pc:sldChg>
      <pc:sldChg chg="add del">
        <pc:chgData name="Josh Peterson" userId="2f0c7ad8fcbba8e1" providerId="LiveId" clId="{B158E36D-E8E3-4E88-86C0-71CD988363E7}" dt="2026-08-30T05:20:51.443" v="1"/>
        <pc:sldMkLst>
          <pc:docMk/>
          <pc:sldMk cId="147740004" sldId="2088198059"/>
        </pc:sldMkLst>
      </pc:sldChg>
      <pc:sldChg chg="add">
        <pc:chgData name="Josh Peterson" userId="2f0c7ad8fcbba8e1" providerId="LiveId" clId="{B158E36D-E8E3-4E88-86C0-71CD988363E7}" dt="2026-08-30T05:20:51.563" v="2"/>
        <pc:sldMkLst>
          <pc:docMk/>
          <pc:sldMk cId="1726967206" sldId="208819805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6F2922-797C-45C2-9475-1803A9D22A0A}" type="datetimeFigureOut">
              <a:rPr lang="en-US" smtClean="0"/>
              <a:t>9/5/2026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F715CC-F7BD-45D9-B5AD-4E804062401C}" type="slidenum">
              <a:rPr lang="en-US" smtClean="0"/>
              <a:t>‹#›</a:t>
            </a:fld>
            <a:endParaRPr lang="en-US"/>
          </a:p>
        </p:txBody>
      </p:sp>
    </p:spTree>
    <p:extLst>
      <p:ext uri="{BB962C8B-B14F-4D97-AF65-F5344CB8AC3E}">
        <p14:creationId xmlns:p14="http://schemas.microsoft.com/office/powerpoint/2010/main" val="1714590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Complete this slide with the Business Profile assignment.  (Make sure you completed the title page of this template as well)</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AAD981-78BF-409D-B3BA-8A6D32CED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4737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F6FEC-15D9-F68F-B632-3C990F3AF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90FEE-5D46-D3AF-C111-44931A0D4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C1DF77-C481-4870-6848-E393B26139ED}"/>
              </a:ext>
            </a:extLst>
          </p:cNvPr>
          <p:cNvSpPr>
            <a:spLocks noGrp="1"/>
          </p:cNvSpPr>
          <p:nvPr>
            <p:ph type="body" idx="1"/>
          </p:nvPr>
        </p:nvSpPr>
        <p:spPr/>
        <p:txBody>
          <a:bodyPr/>
          <a:lstStyle/>
          <a:p>
            <a:r>
              <a:rPr lang="en-US"/>
              <a:t>Complete this slide with the Business Profile assignment.  (Make sure you completed the title page of this template as well)</a:t>
            </a:r>
          </a:p>
        </p:txBody>
      </p:sp>
      <p:sp>
        <p:nvSpPr>
          <p:cNvPr id="4" name="Slide Number Placeholder 3">
            <a:extLst>
              <a:ext uri="{FF2B5EF4-FFF2-40B4-BE49-F238E27FC236}">
                <a16:creationId xmlns:a16="http://schemas.microsoft.com/office/drawing/2014/main" id="{09A72450-68E5-6E40-EDEE-88CA4D261A1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AAD981-78BF-409D-B3BA-8A6D32CED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3147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pPr marL="0" marR="0" lvl="0" indent="0" algn="l" defTabSz="1828785" rtl="0" eaLnBrk="1" fontAlgn="auto" latinLnBrk="0" hangingPunct="1">
              <a:lnSpc>
                <a:spcPct val="100000"/>
              </a:lnSpc>
              <a:spcBef>
                <a:spcPts val="0"/>
              </a:spcBef>
              <a:spcAft>
                <a:spcPts val="0"/>
              </a:spcAft>
              <a:buClrTx/>
              <a:buSzTx/>
              <a:buFontTx/>
              <a:buNone/>
              <a:tabLst/>
              <a:defRPr/>
            </a:pPr>
            <a:r>
              <a:rPr lang="en-US" b="1" dirty="0"/>
              <a:t>Overview: </a:t>
            </a:r>
            <a:r>
              <a:rPr lang="en-US" dirty="0"/>
              <a:t>WSD builds a specialty product for a small set of smartphone OEMs. There are not many of those customers left, and they demand components that will not miss a phone launch. That focus is the business model: we ignore almost every other use of RF silicon so we can serve this niche.</a:t>
            </a:r>
          </a:p>
          <a:p>
            <a:pPr marL="0" marR="0" lvl="0" indent="0" algn="l" defTabSz="1828785"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Customer Segments: WSD operates in a niche B2B market. Leading smartphone makers like </a:t>
            </a:r>
            <a:r>
              <a:rPr lang="en-US" b="0" dirty="0" err="1"/>
              <a:t>Samung</a:t>
            </a:r>
            <a:r>
              <a:rPr lang="en-US" b="0" dirty="0"/>
              <a:t>, Google, and Apple. Apple is the primary customer. Our specialization offers distinction from mass-markets, multi-sided markets, and diversified markets. We do one great thing for specific customers. However if that customer is gone, it hits us hard. </a:t>
            </a:r>
          </a:p>
          <a:p>
            <a:pPr marL="0" marR="0" lvl="0" indent="0" algn="l" defTabSz="1828785"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Value Proposition: The mix of solutions that offer value to our customers includes customization, performance, risk reduction. We get the job done. Broadcom WSD offers RF filters that meet OEM specs and is able to offer high volume on the customers calendar.</a:t>
            </a:r>
          </a:p>
          <a:p>
            <a:pPr marL="0" marR="0" lvl="0" indent="0" algn="l" defTabSz="1828785"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Channels:</a:t>
            </a:r>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Customer Relationships: Broadcom and leading smartphone suppliers require a very close relationship in order to ensure quality and meet the supply demands of smartphones. </a:t>
            </a:r>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Awareness: RFQ competitions, customer sockets</a:t>
            </a:r>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Evaluation: customers determines if we meet quality, reliability, and specs</a:t>
            </a:r>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Purchase: negotiate supply agreements</a:t>
            </a:r>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Delivery: fabricate -&gt; package -&gt; OEM</a:t>
            </a:r>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Post-Sales: Customer has a direct line to fix problems</a:t>
            </a:r>
          </a:p>
          <a:p>
            <a:pPr marL="0" marR="0" lvl="0" indent="0" algn="l" defTabSz="1828785"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Revenue Streams: Revenue streams for Broadcom are relatively simple. Our volume of production directly correlates to asset sales. Most often </a:t>
            </a:r>
            <a:r>
              <a:rPr lang="en-US" b="0" dirty="0" err="1"/>
              <a:t>smarthone</a:t>
            </a:r>
            <a:r>
              <a:rPr lang="en-US" b="0" dirty="0"/>
              <a:t> suppliers request a target number of products each month to meet the yearly roadmap for supply which goes through </a:t>
            </a:r>
            <a:r>
              <a:rPr lang="en-US" b="0" dirty="0" err="1"/>
              <a:t>ebs</a:t>
            </a:r>
            <a:r>
              <a:rPr lang="en-US" b="0" dirty="0"/>
              <a:t> and flows throughout the seasons, typically peaking at the end of the year. Pricing is negotiated, fixed into a contract, and lasts for the build cycle. No surge-pricing.</a:t>
            </a:r>
          </a:p>
          <a:p>
            <a:pPr marL="0" marR="0" lvl="0" indent="0" algn="l" defTabSz="1828785"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Key resources: As a manufacturing company we are highly dependent on the key resources that keep our 24/7 production line going. </a:t>
            </a:r>
          </a:p>
          <a:p>
            <a:pPr lvl="0"/>
            <a:r>
              <a:rPr lang="en-US" dirty="0"/>
              <a:t>Physical: fab, tools, chemicals/consumables we inventory.</a:t>
            </a:r>
          </a:p>
          <a:p>
            <a:pPr lvl="0"/>
            <a:r>
              <a:rPr lang="en-US" dirty="0"/>
              <a:t>Intellectual: process recipes, RF know-how, patents.</a:t>
            </a:r>
          </a:p>
          <a:p>
            <a:pPr lvl="0"/>
            <a:r>
              <a:rPr lang="en-US" dirty="0"/>
              <a:t>Human: employees who run the 24/7 line.</a:t>
            </a:r>
          </a:p>
          <a:p>
            <a:pPr lvl="0"/>
            <a:r>
              <a:rPr lang="en-US" dirty="0"/>
              <a:t>Financial: capex and working capital (tools, expansion, utilities).</a:t>
            </a:r>
          </a:p>
          <a:p>
            <a:pPr marL="0" marR="0" lvl="0" indent="0" algn="l" defTabSz="1828785"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1828785"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Key </a:t>
            </a:r>
            <a:r>
              <a:rPr lang="en-US" b="0" dirty="0" err="1"/>
              <a:t>Activies</a:t>
            </a:r>
            <a:r>
              <a:rPr lang="en-US" b="0" dirty="0"/>
              <a:t>: Broadcom started out as a R&amp;D company and slowly morphed into a high-volume production facility. We now offer both R&amp;D and high-Volume which becomes a challenge between maintaining competitive advantage and against high volume production. Our key </a:t>
            </a:r>
            <a:r>
              <a:rPr lang="en-US" b="0" dirty="0" err="1"/>
              <a:t>activies</a:t>
            </a:r>
            <a:r>
              <a:rPr lang="en-US" b="0" dirty="0"/>
              <a:t> can be summarized as high-volume manufacturing as well as R&amp;D. Both together demand a constant focus on quality management, yield innovations, and new product introductions.</a:t>
            </a:r>
          </a:p>
          <a:p>
            <a:pPr marL="0" marR="0" lvl="0" indent="0" algn="l" defTabSz="1828785"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Key Partnerships: Broadcom WSD is reliant on chemical and equipment manufacturers that are used on the process line to actually build the product. Contractors and logistics partners ensure that the fab space is operational in a 24/7 running environment. Packaging partners build our product into a package that can fit inside our customers phone.</a:t>
            </a:r>
          </a:p>
          <a:p>
            <a:pPr marL="0" marR="0" lvl="0" indent="0" algn="l" defTabSz="1828785"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Cost Structure:</a:t>
            </a:r>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Fixed costs: Fab, tools, employees</a:t>
            </a:r>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Variable costs: chemicals, wafers, overtime,</a:t>
            </a:r>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Economies of scale: high utilization, high yield offer the highest profit. Downtime and quality problems hurt.</a:t>
            </a:r>
          </a:p>
          <a:p>
            <a:pPr marL="0" marR="0" lvl="0" indent="0" algn="l" defTabSz="1828785"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1828785" rtl="0" eaLnBrk="1" fontAlgn="auto" latinLnBrk="0" hangingPunct="1">
              <a:lnSpc>
                <a:spcPct val="100000"/>
              </a:lnSpc>
              <a:spcBef>
                <a:spcPts val="0"/>
              </a:spcBef>
              <a:spcAft>
                <a:spcPts val="0"/>
              </a:spcAft>
              <a:buClrTx/>
              <a:buSzTx/>
              <a:buFontTx/>
              <a:buNone/>
              <a:tabLst/>
              <a:defRPr/>
            </a:pPr>
            <a:r>
              <a:rPr lang="en-US" b="0" dirty="0"/>
              <a:t>We are a value driven company – Apple sees our value in the reliability, quality, and performance of our product.  </a:t>
            </a:r>
          </a:p>
          <a:p>
            <a:pPr marL="0" marR="0" lvl="0" indent="0" algn="l" defTabSz="1828785" rtl="0" eaLnBrk="1" fontAlgn="auto" latinLnBrk="0" hangingPunct="1">
              <a:lnSpc>
                <a:spcPct val="100000"/>
              </a:lnSpc>
              <a:spcBef>
                <a:spcPts val="0"/>
              </a:spcBef>
              <a:spcAft>
                <a:spcPts val="0"/>
              </a:spcAft>
              <a:buClrTx/>
              <a:buSzTx/>
              <a:buFontTx/>
              <a:buNone/>
              <a:tabLst/>
              <a:defRPr/>
            </a:pPr>
            <a:endParaRPr lang="en-US" b="1" dirty="0"/>
          </a:p>
        </p:txBody>
      </p:sp>
      <p:sp>
        <p:nvSpPr>
          <p:cNvPr id="4" name="Slide Number Placeholder 3"/>
          <p:cNvSpPr>
            <a:spLocks noGrp="1"/>
          </p:cNvSpPr>
          <p:nvPr>
            <p:ph type="sldNum" sz="quarter" idx="10"/>
          </p:nvPr>
        </p:nvSpPr>
        <p:spPr/>
        <p:txBody>
          <a:bodyPr/>
          <a:lstStyle/>
          <a:p>
            <a:fld id="{47EAB48F-D24C-43CD-8A35-7A7975B1176C}" type="slidenum">
              <a:rPr lang="en-US" smtClean="0"/>
              <a:t>6</a:t>
            </a:fld>
            <a:endParaRPr lang="en-US"/>
          </a:p>
        </p:txBody>
      </p:sp>
    </p:spTree>
    <p:extLst>
      <p:ext uri="{BB962C8B-B14F-4D97-AF65-F5344CB8AC3E}">
        <p14:creationId xmlns:p14="http://schemas.microsoft.com/office/powerpoint/2010/main" val="1184455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828785" rtl="0" eaLnBrk="1" fontAlgn="auto" latinLnBrk="0" hangingPunct="1">
              <a:lnSpc>
                <a:spcPct val="100000"/>
              </a:lnSpc>
              <a:spcBef>
                <a:spcPts val="0"/>
              </a:spcBef>
              <a:spcAft>
                <a:spcPts val="0"/>
              </a:spcAft>
              <a:buClrTx/>
              <a:buSzTx/>
              <a:buFontTx/>
              <a:buNone/>
              <a:tabLst/>
              <a:defRPr/>
            </a:pPr>
            <a:r>
              <a:rPr lang="en-US" dirty="0"/>
              <a:t>Complete this slide with the Business Model Canvas assignment</a:t>
            </a:r>
          </a:p>
          <a:p>
            <a:endParaRPr lang="en-US" dirty="0"/>
          </a:p>
        </p:txBody>
      </p:sp>
      <p:sp>
        <p:nvSpPr>
          <p:cNvPr id="4" name="Slide Number Placeholder 3"/>
          <p:cNvSpPr>
            <a:spLocks noGrp="1"/>
          </p:cNvSpPr>
          <p:nvPr>
            <p:ph type="sldNum" sz="quarter" idx="10"/>
          </p:nvPr>
        </p:nvSpPr>
        <p:spPr/>
        <p:txBody>
          <a:bodyPr/>
          <a:lstStyle/>
          <a:p>
            <a:fld id="{6CAAD981-78BF-409D-B3BA-8A6D32CEDE01}" type="slidenum">
              <a:rPr lang="en-US" smtClean="0"/>
              <a:pPr/>
              <a:t>7</a:t>
            </a:fld>
            <a:endParaRPr lang="en-US"/>
          </a:p>
        </p:txBody>
      </p:sp>
    </p:spTree>
    <p:extLst>
      <p:ext uri="{BB962C8B-B14F-4D97-AF65-F5344CB8AC3E}">
        <p14:creationId xmlns:p14="http://schemas.microsoft.com/office/powerpoint/2010/main" val="2884476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8D134-19E7-875A-6709-C6C3676F67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3D5B8-247B-AE15-CD4E-48DB624CE1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B08A9C-BB52-60AC-CC23-37A353EE8DE2}"/>
              </a:ext>
            </a:extLst>
          </p:cNvPr>
          <p:cNvSpPr>
            <a:spLocks noGrp="1"/>
          </p:cNvSpPr>
          <p:nvPr>
            <p:ph type="body" idx="1"/>
          </p:nvPr>
        </p:nvSpPr>
        <p:spPr/>
        <p:txBody>
          <a:bodyPr/>
          <a:lstStyle/>
          <a:p>
            <a:pPr marL="0" marR="0" lvl="0" indent="0" algn="l" defTabSz="1828785" rtl="0" eaLnBrk="1" fontAlgn="auto" latinLnBrk="0" hangingPunct="1">
              <a:lnSpc>
                <a:spcPct val="100000"/>
              </a:lnSpc>
              <a:spcBef>
                <a:spcPts val="0"/>
              </a:spcBef>
              <a:spcAft>
                <a:spcPts val="0"/>
              </a:spcAft>
              <a:buClrTx/>
              <a:buSzTx/>
              <a:buFontTx/>
              <a:buNone/>
              <a:tabLst/>
              <a:defRPr/>
            </a:pPr>
            <a:r>
              <a:rPr lang="en-US" dirty="0"/>
              <a:t>Complete this slide with the Business Model Canvas assignment</a:t>
            </a:r>
          </a:p>
          <a:p>
            <a:endParaRPr lang="en-US" dirty="0"/>
          </a:p>
        </p:txBody>
      </p:sp>
      <p:sp>
        <p:nvSpPr>
          <p:cNvPr id="4" name="Slide Number Placeholder 3">
            <a:extLst>
              <a:ext uri="{FF2B5EF4-FFF2-40B4-BE49-F238E27FC236}">
                <a16:creationId xmlns:a16="http://schemas.microsoft.com/office/drawing/2014/main" id="{CA1F0878-1462-CE66-9BD6-0F2810621D90}"/>
              </a:ext>
            </a:extLst>
          </p:cNvPr>
          <p:cNvSpPr>
            <a:spLocks noGrp="1"/>
          </p:cNvSpPr>
          <p:nvPr>
            <p:ph type="sldNum" sz="quarter" idx="10"/>
          </p:nvPr>
        </p:nvSpPr>
        <p:spPr/>
        <p:txBody>
          <a:bodyPr/>
          <a:lstStyle/>
          <a:p>
            <a:fld id="{6CAAD981-78BF-409D-B3BA-8A6D32CEDE01}" type="slidenum">
              <a:rPr lang="en-US" smtClean="0"/>
              <a:pPr/>
              <a:t>8</a:t>
            </a:fld>
            <a:endParaRPr lang="en-US"/>
          </a:p>
        </p:txBody>
      </p:sp>
    </p:spTree>
    <p:extLst>
      <p:ext uri="{BB962C8B-B14F-4D97-AF65-F5344CB8AC3E}">
        <p14:creationId xmlns:p14="http://schemas.microsoft.com/office/powerpoint/2010/main" val="3811562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47D6F-D921-4A03-AF86-74637D8669BE}"/>
              </a:ext>
            </a:extLst>
          </p:cNvPr>
          <p:cNvSpPr>
            <a:spLocks noGrp="1"/>
          </p:cNvSpPr>
          <p:nvPr>
            <p:ph type="title" hasCustomPrompt="1"/>
          </p:nvPr>
        </p:nvSpPr>
        <p:spPr>
          <a:xfrm>
            <a:off x="0" y="0"/>
            <a:ext cx="12188952" cy="1014984"/>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3" name="Content Placeholder 2">
            <a:extLst>
              <a:ext uri="{FF2B5EF4-FFF2-40B4-BE49-F238E27FC236}">
                <a16:creationId xmlns:a16="http://schemas.microsoft.com/office/drawing/2014/main" id="{D768D44B-6F17-4D36-A351-E83276D1D666}"/>
              </a:ext>
            </a:extLst>
          </p:cNvPr>
          <p:cNvSpPr>
            <a:spLocks noGrp="1"/>
          </p:cNvSpPr>
          <p:nvPr>
            <p:ph idx="1"/>
          </p:nvPr>
        </p:nvSpPr>
        <p:spPr/>
        <p:txBody>
          <a:bodyPr vert="horz" lIns="91440" tIns="45720" rIns="91440" bIns="45720" rtlCol="0">
            <a:normAutofit/>
          </a:bodyPr>
          <a:lstStyle>
            <a:lvl1pPr marL="2286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1pPr>
            <a:lvl2pPr marL="6858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2pPr>
            <a:lvl3pPr marL="11430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3pPr>
            <a:lvl4pPr marL="16002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4pPr>
            <a:lvl5pPr marL="2057400" indent="-228600" algn="l" defTabSz="914400" rtl="0" eaLnBrk="1" latinLnBrk="0" hangingPunct="1">
              <a:lnSpc>
                <a:spcPct val="90000"/>
              </a:lnSpc>
              <a:buFont typeface="Wingdings" panose="05000000000000000000" pitchFamily="2" charset="2"/>
              <a:buChar char="§"/>
              <a:defRPr lang="en-US" sz="2800" kern="1200" dirty="0">
                <a:solidFill>
                  <a:schemeClr val="tx1"/>
                </a:solidFill>
                <a:latin typeface="+mn-lt"/>
                <a:ea typeface="+mn-ea"/>
                <a:cs typeface="+mn-cs"/>
              </a:defRPr>
            </a:lvl5pPr>
          </a:lstStyle>
          <a:p>
            <a:pPr lvl="0">
              <a:buFont typeface="Wingdings" panose="05000000000000000000" pitchFamily="2" charset="2"/>
              <a:buChar char="§"/>
            </a:pPr>
            <a:r>
              <a:rPr lang="en-US"/>
              <a:t>Click to edit Master text styles</a:t>
            </a:r>
          </a:p>
          <a:p>
            <a:pPr lvl="1">
              <a:buFont typeface="Wingdings" panose="05000000000000000000" pitchFamily="2" charset="2"/>
              <a:buChar char="§"/>
            </a:pPr>
            <a:r>
              <a:rPr lang="en-US"/>
              <a:t>Second level</a:t>
            </a:r>
          </a:p>
          <a:p>
            <a:pPr lvl="2">
              <a:buFont typeface="Wingdings" panose="05000000000000000000" pitchFamily="2" charset="2"/>
              <a:buChar char="§"/>
            </a:pPr>
            <a:r>
              <a:rPr lang="en-US"/>
              <a:t>Third level</a:t>
            </a:r>
          </a:p>
          <a:p>
            <a:pPr lvl="3">
              <a:buFont typeface="Wingdings" panose="05000000000000000000" pitchFamily="2" charset="2"/>
              <a:buChar char="§"/>
            </a:pPr>
            <a:r>
              <a:rPr lang="en-US"/>
              <a:t>Fourth level</a:t>
            </a:r>
          </a:p>
          <a:p>
            <a:pPr lvl="4">
              <a:buFont typeface="Wingdings" panose="05000000000000000000" pitchFamily="2" charset="2"/>
              <a:buChar char="§"/>
            </a:pPr>
            <a:r>
              <a:rPr lang="en-US"/>
              <a:t>Fifth level</a:t>
            </a:r>
          </a:p>
        </p:txBody>
      </p:sp>
    </p:spTree>
    <p:extLst>
      <p:ext uri="{BB962C8B-B14F-4D97-AF65-F5344CB8AC3E}">
        <p14:creationId xmlns:p14="http://schemas.microsoft.com/office/powerpoint/2010/main" val="4251416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4AEB0-E832-45FE-89C9-736EE8ECBF80}"/>
              </a:ext>
            </a:extLst>
          </p:cNvPr>
          <p:cNvSpPr>
            <a:spLocks noGrp="1"/>
          </p:cNvSpPr>
          <p:nvPr>
            <p:ph type="title" hasCustomPrompt="1"/>
          </p:nvPr>
        </p:nvSpPr>
        <p:spPr>
          <a:xfrm>
            <a:off x="-2417" y="3839"/>
            <a:ext cx="12188952" cy="1015663"/>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3" name="Text Placeholder 2">
            <a:extLst>
              <a:ext uri="{FF2B5EF4-FFF2-40B4-BE49-F238E27FC236}">
                <a16:creationId xmlns:a16="http://schemas.microsoft.com/office/drawing/2014/main" id="{554AE335-73CC-40D8-A7EF-4D12665B63FF}"/>
              </a:ext>
            </a:extLst>
          </p:cNvPr>
          <p:cNvSpPr>
            <a:spLocks noGrp="1"/>
          </p:cNvSpPr>
          <p:nvPr>
            <p:ph type="body" idx="1" hasCustomPrompt="1"/>
          </p:nvPr>
        </p:nvSpPr>
        <p:spPr>
          <a:xfrm>
            <a:off x="21645" y="1560848"/>
            <a:ext cx="6071616" cy="749808"/>
          </a:xfrm>
        </p:spPr>
        <p:txBody>
          <a:bodyPr vert="horz" lIns="685800" tIns="228600" rIns="685800" bIns="228600" rtlCol="0">
            <a:noAutofit/>
          </a:bodyPr>
          <a:lstStyle>
            <a:lvl1pPr>
              <a:defRPr lang="en-US" b="1" dirty="0" smtClean="0">
                <a:solidFill>
                  <a:srgbClr val="1E4D2B"/>
                </a:solidFill>
                <a:latin typeface="Arial" panose="020B0604020202020204" pitchFamily="34" charset="0"/>
                <a:cs typeface="Arial" panose="020B0604020202020204" pitchFamily="34" charset="0"/>
              </a:defRPr>
            </a:lvl1pPr>
          </a:lstStyle>
          <a:p>
            <a:pPr marL="0" lvl="0" indent="0">
              <a:buFont typeface="Wingdings" panose="05000000000000000000" pitchFamily="2" charset="2"/>
              <a:buNone/>
            </a:pPr>
            <a:r>
              <a:rPr lang="en-US"/>
              <a:t>Heading</a:t>
            </a:r>
          </a:p>
        </p:txBody>
      </p:sp>
      <p:sp>
        <p:nvSpPr>
          <p:cNvPr id="4" name="Content Placeholder 3">
            <a:extLst>
              <a:ext uri="{FF2B5EF4-FFF2-40B4-BE49-F238E27FC236}">
                <a16:creationId xmlns:a16="http://schemas.microsoft.com/office/drawing/2014/main" id="{DD2DD035-E523-47B9-9155-4A734FFB30A2}"/>
              </a:ext>
            </a:extLst>
          </p:cNvPr>
          <p:cNvSpPr>
            <a:spLocks noGrp="1"/>
          </p:cNvSpPr>
          <p:nvPr>
            <p:ph sz="half" idx="2"/>
          </p:nvPr>
        </p:nvSpPr>
        <p:spPr>
          <a:xfrm>
            <a:off x="21644" y="2360697"/>
            <a:ext cx="6090398" cy="3919407"/>
          </a:xfrm>
        </p:spPr>
        <p:txBody>
          <a:bodyPr vert="horz" lIns="685800" tIns="457200" rIns="685800" bIns="457200" numCol="1" spcCol="0" rtlCol="0">
            <a:normAutofit/>
          </a:bodyPr>
          <a:lstStyle>
            <a:lvl1pPr>
              <a:defRPr lang="en-US" sz="2000" smtClean="0">
                <a:latin typeface="Arial" panose="020B0604020202020204" pitchFamily="34" charset="0"/>
                <a:cs typeface="Arial" panose="020B0604020202020204" pitchFamily="34" charset="0"/>
              </a:defRPr>
            </a:lvl1pPr>
            <a:lvl2pPr>
              <a:defRPr lang="en-US" sz="1800" smtClean="0">
                <a:latin typeface="Arial" panose="020B0604020202020204" pitchFamily="34" charset="0"/>
                <a:cs typeface="Arial" panose="020B0604020202020204" pitchFamily="34" charset="0"/>
              </a:defRPr>
            </a:lvl2pPr>
            <a:lvl3pPr>
              <a:defRPr lang="en-US" sz="160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5" name="Text Placeholder 4">
            <a:extLst>
              <a:ext uri="{FF2B5EF4-FFF2-40B4-BE49-F238E27FC236}">
                <a16:creationId xmlns:a16="http://schemas.microsoft.com/office/drawing/2014/main" id="{834F2341-313C-4B77-83E1-6D77FA0ABBB8}"/>
              </a:ext>
            </a:extLst>
          </p:cNvPr>
          <p:cNvSpPr>
            <a:spLocks noGrp="1"/>
          </p:cNvSpPr>
          <p:nvPr>
            <p:ph type="body" sz="quarter" idx="3" hasCustomPrompt="1"/>
          </p:nvPr>
        </p:nvSpPr>
        <p:spPr>
          <a:xfrm>
            <a:off x="6172200" y="1560848"/>
            <a:ext cx="6071616" cy="786384"/>
          </a:xfrm>
        </p:spPr>
        <p:txBody>
          <a:bodyPr vert="horz" lIns="685800" tIns="228600" rIns="685800" bIns="228600" rtlCol="0">
            <a:noAutofit/>
          </a:bodyPr>
          <a:lstStyle>
            <a:lvl1pPr>
              <a:defRPr lang="en-US" b="1" dirty="0" smtClean="0">
                <a:solidFill>
                  <a:srgbClr val="1E4D2B"/>
                </a:solidFill>
                <a:latin typeface="Arial" panose="020B0604020202020204" pitchFamily="34" charset="0"/>
                <a:cs typeface="Arial" panose="020B0604020202020204" pitchFamily="34" charset="0"/>
              </a:defRPr>
            </a:lvl1pPr>
          </a:lstStyle>
          <a:p>
            <a:pPr marL="0" lvl="0" indent="0">
              <a:buFont typeface="Wingdings" panose="05000000000000000000" pitchFamily="2" charset="2"/>
              <a:buNone/>
            </a:pPr>
            <a:r>
              <a:rPr lang="en-US"/>
              <a:t>Heading</a:t>
            </a:r>
          </a:p>
        </p:txBody>
      </p:sp>
      <p:sp>
        <p:nvSpPr>
          <p:cNvPr id="6" name="Content Placeholder 5">
            <a:extLst>
              <a:ext uri="{FF2B5EF4-FFF2-40B4-BE49-F238E27FC236}">
                <a16:creationId xmlns:a16="http://schemas.microsoft.com/office/drawing/2014/main" id="{B740244F-716F-432B-A555-0E32CB8360BB}"/>
              </a:ext>
            </a:extLst>
          </p:cNvPr>
          <p:cNvSpPr>
            <a:spLocks noGrp="1"/>
          </p:cNvSpPr>
          <p:nvPr>
            <p:ph sz="quarter" idx="4"/>
          </p:nvPr>
        </p:nvSpPr>
        <p:spPr>
          <a:xfrm>
            <a:off x="6172200" y="2360696"/>
            <a:ext cx="6011940" cy="3919407"/>
          </a:xfrm>
        </p:spPr>
        <p:txBody>
          <a:bodyPr vert="horz" lIns="685800" tIns="457200" rIns="685800" bIns="457200" numCol="1" spcCol="0" rtlCol="0">
            <a:normAutofit/>
          </a:bodyPr>
          <a:lstStyle>
            <a:lvl1pPr>
              <a:defRPr lang="en-US" sz="2000" smtClean="0">
                <a:latin typeface="Arial" panose="020B0604020202020204" pitchFamily="34" charset="0"/>
                <a:cs typeface="Arial" panose="020B0604020202020204" pitchFamily="34" charset="0"/>
              </a:defRPr>
            </a:lvl1pPr>
            <a:lvl2pPr>
              <a:defRPr lang="en-US" sz="1800" smtClean="0">
                <a:latin typeface="Arial" panose="020B0604020202020204" pitchFamily="34" charset="0"/>
                <a:cs typeface="Arial" panose="020B0604020202020204" pitchFamily="34" charset="0"/>
              </a:defRPr>
            </a:lvl2pPr>
            <a:lvl3pPr>
              <a:defRPr lang="en-US" sz="160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Tree>
    <p:extLst>
      <p:ext uri="{BB962C8B-B14F-4D97-AF65-F5344CB8AC3E}">
        <p14:creationId xmlns:p14="http://schemas.microsoft.com/office/powerpoint/2010/main" val="2967141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5B287-F50F-4537-AFF4-2302B947CEF1}"/>
              </a:ext>
            </a:extLst>
          </p:cNvPr>
          <p:cNvSpPr>
            <a:spLocks noGrp="1"/>
          </p:cNvSpPr>
          <p:nvPr>
            <p:ph type="title" hasCustomPrompt="1"/>
          </p:nvPr>
        </p:nvSpPr>
        <p:spPr>
          <a:xfrm>
            <a:off x="0" y="0"/>
            <a:ext cx="12188952" cy="1014984"/>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7" name="Content Placeholder 2">
            <a:extLst>
              <a:ext uri="{FF2B5EF4-FFF2-40B4-BE49-F238E27FC236}">
                <a16:creationId xmlns:a16="http://schemas.microsoft.com/office/drawing/2014/main" id="{9C002305-5740-4535-B4EF-82B44A5510ED}"/>
              </a:ext>
            </a:extLst>
          </p:cNvPr>
          <p:cNvSpPr>
            <a:spLocks noGrp="1"/>
          </p:cNvSpPr>
          <p:nvPr>
            <p:ph idx="1"/>
          </p:nvPr>
        </p:nvSpPr>
        <p:spPr>
          <a:xfrm>
            <a:off x="0" y="1613066"/>
            <a:ext cx="4041648" cy="4654296"/>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8" name="Content Placeholder 3">
            <a:extLst>
              <a:ext uri="{FF2B5EF4-FFF2-40B4-BE49-F238E27FC236}">
                <a16:creationId xmlns:a16="http://schemas.microsoft.com/office/drawing/2014/main" id="{DE3D2841-552A-40F1-AE22-D80196FAC90A}"/>
              </a:ext>
            </a:extLst>
          </p:cNvPr>
          <p:cNvSpPr>
            <a:spLocks noGrp="1"/>
          </p:cNvSpPr>
          <p:nvPr>
            <p:ph idx="10"/>
          </p:nvPr>
        </p:nvSpPr>
        <p:spPr>
          <a:xfrm>
            <a:off x="4074686" y="1621088"/>
            <a:ext cx="4078224" cy="4654296"/>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9" name="Content Placeholder 4">
            <a:extLst>
              <a:ext uri="{FF2B5EF4-FFF2-40B4-BE49-F238E27FC236}">
                <a16:creationId xmlns:a16="http://schemas.microsoft.com/office/drawing/2014/main" id="{A9BB9FC5-1A7B-4786-B512-8BF1AF43F00F}"/>
              </a:ext>
            </a:extLst>
          </p:cNvPr>
          <p:cNvSpPr>
            <a:spLocks noGrp="1"/>
          </p:cNvSpPr>
          <p:nvPr>
            <p:ph idx="11"/>
          </p:nvPr>
        </p:nvSpPr>
        <p:spPr>
          <a:xfrm>
            <a:off x="8173436" y="1629110"/>
            <a:ext cx="4041648" cy="4638252"/>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Tree>
    <p:extLst>
      <p:ext uri="{BB962C8B-B14F-4D97-AF65-F5344CB8AC3E}">
        <p14:creationId xmlns:p14="http://schemas.microsoft.com/office/powerpoint/2010/main" val="4232846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47E51-10F4-4A5E-8740-B347C3F6D2B3}"/>
              </a:ext>
            </a:extLst>
          </p:cNvPr>
          <p:cNvSpPr>
            <a:spLocks noGrp="1"/>
          </p:cNvSpPr>
          <p:nvPr>
            <p:ph type="title" hasCustomPrompt="1"/>
          </p:nvPr>
        </p:nvSpPr>
        <p:spPr>
          <a:xfrm>
            <a:off x="0" y="-7558"/>
            <a:ext cx="12188952" cy="1015663"/>
          </a:xfrm>
          <a:solidFill>
            <a:srgbClr val="1E4D2B"/>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7" name="Content Placeholder 2">
            <a:extLst>
              <a:ext uri="{FF2B5EF4-FFF2-40B4-BE49-F238E27FC236}">
                <a16:creationId xmlns:a16="http://schemas.microsoft.com/office/drawing/2014/main" id="{AC06E12F-A9B7-49E2-8BC9-6A837E2CE657}"/>
              </a:ext>
            </a:extLst>
          </p:cNvPr>
          <p:cNvSpPr>
            <a:spLocks noGrp="1"/>
          </p:cNvSpPr>
          <p:nvPr>
            <p:ph idx="1"/>
          </p:nvPr>
        </p:nvSpPr>
        <p:spPr>
          <a:xfrm>
            <a:off x="-16689" y="1613066"/>
            <a:ext cx="6501384" cy="4645152"/>
          </a:xfrm>
        </p:spPr>
        <p:txBody>
          <a:bodyPr vert="horz" lIns="685800" tIns="457200" rIns="685800" bIns="457200" numCol="1" spcCol="0" rtlCol="0">
            <a:normAutofit/>
          </a:bodyPr>
          <a:lstStyle>
            <a:lvl1pPr>
              <a:defRPr lang="en-US" sz="2000" dirty="0" smtClean="0">
                <a:latin typeface="Arial" panose="020B0604020202020204" pitchFamily="34" charset="0"/>
                <a:cs typeface="Arial" panose="020B0604020202020204" pitchFamily="34" charset="0"/>
              </a:defRPr>
            </a:lvl1pPr>
            <a:lvl2pPr>
              <a:defRPr lang="en-US" sz="1800" dirty="0" smtClean="0">
                <a:latin typeface="Arial" panose="020B0604020202020204" pitchFamily="34" charset="0"/>
                <a:cs typeface="Arial" panose="020B0604020202020204" pitchFamily="34" charset="0"/>
              </a:defRPr>
            </a:lvl2pPr>
            <a:lvl3pPr>
              <a:defRPr lang="en-US" sz="1600" dirty="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8" name="Content Placeholder 3">
            <a:extLst>
              <a:ext uri="{FF2B5EF4-FFF2-40B4-BE49-F238E27FC236}">
                <a16:creationId xmlns:a16="http://schemas.microsoft.com/office/drawing/2014/main" id="{402D751D-5497-40E7-9A45-F6E297823307}"/>
              </a:ext>
            </a:extLst>
          </p:cNvPr>
          <p:cNvSpPr>
            <a:spLocks noGrp="1"/>
          </p:cNvSpPr>
          <p:nvPr>
            <p:ph idx="10"/>
          </p:nvPr>
        </p:nvSpPr>
        <p:spPr>
          <a:xfrm>
            <a:off x="6484695" y="1616452"/>
            <a:ext cx="5687568" cy="4645152"/>
          </a:xfrm>
        </p:spPr>
        <p:txBody>
          <a:bodyPr vert="horz" lIns="685800" tIns="457200" rIns="685800" bIns="457200" numCol="1" spcCol="0" rtlCol="0">
            <a:normAutofit/>
          </a:bodyPr>
          <a:lstStyle>
            <a:lvl1pPr>
              <a:defRPr lang="en-US" sz="2000" dirty="0" smtClean="0">
                <a:latin typeface="Arial" panose="020B0604020202020204" pitchFamily="34" charset="0"/>
                <a:cs typeface="Arial" panose="020B0604020202020204" pitchFamily="34" charset="0"/>
              </a:defRPr>
            </a:lvl1pPr>
            <a:lvl2pPr>
              <a:defRPr lang="en-US" sz="1800" dirty="0" smtClean="0">
                <a:latin typeface="Arial" panose="020B0604020202020204" pitchFamily="34" charset="0"/>
                <a:cs typeface="Arial" panose="020B0604020202020204" pitchFamily="34" charset="0"/>
              </a:defRPr>
            </a:lvl2pPr>
            <a:lvl3pPr>
              <a:defRPr lang="en-US" sz="1600" dirty="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Tree>
    <p:extLst>
      <p:ext uri="{BB962C8B-B14F-4D97-AF65-F5344CB8AC3E}">
        <p14:creationId xmlns:p14="http://schemas.microsoft.com/office/powerpoint/2010/main" val="831672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267AD-B4B1-49D3-B52A-AFD2B52F31DF}"/>
              </a:ext>
            </a:extLst>
          </p:cNvPr>
          <p:cNvSpPr>
            <a:spLocks noGrp="1"/>
          </p:cNvSpPr>
          <p:nvPr>
            <p:ph type="title" hasCustomPrompt="1"/>
          </p:nvPr>
        </p:nvSpPr>
        <p:spPr>
          <a:xfrm>
            <a:off x="20057" y="2073609"/>
            <a:ext cx="7031736" cy="1161288"/>
          </a:xfrm>
          <a:prstGeom prst="rect">
            <a:avLst/>
          </a:prstGeom>
        </p:spPr>
        <p:txBody>
          <a:bodyPr lIns="685800" tIns="228600" rIns="228600" bIns="228600"/>
          <a:lstStyle>
            <a:lvl1pPr>
              <a:defRPr lang="en-US" sz="4200" baseline="0">
                <a:solidFill>
                  <a:schemeClr val="bg1"/>
                </a:solidFill>
                <a:latin typeface="Arial" panose="020B0604020202020204" pitchFamily="34" charset="0"/>
                <a:ea typeface="+mn-ea"/>
                <a:cs typeface="+mn-cs"/>
              </a:defRPr>
            </a:lvl1pPr>
          </a:lstStyle>
          <a:p>
            <a:pPr marL="0" lvl="0" indent="0">
              <a:lnSpc>
                <a:spcPct val="100000"/>
              </a:lnSpc>
              <a:spcBef>
                <a:spcPts val="0"/>
              </a:spcBef>
              <a:buFont typeface="Arial" panose="020B0604020202020204" pitchFamily="34" charset="0"/>
            </a:pPr>
            <a:r>
              <a:rPr lang="en-US"/>
              <a:t>Title</a:t>
            </a:r>
          </a:p>
        </p:txBody>
      </p:sp>
      <p:sp>
        <p:nvSpPr>
          <p:cNvPr id="3" name="Subtitle 2">
            <a:extLst>
              <a:ext uri="{FF2B5EF4-FFF2-40B4-BE49-F238E27FC236}">
                <a16:creationId xmlns:a16="http://schemas.microsoft.com/office/drawing/2014/main" id="{1BB79187-B58F-4AA3-B80B-4D16EF744D22}"/>
              </a:ext>
            </a:extLst>
          </p:cNvPr>
          <p:cNvSpPr>
            <a:spLocks noGrp="1"/>
          </p:cNvSpPr>
          <p:nvPr>
            <p:ph type="subTitle" idx="1"/>
          </p:nvPr>
        </p:nvSpPr>
        <p:spPr>
          <a:xfrm>
            <a:off x="570623" y="3234897"/>
            <a:ext cx="6336792" cy="457200"/>
          </a:xfrm>
          <a:prstGeom prst="rect">
            <a:avLst/>
          </a:prstGeom>
        </p:spPr>
        <p:txBody>
          <a:bodyPr/>
          <a:lstStyle>
            <a:lvl1pPr>
              <a:defRPr lang="en-US" sz="1800">
                <a:solidFill>
                  <a:schemeClr val="bg1"/>
                </a:solidFill>
                <a:latin typeface="Arial" panose="020B0604020202020204" pitchFamily="34" charset="0"/>
                <a:cs typeface="Arial" panose="020B0604020202020204" pitchFamily="34" charset="0"/>
              </a:defRPr>
            </a:lvl1pPr>
          </a:lstStyle>
          <a:p>
            <a:pPr marL="0" lvl="0" indent="0">
              <a:buNone/>
            </a:pPr>
            <a:r>
              <a:rPr lang="en-US"/>
              <a:t>Click to edit Master subtitle style</a:t>
            </a:r>
          </a:p>
        </p:txBody>
      </p:sp>
      <p:sp>
        <p:nvSpPr>
          <p:cNvPr id="4" name="object 64">
            <a:extLst>
              <a:ext uri="{FF2B5EF4-FFF2-40B4-BE49-F238E27FC236}">
                <a16:creationId xmlns:a16="http://schemas.microsoft.com/office/drawing/2014/main" id="{93EF0DFE-F9E5-4187-9C1E-A609FC70BAA4}"/>
              </a:ext>
            </a:extLst>
          </p:cNvPr>
          <p:cNvSpPr/>
          <p:nvPr userDrawn="1"/>
        </p:nvSpPr>
        <p:spPr>
          <a:xfrm flipV="1">
            <a:off x="633568" y="3177890"/>
            <a:ext cx="939800" cy="45719"/>
          </a:xfrm>
          <a:custGeom>
            <a:avLst/>
            <a:gdLst/>
            <a:ahLst/>
            <a:cxnLst/>
            <a:rect l="l" t="t" r="r" b="b"/>
            <a:pathLst>
              <a:path w="939800">
                <a:moveTo>
                  <a:pt x="0" y="0"/>
                </a:moveTo>
                <a:lnTo>
                  <a:pt x="939800" y="0"/>
                </a:lnTo>
              </a:path>
            </a:pathLst>
          </a:custGeom>
          <a:ln w="12700">
            <a:solidFill>
              <a:schemeClr val="accent2"/>
            </a:solidFill>
          </a:ln>
        </p:spPr>
        <p:txBody>
          <a:bodyPr wrap="square" lIns="0" tIns="0" rIns="0" bIns="0" rtlCol="0"/>
          <a:lstStyle/>
          <a:p>
            <a:endParaRPr/>
          </a:p>
        </p:txBody>
      </p:sp>
    </p:spTree>
    <p:extLst>
      <p:ext uri="{BB962C8B-B14F-4D97-AF65-F5344CB8AC3E}">
        <p14:creationId xmlns:p14="http://schemas.microsoft.com/office/powerpoint/2010/main" val="4273661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47D6F-D921-4A03-AF86-74637D8669BE}"/>
              </a:ext>
            </a:extLst>
          </p:cNvPr>
          <p:cNvSpPr>
            <a:spLocks noGrp="1"/>
          </p:cNvSpPr>
          <p:nvPr>
            <p:ph type="title" hasCustomPrompt="1"/>
          </p:nvPr>
        </p:nvSpPr>
        <p:spPr>
          <a:xfrm>
            <a:off x="0" y="0"/>
            <a:ext cx="12188952" cy="1014984"/>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3" name="Content Placeholder 2">
            <a:extLst>
              <a:ext uri="{FF2B5EF4-FFF2-40B4-BE49-F238E27FC236}">
                <a16:creationId xmlns:a16="http://schemas.microsoft.com/office/drawing/2014/main" id="{D768D44B-6F17-4D36-A351-E83276D1D666}"/>
              </a:ext>
            </a:extLst>
          </p:cNvPr>
          <p:cNvSpPr>
            <a:spLocks noGrp="1"/>
          </p:cNvSpPr>
          <p:nvPr>
            <p:ph idx="1"/>
          </p:nvPr>
        </p:nvSpPr>
        <p:spPr/>
        <p:txBody>
          <a:bodyPr vert="horz" lIns="91440" tIns="45720" rIns="91440" bIns="45720" rtlCol="0">
            <a:normAutofit/>
          </a:bodyPr>
          <a:lstStyle>
            <a:lvl1pPr marL="2286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1pPr>
            <a:lvl2pPr marL="6858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2pPr>
            <a:lvl3pPr marL="11430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3pPr>
            <a:lvl4pPr marL="16002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4pPr>
            <a:lvl5pPr marL="2057400" indent="-228600" algn="l" defTabSz="914400" rtl="0" eaLnBrk="1" latinLnBrk="0" hangingPunct="1">
              <a:lnSpc>
                <a:spcPct val="90000"/>
              </a:lnSpc>
              <a:buFont typeface="Wingdings" panose="05000000000000000000" pitchFamily="2" charset="2"/>
              <a:buChar char="§"/>
              <a:defRPr lang="en-US" sz="2800" kern="1200" dirty="0">
                <a:solidFill>
                  <a:schemeClr val="tx1"/>
                </a:solidFill>
                <a:latin typeface="+mn-lt"/>
                <a:ea typeface="+mn-ea"/>
                <a:cs typeface="+mn-cs"/>
              </a:defRPr>
            </a:lvl5pPr>
          </a:lstStyle>
          <a:p>
            <a:pPr lvl="0">
              <a:buFont typeface="Wingdings" panose="05000000000000000000" pitchFamily="2" charset="2"/>
              <a:buChar char="§"/>
            </a:pPr>
            <a:r>
              <a:rPr lang="en-US"/>
              <a:t>Click to edit Master text styles</a:t>
            </a:r>
          </a:p>
          <a:p>
            <a:pPr lvl="1">
              <a:buFont typeface="Wingdings" panose="05000000000000000000" pitchFamily="2" charset="2"/>
              <a:buChar char="§"/>
            </a:pPr>
            <a:r>
              <a:rPr lang="en-US"/>
              <a:t>Second level</a:t>
            </a:r>
          </a:p>
          <a:p>
            <a:pPr lvl="2">
              <a:buFont typeface="Wingdings" panose="05000000000000000000" pitchFamily="2" charset="2"/>
              <a:buChar char="§"/>
            </a:pPr>
            <a:r>
              <a:rPr lang="en-US"/>
              <a:t>Third level</a:t>
            </a:r>
          </a:p>
          <a:p>
            <a:pPr lvl="3">
              <a:buFont typeface="Wingdings" panose="05000000000000000000" pitchFamily="2" charset="2"/>
              <a:buChar char="§"/>
            </a:pPr>
            <a:r>
              <a:rPr lang="en-US"/>
              <a:t>Fourth level</a:t>
            </a:r>
          </a:p>
          <a:p>
            <a:pPr lvl="4">
              <a:buFont typeface="Wingdings" panose="05000000000000000000" pitchFamily="2" charset="2"/>
              <a:buChar char="§"/>
            </a:pPr>
            <a:r>
              <a:rPr lang="en-US"/>
              <a:t>Fifth level</a:t>
            </a:r>
          </a:p>
        </p:txBody>
      </p:sp>
    </p:spTree>
    <p:extLst>
      <p:ext uri="{BB962C8B-B14F-4D97-AF65-F5344CB8AC3E}">
        <p14:creationId xmlns:p14="http://schemas.microsoft.com/office/powerpoint/2010/main" val="1004636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4AEB0-E832-45FE-89C9-736EE8ECBF80}"/>
              </a:ext>
            </a:extLst>
          </p:cNvPr>
          <p:cNvSpPr>
            <a:spLocks noGrp="1"/>
          </p:cNvSpPr>
          <p:nvPr>
            <p:ph type="title" hasCustomPrompt="1"/>
          </p:nvPr>
        </p:nvSpPr>
        <p:spPr>
          <a:xfrm>
            <a:off x="-2417" y="3839"/>
            <a:ext cx="12188952" cy="1015663"/>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3" name="Text Placeholder 2">
            <a:extLst>
              <a:ext uri="{FF2B5EF4-FFF2-40B4-BE49-F238E27FC236}">
                <a16:creationId xmlns:a16="http://schemas.microsoft.com/office/drawing/2014/main" id="{554AE335-73CC-40D8-A7EF-4D12665B63FF}"/>
              </a:ext>
            </a:extLst>
          </p:cNvPr>
          <p:cNvSpPr>
            <a:spLocks noGrp="1"/>
          </p:cNvSpPr>
          <p:nvPr>
            <p:ph type="body" idx="1" hasCustomPrompt="1"/>
          </p:nvPr>
        </p:nvSpPr>
        <p:spPr>
          <a:xfrm>
            <a:off x="21645" y="1560848"/>
            <a:ext cx="6071616" cy="749808"/>
          </a:xfrm>
        </p:spPr>
        <p:txBody>
          <a:bodyPr vert="horz" lIns="685800" tIns="228600" rIns="685800" bIns="228600" rtlCol="0">
            <a:noAutofit/>
          </a:bodyPr>
          <a:lstStyle>
            <a:lvl1pPr>
              <a:defRPr lang="en-US" b="1" dirty="0" smtClean="0">
                <a:solidFill>
                  <a:srgbClr val="1E4D2B"/>
                </a:solidFill>
                <a:latin typeface="Arial" panose="020B0604020202020204" pitchFamily="34" charset="0"/>
                <a:cs typeface="Arial" panose="020B0604020202020204" pitchFamily="34" charset="0"/>
              </a:defRPr>
            </a:lvl1pPr>
          </a:lstStyle>
          <a:p>
            <a:pPr marL="0" lvl="0" indent="0">
              <a:buFont typeface="Wingdings" panose="05000000000000000000" pitchFamily="2" charset="2"/>
              <a:buNone/>
            </a:pPr>
            <a:r>
              <a:rPr lang="en-US"/>
              <a:t>Heading</a:t>
            </a:r>
          </a:p>
        </p:txBody>
      </p:sp>
      <p:sp>
        <p:nvSpPr>
          <p:cNvPr id="4" name="Content Placeholder 3">
            <a:extLst>
              <a:ext uri="{FF2B5EF4-FFF2-40B4-BE49-F238E27FC236}">
                <a16:creationId xmlns:a16="http://schemas.microsoft.com/office/drawing/2014/main" id="{DD2DD035-E523-47B9-9155-4A734FFB30A2}"/>
              </a:ext>
            </a:extLst>
          </p:cNvPr>
          <p:cNvSpPr>
            <a:spLocks noGrp="1"/>
          </p:cNvSpPr>
          <p:nvPr>
            <p:ph sz="half" idx="2"/>
          </p:nvPr>
        </p:nvSpPr>
        <p:spPr>
          <a:xfrm>
            <a:off x="21644" y="2360697"/>
            <a:ext cx="6090398" cy="3919407"/>
          </a:xfrm>
        </p:spPr>
        <p:txBody>
          <a:bodyPr vert="horz" lIns="685800" tIns="457200" rIns="685800" bIns="457200" numCol="1" spcCol="0" rtlCol="0">
            <a:normAutofit/>
          </a:bodyPr>
          <a:lstStyle>
            <a:lvl1pPr>
              <a:defRPr lang="en-US" sz="2000" smtClean="0">
                <a:latin typeface="Arial" panose="020B0604020202020204" pitchFamily="34" charset="0"/>
                <a:cs typeface="Arial" panose="020B0604020202020204" pitchFamily="34" charset="0"/>
              </a:defRPr>
            </a:lvl1pPr>
            <a:lvl2pPr>
              <a:defRPr lang="en-US" sz="1800" smtClean="0">
                <a:latin typeface="Arial" panose="020B0604020202020204" pitchFamily="34" charset="0"/>
                <a:cs typeface="Arial" panose="020B0604020202020204" pitchFamily="34" charset="0"/>
              </a:defRPr>
            </a:lvl2pPr>
            <a:lvl3pPr>
              <a:defRPr lang="en-US" sz="160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5" name="Text Placeholder 4">
            <a:extLst>
              <a:ext uri="{FF2B5EF4-FFF2-40B4-BE49-F238E27FC236}">
                <a16:creationId xmlns:a16="http://schemas.microsoft.com/office/drawing/2014/main" id="{834F2341-313C-4B77-83E1-6D77FA0ABBB8}"/>
              </a:ext>
            </a:extLst>
          </p:cNvPr>
          <p:cNvSpPr>
            <a:spLocks noGrp="1"/>
          </p:cNvSpPr>
          <p:nvPr>
            <p:ph type="body" sz="quarter" idx="3" hasCustomPrompt="1"/>
          </p:nvPr>
        </p:nvSpPr>
        <p:spPr>
          <a:xfrm>
            <a:off x="6172200" y="1560848"/>
            <a:ext cx="6071616" cy="786384"/>
          </a:xfrm>
        </p:spPr>
        <p:txBody>
          <a:bodyPr vert="horz" lIns="685800" tIns="228600" rIns="685800" bIns="228600" rtlCol="0">
            <a:noAutofit/>
          </a:bodyPr>
          <a:lstStyle>
            <a:lvl1pPr>
              <a:defRPr lang="en-US" b="1" dirty="0" smtClean="0">
                <a:solidFill>
                  <a:srgbClr val="1E4D2B"/>
                </a:solidFill>
                <a:latin typeface="Arial" panose="020B0604020202020204" pitchFamily="34" charset="0"/>
                <a:cs typeface="Arial" panose="020B0604020202020204" pitchFamily="34" charset="0"/>
              </a:defRPr>
            </a:lvl1pPr>
          </a:lstStyle>
          <a:p>
            <a:pPr marL="0" lvl="0" indent="0">
              <a:buFont typeface="Wingdings" panose="05000000000000000000" pitchFamily="2" charset="2"/>
              <a:buNone/>
            </a:pPr>
            <a:r>
              <a:rPr lang="en-US"/>
              <a:t>Heading</a:t>
            </a:r>
          </a:p>
        </p:txBody>
      </p:sp>
      <p:sp>
        <p:nvSpPr>
          <p:cNvPr id="6" name="Content Placeholder 5">
            <a:extLst>
              <a:ext uri="{FF2B5EF4-FFF2-40B4-BE49-F238E27FC236}">
                <a16:creationId xmlns:a16="http://schemas.microsoft.com/office/drawing/2014/main" id="{B740244F-716F-432B-A555-0E32CB8360BB}"/>
              </a:ext>
            </a:extLst>
          </p:cNvPr>
          <p:cNvSpPr>
            <a:spLocks noGrp="1"/>
          </p:cNvSpPr>
          <p:nvPr>
            <p:ph sz="quarter" idx="4"/>
          </p:nvPr>
        </p:nvSpPr>
        <p:spPr>
          <a:xfrm>
            <a:off x="6172200" y="2360696"/>
            <a:ext cx="6011940" cy="3919407"/>
          </a:xfrm>
        </p:spPr>
        <p:txBody>
          <a:bodyPr vert="horz" lIns="685800" tIns="457200" rIns="685800" bIns="457200" numCol="1" spcCol="0" rtlCol="0">
            <a:normAutofit/>
          </a:bodyPr>
          <a:lstStyle>
            <a:lvl1pPr>
              <a:defRPr lang="en-US" sz="2000" smtClean="0">
                <a:latin typeface="Arial" panose="020B0604020202020204" pitchFamily="34" charset="0"/>
                <a:cs typeface="Arial" panose="020B0604020202020204" pitchFamily="34" charset="0"/>
              </a:defRPr>
            </a:lvl1pPr>
            <a:lvl2pPr>
              <a:defRPr lang="en-US" sz="1800" smtClean="0">
                <a:latin typeface="Arial" panose="020B0604020202020204" pitchFamily="34" charset="0"/>
                <a:cs typeface="Arial" panose="020B0604020202020204" pitchFamily="34" charset="0"/>
              </a:defRPr>
            </a:lvl2pPr>
            <a:lvl3pPr>
              <a:defRPr lang="en-US" sz="160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Tree>
    <p:extLst>
      <p:ext uri="{BB962C8B-B14F-4D97-AF65-F5344CB8AC3E}">
        <p14:creationId xmlns:p14="http://schemas.microsoft.com/office/powerpoint/2010/main" val="908896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5B287-F50F-4537-AFF4-2302B947CEF1}"/>
              </a:ext>
            </a:extLst>
          </p:cNvPr>
          <p:cNvSpPr>
            <a:spLocks noGrp="1"/>
          </p:cNvSpPr>
          <p:nvPr>
            <p:ph type="title" hasCustomPrompt="1"/>
          </p:nvPr>
        </p:nvSpPr>
        <p:spPr>
          <a:xfrm>
            <a:off x="0" y="0"/>
            <a:ext cx="12188952" cy="1014984"/>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7" name="Content Placeholder 2">
            <a:extLst>
              <a:ext uri="{FF2B5EF4-FFF2-40B4-BE49-F238E27FC236}">
                <a16:creationId xmlns:a16="http://schemas.microsoft.com/office/drawing/2014/main" id="{9C002305-5740-4535-B4EF-82B44A5510ED}"/>
              </a:ext>
            </a:extLst>
          </p:cNvPr>
          <p:cNvSpPr>
            <a:spLocks noGrp="1"/>
          </p:cNvSpPr>
          <p:nvPr>
            <p:ph idx="1"/>
          </p:nvPr>
        </p:nvSpPr>
        <p:spPr>
          <a:xfrm>
            <a:off x="0" y="1613066"/>
            <a:ext cx="4041648" cy="4654296"/>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8" name="Content Placeholder 3">
            <a:extLst>
              <a:ext uri="{FF2B5EF4-FFF2-40B4-BE49-F238E27FC236}">
                <a16:creationId xmlns:a16="http://schemas.microsoft.com/office/drawing/2014/main" id="{DE3D2841-552A-40F1-AE22-D80196FAC90A}"/>
              </a:ext>
            </a:extLst>
          </p:cNvPr>
          <p:cNvSpPr>
            <a:spLocks noGrp="1"/>
          </p:cNvSpPr>
          <p:nvPr>
            <p:ph idx="10"/>
          </p:nvPr>
        </p:nvSpPr>
        <p:spPr>
          <a:xfrm>
            <a:off x="4074686" y="1621088"/>
            <a:ext cx="4078224" cy="4654296"/>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9" name="Content Placeholder 4">
            <a:extLst>
              <a:ext uri="{FF2B5EF4-FFF2-40B4-BE49-F238E27FC236}">
                <a16:creationId xmlns:a16="http://schemas.microsoft.com/office/drawing/2014/main" id="{A9BB9FC5-1A7B-4786-B512-8BF1AF43F00F}"/>
              </a:ext>
            </a:extLst>
          </p:cNvPr>
          <p:cNvSpPr>
            <a:spLocks noGrp="1"/>
          </p:cNvSpPr>
          <p:nvPr>
            <p:ph idx="11"/>
          </p:nvPr>
        </p:nvSpPr>
        <p:spPr>
          <a:xfrm>
            <a:off x="8173436" y="1629110"/>
            <a:ext cx="4041648" cy="4638252"/>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Tree>
    <p:extLst>
      <p:ext uri="{BB962C8B-B14F-4D97-AF65-F5344CB8AC3E}">
        <p14:creationId xmlns:p14="http://schemas.microsoft.com/office/powerpoint/2010/main" val="2290312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47E51-10F4-4A5E-8740-B347C3F6D2B3}"/>
              </a:ext>
            </a:extLst>
          </p:cNvPr>
          <p:cNvSpPr>
            <a:spLocks noGrp="1"/>
          </p:cNvSpPr>
          <p:nvPr>
            <p:ph type="title" hasCustomPrompt="1"/>
          </p:nvPr>
        </p:nvSpPr>
        <p:spPr>
          <a:xfrm>
            <a:off x="0" y="-7558"/>
            <a:ext cx="12188952" cy="1015663"/>
          </a:xfrm>
          <a:solidFill>
            <a:srgbClr val="1E4D2B"/>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7" name="Content Placeholder 2">
            <a:extLst>
              <a:ext uri="{FF2B5EF4-FFF2-40B4-BE49-F238E27FC236}">
                <a16:creationId xmlns:a16="http://schemas.microsoft.com/office/drawing/2014/main" id="{AC06E12F-A9B7-49E2-8BC9-6A837E2CE657}"/>
              </a:ext>
            </a:extLst>
          </p:cNvPr>
          <p:cNvSpPr>
            <a:spLocks noGrp="1"/>
          </p:cNvSpPr>
          <p:nvPr>
            <p:ph idx="1"/>
          </p:nvPr>
        </p:nvSpPr>
        <p:spPr>
          <a:xfrm>
            <a:off x="-16689" y="1613066"/>
            <a:ext cx="6501384" cy="4645152"/>
          </a:xfrm>
        </p:spPr>
        <p:txBody>
          <a:bodyPr vert="horz" lIns="685800" tIns="457200" rIns="685800" bIns="457200" numCol="1" spcCol="0" rtlCol="0">
            <a:normAutofit/>
          </a:bodyPr>
          <a:lstStyle>
            <a:lvl1pPr>
              <a:defRPr lang="en-US" sz="2000" dirty="0" smtClean="0">
                <a:latin typeface="Arial" panose="020B0604020202020204" pitchFamily="34" charset="0"/>
                <a:cs typeface="Arial" panose="020B0604020202020204" pitchFamily="34" charset="0"/>
              </a:defRPr>
            </a:lvl1pPr>
            <a:lvl2pPr>
              <a:defRPr lang="en-US" sz="1800" dirty="0" smtClean="0">
                <a:latin typeface="Arial" panose="020B0604020202020204" pitchFamily="34" charset="0"/>
                <a:cs typeface="Arial" panose="020B0604020202020204" pitchFamily="34" charset="0"/>
              </a:defRPr>
            </a:lvl2pPr>
            <a:lvl3pPr>
              <a:defRPr lang="en-US" sz="1600" dirty="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8" name="Content Placeholder 3">
            <a:extLst>
              <a:ext uri="{FF2B5EF4-FFF2-40B4-BE49-F238E27FC236}">
                <a16:creationId xmlns:a16="http://schemas.microsoft.com/office/drawing/2014/main" id="{402D751D-5497-40E7-9A45-F6E297823307}"/>
              </a:ext>
            </a:extLst>
          </p:cNvPr>
          <p:cNvSpPr>
            <a:spLocks noGrp="1"/>
          </p:cNvSpPr>
          <p:nvPr>
            <p:ph idx="10"/>
          </p:nvPr>
        </p:nvSpPr>
        <p:spPr>
          <a:xfrm>
            <a:off x="6484695" y="1616452"/>
            <a:ext cx="5687568" cy="4645152"/>
          </a:xfrm>
        </p:spPr>
        <p:txBody>
          <a:bodyPr vert="horz" lIns="685800" tIns="457200" rIns="685800" bIns="457200" numCol="1" spcCol="0" rtlCol="0">
            <a:normAutofit/>
          </a:bodyPr>
          <a:lstStyle>
            <a:lvl1pPr>
              <a:defRPr lang="en-US" sz="2000" dirty="0" smtClean="0">
                <a:latin typeface="Arial" panose="020B0604020202020204" pitchFamily="34" charset="0"/>
                <a:cs typeface="Arial" panose="020B0604020202020204" pitchFamily="34" charset="0"/>
              </a:defRPr>
            </a:lvl1pPr>
            <a:lvl2pPr>
              <a:defRPr lang="en-US" sz="1800" dirty="0" smtClean="0">
                <a:latin typeface="Arial" panose="020B0604020202020204" pitchFamily="34" charset="0"/>
                <a:cs typeface="Arial" panose="020B0604020202020204" pitchFamily="34" charset="0"/>
              </a:defRPr>
            </a:lvl2pPr>
            <a:lvl3pPr>
              <a:defRPr lang="en-US" sz="1600" dirty="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Tree>
    <p:extLst>
      <p:ext uri="{BB962C8B-B14F-4D97-AF65-F5344CB8AC3E}">
        <p14:creationId xmlns:p14="http://schemas.microsoft.com/office/powerpoint/2010/main" val="9242428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5.xml"/><Relationship Id="rId5" Type="http://schemas.openxmlformats.org/officeDocument/2006/relationships/image" Target="../media/image3.png"/><Relationship Id="rId4" Type="http://schemas.microsoft.com/office/2007/relationships/hdphoto" Target="../media/hdphoto1.wdp"/></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theme" Target="../theme/theme3.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7B83B1-DB8F-4F42-893B-3D1A4E498F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D7FB3D-1DA9-459A-A9C5-80F7BFE722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9E3C8D06-C675-40F1-A8D1-39054633B3A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836094" y="6214197"/>
            <a:ext cx="2258677" cy="551160"/>
          </a:xfrm>
          <a:prstGeom prst="rect">
            <a:avLst/>
          </a:prstGeom>
        </p:spPr>
      </p:pic>
    </p:spTree>
    <p:extLst>
      <p:ext uri="{BB962C8B-B14F-4D97-AF65-F5344CB8AC3E}">
        <p14:creationId xmlns:p14="http://schemas.microsoft.com/office/powerpoint/2010/main" val="1509268682"/>
      </p:ext>
    </p:extLst>
  </p:cSld>
  <p:clrMap bg1="lt1" tx1="dk1" bg2="lt2" tx2="dk2" accent1="accent1" accent2="accent2" accent3="accent3" accent4="accent4" accent5="accent5" accent6="accent6" hlink="hlink" folHlink="folHlink"/>
  <p:sldLayoutIdLst>
    <p:sldLayoutId id="2147483652" r:id="rId1"/>
    <p:sldLayoutId id="2147483655" r:id="rId2"/>
    <p:sldLayoutId id="2147483656" r:id="rId3"/>
    <p:sldLayoutId id="214748366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4A454DB7-A73F-40C4-A0D2-93123167F1BE}"/>
              </a:ext>
            </a:extLst>
          </p:cNvPr>
          <p:cNvSpPr/>
          <p:nvPr userDrawn="1"/>
        </p:nvSpPr>
        <p:spPr>
          <a:xfrm>
            <a:off x="0" y="0"/>
            <a:ext cx="12192000" cy="6858000"/>
          </a:xfrm>
          <a:custGeom>
            <a:avLst/>
            <a:gdLst/>
            <a:ahLst/>
            <a:cxnLst/>
            <a:rect l="l" t="t" r="r" b="b"/>
            <a:pathLst>
              <a:path w="12433300" h="6997700">
                <a:moveTo>
                  <a:pt x="0" y="6997700"/>
                </a:moveTo>
                <a:lnTo>
                  <a:pt x="12433300" y="6997700"/>
                </a:lnTo>
                <a:lnTo>
                  <a:pt x="12433300" y="0"/>
                </a:lnTo>
                <a:lnTo>
                  <a:pt x="0" y="0"/>
                </a:lnTo>
                <a:lnTo>
                  <a:pt x="0" y="6997700"/>
                </a:lnTo>
                <a:close/>
              </a:path>
            </a:pathLst>
          </a:custGeom>
          <a:solidFill>
            <a:srgbClr val="1E4D2B"/>
          </a:solidFill>
        </p:spPr>
        <p:txBody>
          <a:bodyPr wrap="square" lIns="0" tIns="0" rIns="0" bIns="0" rtlCol="0"/>
          <a:lstStyle/>
          <a:p>
            <a:endParaRPr/>
          </a:p>
        </p:txBody>
      </p:sp>
      <p:sp>
        <p:nvSpPr>
          <p:cNvPr id="8" name="object 3">
            <a:extLst>
              <a:ext uri="{FF2B5EF4-FFF2-40B4-BE49-F238E27FC236}">
                <a16:creationId xmlns:a16="http://schemas.microsoft.com/office/drawing/2014/main" id="{80E9EB47-13D9-4E9A-B8E7-21D64C865CF3}"/>
              </a:ext>
            </a:extLst>
          </p:cNvPr>
          <p:cNvSpPr/>
          <p:nvPr userDrawn="1"/>
        </p:nvSpPr>
        <p:spPr>
          <a:xfrm>
            <a:off x="6222491" y="0"/>
            <a:ext cx="5969509" cy="6839335"/>
          </a:xfrm>
          <a:prstGeom prst="rect">
            <a:avLst/>
          </a:prstGeom>
          <a:blipFill>
            <a:blip r:embed="rId3" cstate="print">
              <a:extLst>
                <a:ext uri="{BEBA8EAE-BF5A-486C-A8C5-ECC9F3942E4B}">
                  <a14:imgProps xmlns:a14="http://schemas.microsoft.com/office/drawing/2010/main">
                    <a14:imgLayer r:embed="rId4">
                      <a14:imgEffect>
                        <a14:brightnessContrast contrast="-70000"/>
                      </a14:imgEffect>
                    </a14:imgLayer>
                  </a14:imgProps>
                </a:ext>
              </a:extLst>
            </a:blip>
            <a:stretch>
              <a:fillRect/>
            </a:stretch>
          </a:blipFill>
        </p:spPr>
        <p:txBody>
          <a:bodyPr wrap="square" lIns="0" tIns="0" rIns="0" bIns="0" rtlCol="0"/>
          <a:lstStyle/>
          <a:p>
            <a:endParaRPr/>
          </a:p>
        </p:txBody>
      </p:sp>
      <p:pic>
        <p:nvPicPr>
          <p:cNvPr id="9" name="Picture 8">
            <a:extLst>
              <a:ext uri="{FF2B5EF4-FFF2-40B4-BE49-F238E27FC236}">
                <a16:creationId xmlns:a16="http://schemas.microsoft.com/office/drawing/2014/main" id="{92E8F1D3-5FD1-4707-B053-C7386CD9C38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730114" y="5991173"/>
            <a:ext cx="3461886" cy="848162"/>
          </a:xfrm>
          <a:prstGeom prst="rect">
            <a:avLst/>
          </a:prstGeom>
        </p:spPr>
      </p:pic>
    </p:spTree>
    <p:extLst>
      <p:ext uri="{BB962C8B-B14F-4D97-AF65-F5344CB8AC3E}">
        <p14:creationId xmlns:p14="http://schemas.microsoft.com/office/powerpoint/2010/main" val="1724814910"/>
      </p:ext>
    </p:extLst>
  </p:cSld>
  <p:clrMap bg1="lt1" tx1="dk1" bg2="lt2" tx2="dk2" accent1="accent1" accent2="accent2" accent3="accent3" accent4="accent4" accent5="accent5" accent6="accent6" hlink="hlink" folHlink="folHlink"/>
  <p:sldLayoutIdLst>
    <p:sldLayoutId id="214748366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7B83B1-DB8F-4F42-893B-3D1A4E498F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D7FB3D-1DA9-459A-A9C5-80F7BFE722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9E3C8D06-C675-40F1-A8D1-39054633B3A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836094" y="6214197"/>
            <a:ext cx="2258677" cy="551160"/>
          </a:xfrm>
          <a:prstGeom prst="rect">
            <a:avLst/>
          </a:prstGeom>
        </p:spPr>
      </p:pic>
    </p:spTree>
    <p:extLst>
      <p:ext uri="{BB962C8B-B14F-4D97-AF65-F5344CB8AC3E}">
        <p14:creationId xmlns:p14="http://schemas.microsoft.com/office/powerpoint/2010/main" val="3270806916"/>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www.broadcom.com/"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www.broadcom.com/"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E079-E601-4C76-BE39-9EECF0DD54F1}"/>
              </a:ext>
            </a:extLst>
          </p:cNvPr>
          <p:cNvSpPr>
            <a:spLocks noGrp="1"/>
          </p:cNvSpPr>
          <p:nvPr>
            <p:ph type="title"/>
          </p:nvPr>
        </p:nvSpPr>
        <p:spPr/>
        <p:txBody>
          <a:bodyPr/>
          <a:lstStyle/>
          <a:p>
            <a:r>
              <a:rPr lang="en-US" dirty="0"/>
              <a:t>Business Model Canvas (BMC) Instructions</a:t>
            </a:r>
          </a:p>
        </p:txBody>
      </p:sp>
      <p:sp>
        <p:nvSpPr>
          <p:cNvPr id="6" name="Content Placeholder 2">
            <a:extLst>
              <a:ext uri="{FF2B5EF4-FFF2-40B4-BE49-F238E27FC236}">
                <a16:creationId xmlns:a16="http://schemas.microsoft.com/office/drawing/2014/main" id="{0EC45CCC-C771-0DAB-88E1-E2FD06BD79BC}"/>
              </a:ext>
            </a:extLst>
          </p:cNvPr>
          <p:cNvSpPr>
            <a:spLocks noGrp="1"/>
          </p:cNvSpPr>
          <p:nvPr>
            <p:ph idx="1"/>
          </p:nvPr>
        </p:nvSpPr>
        <p:spPr>
          <a:xfrm>
            <a:off x="319454" y="1077491"/>
            <a:ext cx="11620500" cy="4351338"/>
          </a:xfrm>
        </p:spPr>
        <p:txBody>
          <a:bodyPr>
            <a:noAutofit/>
          </a:bodyPr>
          <a:lstStyle/>
          <a:p>
            <a:pPr marL="0" indent="0">
              <a:buNone/>
            </a:pPr>
            <a:r>
              <a:rPr lang="en-US" sz="1800" dirty="0">
                <a:latin typeface="Arial" panose="020B0604020202020204" pitchFamily="34" charset="0"/>
                <a:cs typeface="Arial" panose="020B0604020202020204" pitchFamily="34" charset="0"/>
              </a:rPr>
              <a:t>You will use this deck for this template for this week’s assignment. You will turn in this PowerPoint file as your homework submission. With each subsequent assignment, please include the “Student Name” and “Business Profile – Overview” slides with your submission. Here are some points to remember when using this template:</a:t>
            </a:r>
          </a:p>
          <a:p>
            <a:r>
              <a:rPr lang="en-US" sz="1800" dirty="0">
                <a:latin typeface="Arial" panose="020B0604020202020204" pitchFamily="34" charset="0"/>
                <a:cs typeface="Arial" panose="020B0604020202020204" pitchFamily="34" charset="0"/>
              </a:rPr>
              <a:t>You must use the same company for all assignments. Preferably, this is the company you currently work for.  However, if you are not working at the moment, or your company just doesn’t work well for these assignments (i.e. government agencies, small volunteer organizations) then select a company in an industry that interests you or that you would like to work for.</a:t>
            </a:r>
          </a:p>
          <a:p>
            <a:r>
              <a:rPr lang="en-US" sz="1800" dirty="0">
                <a:latin typeface="Arial" panose="020B0604020202020204" pitchFamily="34" charset="0"/>
                <a:cs typeface="Arial" panose="020B0604020202020204" pitchFamily="34" charset="0"/>
              </a:rPr>
              <a:t>These assignments are built around the company you work for to maximize your ability to apply the content to a familiar context.  However, it’s a challenge for ICs that may not be as familiar with your organization.  Provide additional detail, additional notes, or anything else that can help your IC grade the assignment either in slide notes or in additional slides.</a:t>
            </a:r>
          </a:p>
          <a:p>
            <a:r>
              <a:rPr lang="en-US" sz="1800" dirty="0">
                <a:latin typeface="Arial" panose="020B0604020202020204" pitchFamily="34" charset="0"/>
                <a:cs typeface="Arial" panose="020B0604020202020204" pitchFamily="34" charset="0"/>
              </a:rPr>
              <a:t>There are notes on each slide indicating which assignment that slide is a part of to make it easy for you to know when each slide needs to be completed.  The slide notes may also contain additional instructions – make sure you read them!</a:t>
            </a:r>
          </a:p>
          <a:p>
            <a:r>
              <a:rPr lang="en-US" sz="1800" dirty="0">
                <a:latin typeface="Arial" panose="020B0604020202020204" pitchFamily="34" charset="0"/>
                <a:cs typeface="Arial" panose="020B0604020202020204" pitchFamily="34" charset="0"/>
              </a:rPr>
              <a:t>If additional space is necessary, you may insert additional slides and/or use the notes option, just make it clear to your IC that the content is continued on the next slide.</a:t>
            </a:r>
          </a:p>
          <a:p>
            <a:pPr marL="0" indent="0">
              <a:buNone/>
            </a:pPr>
            <a:r>
              <a:rPr lang="en-US" sz="1800" b="1" dirty="0">
                <a:latin typeface="Arial" panose="020B0604020202020204" pitchFamily="34" charset="0"/>
                <a:cs typeface="Arial" panose="020B0604020202020204" pitchFamily="34" charset="0"/>
              </a:rPr>
              <a:t>FILE NAMING</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Please follow the file naming convention below.  This helps your IC find your assignment easily: LASTNAME.FIRSTNAME.ASSIGNMENTNAME. Example: PORTER.MICHAEL.BPA</a:t>
            </a:r>
          </a:p>
          <a:p>
            <a:pPr marL="0" indent="0">
              <a:buNone/>
            </a:pPr>
            <a:r>
              <a:rPr lang="en-US" sz="18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709961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E079-E601-4C76-BE39-9EECF0DD54F1}"/>
              </a:ext>
            </a:extLst>
          </p:cNvPr>
          <p:cNvSpPr>
            <a:spLocks noGrp="1"/>
          </p:cNvSpPr>
          <p:nvPr>
            <p:ph type="title"/>
          </p:nvPr>
        </p:nvSpPr>
        <p:spPr/>
        <p:txBody>
          <a:bodyPr/>
          <a:lstStyle/>
          <a:p>
            <a:r>
              <a:rPr lang="en-US"/>
              <a:t>Assignment Grading Criteria</a:t>
            </a:r>
          </a:p>
        </p:txBody>
      </p:sp>
      <p:sp>
        <p:nvSpPr>
          <p:cNvPr id="10" name="TextBox 9">
            <a:extLst>
              <a:ext uri="{FF2B5EF4-FFF2-40B4-BE49-F238E27FC236}">
                <a16:creationId xmlns:a16="http://schemas.microsoft.com/office/drawing/2014/main" id="{773629AF-B4CC-3758-2F2D-74F80E79F1A9}"/>
              </a:ext>
            </a:extLst>
          </p:cNvPr>
          <p:cNvSpPr txBox="1"/>
          <p:nvPr/>
        </p:nvSpPr>
        <p:spPr>
          <a:xfrm>
            <a:off x="6756640" y="1256446"/>
            <a:ext cx="4888523" cy="4808752"/>
          </a:xfrm>
          <a:prstGeom prst="rect">
            <a:avLst/>
          </a:prstGeom>
          <a:noFill/>
        </p:spPr>
        <p:txBody>
          <a:bodyPr wrap="square" rtlCol="0">
            <a:sp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600" b="1" i="0" u="sng"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Evaluation Criteria</a:t>
            </a:r>
            <a:r>
              <a:rPr kumimoji="0" lang="en-US" sz="12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 (from Course Syllabus)</a:t>
            </a:r>
            <a:endParaRPr kumimoji="0" lang="en-US" sz="16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Support Quality of Work:</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Each statement or explanation is supported by sound facts, logics, or data points.</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Analysis yields complex and nuanced syntheses of ideas, demonstrating true understanding.</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Accurate Class Concept Use:</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Class concepts are used throughout the assignment in a manner that demonstrates a full understanding of the concept.</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Critical Thinking:</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Exercises include data and reasoning that confirms or disconfirms the thesis.</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The analysis or explanation demonstrates an understanding of the uncertainty surrounding the facts, logics, and conclusions.</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Mechanics and Professionalism:</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Work is professionally presented and free from grammatical or typographical errors.</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Headings, images, figures, and tables are appropriately and effectively used.</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WOW Factor:</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mn-ea"/>
                <a:cs typeface="Times New Roman" panose="02020603050405020304" pitchFamily="18" charset="0"/>
              </a:rPr>
              <a:t>Approximately 10% of the total grade will be determined by the WOW factor. This is evidence of work that exceeds expectations. These points are reserved for those projects that go beyond assignment requirements and demonstrate creativity, extra effort, and refined professionalism.</a:t>
            </a:r>
          </a:p>
        </p:txBody>
      </p:sp>
      <p:graphicFrame>
        <p:nvGraphicFramePr>
          <p:cNvPr id="4" name="Table 3">
            <a:extLst>
              <a:ext uri="{FF2B5EF4-FFF2-40B4-BE49-F238E27FC236}">
                <a16:creationId xmlns:a16="http://schemas.microsoft.com/office/drawing/2014/main" id="{13609270-3F34-F65E-0642-B4DBCEE08E13}"/>
              </a:ext>
            </a:extLst>
          </p:cNvPr>
          <p:cNvGraphicFramePr>
            <a:graphicFrameLocks noGrp="1"/>
          </p:cNvGraphicFramePr>
          <p:nvPr>
            <p:extLst>
              <p:ext uri="{D42A27DB-BD31-4B8C-83A1-F6EECF244321}">
                <p14:modId xmlns:p14="http://schemas.microsoft.com/office/powerpoint/2010/main" val="3830949331"/>
              </p:ext>
            </p:extLst>
          </p:nvPr>
        </p:nvGraphicFramePr>
        <p:xfrm>
          <a:off x="284782" y="1413770"/>
          <a:ext cx="5892213" cy="5274269"/>
        </p:xfrm>
        <a:graphic>
          <a:graphicData uri="http://schemas.openxmlformats.org/drawingml/2006/table">
            <a:tbl>
              <a:tblPr/>
              <a:tblGrid>
                <a:gridCol w="5073730">
                  <a:extLst>
                    <a:ext uri="{9D8B030D-6E8A-4147-A177-3AD203B41FA5}">
                      <a16:colId xmlns:a16="http://schemas.microsoft.com/office/drawing/2014/main" val="2042513258"/>
                    </a:ext>
                  </a:extLst>
                </a:gridCol>
                <a:gridCol w="818483">
                  <a:extLst>
                    <a:ext uri="{9D8B030D-6E8A-4147-A177-3AD203B41FA5}">
                      <a16:colId xmlns:a16="http://schemas.microsoft.com/office/drawing/2014/main" val="1063148183"/>
                    </a:ext>
                  </a:extLst>
                </a:gridCol>
              </a:tblGrid>
              <a:tr h="346071">
                <a:tc gridSpan="2">
                  <a:txBody>
                    <a:bodyPr/>
                    <a:lstStyle/>
                    <a:p>
                      <a:pPr algn="ctr" fontAlgn="ctr"/>
                      <a:r>
                        <a:rPr lang="en-US" sz="1800" b="1" i="0" u="none" strike="noStrike">
                          <a:solidFill>
                            <a:srgbClr val="000000"/>
                          </a:solidFill>
                          <a:effectLst/>
                          <a:highlight>
                            <a:srgbClr val="FFFFFF"/>
                          </a:highlight>
                          <a:latin typeface="Aptos Narrow" panose="020B0004020202020204" pitchFamily="34" charset="0"/>
                        </a:rPr>
                        <a:t>BMC Rubric</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3806741053"/>
                  </a:ext>
                </a:extLst>
              </a:tr>
              <a:tr h="259553">
                <a:tc>
                  <a:txBody>
                    <a:bodyPr/>
                    <a:lstStyle/>
                    <a:p>
                      <a:pPr algn="ctr" fontAlgn="ctr"/>
                      <a:r>
                        <a:rPr lang="en-US" sz="1400" b="1" i="0" u="none" strike="noStrike">
                          <a:solidFill>
                            <a:srgbClr val="2D3B45"/>
                          </a:solidFill>
                          <a:effectLst/>
                          <a:highlight>
                            <a:srgbClr val="FFFFFF"/>
                          </a:highlight>
                          <a:latin typeface="Lato" panose="020F0502020204030203" pitchFamily="34" charset="0"/>
                        </a:rPr>
                        <a:t>Criteria</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400" b="1" i="0" u="none" strike="noStrike">
                          <a:solidFill>
                            <a:srgbClr val="2D3B45"/>
                          </a:solidFill>
                          <a:effectLst/>
                          <a:highlight>
                            <a:srgbClr val="FFFFFF"/>
                          </a:highlight>
                          <a:latin typeface="Lato" panose="020F0502020204030203" pitchFamily="34" charset="0"/>
                        </a:rPr>
                        <a:t>Pts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46794332"/>
                  </a:ext>
                </a:extLst>
              </a:tr>
              <a:tr h="259553">
                <a:tc>
                  <a:txBody>
                    <a:bodyPr/>
                    <a:lstStyle/>
                    <a:p>
                      <a:pPr algn="l" fontAlgn="ctr"/>
                      <a:r>
                        <a:rPr lang="en-US" sz="1400" b="0" i="0" u="none" strike="noStrike">
                          <a:solidFill>
                            <a:srgbClr val="2D3B45"/>
                          </a:solidFill>
                          <a:effectLst/>
                          <a:highlight>
                            <a:srgbClr val="FFFFFF"/>
                          </a:highlight>
                          <a:latin typeface="Lato" panose="020F0502020204030203"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rowSpan="4">
                  <a:txBody>
                    <a:bodyPr/>
                    <a:lstStyle/>
                    <a:p>
                      <a:pPr algn="l" fontAlgn="ctr"/>
                      <a:r>
                        <a:rPr lang="en-US" sz="1400" b="0" i="0" u="none" strike="noStrike">
                          <a:solidFill>
                            <a:srgbClr val="2D3B45"/>
                          </a:solidFill>
                          <a:effectLst/>
                          <a:highlight>
                            <a:srgbClr val="FFFFFF"/>
                          </a:highlight>
                          <a:latin typeface="Lato" panose="020F0502020204030203" pitchFamily="34" charset="0"/>
                        </a:rPr>
                        <a:t>60 pts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18821861"/>
                  </a:ext>
                </a:extLst>
              </a:tr>
              <a:tr h="259553">
                <a:tc>
                  <a:txBody>
                    <a:bodyPr/>
                    <a:lstStyle/>
                    <a:p>
                      <a:pPr algn="l" fontAlgn="ctr"/>
                      <a:r>
                        <a:rPr lang="en-US" sz="1400" b="0" i="0" u="none" strike="noStrike">
                          <a:solidFill>
                            <a:srgbClr val="2D3B45"/>
                          </a:solidFill>
                          <a:effectLst/>
                          <a:highlight>
                            <a:srgbClr val="FFFFFF"/>
                          </a:highlight>
                          <a:latin typeface="Lato" panose="020F0502020204030203" pitchFamily="34" charset="0"/>
                        </a:rPr>
                        <a:t>All boxes complete.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vMerge="1">
                  <a:txBody>
                    <a:bodyPr/>
                    <a:lstStyle/>
                    <a:p>
                      <a:endParaRPr lang="en-US"/>
                    </a:p>
                  </a:txBody>
                  <a:tcPr/>
                </a:tc>
                <a:extLst>
                  <a:ext uri="{0D108BD9-81ED-4DB2-BD59-A6C34878D82A}">
                    <a16:rowId xmlns:a16="http://schemas.microsoft.com/office/drawing/2014/main" val="874631422"/>
                  </a:ext>
                </a:extLst>
              </a:tr>
              <a:tr h="259553">
                <a:tc>
                  <a:txBody>
                    <a:bodyPr/>
                    <a:lstStyle/>
                    <a:p>
                      <a:pPr algn="l" fontAlgn="ctr"/>
                      <a:r>
                        <a:rPr lang="en-US" sz="1400" b="0" i="0" u="none" strike="noStrike">
                          <a:solidFill>
                            <a:srgbClr val="2D3B45"/>
                          </a:solidFill>
                          <a:effectLst/>
                          <a:highlight>
                            <a:srgbClr val="FFFFFF"/>
                          </a:highlight>
                          <a:latin typeface="Lato" panose="020F0502020204030203" pitchFamily="34" charset="0"/>
                        </a:rPr>
                        <a:t>Depth, detail, and thought put into each section of the canvas.</a:t>
                      </a:r>
                    </a:p>
                    <a:p>
                      <a:pPr algn="l" fontAlgn="ctr"/>
                      <a:endParaRPr lang="en-US" sz="1400" b="0" i="0" u="none" strike="noStrike">
                        <a:solidFill>
                          <a:srgbClr val="2D3B45"/>
                        </a:solidFill>
                        <a:effectLst/>
                        <a:highlight>
                          <a:srgbClr val="FFFFFF"/>
                        </a:highlight>
                        <a:latin typeface="Lato" panose="020F0502020204030203" pitchFamily="34" charset="0"/>
                      </a:endParaRPr>
                    </a:p>
                    <a:p>
                      <a:pPr algn="l" fontAlgn="ctr"/>
                      <a:r>
                        <a:rPr lang="en-US" sz="1400" b="0" i="0" u="none" strike="noStrike">
                          <a:solidFill>
                            <a:srgbClr val="2D3B45"/>
                          </a:solidFill>
                          <a:effectLst/>
                          <a:highlight>
                            <a:srgbClr val="FFFFFF"/>
                          </a:highlight>
                          <a:latin typeface="Lato" panose="020F0502020204030203" pitchFamily="34" charset="0"/>
                        </a:rPr>
                        <a:t>NOTE: Examples in discussed during the lecture were simplified. More detail  and depth is expected for full credit.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vMerge="1">
                  <a:txBody>
                    <a:bodyPr/>
                    <a:lstStyle/>
                    <a:p>
                      <a:endParaRPr lang="en-US"/>
                    </a:p>
                  </a:txBody>
                  <a:tcPr/>
                </a:tc>
                <a:extLst>
                  <a:ext uri="{0D108BD9-81ED-4DB2-BD59-A6C34878D82A}">
                    <a16:rowId xmlns:a16="http://schemas.microsoft.com/office/drawing/2014/main" val="3788415428"/>
                  </a:ext>
                </a:extLst>
              </a:tr>
              <a:tr h="259553">
                <a:tc>
                  <a:txBody>
                    <a:bodyPr/>
                    <a:lstStyle/>
                    <a:p>
                      <a:pPr algn="l" fontAlgn="ctr"/>
                      <a:r>
                        <a:rPr lang="en-US" sz="1400" b="0" i="0" u="none" strike="noStrike">
                          <a:solidFill>
                            <a:srgbClr val="2D3B45"/>
                          </a:solidFill>
                          <a:effectLst/>
                          <a:highlight>
                            <a:srgbClr val="FFFFFF"/>
                          </a:highlight>
                          <a:latin typeface="Lato" panose="020F0502020204030203" pitchFamily="34" charset="0"/>
                        </a:rPr>
                        <a:t>Applied class concepts to the analysis.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extLst>
                  <a:ext uri="{0D108BD9-81ED-4DB2-BD59-A6C34878D82A}">
                    <a16:rowId xmlns:a16="http://schemas.microsoft.com/office/drawing/2014/main" val="2165917111"/>
                  </a:ext>
                </a:extLst>
              </a:tr>
              <a:tr h="259553">
                <a:tc>
                  <a:txBody>
                    <a:bodyPr/>
                    <a:lstStyle/>
                    <a:p>
                      <a:pPr algn="l" fontAlgn="ctr"/>
                      <a:r>
                        <a:rPr lang="en-US" sz="1400" b="0" i="0" u="none" strike="noStrike">
                          <a:solidFill>
                            <a:srgbClr val="2D3B45"/>
                          </a:solidFill>
                          <a:effectLst/>
                          <a:highlight>
                            <a:srgbClr val="FFFFFF"/>
                          </a:highlight>
                          <a:latin typeface="Lato" panose="020F0502020204030203"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rowSpan="4">
                  <a:txBody>
                    <a:bodyPr/>
                    <a:lstStyle/>
                    <a:p>
                      <a:pPr algn="l" fontAlgn="ctr"/>
                      <a:r>
                        <a:rPr lang="en-US" sz="1400" b="0" i="0" u="none" strike="noStrike">
                          <a:solidFill>
                            <a:srgbClr val="2D3B45"/>
                          </a:solidFill>
                          <a:effectLst/>
                          <a:highlight>
                            <a:srgbClr val="FFFFFF"/>
                          </a:highlight>
                          <a:latin typeface="Lato" panose="020F0502020204030203" pitchFamily="34" charset="0"/>
                        </a:rPr>
                        <a:t>20 pts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03409393"/>
                  </a:ext>
                </a:extLst>
              </a:tr>
              <a:tr h="778660">
                <a:tc>
                  <a:txBody>
                    <a:bodyPr/>
                    <a:lstStyle/>
                    <a:p>
                      <a:pPr algn="l" fontAlgn="ctr"/>
                      <a:r>
                        <a:rPr lang="en-US" sz="1400" b="0" i="0" u="none" strike="noStrike">
                          <a:solidFill>
                            <a:srgbClr val="2D3B45"/>
                          </a:solidFill>
                          <a:effectLst/>
                          <a:highlight>
                            <a:srgbClr val="FFFFFF"/>
                          </a:highlight>
                          <a:latin typeface="Lato" panose="020F0502020204030203" pitchFamily="34" charset="0"/>
                        </a:rPr>
                        <a:t>Explain your customer segments and why is this the case. (Mass market, Niche market, Segmented, Diversified, Multi-sided)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vMerge="1">
                  <a:txBody>
                    <a:bodyPr/>
                    <a:lstStyle/>
                    <a:p>
                      <a:endParaRPr lang="en-US"/>
                    </a:p>
                  </a:txBody>
                  <a:tcPr/>
                </a:tc>
                <a:extLst>
                  <a:ext uri="{0D108BD9-81ED-4DB2-BD59-A6C34878D82A}">
                    <a16:rowId xmlns:a16="http://schemas.microsoft.com/office/drawing/2014/main" val="1710679293"/>
                  </a:ext>
                </a:extLst>
              </a:tr>
              <a:tr h="519107">
                <a:tc>
                  <a:txBody>
                    <a:bodyPr/>
                    <a:lstStyle/>
                    <a:p>
                      <a:pPr algn="l" fontAlgn="ctr"/>
                      <a:r>
                        <a:rPr lang="en-US" sz="1400" b="0" i="0" u="none" strike="noStrike">
                          <a:solidFill>
                            <a:srgbClr val="2D3B45"/>
                          </a:solidFill>
                          <a:effectLst/>
                          <a:highlight>
                            <a:srgbClr val="FFFFFF"/>
                          </a:highlight>
                          <a:latin typeface="Lato" panose="020F0502020204030203" pitchFamily="34" charset="0"/>
                        </a:rPr>
                        <a:t>List each revenue stream identified on your BMC and state the pricing mechanism used for that stream.</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vMerge="1">
                  <a:txBody>
                    <a:bodyPr/>
                    <a:lstStyle/>
                    <a:p>
                      <a:endParaRPr lang="en-US"/>
                    </a:p>
                  </a:txBody>
                  <a:tcPr/>
                </a:tc>
                <a:extLst>
                  <a:ext uri="{0D108BD9-81ED-4DB2-BD59-A6C34878D82A}">
                    <a16:rowId xmlns:a16="http://schemas.microsoft.com/office/drawing/2014/main" val="3953067999"/>
                  </a:ext>
                </a:extLst>
              </a:tr>
              <a:tr h="531467">
                <a:tc>
                  <a:txBody>
                    <a:bodyPr/>
                    <a:lstStyle/>
                    <a:p>
                      <a:pPr algn="l" fontAlgn="ctr"/>
                      <a:r>
                        <a:rPr lang="en-US" sz="1400" b="0" i="0" u="none" strike="noStrike">
                          <a:solidFill>
                            <a:srgbClr val="2D3B45"/>
                          </a:solidFill>
                          <a:effectLst/>
                          <a:highlight>
                            <a:srgbClr val="FFFFFF"/>
                          </a:highlight>
                          <a:latin typeface="Lato" panose="020F0502020204030203" pitchFamily="34" charset="0"/>
                        </a:rPr>
                        <a:t>List each key resource and specify which of the four general categories that resource belongs in. Why do you believe this is?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extLst>
                  <a:ext uri="{0D108BD9-81ED-4DB2-BD59-A6C34878D82A}">
                    <a16:rowId xmlns:a16="http://schemas.microsoft.com/office/drawing/2014/main" val="274717604"/>
                  </a:ext>
                </a:extLst>
              </a:tr>
              <a:tr h="410342">
                <a:tc gridSpan="2">
                  <a:txBody>
                    <a:bodyPr/>
                    <a:lstStyle/>
                    <a:p>
                      <a:pPr algn="r" fontAlgn="ctr"/>
                      <a:r>
                        <a:rPr lang="en-US" sz="1400" b="0" i="0" u="none" strike="noStrike">
                          <a:solidFill>
                            <a:srgbClr val="2D3B45"/>
                          </a:solidFill>
                          <a:effectLst/>
                          <a:highlight>
                            <a:srgbClr val="FFFFFF"/>
                          </a:highlight>
                          <a:latin typeface="Lato" panose="020F0502020204030203" pitchFamily="34" charset="0"/>
                        </a:rPr>
                        <a:t>Total Points: 80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3586573995"/>
                  </a:ext>
                </a:extLst>
              </a:tr>
            </a:tbl>
          </a:graphicData>
        </a:graphic>
      </p:graphicFrame>
    </p:spTree>
    <p:extLst>
      <p:ext uri="{BB962C8B-B14F-4D97-AF65-F5344CB8AC3E}">
        <p14:creationId xmlns:p14="http://schemas.microsoft.com/office/powerpoint/2010/main" val="4001419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BEDB7-E569-47F3-8EB7-88525EAA092B}"/>
              </a:ext>
            </a:extLst>
          </p:cNvPr>
          <p:cNvSpPr>
            <a:spLocks noGrp="1"/>
          </p:cNvSpPr>
          <p:nvPr>
            <p:ph type="title"/>
          </p:nvPr>
        </p:nvSpPr>
        <p:spPr/>
        <p:txBody>
          <a:bodyPr>
            <a:normAutofit/>
          </a:bodyPr>
          <a:lstStyle/>
          <a:p>
            <a:r>
              <a:rPr lang="en-US" dirty="0"/>
              <a:t>Student Name</a:t>
            </a:r>
          </a:p>
        </p:txBody>
      </p:sp>
      <p:sp>
        <p:nvSpPr>
          <p:cNvPr id="3" name="Subtitle 2">
            <a:extLst>
              <a:ext uri="{FF2B5EF4-FFF2-40B4-BE49-F238E27FC236}">
                <a16:creationId xmlns:a16="http://schemas.microsoft.com/office/drawing/2014/main" id="{39901997-3A38-45E0-AA63-EE66E6916619}"/>
              </a:ext>
            </a:extLst>
          </p:cNvPr>
          <p:cNvSpPr>
            <a:spLocks noGrp="1"/>
          </p:cNvSpPr>
          <p:nvPr>
            <p:ph idx="1"/>
          </p:nvPr>
        </p:nvSpPr>
        <p:spPr>
          <a:xfrm>
            <a:off x="6392006" y="1558925"/>
            <a:ext cx="5375031" cy="4351338"/>
          </a:xfrm>
        </p:spPr>
        <p:txBody>
          <a:bodyPr anchor="ctr">
            <a:normAutofit/>
          </a:bodyPr>
          <a:lstStyle/>
          <a:p>
            <a:r>
              <a:rPr lang="en-US" sz="3200" dirty="0"/>
              <a:t>Cyrus Bavarian </a:t>
            </a:r>
          </a:p>
        </p:txBody>
      </p:sp>
      <p:sp>
        <p:nvSpPr>
          <p:cNvPr id="4" name="Content Placeholder 2">
            <a:extLst>
              <a:ext uri="{FF2B5EF4-FFF2-40B4-BE49-F238E27FC236}">
                <a16:creationId xmlns:a16="http://schemas.microsoft.com/office/drawing/2014/main" id="{6F3B4236-D07F-4CF9-A5A5-D0014942611E}"/>
              </a:ext>
            </a:extLst>
          </p:cNvPr>
          <p:cNvSpPr txBox="1">
            <a:spLocks/>
          </p:cNvSpPr>
          <p:nvPr/>
        </p:nvSpPr>
        <p:spPr>
          <a:xfrm>
            <a:off x="609600" y="3429000"/>
            <a:ext cx="6432336" cy="2590800"/>
          </a:xfrm>
          <a:prstGeom prst="rect">
            <a:avLst/>
          </a:prstGeom>
        </p:spPr>
        <p:txBody>
          <a:bodyPr vert="horz" lIns="121919" tIns="60959" rIns="121919" bIns="60959" rtlCol="0">
            <a:normAutofit/>
          </a:bodyPr>
          <a:lstStyle>
            <a:lvl1pPr marL="0" indent="0" algn="ctr" defTabSz="1828785" rtl="0" eaLnBrk="1" latinLnBrk="0" hangingPunct="1">
              <a:spcBef>
                <a:spcPct val="20000"/>
              </a:spcBef>
              <a:buSzPct val="100000"/>
              <a:buFont typeface="Arial" pitchFamily="34" charset="0"/>
              <a:buNone/>
              <a:defRPr sz="6400" kern="1200">
                <a:solidFill>
                  <a:schemeClr val="tx1">
                    <a:tint val="75000"/>
                  </a:schemeClr>
                </a:solidFill>
                <a:effectLst/>
                <a:latin typeface="Helvetica"/>
                <a:ea typeface="+mn-ea"/>
                <a:cs typeface="Helvetica"/>
              </a:defRPr>
            </a:lvl1pPr>
            <a:lvl2pPr marL="914393" indent="0" algn="ctr" defTabSz="1828785" rtl="0" eaLnBrk="1" latinLnBrk="0" hangingPunct="1">
              <a:spcBef>
                <a:spcPct val="20000"/>
              </a:spcBef>
              <a:buSzPct val="100000"/>
              <a:buFont typeface="Arial" pitchFamily="34" charset="0"/>
              <a:buNone/>
              <a:defRPr sz="5500" kern="1200">
                <a:solidFill>
                  <a:schemeClr val="tx1">
                    <a:tint val="75000"/>
                  </a:schemeClr>
                </a:solidFill>
                <a:effectLst/>
                <a:latin typeface="Helvetica"/>
                <a:ea typeface="+mn-ea"/>
                <a:cs typeface="Helvetica"/>
              </a:defRPr>
            </a:lvl2pPr>
            <a:lvl3pPr marL="1828785" indent="0" algn="ctr" defTabSz="1828785" rtl="0" eaLnBrk="1" latinLnBrk="0" hangingPunct="1">
              <a:spcBef>
                <a:spcPct val="20000"/>
              </a:spcBef>
              <a:buSzPct val="100000"/>
              <a:buFont typeface="Arial" pitchFamily="34" charset="0"/>
              <a:buNone/>
              <a:defRPr sz="4800" kern="1200">
                <a:solidFill>
                  <a:schemeClr val="tx1">
                    <a:tint val="75000"/>
                  </a:schemeClr>
                </a:solidFill>
                <a:effectLst/>
                <a:latin typeface="Helvetica"/>
                <a:ea typeface="+mn-ea"/>
                <a:cs typeface="Helvetica"/>
              </a:defRPr>
            </a:lvl3pPr>
            <a:lvl4pPr marL="2743178"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4pPr>
            <a:lvl5pPr marL="3657571"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5pPr>
            <a:lvl6pPr marL="4571963"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6pPr>
            <a:lvl7pPr marL="5486356"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7pPr>
            <a:lvl8pPr marL="6400749"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8pPr>
            <a:lvl9pPr marL="7315141"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9pPr>
          </a:lstStyle>
          <a:p>
            <a:pPr marL="0" marR="0" lvl="0" indent="0" algn="ctr" defTabSz="1828785" rtl="0" eaLnBrk="1" fontAlgn="auto" latinLnBrk="0" hangingPunct="1">
              <a:lnSpc>
                <a:spcPct val="100000"/>
              </a:lnSpc>
              <a:spcBef>
                <a:spcPct val="20000"/>
              </a:spcBef>
              <a:spcAft>
                <a:spcPts val="0"/>
              </a:spcAft>
              <a:buClrTx/>
              <a:buSzPct val="100000"/>
              <a:buFont typeface="Arial" pitchFamily="34" charset="0"/>
              <a:buNone/>
              <a:tabLst/>
              <a:defRPr/>
            </a:pPr>
            <a:endParaRPr kumimoji="0" lang="en-US" sz="4267" b="0" i="0" u="none" strike="noStrike" kern="1200" cap="none" spc="0" normalizeH="0" baseline="0" noProof="0">
              <a:ln>
                <a:noFill/>
              </a:ln>
              <a:solidFill>
                <a:srgbClr val="59595B">
                  <a:tint val="75000"/>
                </a:srgbClr>
              </a:solidFill>
              <a:effectLst/>
              <a:uLnTx/>
              <a:uFillTx/>
              <a:latin typeface="Helvetica"/>
              <a:ea typeface="+mn-ea"/>
              <a:cs typeface="Helvetica"/>
            </a:endParaRPr>
          </a:p>
        </p:txBody>
      </p:sp>
      <p:sp>
        <p:nvSpPr>
          <p:cNvPr id="6" name="Subtitle 2">
            <a:extLst>
              <a:ext uri="{FF2B5EF4-FFF2-40B4-BE49-F238E27FC236}">
                <a16:creationId xmlns:a16="http://schemas.microsoft.com/office/drawing/2014/main" id="{72F58189-B73F-4B04-A617-E5F099F2E514}"/>
              </a:ext>
            </a:extLst>
          </p:cNvPr>
          <p:cNvSpPr txBox="1">
            <a:spLocks/>
          </p:cNvSpPr>
          <p:nvPr/>
        </p:nvSpPr>
        <p:spPr>
          <a:xfrm>
            <a:off x="1411654" y="5147224"/>
            <a:ext cx="2946400" cy="533400"/>
          </a:xfrm>
          <a:prstGeom prst="rect">
            <a:avLst/>
          </a:prstGeom>
        </p:spPr>
        <p:txBody>
          <a:bodyPr vert="horz" lIns="121919" tIns="60959" rIns="121919" bIns="60959" rtlCol="0" anchor="ctr">
            <a:normAutofit fontScale="92500" lnSpcReduction="10000"/>
          </a:bodyPr>
          <a:lstStyle>
            <a:lvl1pPr marL="0" indent="0" algn="ctr" defTabSz="1828785" rtl="0" eaLnBrk="1" latinLnBrk="0" hangingPunct="1">
              <a:spcBef>
                <a:spcPct val="20000"/>
              </a:spcBef>
              <a:buSzPct val="100000"/>
              <a:buFont typeface="Arial" pitchFamily="34" charset="0"/>
              <a:buNone/>
              <a:defRPr sz="6400" kern="1200">
                <a:solidFill>
                  <a:schemeClr val="tx1">
                    <a:tint val="75000"/>
                  </a:schemeClr>
                </a:solidFill>
                <a:effectLst/>
                <a:latin typeface="Helvetica"/>
                <a:ea typeface="+mn-ea"/>
                <a:cs typeface="Helvetica"/>
              </a:defRPr>
            </a:lvl1pPr>
            <a:lvl2pPr marL="914393" indent="0" algn="ctr" defTabSz="1828785" rtl="0" eaLnBrk="1" latinLnBrk="0" hangingPunct="1">
              <a:spcBef>
                <a:spcPct val="20000"/>
              </a:spcBef>
              <a:buSzPct val="100000"/>
              <a:buFont typeface="Arial" pitchFamily="34" charset="0"/>
              <a:buNone/>
              <a:defRPr sz="5500" kern="1200">
                <a:solidFill>
                  <a:schemeClr val="tx1">
                    <a:tint val="75000"/>
                  </a:schemeClr>
                </a:solidFill>
                <a:effectLst/>
                <a:latin typeface="Helvetica"/>
                <a:ea typeface="+mn-ea"/>
                <a:cs typeface="Helvetica"/>
              </a:defRPr>
            </a:lvl2pPr>
            <a:lvl3pPr marL="1828785" indent="0" algn="ctr" defTabSz="1828785" rtl="0" eaLnBrk="1" latinLnBrk="0" hangingPunct="1">
              <a:spcBef>
                <a:spcPct val="20000"/>
              </a:spcBef>
              <a:buSzPct val="100000"/>
              <a:buFont typeface="Arial" pitchFamily="34" charset="0"/>
              <a:buNone/>
              <a:defRPr sz="4800" kern="1200">
                <a:solidFill>
                  <a:schemeClr val="tx1">
                    <a:tint val="75000"/>
                  </a:schemeClr>
                </a:solidFill>
                <a:effectLst/>
                <a:latin typeface="Helvetica"/>
                <a:ea typeface="+mn-ea"/>
                <a:cs typeface="Helvetica"/>
              </a:defRPr>
            </a:lvl3pPr>
            <a:lvl4pPr marL="2743178"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4pPr>
            <a:lvl5pPr marL="3657571"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5pPr>
            <a:lvl6pPr marL="4571963"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6pPr>
            <a:lvl7pPr marL="5486356"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7pPr>
            <a:lvl8pPr marL="6400749"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8pPr>
            <a:lvl9pPr marL="7315141"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9pPr>
          </a:lstStyle>
          <a:p>
            <a:pPr marL="0" marR="0" lvl="0" indent="0" algn="ctr" defTabSz="1828785" rtl="0" eaLnBrk="1" fontAlgn="auto" latinLnBrk="0" hangingPunct="1">
              <a:lnSpc>
                <a:spcPct val="100000"/>
              </a:lnSpc>
              <a:spcBef>
                <a:spcPct val="20000"/>
              </a:spcBef>
              <a:spcAft>
                <a:spcPts val="0"/>
              </a:spcAft>
              <a:buClrTx/>
              <a:buSzPct val="100000"/>
              <a:buFont typeface="Arial" pitchFamily="34" charset="0"/>
              <a:buNone/>
              <a:tabLst/>
              <a:defRPr/>
            </a:pPr>
            <a:r>
              <a:rPr kumimoji="0" lang="en-US" sz="3200" b="0" i="0" u="none" strike="noStrike" kern="1200" cap="none" spc="0" normalizeH="0" baseline="0" noProof="0" dirty="0">
                <a:ln>
                  <a:noFill/>
                </a:ln>
                <a:solidFill>
                  <a:srgbClr val="59595B">
                    <a:tint val="75000"/>
                  </a:srgbClr>
                </a:solidFill>
                <a:effectLst/>
                <a:uLnTx/>
                <a:uFillTx/>
                <a:latin typeface="Helvetica"/>
                <a:ea typeface="+mn-ea"/>
                <a:cs typeface="Helvetica"/>
              </a:rPr>
              <a:t>Student photo</a:t>
            </a:r>
          </a:p>
        </p:txBody>
      </p:sp>
      <p:pic>
        <p:nvPicPr>
          <p:cNvPr id="1026" name="Picture 2" descr="Profile Icon Vector Art, Icons, and Graphics for Free Download">
            <a:extLst>
              <a:ext uri="{FF2B5EF4-FFF2-40B4-BE49-F238E27FC236}">
                <a16:creationId xmlns:a16="http://schemas.microsoft.com/office/drawing/2014/main" id="{77124042-986C-3442-CAB8-90B74189F1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979" y="1762125"/>
            <a:ext cx="3333750" cy="33337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3BBECC87-016D-481C-3A49-851531C34D4B}"/>
              </a:ext>
            </a:extLst>
          </p:cNvPr>
          <p:cNvSpPr/>
          <p:nvPr/>
        </p:nvSpPr>
        <p:spPr>
          <a:xfrm>
            <a:off x="826477" y="1635369"/>
            <a:ext cx="4149969" cy="4384431"/>
          </a:xfrm>
          <a:prstGeom prst="rect">
            <a:avLst/>
          </a:prstGeom>
          <a:noFill/>
          <a:ln w="38100">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B9558260-2E64-B157-F8A2-815F64639DF4}"/>
              </a:ext>
            </a:extLst>
          </p:cNvPr>
          <p:cNvPicPr>
            <a:picLocks noChangeAspect="1"/>
          </p:cNvPicPr>
          <p:nvPr/>
        </p:nvPicPr>
        <p:blipFill>
          <a:blip r:embed="rId3"/>
          <a:stretch>
            <a:fillRect/>
          </a:stretch>
        </p:blipFill>
        <p:spPr>
          <a:xfrm>
            <a:off x="688250" y="1558924"/>
            <a:ext cx="4544163" cy="4544163"/>
          </a:xfrm>
          <a:prstGeom prst="rect">
            <a:avLst/>
          </a:prstGeom>
        </p:spPr>
      </p:pic>
    </p:spTree>
    <p:extLst>
      <p:ext uri="{BB962C8B-B14F-4D97-AF65-F5344CB8AC3E}">
        <p14:creationId xmlns:p14="http://schemas.microsoft.com/office/powerpoint/2010/main" val="2168793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47AE-C0F8-4581-810C-B9050793EF20}"/>
              </a:ext>
            </a:extLst>
          </p:cNvPr>
          <p:cNvSpPr>
            <a:spLocks noGrp="1"/>
          </p:cNvSpPr>
          <p:nvPr>
            <p:ph type="title"/>
          </p:nvPr>
        </p:nvSpPr>
        <p:spPr/>
        <p:txBody>
          <a:bodyPr/>
          <a:lstStyle/>
          <a:p>
            <a:r>
              <a:rPr lang="en-US" dirty="0"/>
              <a:t>Business Profile – Overview </a:t>
            </a:r>
          </a:p>
        </p:txBody>
      </p:sp>
      <p:sp>
        <p:nvSpPr>
          <p:cNvPr id="3" name="Content Placeholder 2">
            <a:extLst>
              <a:ext uri="{FF2B5EF4-FFF2-40B4-BE49-F238E27FC236}">
                <a16:creationId xmlns:a16="http://schemas.microsoft.com/office/drawing/2014/main" id="{38C3113D-D991-4544-B300-092C1DBDCA3E}"/>
              </a:ext>
            </a:extLst>
          </p:cNvPr>
          <p:cNvSpPr>
            <a:spLocks noGrp="1"/>
          </p:cNvSpPr>
          <p:nvPr>
            <p:ph idx="1"/>
          </p:nvPr>
        </p:nvSpPr>
        <p:spPr>
          <a:xfrm>
            <a:off x="609600" y="1600204"/>
            <a:ext cx="10972800" cy="4419597"/>
          </a:xfrm>
        </p:spPr>
        <p:txBody>
          <a:bodyPr>
            <a:normAutofit lnSpcReduction="10000"/>
          </a:bodyPr>
          <a:lstStyle/>
          <a:p>
            <a:r>
              <a:rPr lang="en-US" dirty="0"/>
              <a:t>Business name: Broadcom</a:t>
            </a:r>
          </a:p>
          <a:p>
            <a:r>
              <a:rPr lang="en-US" dirty="0"/>
              <a:t>Business website: </a:t>
            </a:r>
            <a:r>
              <a:rPr lang="en-US" dirty="0">
                <a:hlinkClick r:id="rId3"/>
              </a:rPr>
              <a:t>https://www.broadcom.com/</a:t>
            </a:r>
            <a:endParaRPr lang="en-US" dirty="0"/>
          </a:p>
          <a:p>
            <a:r>
              <a:rPr lang="en-US" dirty="0"/>
              <a:t>Products/services: Semiconductor Solutions &amp; Infrastructure Software</a:t>
            </a:r>
          </a:p>
          <a:p>
            <a:r>
              <a:rPr lang="en-US" dirty="0"/>
              <a:t>Target market(s)/customers: Broadcom’s main segments fall into AI and non-AI categories. Their AI solutions include custom ASIC and networking components for hyper scalers like Google and Meta. Their Non-AI solutions include Semiconductors for smartphone makers like Apple. </a:t>
            </a:r>
          </a:p>
          <a:p>
            <a:r>
              <a:rPr lang="en-US" dirty="0"/>
              <a:t>Top rivals/competitors: Their semiconductor division competitors would be Qorvo, Qualcomm and Marvell. Their enterprise infrastructure solutions would be Microsoft and IBM.</a:t>
            </a:r>
          </a:p>
        </p:txBody>
      </p:sp>
    </p:spTree>
    <p:extLst>
      <p:ext uri="{BB962C8B-B14F-4D97-AF65-F5344CB8AC3E}">
        <p14:creationId xmlns:p14="http://schemas.microsoft.com/office/powerpoint/2010/main" val="3540148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0A571-32E2-B138-C3A7-CCD2F655D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77FFC-1C6E-3BF7-CFF8-51793921B232}"/>
              </a:ext>
            </a:extLst>
          </p:cNvPr>
          <p:cNvSpPr>
            <a:spLocks noGrp="1"/>
          </p:cNvSpPr>
          <p:nvPr>
            <p:ph type="title"/>
          </p:nvPr>
        </p:nvSpPr>
        <p:spPr/>
        <p:txBody>
          <a:bodyPr/>
          <a:lstStyle/>
          <a:p>
            <a:r>
              <a:rPr lang="en-US" dirty="0"/>
              <a:t>Business Profile – Overview </a:t>
            </a:r>
          </a:p>
        </p:txBody>
      </p:sp>
      <p:sp>
        <p:nvSpPr>
          <p:cNvPr id="3" name="Content Placeholder 2">
            <a:extLst>
              <a:ext uri="{FF2B5EF4-FFF2-40B4-BE49-F238E27FC236}">
                <a16:creationId xmlns:a16="http://schemas.microsoft.com/office/drawing/2014/main" id="{74743F5E-4AA6-A5AF-32CA-7A206FC8840A}"/>
              </a:ext>
            </a:extLst>
          </p:cNvPr>
          <p:cNvSpPr>
            <a:spLocks noGrp="1"/>
          </p:cNvSpPr>
          <p:nvPr>
            <p:ph idx="1"/>
          </p:nvPr>
        </p:nvSpPr>
        <p:spPr>
          <a:xfrm>
            <a:off x="609600" y="1600204"/>
            <a:ext cx="10972800" cy="4419597"/>
          </a:xfrm>
        </p:spPr>
        <p:txBody>
          <a:bodyPr>
            <a:normAutofit/>
          </a:bodyPr>
          <a:lstStyle/>
          <a:p>
            <a:endParaRPr lang="en-US" dirty="0"/>
          </a:p>
          <a:p>
            <a:endParaRPr lang="en-US" dirty="0"/>
          </a:p>
          <a:p>
            <a:r>
              <a:rPr lang="en-US" dirty="0"/>
              <a:t>Business name: WSD – Wireless Semiconductor Division</a:t>
            </a:r>
          </a:p>
          <a:p>
            <a:r>
              <a:rPr lang="en-US" dirty="0"/>
              <a:t>Business website: </a:t>
            </a:r>
            <a:r>
              <a:rPr lang="en-US" dirty="0">
                <a:hlinkClick r:id="rId3"/>
              </a:rPr>
              <a:t>https://www.broadcom.com/</a:t>
            </a:r>
            <a:endParaRPr lang="en-US" dirty="0"/>
          </a:p>
          <a:p>
            <a:r>
              <a:rPr lang="en-US" dirty="0"/>
              <a:t>Products/services: RF Filters </a:t>
            </a:r>
          </a:p>
          <a:p>
            <a:r>
              <a:rPr lang="en-US" dirty="0"/>
              <a:t>Target market(s)/customers: Smart phone makers such as Apple, Samsung, and Google</a:t>
            </a:r>
          </a:p>
          <a:p>
            <a:r>
              <a:rPr lang="en-US" dirty="0"/>
              <a:t>Top rivals/competitors: Their semiconductor and networking competitors would be Qualcomm, Qorvo, and Marvell.</a:t>
            </a:r>
          </a:p>
        </p:txBody>
      </p:sp>
      <p:sp>
        <p:nvSpPr>
          <p:cNvPr id="4" name="Rectangle: Rounded Corners 3">
            <a:extLst>
              <a:ext uri="{FF2B5EF4-FFF2-40B4-BE49-F238E27FC236}">
                <a16:creationId xmlns:a16="http://schemas.microsoft.com/office/drawing/2014/main" id="{A72C9966-E2C1-76DA-63F9-1AA2047FA0F1}"/>
              </a:ext>
            </a:extLst>
          </p:cNvPr>
          <p:cNvSpPr/>
          <p:nvPr/>
        </p:nvSpPr>
        <p:spPr>
          <a:xfrm>
            <a:off x="608076" y="1600204"/>
            <a:ext cx="10972799" cy="584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Note to IC: </a:t>
            </a:r>
            <a:r>
              <a:rPr lang="en-US" dirty="0"/>
              <a:t>In this assignment I will focus on the Wireless Semiconductor Division of Broadcom </a:t>
            </a:r>
          </a:p>
          <a:p>
            <a:pPr algn="ctr"/>
            <a:r>
              <a:rPr lang="en-US" dirty="0"/>
              <a:t>which is located here in Fort Collins Colorado</a:t>
            </a:r>
          </a:p>
        </p:txBody>
      </p:sp>
    </p:spTree>
    <p:extLst>
      <p:ext uri="{BB962C8B-B14F-4D97-AF65-F5344CB8AC3E}">
        <p14:creationId xmlns:p14="http://schemas.microsoft.com/office/powerpoint/2010/main" val="332974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153397" y="4797631"/>
            <a:ext cx="5842000" cy="1752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7" name="Rectangle 6"/>
          <p:cNvSpPr/>
          <p:nvPr/>
        </p:nvSpPr>
        <p:spPr>
          <a:xfrm rot="16200000">
            <a:off x="-243774" y="1912258"/>
            <a:ext cx="3433948" cy="233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8" name="Rectangle 7"/>
          <p:cNvSpPr/>
          <p:nvPr/>
        </p:nvSpPr>
        <p:spPr>
          <a:xfrm rot="16200000">
            <a:off x="4429826" y="1912257"/>
            <a:ext cx="3433948" cy="2336800"/>
          </a:xfrm>
          <a:prstGeom prst="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9" name="Rectangle 8"/>
          <p:cNvSpPr/>
          <p:nvPr/>
        </p:nvSpPr>
        <p:spPr>
          <a:xfrm rot="16200000">
            <a:off x="9087593" y="1912256"/>
            <a:ext cx="3433948" cy="2336800"/>
          </a:xfrm>
          <a:prstGeom prst="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0" name="Rectangle 9"/>
          <p:cNvSpPr/>
          <p:nvPr/>
        </p:nvSpPr>
        <p:spPr>
          <a:xfrm rot="16200000">
            <a:off x="2951514" y="1053771"/>
            <a:ext cx="1716974" cy="233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1" name="Rectangle 10"/>
          <p:cNvSpPr/>
          <p:nvPr/>
        </p:nvSpPr>
        <p:spPr>
          <a:xfrm rot="16200000">
            <a:off x="2951512" y="2770744"/>
            <a:ext cx="1716974" cy="233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2" name="Rectangle 11"/>
          <p:cNvSpPr/>
          <p:nvPr/>
        </p:nvSpPr>
        <p:spPr>
          <a:xfrm rot="16200000">
            <a:off x="7625114" y="2770744"/>
            <a:ext cx="1716974" cy="2336800"/>
          </a:xfrm>
          <a:prstGeom prst="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3" name="Rectangle 12"/>
          <p:cNvSpPr/>
          <p:nvPr/>
        </p:nvSpPr>
        <p:spPr>
          <a:xfrm rot="16200000">
            <a:off x="7625114" y="1053771"/>
            <a:ext cx="1716974" cy="2336800"/>
          </a:xfrm>
          <a:prstGeom prst="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4" name="Rectangle 13"/>
          <p:cNvSpPr/>
          <p:nvPr/>
        </p:nvSpPr>
        <p:spPr>
          <a:xfrm rot="16200000">
            <a:off x="-243773" y="1912258"/>
            <a:ext cx="3433948" cy="2336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5" name="Rectangle 14"/>
          <p:cNvSpPr/>
          <p:nvPr/>
        </p:nvSpPr>
        <p:spPr>
          <a:xfrm rot="16200000">
            <a:off x="2951515" y="1053771"/>
            <a:ext cx="1716974" cy="2336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6" name="Rectangle 15"/>
          <p:cNvSpPr/>
          <p:nvPr/>
        </p:nvSpPr>
        <p:spPr>
          <a:xfrm rot="16200000">
            <a:off x="2951514" y="2770744"/>
            <a:ext cx="1716974" cy="2336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7" name="TextBox 16"/>
          <p:cNvSpPr txBox="1"/>
          <p:nvPr/>
        </p:nvSpPr>
        <p:spPr>
          <a:xfrm>
            <a:off x="9652001" y="1363683"/>
            <a:ext cx="2219367" cy="356140"/>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Customer Segments</a:t>
            </a:r>
          </a:p>
        </p:txBody>
      </p:sp>
      <p:sp>
        <p:nvSpPr>
          <p:cNvPr id="19" name="TextBox 18"/>
          <p:cNvSpPr txBox="1"/>
          <p:nvPr/>
        </p:nvSpPr>
        <p:spPr>
          <a:xfrm>
            <a:off x="6400801" y="4876801"/>
            <a:ext cx="2219367" cy="356140"/>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Revenue Streams</a:t>
            </a:r>
          </a:p>
        </p:txBody>
      </p:sp>
      <p:sp>
        <p:nvSpPr>
          <p:cNvPr id="20" name="TextBox 19"/>
          <p:cNvSpPr txBox="1"/>
          <p:nvPr/>
        </p:nvSpPr>
        <p:spPr>
          <a:xfrm>
            <a:off x="5037117" y="1366661"/>
            <a:ext cx="2219367" cy="356140"/>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Value Propositions</a:t>
            </a:r>
          </a:p>
        </p:txBody>
      </p:sp>
      <p:sp>
        <p:nvSpPr>
          <p:cNvPr id="21" name="TextBox 20"/>
          <p:cNvSpPr txBox="1"/>
          <p:nvPr/>
        </p:nvSpPr>
        <p:spPr>
          <a:xfrm>
            <a:off x="344385" y="1367659"/>
            <a:ext cx="2219367" cy="356140"/>
          </a:xfrm>
          <a:prstGeom prst="rect">
            <a:avLst/>
          </a:prstGeom>
          <a:noFill/>
        </p:spPr>
        <p:txBody>
          <a:bodyPr wrap="square" lIns="108856" tIns="54428" rIns="108856" bIns="54428" rtlCol="0">
            <a:spAutoFit/>
          </a:bodyPr>
          <a:lstStyle/>
          <a:p>
            <a:r>
              <a:rPr lang="en-US" sz="1600" b="1" i="1" dirty="0">
                <a:latin typeface="Arial" panose="020B0604020202020204" pitchFamily="34" charset="0"/>
                <a:cs typeface="Arial" panose="020B0604020202020204" pitchFamily="34" charset="0"/>
              </a:rPr>
              <a:t>Key Partners</a:t>
            </a:r>
          </a:p>
        </p:txBody>
      </p:sp>
      <p:sp>
        <p:nvSpPr>
          <p:cNvPr id="22" name="TextBox 21"/>
          <p:cNvSpPr txBox="1"/>
          <p:nvPr/>
        </p:nvSpPr>
        <p:spPr>
          <a:xfrm>
            <a:off x="2677227" y="3083635"/>
            <a:ext cx="2219367" cy="356140"/>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Key Resources</a:t>
            </a:r>
          </a:p>
        </p:txBody>
      </p:sp>
      <p:sp>
        <p:nvSpPr>
          <p:cNvPr id="23" name="TextBox 22"/>
          <p:cNvSpPr txBox="1"/>
          <p:nvPr/>
        </p:nvSpPr>
        <p:spPr>
          <a:xfrm>
            <a:off x="2770910" y="1384489"/>
            <a:ext cx="2219367" cy="356140"/>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Key Activities</a:t>
            </a:r>
          </a:p>
        </p:txBody>
      </p:sp>
      <p:sp>
        <p:nvSpPr>
          <p:cNvPr id="24" name="TextBox 23"/>
          <p:cNvSpPr txBox="1"/>
          <p:nvPr/>
        </p:nvSpPr>
        <p:spPr>
          <a:xfrm>
            <a:off x="7443190" y="3083635"/>
            <a:ext cx="2219367" cy="356140"/>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Channels</a:t>
            </a:r>
          </a:p>
        </p:txBody>
      </p:sp>
      <p:sp>
        <p:nvSpPr>
          <p:cNvPr id="25" name="TextBox 24"/>
          <p:cNvSpPr txBox="1"/>
          <p:nvPr/>
        </p:nvSpPr>
        <p:spPr>
          <a:xfrm>
            <a:off x="7373917" y="1367658"/>
            <a:ext cx="2219367" cy="602362"/>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Customer Relationships</a:t>
            </a:r>
          </a:p>
        </p:txBody>
      </p:sp>
      <p:sp>
        <p:nvSpPr>
          <p:cNvPr id="26" name="Title 1"/>
          <p:cNvSpPr>
            <a:spLocks noGrp="1"/>
          </p:cNvSpPr>
          <p:nvPr>
            <p:ph type="title"/>
          </p:nvPr>
        </p:nvSpPr>
        <p:spPr>
          <a:xfrm>
            <a:off x="0" y="-19759"/>
            <a:ext cx="12192000" cy="1143000"/>
          </a:xfrm>
        </p:spPr>
        <p:txBody>
          <a:bodyPr>
            <a:noAutofit/>
          </a:bodyPr>
          <a:lstStyle/>
          <a:p>
            <a:r>
              <a:rPr lang="en-US" sz="4400" dirty="0"/>
              <a:t>Business Model Canvas</a:t>
            </a:r>
            <a:br>
              <a:rPr lang="en-US" sz="4400" dirty="0"/>
            </a:br>
            <a:r>
              <a:rPr lang="en-US" sz="933" dirty="0"/>
              <a:t>www.businessmodelgeneration.com</a:t>
            </a:r>
            <a:endParaRPr lang="en-US" sz="4400" dirty="0"/>
          </a:p>
        </p:txBody>
      </p:sp>
      <p:sp>
        <p:nvSpPr>
          <p:cNvPr id="5" name="Rectangle 4"/>
          <p:cNvSpPr/>
          <p:nvPr/>
        </p:nvSpPr>
        <p:spPr>
          <a:xfrm>
            <a:off x="304800" y="4800600"/>
            <a:ext cx="5842000" cy="1752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8" name="TextBox 17"/>
          <p:cNvSpPr txBox="1"/>
          <p:nvPr/>
        </p:nvSpPr>
        <p:spPr>
          <a:xfrm>
            <a:off x="422235" y="4876799"/>
            <a:ext cx="2219367" cy="356140"/>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Cost Structure</a:t>
            </a:r>
          </a:p>
        </p:txBody>
      </p:sp>
      <p:sp>
        <p:nvSpPr>
          <p:cNvPr id="27" name="TextBox 26"/>
          <p:cNvSpPr txBox="1"/>
          <p:nvPr/>
        </p:nvSpPr>
        <p:spPr>
          <a:xfrm>
            <a:off x="9753601" y="1809407"/>
            <a:ext cx="2144156" cy="2850541"/>
          </a:xfrm>
          <a:prstGeom prst="rect">
            <a:avLst/>
          </a:prstGeom>
          <a:noFill/>
        </p:spPr>
        <p:txBody>
          <a:bodyPr wrap="square" rtlCol="0">
            <a:normAutofit/>
          </a:bodyPr>
          <a:lstStyle>
            <a:defPPr>
              <a:defRPr lang="en-US"/>
            </a:defPPr>
            <a:lvl1pPr marL="228600" indent="-228600">
              <a:buFont typeface="Arial" panose="020B0604020202020204" pitchFamily="34" charset="0"/>
              <a:buChar char="•"/>
              <a:defRPr sz="3200">
                <a:solidFill>
                  <a:srgbClr val="30813A"/>
                </a:solidFill>
              </a:defRPr>
            </a:lvl1pPr>
          </a:lstStyle>
          <a:p>
            <a:r>
              <a:rPr lang="en-US" sz="2400" dirty="0"/>
              <a:t>Leading smartphone OEMs (Apple, Samsung, Google).</a:t>
            </a:r>
          </a:p>
          <a:p>
            <a:r>
              <a:rPr lang="en-US" sz="2400" dirty="0">
                <a:latin typeface="Arial" panose="020B0604020202020204" pitchFamily="34" charset="0"/>
                <a:cs typeface="Arial" panose="020B0604020202020204" pitchFamily="34" charset="0"/>
              </a:rPr>
              <a:t>Apple primary</a:t>
            </a:r>
            <a:endParaRPr lang="en-US" sz="2133" dirty="0">
              <a:latin typeface="Arial" panose="020B0604020202020204" pitchFamily="34" charset="0"/>
              <a:cs typeface="Arial" panose="020B0604020202020204" pitchFamily="34" charset="0"/>
            </a:endParaRPr>
          </a:p>
        </p:txBody>
      </p:sp>
      <p:sp>
        <p:nvSpPr>
          <p:cNvPr id="28" name="TextBox 27"/>
          <p:cNvSpPr txBox="1"/>
          <p:nvPr/>
        </p:nvSpPr>
        <p:spPr>
          <a:xfrm>
            <a:off x="5037117" y="1773238"/>
            <a:ext cx="2192317" cy="2934811"/>
          </a:xfrm>
          <a:prstGeom prst="rect">
            <a:avLst/>
          </a:prstGeom>
          <a:noFill/>
        </p:spPr>
        <p:txBody>
          <a:bodyPr wrap="square" rtlCol="0">
            <a:normAutofit/>
          </a:bodyPr>
          <a:lstStyle/>
          <a:p>
            <a:pPr marL="152408" indent="-152408">
              <a:buFont typeface="Arial" panose="020B0604020202020204" pitchFamily="34" charset="0"/>
              <a:buChar char="•"/>
            </a:pPr>
            <a:r>
              <a:rPr lang="en-US" sz="2133" dirty="0">
                <a:solidFill>
                  <a:srgbClr val="30813A"/>
                </a:solidFill>
                <a:latin typeface="Arial" panose="020B0604020202020204" pitchFamily="34" charset="0"/>
                <a:cs typeface="Arial" panose="020B0604020202020204" pitchFamily="34" charset="0"/>
              </a:rPr>
              <a:t>Broadcom offers the worlds best RF filters that enable cellular communication in advanced smartphones</a:t>
            </a:r>
          </a:p>
        </p:txBody>
      </p:sp>
      <p:sp>
        <p:nvSpPr>
          <p:cNvPr id="29" name="TextBox 28"/>
          <p:cNvSpPr txBox="1"/>
          <p:nvPr/>
        </p:nvSpPr>
        <p:spPr>
          <a:xfrm>
            <a:off x="7443191" y="3452141"/>
            <a:ext cx="2074883" cy="1255908"/>
          </a:xfrm>
          <a:prstGeom prst="rect">
            <a:avLst/>
          </a:prstGeom>
          <a:noFill/>
        </p:spPr>
        <p:txBody>
          <a:bodyPr wrap="square" rtlCol="0">
            <a:normAutofit/>
          </a:bodyPr>
          <a:lstStyle/>
          <a:p>
            <a:pPr marL="152408" indent="-152408">
              <a:buFont typeface="Arial" panose="020B0604020202020204" pitchFamily="34" charset="0"/>
              <a:buChar char="•"/>
            </a:pPr>
            <a:r>
              <a:rPr lang="en-US" sz="2133" dirty="0">
                <a:solidFill>
                  <a:srgbClr val="30813A"/>
                </a:solidFill>
                <a:latin typeface="Arial" panose="020B0604020202020204" pitchFamily="34" charset="0"/>
                <a:cs typeface="Arial" panose="020B0604020202020204" pitchFamily="34" charset="0"/>
              </a:rPr>
              <a:t>B2B Direct</a:t>
            </a:r>
          </a:p>
        </p:txBody>
      </p:sp>
      <p:sp>
        <p:nvSpPr>
          <p:cNvPr id="30" name="TextBox 29"/>
          <p:cNvSpPr txBox="1"/>
          <p:nvPr/>
        </p:nvSpPr>
        <p:spPr>
          <a:xfrm>
            <a:off x="7416801" y="1905000"/>
            <a:ext cx="2149431" cy="1096487"/>
          </a:xfrm>
          <a:prstGeom prst="rect">
            <a:avLst/>
          </a:prstGeom>
          <a:noFill/>
        </p:spPr>
        <p:txBody>
          <a:bodyPr wrap="square" rtlCol="0">
            <a:normAutofit fontScale="62500" lnSpcReduction="20000"/>
          </a:bodyPr>
          <a:lstStyle/>
          <a:p>
            <a:pPr marL="152408" indent="-152408">
              <a:buFont typeface="Arial" panose="020B0604020202020204" pitchFamily="34" charset="0"/>
              <a:buChar char="•"/>
            </a:pPr>
            <a:r>
              <a:rPr lang="en-US" sz="2133" dirty="0">
                <a:solidFill>
                  <a:srgbClr val="30813A"/>
                </a:solidFill>
                <a:latin typeface="Arial" panose="020B0604020202020204" pitchFamily="34" charset="0"/>
                <a:cs typeface="Arial" panose="020B0604020202020204" pitchFamily="34" charset="0"/>
              </a:rPr>
              <a:t>Dedicated Assistance + Co-Creation</a:t>
            </a:r>
          </a:p>
          <a:p>
            <a:pPr marL="152408" indent="-152408">
              <a:buFont typeface="Arial" panose="020B0604020202020204" pitchFamily="34" charset="0"/>
              <a:buChar char="•"/>
            </a:pPr>
            <a:r>
              <a:rPr lang="en-US" sz="2133" dirty="0">
                <a:solidFill>
                  <a:srgbClr val="30813A"/>
                </a:solidFill>
                <a:latin typeface="Arial" panose="020B0604020202020204" pitchFamily="34" charset="0"/>
                <a:cs typeface="Arial" panose="020B0604020202020204" pitchFamily="34" charset="0"/>
              </a:rPr>
              <a:t>Multi-year design wins and joint roadmaps</a:t>
            </a:r>
          </a:p>
        </p:txBody>
      </p:sp>
      <p:sp>
        <p:nvSpPr>
          <p:cNvPr id="31" name="TextBox 30"/>
          <p:cNvSpPr txBox="1"/>
          <p:nvPr/>
        </p:nvSpPr>
        <p:spPr>
          <a:xfrm>
            <a:off x="6205517" y="5167008"/>
            <a:ext cx="5665851" cy="1293641"/>
          </a:xfrm>
          <a:prstGeom prst="rect">
            <a:avLst/>
          </a:prstGeom>
          <a:noFill/>
        </p:spPr>
        <p:txBody>
          <a:bodyPr wrap="square" rtlCol="0">
            <a:normAutofit/>
          </a:bodyPr>
          <a:lstStyle/>
          <a:p>
            <a:pPr marL="152408" indent="-152408">
              <a:buFont typeface="Arial" panose="020B0604020202020204" pitchFamily="34" charset="0"/>
              <a:buChar char="•"/>
            </a:pPr>
            <a:r>
              <a:rPr lang="en-US" sz="2133" dirty="0">
                <a:solidFill>
                  <a:srgbClr val="30813A"/>
                </a:solidFill>
                <a:latin typeface="Arial" panose="020B0604020202020204" pitchFamily="34" charset="0"/>
                <a:cs typeface="Arial" panose="020B0604020202020204" pitchFamily="34" charset="0"/>
              </a:rPr>
              <a:t>Asset Sales of Filters</a:t>
            </a:r>
          </a:p>
          <a:p>
            <a:pPr marL="609608" lvl="1" indent="-152408">
              <a:buFont typeface="Arial" panose="020B0604020202020204" pitchFamily="34" charset="0"/>
              <a:buChar char="•"/>
            </a:pPr>
            <a:r>
              <a:rPr lang="en-US" sz="2133" dirty="0">
                <a:solidFill>
                  <a:srgbClr val="30813A"/>
                </a:solidFill>
                <a:latin typeface="Arial" panose="020B0604020202020204" pitchFamily="34" charset="0"/>
                <a:cs typeface="Arial" panose="020B0604020202020204" pitchFamily="34" charset="0"/>
              </a:rPr>
              <a:t>Volume dependent price, negotiated</a:t>
            </a:r>
          </a:p>
        </p:txBody>
      </p:sp>
      <p:sp>
        <p:nvSpPr>
          <p:cNvPr id="32" name="TextBox 31"/>
          <p:cNvSpPr txBox="1"/>
          <p:nvPr/>
        </p:nvSpPr>
        <p:spPr>
          <a:xfrm>
            <a:off x="2692400" y="3413908"/>
            <a:ext cx="2247077" cy="1294141"/>
          </a:xfrm>
          <a:prstGeom prst="rect">
            <a:avLst/>
          </a:prstGeom>
          <a:noFill/>
        </p:spPr>
        <p:txBody>
          <a:bodyPr wrap="square" rtlCol="0">
            <a:normAutofit fontScale="40000" lnSpcReduction="20000"/>
          </a:bodyPr>
          <a:lstStyle/>
          <a:p>
            <a:pPr marL="152408" indent="-152408">
              <a:buFont typeface="Arial" panose="020B0604020202020204" pitchFamily="34" charset="0"/>
              <a:buChar char="•"/>
            </a:pPr>
            <a:r>
              <a:rPr lang="en-US" sz="1867" dirty="0">
                <a:solidFill>
                  <a:srgbClr val="30813A"/>
                </a:solidFill>
                <a:latin typeface="Arial" panose="020B0604020202020204" pitchFamily="34" charset="0"/>
                <a:cs typeface="Arial" panose="020B0604020202020204" pitchFamily="34" charset="0"/>
              </a:rPr>
              <a:t>Physical:</a:t>
            </a:r>
          </a:p>
          <a:p>
            <a:pPr marL="609608" lvl="1" indent="-152408">
              <a:buFont typeface="Arial" panose="020B0604020202020204" pitchFamily="34" charset="0"/>
              <a:buChar char="•"/>
            </a:pPr>
            <a:r>
              <a:rPr lang="en-US" sz="1867" dirty="0">
                <a:solidFill>
                  <a:srgbClr val="30813A"/>
                </a:solidFill>
                <a:latin typeface="Arial" panose="020B0604020202020204" pitchFamily="34" charset="0"/>
                <a:cs typeface="Arial" panose="020B0604020202020204" pitchFamily="34" charset="0"/>
              </a:rPr>
              <a:t>Factory</a:t>
            </a:r>
          </a:p>
          <a:p>
            <a:pPr marL="609608" lvl="1" indent="-152408">
              <a:buFont typeface="Arial" panose="020B0604020202020204" pitchFamily="34" charset="0"/>
              <a:buChar char="•"/>
            </a:pPr>
            <a:r>
              <a:rPr lang="en-US" sz="1867" dirty="0">
                <a:solidFill>
                  <a:srgbClr val="30813A"/>
                </a:solidFill>
                <a:latin typeface="Arial" panose="020B0604020202020204" pitchFamily="34" charset="0"/>
                <a:cs typeface="Arial" panose="020B0604020202020204" pitchFamily="34" charset="0"/>
              </a:rPr>
              <a:t>Equipment</a:t>
            </a:r>
          </a:p>
          <a:p>
            <a:pPr marL="609608" lvl="1" indent="-152408">
              <a:buFont typeface="Arial" panose="020B0604020202020204" pitchFamily="34" charset="0"/>
              <a:buChar char="•"/>
            </a:pPr>
            <a:r>
              <a:rPr lang="en-US" sz="1867" dirty="0">
                <a:solidFill>
                  <a:srgbClr val="30813A"/>
                </a:solidFill>
                <a:latin typeface="Arial" panose="020B0604020202020204" pitchFamily="34" charset="0"/>
                <a:cs typeface="Arial" panose="020B0604020202020204" pitchFamily="34" charset="0"/>
              </a:rPr>
              <a:t>Chemicals/Consumables</a:t>
            </a:r>
          </a:p>
          <a:p>
            <a:pPr marL="152408" indent="-152408">
              <a:buFont typeface="Arial" panose="020B0604020202020204" pitchFamily="34" charset="0"/>
              <a:buChar char="•"/>
            </a:pPr>
            <a:r>
              <a:rPr lang="en-US" sz="1867" dirty="0" err="1">
                <a:solidFill>
                  <a:srgbClr val="30813A"/>
                </a:solidFill>
                <a:latin typeface="Arial" panose="020B0604020202020204" pitchFamily="34" charset="0"/>
                <a:cs typeface="Arial" panose="020B0604020202020204" pitchFamily="34" charset="0"/>
              </a:rPr>
              <a:t>Inellectual</a:t>
            </a:r>
            <a:endParaRPr lang="en-US" sz="1867" dirty="0">
              <a:solidFill>
                <a:srgbClr val="30813A"/>
              </a:solidFill>
              <a:latin typeface="Arial" panose="020B0604020202020204" pitchFamily="34" charset="0"/>
              <a:cs typeface="Arial" panose="020B0604020202020204" pitchFamily="34" charset="0"/>
            </a:endParaRPr>
          </a:p>
          <a:p>
            <a:pPr marL="609608" lvl="1" indent="-152408">
              <a:buFont typeface="Arial" panose="020B0604020202020204" pitchFamily="34" charset="0"/>
              <a:buChar char="•"/>
            </a:pPr>
            <a:r>
              <a:rPr lang="en-US" sz="1867" dirty="0" err="1">
                <a:solidFill>
                  <a:srgbClr val="30813A"/>
                </a:solidFill>
                <a:latin typeface="Arial" panose="020B0604020202020204" pitchFamily="34" charset="0"/>
                <a:cs typeface="Arial" panose="020B0604020202020204" pitchFamily="34" charset="0"/>
              </a:rPr>
              <a:t>Propriatary</a:t>
            </a:r>
            <a:r>
              <a:rPr lang="en-US" sz="1867" dirty="0">
                <a:solidFill>
                  <a:srgbClr val="30813A"/>
                </a:solidFill>
                <a:latin typeface="Arial" panose="020B0604020202020204" pitchFamily="34" charset="0"/>
                <a:cs typeface="Arial" panose="020B0604020202020204" pitchFamily="34" charset="0"/>
              </a:rPr>
              <a:t> knowledge</a:t>
            </a:r>
          </a:p>
          <a:p>
            <a:pPr marL="609608" lvl="1" indent="-152408">
              <a:buFont typeface="Arial" panose="020B0604020202020204" pitchFamily="34" charset="0"/>
              <a:buChar char="•"/>
            </a:pPr>
            <a:r>
              <a:rPr lang="en-US" sz="1867" dirty="0">
                <a:solidFill>
                  <a:srgbClr val="30813A"/>
                </a:solidFill>
                <a:latin typeface="Arial" panose="020B0604020202020204" pitchFamily="34" charset="0"/>
                <a:cs typeface="Arial" panose="020B0604020202020204" pitchFamily="34" charset="0"/>
              </a:rPr>
              <a:t>Patents</a:t>
            </a:r>
          </a:p>
          <a:p>
            <a:pPr marL="152408" indent="-152408">
              <a:buFont typeface="Arial" panose="020B0604020202020204" pitchFamily="34" charset="0"/>
              <a:buChar char="•"/>
            </a:pPr>
            <a:r>
              <a:rPr lang="en-US" sz="1867" dirty="0">
                <a:solidFill>
                  <a:srgbClr val="30813A"/>
                </a:solidFill>
                <a:latin typeface="Arial" panose="020B0604020202020204" pitchFamily="34" charset="0"/>
                <a:cs typeface="Arial" panose="020B0604020202020204" pitchFamily="34" charset="0"/>
              </a:rPr>
              <a:t>Human</a:t>
            </a:r>
          </a:p>
          <a:p>
            <a:pPr marL="609608" lvl="1" indent="-152408">
              <a:buFont typeface="Arial" panose="020B0604020202020204" pitchFamily="34" charset="0"/>
              <a:buChar char="•"/>
            </a:pPr>
            <a:r>
              <a:rPr lang="en-US" sz="1867" dirty="0">
                <a:solidFill>
                  <a:srgbClr val="30813A"/>
                </a:solidFill>
                <a:latin typeface="Arial" panose="020B0604020202020204" pitchFamily="34" charset="0"/>
                <a:cs typeface="Arial" panose="020B0604020202020204" pitchFamily="34" charset="0"/>
              </a:rPr>
              <a:t>Employees</a:t>
            </a:r>
          </a:p>
          <a:p>
            <a:pPr marL="609608" lvl="1" indent="-152408">
              <a:buFont typeface="Arial" panose="020B0604020202020204" pitchFamily="34" charset="0"/>
              <a:buChar char="•"/>
            </a:pPr>
            <a:r>
              <a:rPr lang="en-US" sz="1867" dirty="0">
                <a:solidFill>
                  <a:srgbClr val="30813A"/>
                </a:solidFill>
                <a:latin typeface="Arial" panose="020B0604020202020204" pitchFamily="34" charset="0"/>
                <a:cs typeface="Arial" panose="020B0604020202020204" pitchFamily="34" charset="0"/>
              </a:rPr>
              <a:t>Contractors</a:t>
            </a:r>
          </a:p>
          <a:p>
            <a:pPr marL="152408" indent="-152408">
              <a:buFont typeface="Arial" panose="020B0604020202020204" pitchFamily="34" charset="0"/>
              <a:buChar char="•"/>
            </a:pPr>
            <a:r>
              <a:rPr lang="en-US" sz="1867" dirty="0">
                <a:solidFill>
                  <a:srgbClr val="30813A"/>
                </a:solidFill>
                <a:latin typeface="Arial" panose="020B0604020202020204" pitchFamily="34" charset="0"/>
                <a:cs typeface="Arial" panose="020B0604020202020204" pitchFamily="34" charset="0"/>
              </a:rPr>
              <a:t>Financial</a:t>
            </a:r>
          </a:p>
          <a:p>
            <a:pPr marL="609608" lvl="1" indent="-152408">
              <a:buFont typeface="Arial" panose="020B0604020202020204" pitchFamily="34" charset="0"/>
              <a:buChar char="•"/>
            </a:pPr>
            <a:r>
              <a:rPr lang="en-US" sz="1867" dirty="0" err="1">
                <a:solidFill>
                  <a:srgbClr val="30813A"/>
                </a:solidFill>
                <a:latin typeface="Arial" panose="020B0604020202020204" pitchFamily="34" charset="0"/>
                <a:cs typeface="Arial" panose="020B0604020202020204" pitchFamily="34" charset="0"/>
              </a:rPr>
              <a:t>CapEx</a:t>
            </a:r>
            <a:endParaRPr lang="en-US" sz="1867" dirty="0">
              <a:solidFill>
                <a:srgbClr val="30813A"/>
              </a:solidFill>
              <a:latin typeface="Arial" panose="020B0604020202020204" pitchFamily="34" charset="0"/>
              <a:cs typeface="Arial" panose="020B0604020202020204" pitchFamily="34" charset="0"/>
            </a:endParaRPr>
          </a:p>
          <a:p>
            <a:pPr marL="609608" lvl="1" indent="-152408">
              <a:buFont typeface="Arial" panose="020B0604020202020204" pitchFamily="34" charset="0"/>
              <a:buChar char="•"/>
            </a:pPr>
            <a:r>
              <a:rPr lang="en-US" sz="1867" dirty="0">
                <a:solidFill>
                  <a:srgbClr val="30813A"/>
                </a:solidFill>
                <a:latin typeface="Arial" panose="020B0604020202020204" pitchFamily="34" charset="0"/>
                <a:cs typeface="Arial" panose="020B0604020202020204" pitchFamily="34" charset="0"/>
              </a:rPr>
              <a:t>Working Capital</a:t>
            </a:r>
          </a:p>
          <a:p>
            <a:pPr marL="152408" indent="-152408">
              <a:buFont typeface="Arial" panose="020B0604020202020204" pitchFamily="34" charset="0"/>
              <a:buChar char="•"/>
            </a:pPr>
            <a:endParaRPr lang="en-US" sz="1867" dirty="0">
              <a:solidFill>
                <a:srgbClr val="30813A"/>
              </a:solidFill>
              <a:latin typeface="Arial" panose="020B0604020202020204" pitchFamily="34" charset="0"/>
              <a:cs typeface="Arial" panose="020B0604020202020204" pitchFamily="34" charset="0"/>
            </a:endParaRPr>
          </a:p>
        </p:txBody>
      </p:sp>
      <p:sp>
        <p:nvSpPr>
          <p:cNvPr id="33" name="TextBox 32"/>
          <p:cNvSpPr txBox="1"/>
          <p:nvPr/>
        </p:nvSpPr>
        <p:spPr>
          <a:xfrm>
            <a:off x="2692400" y="1701800"/>
            <a:ext cx="2247077" cy="1249640"/>
          </a:xfrm>
          <a:prstGeom prst="rect">
            <a:avLst/>
          </a:prstGeom>
          <a:noFill/>
        </p:spPr>
        <p:txBody>
          <a:bodyPr wrap="square" rtlCol="0">
            <a:normAutofit fontScale="85000" lnSpcReduction="10000"/>
          </a:bodyPr>
          <a:lstStyle/>
          <a:p>
            <a:pPr marL="152408" indent="-152408">
              <a:buFont typeface="Arial" panose="020B0604020202020204" pitchFamily="34" charset="0"/>
              <a:buChar char="•"/>
            </a:pPr>
            <a:r>
              <a:rPr lang="en-US" sz="1867" dirty="0">
                <a:solidFill>
                  <a:srgbClr val="30813A"/>
                </a:solidFill>
                <a:latin typeface="Arial" panose="020B0604020202020204" pitchFamily="34" charset="0"/>
                <a:cs typeface="Arial" panose="020B0604020202020204" pitchFamily="34" charset="0"/>
              </a:rPr>
              <a:t>Manufacturing</a:t>
            </a:r>
          </a:p>
          <a:p>
            <a:pPr marL="152408" indent="-152408">
              <a:buFont typeface="Arial" panose="020B0604020202020204" pitchFamily="34" charset="0"/>
              <a:buChar char="•"/>
            </a:pPr>
            <a:r>
              <a:rPr lang="en-US" sz="1867" dirty="0">
                <a:solidFill>
                  <a:srgbClr val="30813A"/>
                </a:solidFill>
                <a:latin typeface="Arial" panose="020B0604020202020204" pitchFamily="34" charset="0"/>
                <a:cs typeface="Arial" panose="020B0604020202020204" pitchFamily="34" charset="0"/>
              </a:rPr>
              <a:t>R&amp;D</a:t>
            </a:r>
          </a:p>
          <a:p>
            <a:pPr marL="152408" indent="-152408">
              <a:buFont typeface="Arial" panose="020B0604020202020204" pitchFamily="34" charset="0"/>
              <a:buChar char="•"/>
            </a:pPr>
            <a:r>
              <a:rPr lang="en-US" sz="1867" dirty="0">
                <a:solidFill>
                  <a:srgbClr val="30813A"/>
                </a:solidFill>
                <a:latin typeface="Arial" panose="020B0604020202020204" pitchFamily="34" charset="0"/>
                <a:cs typeface="Arial" panose="020B0604020202020204" pitchFamily="34" charset="0"/>
              </a:rPr>
              <a:t>NPI</a:t>
            </a:r>
          </a:p>
          <a:p>
            <a:pPr marL="152408" indent="-152408">
              <a:buFont typeface="Arial" panose="020B0604020202020204" pitchFamily="34" charset="0"/>
              <a:buChar char="•"/>
            </a:pPr>
            <a:r>
              <a:rPr lang="en-US" sz="1867" dirty="0">
                <a:solidFill>
                  <a:srgbClr val="30813A"/>
                </a:solidFill>
                <a:latin typeface="Arial" panose="020B0604020202020204" pitchFamily="34" charset="0"/>
                <a:cs typeface="Arial" panose="020B0604020202020204" pitchFamily="34" charset="0"/>
              </a:rPr>
              <a:t>Quality Management</a:t>
            </a:r>
          </a:p>
          <a:p>
            <a:pPr marL="152408" indent="-152408">
              <a:buFont typeface="Arial" panose="020B0604020202020204" pitchFamily="34" charset="0"/>
              <a:buChar char="•"/>
            </a:pPr>
            <a:r>
              <a:rPr lang="en-US" sz="1867" dirty="0">
                <a:solidFill>
                  <a:srgbClr val="30813A"/>
                </a:solidFill>
                <a:latin typeface="Arial" panose="020B0604020202020204" pitchFamily="34" charset="0"/>
                <a:cs typeface="Arial" panose="020B0604020202020204" pitchFamily="34" charset="0"/>
              </a:rPr>
              <a:t>Yield innovations</a:t>
            </a:r>
          </a:p>
        </p:txBody>
      </p:sp>
      <p:sp>
        <p:nvSpPr>
          <p:cNvPr id="34" name="TextBox 33"/>
          <p:cNvSpPr txBox="1"/>
          <p:nvPr/>
        </p:nvSpPr>
        <p:spPr>
          <a:xfrm>
            <a:off x="363517" y="1773238"/>
            <a:ext cx="2074883" cy="2886709"/>
          </a:xfrm>
          <a:prstGeom prst="rect">
            <a:avLst/>
          </a:prstGeom>
          <a:noFill/>
        </p:spPr>
        <p:txBody>
          <a:bodyPr wrap="square" rtlCol="0">
            <a:normAutofit fontScale="92500" lnSpcReduction="10000"/>
          </a:bodyPr>
          <a:lstStyle/>
          <a:p>
            <a:pPr marL="152408" indent="-152408">
              <a:buFont typeface="Arial" panose="020B0604020202020204" pitchFamily="34" charset="0"/>
              <a:buChar char="•"/>
            </a:pPr>
            <a:r>
              <a:rPr lang="en-US" sz="2133" dirty="0">
                <a:solidFill>
                  <a:srgbClr val="30813A"/>
                </a:solidFill>
                <a:latin typeface="Arial" panose="020B0604020202020204" pitchFamily="34" charset="0"/>
                <a:cs typeface="Arial" panose="020B0604020202020204" pitchFamily="34" charset="0"/>
              </a:rPr>
              <a:t>Packaging Partners</a:t>
            </a:r>
          </a:p>
          <a:p>
            <a:pPr marL="152408" indent="-152408">
              <a:buFont typeface="Arial" panose="020B0604020202020204" pitchFamily="34" charset="0"/>
              <a:buChar char="•"/>
            </a:pPr>
            <a:r>
              <a:rPr lang="en-US" sz="2133" dirty="0">
                <a:solidFill>
                  <a:srgbClr val="30813A"/>
                </a:solidFill>
                <a:latin typeface="Arial" panose="020B0604020202020204" pitchFamily="34" charset="0"/>
                <a:cs typeface="Arial" panose="020B0604020202020204" pitchFamily="34" charset="0"/>
              </a:rPr>
              <a:t>Suppliers (Chemicals and Equipment)</a:t>
            </a:r>
          </a:p>
          <a:p>
            <a:pPr marL="152408" indent="-152408">
              <a:buFont typeface="Arial" panose="020B0604020202020204" pitchFamily="34" charset="0"/>
              <a:buChar char="•"/>
            </a:pPr>
            <a:r>
              <a:rPr lang="en-US" sz="2133" dirty="0">
                <a:solidFill>
                  <a:srgbClr val="30813A"/>
                </a:solidFill>
                <a:latin typeface="Arial" panose="020B0604020202020204" pitchFamily="34" charset="0"/>
                <a:cs typeface="Arial" panose="020B0604020202020204" pitchFamily="34" charset="0"/>
              </a:rPr>
              <a:t>Facility Contractors / Logistics Vendors</a:t>
            </a:r>
          </a:p>
        </p:txBody>
      </p:sp>
      <p:sp>
        <p:nvSpPr>
          <p:cNvPr id="35" name="TextBox 34"/>
          <p:cNvSpPr txBox="1"/>
          <p:nvPr/>
        </p:nvSpPr>
        <p:spPr>
          <a:xfrm>
            <a:off x="363517" y="5156201"/>
            <a:ext cx="5717970" cy="1374735"/>
          </a:xfrm>
          <a:prstGeom prst="rect">
            <a:avLst/>
          </a:prstGeom>
          <a:noFill/>
        </p:spPr>
        <p:txBody>
          <a:bodyPr wrap="square" rtlCol="0">
            <a:normAutofit/>
          </a:bodyPr>
          <a:lstStyle/>
          <a:p>
            <a:pPr marL="152408" indent="-152408">
              <a:buFont typeface="Arial" panose="020B0604020202020204" pitchFamily="34" charset="0"/>
              <a:buChar char="•"/>
            </a:pPr>
            <a:r>
              <a:rPr lang="en-US" sz="2133" dirty="0">
                <a:solidFill>
                  <a:srgbClr val="30813A"/>
                </a:solidFill>
                <a:latin typeface="Arial" panose="020B0604020202020204" pitchFamily="34" charset="0"/>
                <a:cs typeface="Arial" panose="020B0604020202020204" pitchFamily="34" charset="0"/>
              </a:rPr>
              <a:t>Value-Driven</a:t>
            </a:r>
          </a:p>
          <a:p>
            <a:pPr marL="609608" lvl="1" indent="-152408">
              <a:buFont typeface="Arial" panose="020B0604020202020204" pitchFamily="34" charset="0"/>
              <a:buChar char="•"/>
            </a:pPr>
            <a:r>
              <a:rPr lang="en-US" sz="2133" dirty="0">
                <a:solidFill>
                  <a:srgbClr val="30813A"/>
                </a:solidFill>
                <a:latin typeface="Arial" panose="020B0604020202020204" pitchFamily="34" charset="0"/>
                <a:cs typeface="Arial" panose="020B0604020202020204" pitchFamily="34" charset="0"/>
              </a:rPr>
              <a:t>Fixed Fab Costs</a:t>
            </a:r>
          </a:p>
          <a:p>
            <a:pPr marL="609608" lvl="1" indent="-152408">
              <a:buFont typeface="Arial" panose="020B0604020202020204" pitchFamily="34" charset="0"/>
              <a:buChar char="•"/>
            </a:pPr>
            <a:r>
              <a:rPr lang="en-US" sz="2133" dirty="0">
                <a:solidFill>
                  <a:srgbClr val="30813A"/>
                </a:solidFill>
                <a:latin typeface="Arial" panose="020B0604020202020204" pitchFamily="34" charset="0"/>
                <a:cs typeface="Arial" panose="020B0604020202020204" pitchFamily="34" charset="0"/>
              </a:rPr>
              <a:t>Variable material costs</a:t>
            </a:r>
          </a:p>
        </p:txBody>
      </p:sp>
      <p:sp>
        <p:nvSpPr>
          <p:cNvPr id="2" name="TextBox 1">
            <a:extLst>
              <a:ext uri="{FF2B5EF4-FFF2-40B4-BE49-F238E27FC236}">
                <a16:creationId xmlns:a16="http://schemas.microsoft.com/office/drawing/2014/main" id="{5D6A91EF-4A12-B88D-E0F5-C648C4A2F415}"/>
              </a:ext>
            </a:extLst>
          </p:cNvPr>
          <p:cNvSpPr txBox="1"/>
          <p:nvPr/>
        </p:nvSpPr>
        <p:spPr>
          <a:xfrm>
            <a:off x="92703" y="6550231"/>
            <a:ext cx="5299399" cy="307777"/>
          </a:xfrm>
          <a:prstGeom prst="rect">
            <a:avLst/>
          </a:prstGeom>
          <a:noFill/>
        </p:spPr>
        <p:txBody>
          <a:bodyPr wrap="none" rtlCol="0">
            <a:spAutoFit/>
          </a:bodyPr>
          <a:lstStyle/>
          <a:p>
            <a:r>
              <a:rPr lang="en-US" sz="1400" dirty="0">
                <a:solidFill>
                  <a:srgbClr val="C00000"/>
                </a:solidFill>
                <a:latin typeface="Arial" panose="020B0604020202020204" pitchFamily="34" charset="0"/>
                <a:cs typeface="Arial" panose="020B0604020202020204" pitchFamily="34" charset="0"/>
              </a:rPr>
              <a:t>You can use the speaker notes to provide more detail and depth.</a:t>
            </a:r>
          </a:p>
        </p:txBody>
      </p:sp>
    </p:spTree>
    <p:extLst>
      <p:ext uri="{BB962C8B-B14F-4D97-AF65-F5344CB8AC3E}">
        <p14:creationId xmlns:p14="http://schemas.microsoft.com/office/powerpoint/2010/main" val="2479526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2509A-CF00-438B-B020-D5EAA5BBA4D6}"/>
              </a:ext>
            </a:extLst>
          </p:cNvPr>
          <p:cNvSpPr>
            <a:spLocks noGrp="1"/>
          </p:cNvSpPr>
          <p:nvPr>
            <p:ph type="title"/>
          </p:nvPr>
        </p:nvSpPr>
        <p:spPr/>
        <p:txBody>
          <a:bodyPr/>
          <a:lstStyle/>
          <a:p>
            <a:r>
              <a:rPr lang="en-US" dirty="0"/>
              <a:t>Additional BMC Detail</a:t>
            </a:r>
          </a:p>
        </p:txBody>
      </p:sp>
      <p:sp>
        <p:nvSpPr>
          <p:cNvPr id="3" name="Content Placeholder 2">
            <a:extLst>
              <a:ext uri="{FF2B5EF4-FFF2-40B4-BE49-F238E27FC236}">
                <a16:creationId xmlns:a16="http://schemas.microsoft.com/office/drawing/2014/main" id="{8BB024B4-230E-476E-A81C-18D9BE1FFF6A}"/>
              </a:ext>
            </a:extLst>
          </p:cNvPr>
          <p:cNvSpPr>
            <a:spLocks noGrp="1"/>
          </p:cNvSpPr>
          <p:nvPr>
            <p:ph idx="1"/>
          </p:nvPr>
        </p:nvSpPr>
        <p:spPr/>
        <p:txBody>
          <a:bodyPr>
            <a:normAutofit fontScale="77500" lnSpcReduction="20000"/>
          </a:bodyPr>
          <a:lstStyle/>
          <a:p>
            <a:pPr>
              <a:buFont typeface="Arial" panose="020B0604020202020204" pitchFamily="34" charset="0"/>
              <a:buChar char="•"/>
            </a:pPr>
            <a:r>
              <a:rPr lang="en-US" dirty="0">
                <a:latin typeface="Arial" panose="020B0604020202020204" pitchFamily="34" charset="0"/>
                <a:cs typeface="Arial" panose="020B0604020202020204" pitchFamily="34" charset="0"/>
              </a:rPr>
              <a:t>Customer Segments: Niche Smartphone OEM market. Not multi-sided or </a:t>
            </a:r>
            <a:r>
              <a:rPr lang="en-US" dirty="0" err="1">
                <a:latin typeface="Arial" panose="020B0604020202020204" pitchFamily="34" charset="0"/>
                <a:cs typeface="Arial" panose="020B0604020202020204" pitchFamily="34" charset="0"/>
              </a:rPr>
              <a:t>diverisifed</a:t>
            </a:r>
            <a:r>
              <a:rPr lang="en-US" dirty="0">
                <a:latin typeface="Arial" panose="020B0604020202020204" pitchFamily="34" charset="0"/>
                <a:cs typeface="Arial" panose="020B0604020202020204" pitchFamily="34" charset="0"/>
              </a:rPr>
              <a:t>. Relationships with Apple, Google, Samsung. Apple is the most important as their profitability is directly tied to ours.</a:t>
            </a:r>
          </a:p>
          <a:p>
            <a:pPr>
              <a:buFont typeface="Arial" panose="020B0604020202020204" pitchFamily="34" charset="0"/>
              <a:buChar char="•"/>
            </a:pPr>
            <a:r>
              <a:rPr lang="en-US" dirty="0">
                <a:latin typeface="Arial" panose="020B0604020202020204" pitchFamily="34" charset="0"/>
                <a:cs typeface="Arial" panose="020B0604020202020204" pitchFamily="34" charset="0"/>
              </a:rPr>
              <a:t>Revenue Streams: Asset sale only. Pricing is negotiated when design sockets are won. Contracts offer production volume, and quality expectations within a single design cycle.</a:t>
            </a:r>
          </a:p>
          <a:p>
            <a:pPr>
              <a:buFont typeface="Arial" panose="020B0604020202020204" pitchFamily="34" charset="0"/>
              <a:buChar char="•"/>
            </a:pPr>
            <a:r>
              <a:rPr lang="en-US" dirty="0">
                <a:latin typeface="Arial" panose="020B0604020202020204" pitchFamily="34" charset="0"/>
                <a:cs typeface="Arial" panose="020B0604020202020204" pitchFamily="34" charset="0"/>
              </a:rPr>
              <a:t>Resources: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Physical: The fab, equipment, and chemicals ensure we have the resources needed to actually build a product.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Intellectual: Process knowledge, Patents, and IP is why we win apples contracts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Human: Humans run the plant. Without 24/7 operation production stops, utilization goes down, profitability drops.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Financial: Working capital and </a:t>
            </a:r>
            <a:r>
              <a:rPr lang="en-US" dirty="0" err="1">
                <a:latin typeface="Arial" panose="020B0604020202020204" pitchFamily="34" charset="0"/>
                <a:cs typeface="Arial" panose="020B0604020202020204" pitchFamily="34" charset="0"/>
              </a:rPr>
              <a:t>CapEx</a:t>
            </a:r>
            <a:r>
              <a:rPr lang="en-US" dirty="0">
                <a:latin typeface="Arial" panose="020B0604020202020204" pitchFamily="34" charset="0"/>
                <a:cs typeface="Arial" panose="020B0604020202020204" pitchFamily="34" charset="0"/>
              </a:rPr>
              <a:t> investments drive cost-reduction goals and innovation projects </a:t>
            </a:r>
            <a:r>
              <a:rPr lang="en-US">
                <a:latin typeface="Arial" panose="020B0604020202020204" pitchFamily="34" charset="0"/>
                <a:cs typeface="Arial" panose="020B0604020202020204" pitchFamily="34" charset="0"/>
              </a:rPr>
              <a:t>that drive COGS. </a:t>
            </a:r>
            <a:endParaRPr lang="en-US" dirty="0">
              <a:latin typeface="Arial" panose="020B0604020202020204" pitchFamily="34" charset="0"/>
              <a:cs typeface="Arial" panose="020B0604020202020204" pitchFamily="34" charset="0"/>
            </a:endParaRPr>
          </a:p>
          <a:p>
            <a:pPr lvl="1">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8747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0ACD9-09E1-525C-DF7F-2198B0967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1EAC2-5312-1E2E-919C-A0E6242B2249}"/>
              </a:ext>
            </a:extLst>
          </p:cNvPr>
          <p:cNvSpPr>
            <a:spLocks noGrp="1"/>
          </p:cNvSpPr>
          <p:nvPr>
            <p:ph type="title"/>
          </p:nvPr>
        </p:nvSpPr>
        <p:spPr/>
        <p:txBody>
          <a:bodyPr/>
          <a:lstStyle/>
          <a:p>
            <a:r>
              <a:rPr lang="en-US" dirty="0"/>
              <a:t>Additional BMC Detail</a:t>
            </a:r>
          </a:p>
        </p:txBody>
      </p:sp>
      <p:sp>
        <p:nvSpPr>
          <p:cNvPr id="3" name="Content Placeholder 2">
            <a:extLst>
              <a:ext uri="{FF2B5EF4-FFF2-40B4-BE49-F238E27FC236}">
                <a16:creationId xmlns:a16="http://schemas.microsoft.com/office/drawing/2014/main" id="{FF5A9467-C37C-FD7E-39D5-49964AE2597C}"/>
              </a:ext>
            </a:extLst>
          </p:cNvPr>
          <p:cNvSpPr>
            <a:spLocks noGrp="1"/>
          </p:cNvSpPr>
          <p:nvPr>
            <p:ph idx="1"/>
          </p:nvPr>
        </p:nvSpPr>
        <p:spPr/>
        <p:txBody>
          <a:bodyPr>
            <a:normAutofit/>
          </a:bodyPr>
          <a:lstStyle/>
          <a:p>
            <a:pPr>
              <a:buFont typeface="Arial" panose="020B0604020202020204" pitchFamily="34" charset="0"/>
              <a:buChar char="•"/>
            </a:pPr>
            <a:r>
              <a:rPr lang="en-US" dirty="0">
                <a:latin typeface="Arial" panose="020B0604020202020204" pitchFamily="34" charset="0"/>
                <a:cs typeface="Arial" panose="020B0604020202020204" pitchFamily="34" charset="0"/>
              </a:rPr>
              <a:t>Explain your customer segments and why is this the case.</a:t>
            </a:r>
          </a:p>
          <a:p>
            <a:pPr lvl="1">
              <a:buFont typeface="Arial" panose="020B0604020202020204" pitchFamily="34" charset="0"/>
              <a:buChar char="•"/>
            </a:pPr>
            <a:r>
              <a:rPr lang="en-US" sz="2400" dirty="0">
                <a:latin typeface="Arial" panose="020B0604020202020204" pitchFamily="34" charset="0"/>
                <a:cs typeface="Arial" panose="020B0604020202020204" pitchFamily="34" charset="0"/>
              </a:rPr>
              <a:t>(Mass market, Niche market, Segmented, Diversified, Multi-sided)</a:t>
            </a:r>
          </a:p>
          <a:p>
            <a:pPr>
              <a:buFont typeface="Arial" panose="020B0604020202020204" pitchFamily="34" charset="0"/>
              <a:buChar char="•"/>
            </a:pPr>
            <a:r>
              <a:rPr lang="en-US" dirty="0">
                <a:latin typeface="Arial" panose="020B0604020202020204" pitchFamily="34" charset="0"/>
                <a:cs typeface="Arial" panose="020B0604020202020204" pitchFamily="34" charset="0"/>
              </a:rPr>
              <a:t>List each revenue stream identified on your BMC and state the pricing mechanism used for that stream.</a:t>
            </a:r>
          </a:p>
          <a:p>
            <a:pPr>
              <a:buFont typeface="Arial" panose="020B0604020202020204" pitchFamily="34" charset="0"/>
              <a:buChar char="•"/>
            </a:pPr>
            <a:r>
              <a:rPr lang="en-US" dirty="0">
                <a:latin typeface="Arial" panose="020B0604020202020204" pitchFamily="34" charset="0"/>
                <a:cs typeface="Arial" panose="020B0604020202020204" pitchFamily="34" charset="0"/>
              </a:rPr>
              <a:t>List each key resource and specify which of the four general categories that resource belongs in.</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Why do you believe this is?</a:t>
            </a:r>
          </a:p>
          <a:p>
            <a:pPr>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8991779"/>
      </p:ext>
    </p:extLst>
  </p:cSld>
  <p:clrMapOvr>
    <a:masterClrMapping/>
  </p:clrMapOvr>
</p:sld>
</file>

<file path=ppt/theme/theme1.xml><?xml version="1.0" encoding="utf-8"?>
<a:theme xmlns:a="http://schemas.openxmlformats.org/drawingml/2006/main" name="Custom Design">
  <a:themeElements>
    <a:clrScheme name="COB CSU TEMPLATE">
      <a:dk1>
        <a:srgbClr val="59595B"/>
      </a:dk1>
      <a:lt1>
        <a:sysClr val="window" lastClr="FFFFFF"/>
      </a:lt1>
      <a:dk2>
        <a:srgbClr val="1E4D2B"/>
      </a:dk2>
      <a:lt2>
        <a:srgbClr val="C8C371"/>
      </a:lt2>
      <a:accent1>
        <a:srgbClr val="D9782C"/>
      </a:accent1>
      <a:accent2>
        <a:srgbClr val="C9D845"/>
      </a:accent2>
      <a:accent3>
        <a:srgbClr val="CC5430"/>
      </a:accent3>
      <a:accent4>
        <a:srgbClr val="105456"/>
      </a:accent4>
      <a:accent5>
        <a:srgbClr val="12A3B6"/>
      </a:accent5>
      <a:accent6>
        <a:srgbClr val="ECC53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 500 Assignment Template" id="{3F125DA5-339E-4188-B67E-0A4CB6769972}" vid="{802DE646-30BF-4C2C-A5E0-630CEAD376E2}"/>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 500 Assignment Template" id="{3F125DA5-339E-4188-B67E-0A4CB6769972}" vid="{57AC389D-7D1A-40F2-8141-22A25510AAA1}"/>
    </a:ext>
  </a:extLst>
</a:theme>
</file>

<file path=ppt/theme/theme3.xml><?xml version="1.0" encoding="utf-8"?>
<a:theme xmlns:a="http://schemas.openxmlformats.org/drawingml/2006/main" name="2_Custom Design">
  <a:themeElements>
    <a:clrScheme name="COB CSU TEMPLATE">
      <a:dk1>
        <a:srgbClr val="59595B"/>
      </a:dk1>
      <a:lt1>
        <a:sysClr val="window" lastClr="FFFFFF"/>
      </a:lt1>
      <a:dk2>
        <a:srgbClr val="1E4D2B"/>
      </a:dk2>
      <a:lt2>
        <a:srgbClr val="C8C371"/>
      </a:lt2>
      <a:accent1>
        <a:srgbClr val="D9782C"/>
      </a:accent1>
      <a:accent2>
        <a:srgbClr val="C9D845"/>
      </a:accent2>
      <a:accent3>
        <a:srgbClr val="CC5430"/>
      </a:accent3>
      <a:accent4>
        <a:srgbClr val="105456"/>
      </a:accent4>
      <a:accent5>
        <a:srgbClr val="12A3B6"/>
      </a:accent5>
      <a:accent6>
        <a:srgbClr val="ECC53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 500 Assignment Template" id="{819FDB1D-43A6-4D77-BB9E-4059C9C98DA6}" vid="{DC0FB67F-5B06-4928-B3F0-FC0DCE5287E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BMC Assignment Template</Template>
  <TotalTime>1005</TotalTime>
  <Words>1825</Words>
  <Application>Microsoft Office PowerPoint</Application>
  <PresentationFormat>Widescreen</PresentationFormat>
  <Paragraphs>158</Paragraphs>
  <Slides>8</Slides>
  <Notes>5</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8</vt:i4>
      </vt:variant>
    </vt:vector>
  </HeadingPairs>
  <TitlesOfParts>
    <vt:vector size="18" baseType="lpstr">
      <vt:lpstr>Aptos Narrow</vt:lpstr>
      <vt:lpstr>Arial</vt:lpstr>
      <vt:lpstr>Calibri</vt:lpstr>
      <vt:lpstr>Calibri Light</vt:lpstr>
      <vt:lpstr>Helvetica</vt:lpstr>
      <vt:lpstr>Lato</vt:lpstr>
      <vt:lpstr>Wingdings</vt:lpstr>
      <vt:lpstr>Custom Design</vt:lpstr>
      <vt:lpstr>1_Custom Design</vt:lpstr>
      <vt:lpstr>2_Custom Design</vt:lpstr>
      <vt:lpstr>Business Model Canvas (BMC) Instructions</vt:lpstr>
      <vt:lpstr>Assignment Grading Criteria</vt:lpstr>
      <vt:lpstr>Student Name</vt:lpstr>
      <vt:lpstr>Business Profile – Overview </vt:lpstr>
      <vt:lpstr>Business Profile – Overview </vt:lpstr>
      <vt:lpstr>Business Model Canvas www.businessmodelgeneration.com</vt:lpstr>
      <vt:lpstr>Additional BMC Detail</vt:lpstr>
      <vt:lpstr>Additional BMC Detail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Arneson,Shelly</dc:creator>
  <cp:lastModifiedBy>adam cyrus</cp:lastModifiedBy>
  <cp:revision>6</cp:revision>
  <dcterms:created xsi:type="dcterms:W3CDTF">2020-08-16T20:06:00Z</dcterms:created>
  <dcterms:modified xsi:type="dcterms:W3CDTF">2026-09-05T15:45:50Z</dcterms:modified>
</cp:coreProperties>
</file>