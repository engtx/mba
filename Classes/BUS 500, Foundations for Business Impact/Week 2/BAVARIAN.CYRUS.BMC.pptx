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7" r:id="rId2"/>
    <p:sldMasterId id="2147483670" r:id="rId3"/>
  </p:sldMasterIdLst>
  <p:notesMasterIdLst>
    <p:notesMasterId r:id="rId11"/>
  </p:notesMasterIdLst>
  <p:sldIdLst>
    <p:sldId id="495" r:id="rId4"/>
    <p:sldId id="2088198058" r:id="rId5"/>
    <p:sldId id="2088198060" r:id="rId6"/>
    <p:sldId id="493" r:id="rId7"/>
    <p:sldId id="2088198109" r:id="rId8"/>
    <p:sldId id="490" r:id="rId9"/>
    <p:sldId id="49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4D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9A5C3E-F8A4-479B-B898-0D14C4E16DDB}" v="1" dt="2026-08-31T15:27:48.5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330" autoAdjust="0"/>
  </p:normalViewPr>
  <p:slideViewPr>
    <p:cSldViewPr snapToGrid="0">
      <p:cViewPr varScale="1">
        <p:scale>
          <a:sx n="99" d="100"/>
          <a:sy n="99" d="100"/>
        </p:scale>
        <p:origin x="996" y="84"/>
      </p:cViewPr>
      <p:guideLst>
        <p:guide orient="horz" pos="2160"/>
        <p:guide pos="3840"/>
      </p:guideLst>
    </p:cSldViewPr>
  </p:slideViewPr>
  <p:notesTextViewPr>
    <p:cViewPr>
      <p:scale>
        <a:sx n="1" d="1"/>
        <a:sy n="1" d="1"/>
      </p:scale>
      <p:origin x="0" y="-336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Master" Target="slideMasters/slideMaster2.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tableStyles" Target="tableStyles.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h Peterson" userId="2f0c7ad8fcbba8e1" providerId="LiveId" clId="{2132ECFC-A075-4FD6-8455-521CAC7DB5CB}"/>
    <pc:docChg chg="modSld">
      <pc:chgData name="Josh Peterson" userId="2f0c7ad8fcbba8e1" providerId="LiveId" clId="{2132ECFC-A075-4FD6-8455-521CAC7DB5CB}" dt="2026-08-31T15:28:11.903" v="33" actId="22"/>
      <pc:docMkLst>
        <pc:docMk/>
      </pc:docMkLst>
      <pc:sldChg chg="modSp mod">
        <pc:chgData name="Josh Peterson" userId="2f0c7ad8fcbba8e1" providerId="LiveId" clId="{2132ECFC-A075-4FD6-8455-521CAC7DB5CB}" dt="2026-08-31T15:27:21.092" v="11" actId="2711"/>
        <pc:sldMkLst>
          <pc:docMk/>
          <pc:sldMk cId="2479526191" sldId="490"/>
        </pc:sldMkLst>
        <pc:spChg chg="mod">
          <ac:chgData name="Josh Peterson" userId="2f0c7ad8fcbba8e1" providerId="LiveId" clId="{2132ECFC-A075-4FD6-8455-521CAC7DB5CB}" dt="2026-08-31T15:27:21.092" v="11" actId="2711"/>
          <ac:spMkLst>
            <pc:docMk/>
            <pc:sldMk cId="2479526191" sldId="490"/>
            <ac:spMk id="6" creationId="{00000000-0000-0000-0000-000000000000}"/>
          </ac:spMkLst>
        </pc:spChg>
        <pc:spChg chg="mod">
          <ac:chgData name="Josh Peterson" userId="2f0c7ad8fcbba8e1" providerId="LiveId" clId="{2132ECFC-A075-4FD6-8455-521CAC7DB5CB}" dt="2026-08-31T15:27:21.092" v="11" actId="2711"/>
          <ac:spMkLst>
            <pc:docMk/>
            <pc:sldMk cId="2479526191" sldId="490"/>
            <ac:spMk id="9" creationId="{00000000-0000-0000-0000-000000000000}"/>
          </ac:spMkLst>
        </pc:spChg>
        <pc:spChg chg="mod">
          <ac:chgData name="Josh Peterson" userId="2f0c7ad8fcbba8e1" providerId="LiveId" clId="{2132ECFC-A075-4FD6-8455-521CAC7DB5CB}" dt="2026-08-31T15:27:21.092" v="11" actId="2711"/>
          <ac:spMkLst>
            <pc:docMk/>
            <pc:sldMk cId="2479526191" sldId="490"/>
            <ac:spMk id="16" creationId="{00000000-0000-0000-0000-000000000000}"/>
          </ac:spMkLst>
        </pc:spChg>
        <pc:spChg chg="mod">
          <ac:chgData name="Josh Peterson" userId="2f0c7ad8fcbba8e1" providerId="LiveId" clId="{2132ECFC-A075-4FD6-8455-521CAC7DB5CB}" dt="2026-08-31T15:27:21.092" v="11" actId="2711"/>
          <ac:spMkLst>
            <pc:docMk/>
            <pc:sldMk cId="2479526191" sldId="490"/>
            <ac:spMk id="20" creationId="{00000000-0000-0000-0000-000000000000}"/>
          </ac:spMkLst>
        </pc:spChg>
        <pc:spChg chg="mod">
          <ac:chgData name="Josh Peterson" userId="2f0c7ad8fcbba8e1" providerId="LiveId" clId="{2132ECFC-A075-4FD6-8455-521CAC7DB5CB}" dt="2026-08-31T15:27:21.092" v="11" actId="2711"/>
          <ac:spMkLst>
            <pc:docMk/>
            <pc:sldMk cId="2479526191" sldId="490"/>
            <ac:spMk id="21" creationId="{00000000-0000-0000-0000-000000000000}"/>
          </ac:spMkLst>
        </pc:spChg>
        <pc:spChg chg="mod">
          <ac:chgData name="Josh Peterson" userId="2f0c7ad8fcbba8e1" providerId="LiveId" clId="{2132ECFC-A075-4FD6-8455-521CAC7DB5CB}" dt="2026-08-31T15:27:21.092" v="11" actId="2711"/>
          <ac:spMkLst>
            <pc:docMk/>
            <pc:sldMk cId="2479526191" sldId="490"/>
            <ac:spMk id="23" creationId="{00000000-0000-0000-0000-000000000000}"/>
          </ac:spMkLst>
        </pc:spChg>
        <pc:spChg chg="mod">
          <ac:chgData name="Josh Peterson" userId="2f0c7ad8fcbba8e1" providerId="LiveId" clId="{2132ECFC-A075-4FD6-8455-521CAC7DB5CB}" dt="2026-08-31T15:27:21.092" v="11" actId="2711"/>
          <ac:spMkLst>
            <pc:docMk/>
            <pc:sldMk cId="2479526191" sldId="490"/>
            <ac:spMk id="30" creationId="{00000000-0000-0000-0000-000000000000}"/>
          </ac:spMkLst>
        </pc:spChg>
        <pc:spChg chg="mod">
          <ac:chgData name="Josh Peterson" userId="2f0c7ad8fcbba8e1" providerId="LiveId" clId="{2132ECFC-A075-4FD6-8455-521CAC7DB5CB}" dt="2026-08-31T15:27:21.092" v="11" actId="2711"/>
          <ac:spMkLst>
            <pc:docMk/>
            <pc:sldMk cId="2479526191" sldId="490"/>
            <ac:spMk id="31" creationId="{00000000-0000-0000-0000-000000000000}"/>
          </ac:spMkLst>
        </pc:spChg>
        <pc:spChg chg="mod">
          <ac:chgData name="Josh Peterson" userId="2f0c7ad8fcbba8e1" providerId="LiveId" clId="{2132ECFC-A075-4FD6-8455-521CAC7DB5CB}" dt="2026-08-31T15:27:21.092" v="11" actId="2711"/>
          <ac:spMkLst>
            <pc:docMk/>
            <pc:sldMk cId="2479526191" sldId="490"/>
            <ac:spMk id="32" creationId="{00000000-0000-0000-0000-000000000000}"/>
          </ac:spMkLst>
        </pc:spChg>
        <pc:spChg chg="mod">
          <ac:chgData name="Josh Peterson" userId="2f0c7ad8fcbba8e1" providerId="LiveId" clId="{2132ECFC-A075-4FD6-8455-521CAC7DB5CB}" dt="2026-08-31T15:27:21.092" v="11" actId="2711"/>
          <ac:spMkLst>
            <pc:docMk/>
            <pc:sldMk cId="2479526191" sldId="490"/>
            <ac:spMk id="34" creationId="{00000000-0000-0000-0000-000000000000}"/>
          </ac:spMkLst>
        </pc:spChg>
      </pc:sldChg>
      <pc:sldChg chg="addSp modSp mod">
        <pc:chgData name="Josh Peterson" userId="2f0c7ad8fcbba8e1" providerId="LiveId" clId="{2132ECFC-A075-4FD6-8455-521CAC7DB5CB}" dt="2026-08-31T15:28:08.946" v="32" actId="1076"/>
        <pc:sldMkLst>
          <pc:docMk/>
          <pc:sldMk cId="4196645517" sldId="492"/>
        </pc:sldMkLst>
        <pc:spChg chg="add mod">
          <ac:chgData name="Josh Peterson" userId="2f0c7ad8fcbba8e1" providerId="LiveId" clId="{2132ECFC-A075-4FD6-8455-521CAC7DB5CB}" dt="2026-08-31T15:28:08.946" v="32" actId="1076"/>
          <ac:spMkLst>
            <pc:docMk/>
            <pc:sldMk cId="4196645517" sldId="492"/>
            <ac:spMk id="5" creationId="{3A9C3D02-3540-E59C-DDBD-6A8667CC6B95}"/>
          </ac:spMkLst>
        </pc:spChg>
      </pc:sldChg>
      <pc:sldChg chg="modSp mod">
        <pc:chgData name="Josh Peterson" userId="2f0c7ad8fcbba8e1" providerId="LiveId" clId="{2132ECFC-A075-4FD6-8455-521CAC7DB5CB}" dt="2026-08-31T15:27:02.313" v="10" actId="15"/>
        <pc:sldMkLst>
          <pc:docMk/>
          <pc:sldMk cId="1848747055" sldId="494"/>
        </pc:sldMkLst>
        <pc:spChg chg="mod">
          <ac:chgData name="Josh Peterson" userId="2f0c7ad8fcbba8e1" providerId="LiveId" clId="{2132ECFC-A075-4FD6-8455-521CAC7DB5CB}" dt="2026-08-31T15:27:02.313" v="10" actId="15"/>
          <ac:spMkLst>
            <pc:docMk/>
            <pc:sldMk cId="1848747055" sldId="494"/>
            <ac:spMk id="3" creationId="{8BB024B4-230E-476E-A81C-18D9BE1FFF6A}"/>
          </ac:spMkLst>
        </pc:spChg>
      </pc:sldChg>
      <pc:sldChg chg="addSp mod">
        <pc:chgData name="Josh Peterson" userId="2f0c7ad8fcbba8e1" providerId="LiveId" clId="{2132ECFC-A075-4FD6-8455-521CAC7DB5CB}" dt="2026-08-31T15:28:11.903" v="33" actId="22"/>
        <pc:sldMkLst>
          <pc:docMk/>
          <pc:sldMk cId="1726967206" sldId="2088198059"/>
        </pc:sldMkLst>
        <pc:spChg chg="add">
          <ac:chgData name="Josh Peterson" userId="2f0c7ad8fcbba8e1" providerId="LiveId" clId="{2132ECFC-A075-4FD6-8455-521CAC7DB5CB}" dt="2026-08-31T15:28:11.903" v="33" actId="22"/>
          <ac:spMkLst>
            <pc:docMk/>
            <pc:sldMk cId="1726967206" sldId="2088198059"/>
            <ac:spMk id="5" creationId="{6C3B0228-C37A-044A-4A3B-22F210CDF5AE}"/>
          </ac:spMkLst>
        </pc:spChg>
      </pc:sldChg>
    </pc:docChg>
  </pc:docChgLst>
  <pc:docChgLst>
    <pc:chgData name="Josh Peterson" userId="2f0c7ad8fcbba8e1" providerId="LiveId" clId="{B158E36D-E8E3-4E88-86C0-71CD988363E7}"/>
    <pc:docChg chg="custSel addSld delSld modSld">
      <pc:chgData name="Josh Peterson" userId="2f0c7ad8fcbba8e1" providerId="LiveId" clId="{B158E36D-E8E3-4E88-86C0-71CD988363E7}" dt="2026-08-30T05:22:58.286" v="25" actId="47"/>
      <pc:docMkLst>
        <pc:docMk/>
      </pc:docMkLst>
      <pc:sldChg chg="add del">
        <pc:chgData name="Josh Peterson" userId="2f0c7ad8fcbba8e1" providerId="LiveId" clId="{B158E36D-E8E3-4E88-86C0-71CD988363E7}" dt="2026-08-30T05:22:44.427" v="24" actId="47"/>
        <pc:sldMkLst>
          <pc:docMk/>
          <pc:sldMk cId="323035411" sldId="491"/>
        </pc:sldMkLst>
      </pc:sldChg>
      <pc:sldChg chg="add del">
        <pc:chgData name="Josh Peterson" userId="2f0c7ad8fcbba8e1" providerId="LiveId" clId="{B158E36D-E8E3-4E88-86C0-71CD988363E7}" dt="2026-08-30T05:20:51.563" v="2"/>
        <pc:sldMkLst>
          <pc:docMk/>
          <pc:sldMk cId="4196645517" sldId="492"/>
        </pc:sldMkLst>
      </pc:sldChg>
      <pc:sldChg chg="del">
        <pc:chgData name="Josh Peterson" userId="2f0c7ad8fcbba8e1" providerId="LiveId" clId="{B158E36D-E8E3-4E88-86C0-71CD988363E7}" dt="2026-08-30T05:22:58.286" v="25" actId="47"/>
        <pc:sldMkLst>
          <pc:docMk/>
          <pc:sldMk cId="3540148430" sldId="493"/>
        </pc:sldMkLst>
      </pc:sldChg>
      <pc:sldChg chg="addSp delSp modSp mod">
        <pc:chgData name="Josh Peterson" userId="2f0c7ad8fcbba8e1" providerId="LiveId" clId="{B158E36D-E8E3-4E88-86C0-71CD988363E7}" dt="2026-08-30T05:21:51.655" v="23"/>
        <pc:sldMkLst>
          <pc:docMk/>
          <pc:sldMk cId="1709961432" sldId="495"/>
        </pc:sldMkLst>
        <pc:spChg chg="mod">
          <ac:chgData name="Josh Peterson" userId="2f0c7ad8fcbba8e1" providerId="LiveId" clId="{B158E36D-E8E3-4E88-86C0-71CD988363E7}" dt="2026-08-30T05:21:24.388" v="20" actId="20577"/>
          <ac:spMkLst>
            <pc:docMk/>
            <pc:sldMk cId="1709961432" sldId="495"/>
            <ac:spMk id="2" creationId="{4D1BE079-E601-4C76-BE39-9EECF0DD54F1}"/>
          </ac:spMkLst>
        </pc:spChg>
        <pc:spChg chg="del">
          <ac:chgData name="Josh Peterson" userId="2f0c7ad8fcbba8e1" providerId="LiveId" clId="{B158E36D-E8E3-4E88-86C0-71CD988363E7}" dt="2026-08-30T05:21:46.062" v="21" actId="478"/>
          <ac:spMkLst>
            <pc:docMk/>
            <pc:sldMk cId="1709961432" sldId="495"/>
            <ac:spMk id="3" creationId="{ADDCF111-9D3D-456A-8EA0-07182249C513}"/>
          </ac:spMkLst>
        </pc:spChg>
        <pc:spChg chg="add del mod">
          <ac:chgData name="Josh Peterson" userId="2f0c7ad8fcbba8e1" providerId="LiveId" clId="{B158E36D-E8E3-4E88-86C0-71CD988363E7}" dt="2026-08-30T05:21:51.051" v="22" actId="478"/>
          <ac:spMkLst>
            <pc:docMk/>
            <pc:sldMk cId="1709961432" sldId="495"/>
            <ac:spMk id="5" creationId="{149332D2-19F3-7AAA-281C-2F8C656EFB62}"/>
          </ac:spMkLst>
        </pc:spChg>
        <pc:spChg chg="add mod">
          <ac:chgData name="Josh Peterson" userId="2f0c7ad8fcbba8e1" providerId="LiveId" clId="{B158E36D-E8E3-4E88-86C0-71CD988363E7}" dt="2026-08-30T05:21:51.655" v="23"/>
          <ac:spMkLst>
            <pc:docMk/>
            <pc:sldMk cId="1709961432" sldId="495"/>
            <ac:spMk id="6" creationId="{0EC45CCC-C771-0DAB-88E1-E2FD06BD79BC}"/>
          </ac:spMkLst>
        </pc:spChg>
      </pc:sldChg>
      <pc:sldChg chg="add del">
        <pc:chgData name="Josh Peterson" userId="2f0c7ad8fcbba8e1" providerId="LiveId" clId="{B158E36D-E8E3-4E88-86C0-71CD988363E7}" dt="2026-08-30T05:20:51.443" v="1"/>
        <pc:sldMkLst>
          <pc:docMk/>
          <pc:sldMk cId="147740004" sldId="2088198059"/>
        </pc:sldMkLst>
      </pc:sldChg>
      <pc:sldChg chg="add">
        <pc:chgData name="Josh Peterson" userId="2f0c7ad8fcbba8e1" providerId="LiveId" clId="{B158E36D-E8E3-4E88-86C0-71CD988363E7}" dt="2026-08-30T05:20:51.563" v="2"/>
        <pc:sldMkLst>
          <pc:docMk/>
          <pc:sldMk cId="1726967206" sldId="208819805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6F2922-797C-45C2-9475-1803A9D22A0A}"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715CC-F7BD-45D9-B5AD-4E804062401C}" type="slidenum">
              <a:rPr lang="en-US" smtClean="0"/>
              <a:t>‹#›</a:t>
            </a:fld>
            <a:endParaRPr lang="en-US"/>
          </a:p>
        </p:txBody>
      </p:sp>
    </p:spTree>
    <p:extLst>
      <p:ext uri="{BB962C8B-B14F-4D97-AF65-F5344CB8AC3E}">
        <p14:creationId xmlns:p14="http://schemas.microsoft.com/office/powerpoint/2010/main" val="1714590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737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F6FEC-15D9-F68F-B632-3C990F3A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0FEE-5D46-D3AF-C111-44931A0D4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1DF77-C481-4870-6848-E393B26139ED}"/>
              </a:ext>
            </a:extLst>
          </p:cNvPr>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a:extLst>
              <a:ext uri="{FF2B5EF4-FFF2-40B4-BE49-F238E27FC236}">
                <a16:creationId xmlns:a16="http://schemas.microsoft.com/office/drawing/2014/main" id="{09A72450-68E5-6E40-EDEE-88CA4D261A1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3314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1828785" rtl="0" eaLnBrk="1" fontAlgn="auto" latinLnBrk="0" hangingPunct="1">
              <a:lnSpc>
                <a:spcPct val="100000"/>
              </a:lnSpc>
              <a:spcBef>
                <a:spcPts val="0"/>
              </a:spcBef>
              <a:spcAft>
                <a:spcPts val="0"/>
              </a:spcAft>
              <a:buClrTx/>
              <a:buSzTx/>
              <a:buFontTx/>
              <a:buNone/>
              <a:tabLst/>
              <a:defRPr/>
            </a:pPr>
            <a:r>
              <a:rPr lang="en-US" b="1" dirty="0"/>
              <a:t>Customer Segments: </a:t>
            </a:r>
            <a:r>
              <a:rPr lang="en-US" b="0" dirty="0"/>
              <a:t>There are not many smartphone makers (anymore) and the ones that do exist demand excellence in the components that make up their phone. Entire organizations, supply chains, and global resources are used to created a </a:t>
            </a:r>
            <a:r>
              <a:rPr lang="en-US" b="0" dirty="0" err="1"/>
              <a:t>speciality</a:t>
            </a:r>
            <a:r>
              <a:rPr lang="en-US" b="0" dirty="0"/>
              <a:t> product which is used strictly in smart phones. This massive effort to create the worlds best chip dedicated to a single function provides an interesting perspective this market, and the companies that support it.</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Customer Segments: Many organizations attempt to offer a variety of products to reach many customers, thereby targeting multiple customer segments and enhancing their ability to profit. </a:t>
            </a:r>
            <a:r>
              <a:rPr lang="en-US" b="0" dirty="0" err="1"/>
              <a:t>SmartPhone</a:t>
            </a:r>
            <a:r>
              <a:rPr lang="en-US" b="0" dirty="0"/>
              <a:t> technology is distinctly different. Apple is one of the largest manufacturers of </a:t>
            </a:r>
            <a:r>
              <a:rPr lang="en-US" b="0" dirty="0" err="1"/>
              <a:t>SmartPhones</a:t>
            </a:r>
            <a:r>
              <a:rPr lang="en-US" b="0" dirty="0"/>
              <a:t> on the earth whose products reach millions of customers. </a:t>
            </a:r>
            <a:r>
              <a:rPr lang="en-US" b="0" dirty="0" err="1"/>
              <a:t>Broadcoms</a:t>
            </a:r>
            <a:r>
              <a:rPr lang="en-US" b="0" dirty="0"/>
              <a:t> entire business model depends highly on positioning it’s product for that particular customer. Therefor our customer segments are tightly focused on the leading smartphone manufacturers. Because our product is so specialized to target the needs of Apple, this allows us to ignore other customer segments ensuring that our product meets the needs of Apple. Apple’s multi-year roadmaps ensure our product ensures apples competitiveness among the market. Apple pays Broadcom a substantial amount to ensure that we remain as their primary customer segment</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Value Proposition: To achieve a title of worlds-best smartphone requires worlds-best components. </a:t>
            </a:r>
            <a:r>
              <a:rPr lang="en-US" b="0" dirty="0" err="1"/>
              <a:t>Broadcoms</a:t>
            </a:r>
            <a:r>
              <a:rPr lang="en-US" b="0" dirty="0"/>
              <a:t> value proposition not only includes offering a worlds best RF filter, but our manufacturing capabilities ensure we are able to meet customer demands. Additionally our ability to quickly adopt new technologies in our manufacturing process which improves quality and yield allows us to keep up with new technological demands and industry best practices. The bundle of quality, reliability, speed is central to the value proposition we offer to our customers.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Channels: As a supplier for smart phone manufacturers, our products do not hit store shelves. Broadcom offers a B2B Direct channel for delivering components to </a:t>
            </a:r>
            <a:r>
              <a:rPr lang="en-US" b="0" dirty="0" err="1"/>
              <a:t>SmartPhone</a:t>
            </a:r>
            <a:r>
              <a:rPr lang="en-US" b="0" dirty="0"/>
              <a:t> manufacturers immediately after packaging. This direct line of access to our product ensures our company </a:t>
            </a:r>
            <a:r>
              <a:rPr lang="en-US" b="0" dirty="0" err="1"/>
              <a:t>mantains</a:t>
            </a:r>
            <a:r>
              <a:rPr lang="en-US" b="0" dirty="0"/>
              <a:t> direct contact with our customer which offers additional value ensuring that problems along the supply chain are identified immediately and resolved. Smartphone manufacturers become aware of our products during competitions where suppliers compete to win sockets specified by the Smartphone </a:t>
            </a:r>
            <a:r>
              <a:rPr lang="en-US" b="0" dirty="0" err="1"/>
              <a:t>manufactuere</a:t>
            </a:r>
            <a:r>
              <a:rPr lang="en-US" b="0" dirty="0"/>
              <a:t>. Companies who can quantify and qualify the value of their product tend to win the most design sockets. During the competition, quality and reliability are evaluated by the customer who decides whether the product meets their design specs. Apple purchases directly from Broadcom in a B2B direct manner. Our products are delivered directly to apple after packaging. Components that fail or show signs of failure during the development of new phones are communicated back to the Broadcom for investigation. Theis investigation </a:t>
            </a:r>
            <a:r>
              <a:rPr lang="en-US" b="0" dirty="0" err="1"/>
              <a:t>typiclay</a:t>
            </a:r>
            <a:r>
              <a:rPr lang="en-US" b="0" dirty="0"/>
              <a:t> involves a deep dive into the manufacturing process to identify when and where exactly quality and defects occurred.</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Customer Relationships: Broadcom and leading smartphone suppliers require a very close relationship in order to ensure quality and meet the supply demands of smartphones. Every year a new smartphone comes out which requires Broadcom to ensure that it can meet to supply needs and technology expectations needed for this years products. Therefor, smartphone supplier and Broadcom work closely in a co-creation relationship where both customer and supplier work together to define multi-year design specs and joint roadmaps. This symbiotic relationship ensures that Broadcom offers dedicated assistance to the </a:t>
            </a:r>
            <a:r>
              <a:rPr lang="en-US" b="0" dirty="0" err="1"/>
              <a:t>custuomer</a:t>
            </a:r>
            <a:r>
              <a:rPr lang="en-US" b="0" dirty="0"/>
              <a:t> to manage and handle quality concerns while the costumer offers production roadmaps that allow for Broadcom to maintain operations.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Revenue Streams: Revenue streams for Broadcom are relatively simple. Our volume of production directly correlates to asset sales. Most often </a:t>
            </a:r>
            <a:r>
              <a:rPr lang="en-US" b="0" dirty="0" err="1"/>
              <a:t>smarthone</a:t>
            </a:r>
            <a:r>
              <a:rPr lang="en-US" b="0" dirty="0"/>
              <a:t> suppliers request a target number of products each month to meet the yearly roadmap for supply which goes through </a:t>
            </a:r>
            <a:r>
              <a:rPr lang="en-US" b="0" dirty="0" err="1"/>
              <a:t>ebs</a:t>
            </a:r>
            <a:r>
              <a:rPr lang="en-US" b="0" dirty="0"/>
              <a:t> and flows throughout the seasons, typically peaking at the end of the year. </a:t>
            </a:r>
            <a:r>
              <a:rPr lang="en-US" b="0" dirty="0" err="1"/>
              <a:t>pRoduction</a:t>
            </a:r>
            <a:r>
              <a:rPr lang="en-US" b="0" dirty="0"/>
              <a:t> volumes are decided on a monthly bases with the customer who is anticipating demand for their product. Higher demand expectations by the smartphone customers equate to higher volume requests to our manufacturing facility. Prices are likely fixed during each production cycle, but depending on many factors during the year the cost of production can change. It’s highly likely that Broadcom and Apple negotiate costs based on current market factors, but likely do not undergo any type of surge pricing.</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resources: As a manufacturing company we are highly dependent on the key resources that keep our 24/7 production line going. Physical resources include the actual building, equipment, chemicals, and consumables. Intellectual resources include our engineering capabilities, </a:t>
            </a:r>
            <a:r>
              <a:rPr lang="en-US" b="0" dirty="0" err="1"/>
              <a:t>propiatary</a:t>
            </a:r>
            <a:r>
              <a:rPr lang="en-US" b="0" dirty="0"/>
              <a:t> knowledge of RF tech, and patents that keep our product and process cutting edge. Our human resources include the directors, </a:t>
            </a:r>
            <a:r>
              <a:rPr lang="en-US" b="0" dirty="0" err="1"/>
              <a:t>empoloyees</a:t>
            </a:r>
            <a:r>
              <a:rPr lang="en-US" b="0" dirty="0"/>
              <a:t>, and contractors that keep the production facility focused and operational. Financial resources are critical which demand massive amounts of available cash to operate, pay for salaries, utilities, permits, and taxes.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a:t>
            </a:r>
            <a:r>
              <a:rPr lang="en-US" b="0" dirty="0" err="1"/>
              <a:t>Activies</a:t>
            </a:r>
            <a:r>
              <a:rPr lang="en-US" b="0" dirty="0"/>
              <a:t>: Broadcom started out as a R&amp;D company and slowed morphed into a high-volume production facility. We currently supply both to our customers which places us at odds with competitive advantage against product volume all within the same walls of the company. Our key </a:t>
            </a:r>
            <a:r>
              <a:rPr lang="en-US" b="0" dirty="0" err="1"/>
              <a:t>activies</a:t>
            </a:r>
            <a:r>
              <a:rPr lang="en-US" b="0" dirty="0"/>
              <a:t> can be summarized as high-volume manufacturing as well as R&amp;D. Both together demand a constant focus on quality management, yield innovations, and new product introductions.</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Key Partnerships: Our relationships with our key partners is critical for the ongoing production capability of our companies. We are highly reliant on chemical and equipment manufacturers that are used on the process line to actually build the product. Contractors and logistics partners ensure that the fab space is operational in a 24/7 running environment. One the product is built, our packaging partners build into a product that our customer can integrate into their phone design.</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r>
              <a:rPr lang="en-US" b="0" dirty="0"/>
              <a:t>Cost Structure: There are several costs associated with our manufacturing facility but they can be summarized into relatively large buckets. Employee salaries ensure we have the right human resources needed to design, build, and maintain our operation. Equipment, chemical, and consumables are needed to actually build the product on the production floor. Contractors ensure that the facility remains operational. </a:t>
            </a:r>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1828785" rtl="0" eaLnBrk="1" fontAlgn="auto" latinLnBrk="0" hangingPunct="1">
              <a:lnSpc>
                <a:spcPct val="100000"/>
              </a:lnSpc>
              <a:spcBef>
                <a:spcPts val="0"/>
              </a:spcBef>
              <a:spcAft>
                <a:spcPts val="0"/>
              </a:spcAft>
              <a:buClrTx/>
              <a:buSzTx/>
              <a:buFontTx/>
              <a:buNone/>
              <a:tabLst/>
              <a:defRPr/>
            </a:pPr>
            <a:endParaRPr lang="en-US" b="1" dirty="0"/>
          </a:p>
        </p:txBody>
      </p:sp>
      <p:sp>
        <p:nvSpPr>
          <p:cNvPr id="4" name="Slide Number Placeholder 3"/>
          <p:cNvSpPr>
            <a:spLocks noGrp="1"/>
          </p:cNvSpPr>
          <p:nvPr>
            <p:ph type="sldNum" sz="quarter" idx="10"/>
          </p:nvPr>
        </p:nvSpPr>
        <p:spPr/>
        <p:txBody>
          <a:bodyPr/>
          <a:lstStyle/>
          <a:p>
            <a:fld id="{47EAB48F-D24C-43CD-8A35-7A7975B1176C}" type="slidenum">
              <a:rPr lang="en-US" smtClean="0"/>
              <a:t>6</a:t>
            </a:fld>
            <a:endParaRPr lang="en-US"/>
          </a:p>
        </p:txBody>
      </p:sp>
    </p:spTree>
    <p:extLst>
      <p:ext uri="{BB962C8B-B14F-4D97-AF65-F5344CB8AC3E}">
        <p14:creationId xmlns:p14="http://schemas.microsoft.com/office/powerpoint/2010/main" val="1184455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828785" rtl="0" eaLnBrk="1" fontAlgn="auto" latinLnBrk="0" hangingPunct="1">
              <a:lnSpc>
                <a:spcPct val="100000"/>
              </a:lnSpc>
              <a:spcBef>
                <a:spcPts val="0"/>
              </a:spcBef>
              <a:spcAft>
                <a:spcPts val="0"/>
              </a:spcAft>
              <a:buClrTx/>
              <a:buSzTx/>
              <a:buFontTx/>
              <a:buNone/>
              <a:tabLst/>
              <a:defRPr/>
            </a:pPr>
            <a:r>
              <a:rPr lang="en-US"/>
              <a:t>Complete this slide with the Business Model Canvas assignment</a:t>
            </a:r>
          </a:p>
          <a:p>
            <a:endParaRPr lang="en-US"/>
          </a:p>
        </p:txBody>
      </p:sp>
      <p:sp>
        <p:nvSpPr>
          <p:cNvPr id="4" name="Slide Number Placeholder 3"/>
          <p:cNvSpPr>
            <a:spLocks noGrp="1"/>
          </p:cNvSpPr>
          <p:nvPr>
            <p:ph type="sldNum" sz="quarter" idx="10"/>
          </p:nvPr>
        </p:nvSpPr>
        <p:spPr/>
        <p:txBody>
          <a:bodyPr/>
          <a:lstStyle/>
          <a:p>
            <a:fld id="{6CAAD981-78BF-409D-B3BA-8A6D32CEDE01}" type="slidenum">
              <a:rPr lang="en-US" smtClean="0"/>
              <a:pPr/>
              <a:t>7</a:t>
            </a:fld>
            <a:endParaRPr lang="en-US"/>
          </a:p>
        </p:txBody>
      </p:sp>
    </p:spTree>
    <p:extLst>
      <p:ext uri="{BB962C8B-B14F-4D97-AF65-F5344CB8AC3E}">
        <p14:creationId xmlns:p14="http://schemas.microsoft.com/office/powerpoint/2010/main" val="28844769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p>
        </p:txBody>
      </p:sp>
    </p:spTree>
    <p:extLst>
      <p:ext uri="{BB962C8B-B14F-4D97-AF65-F5344CB8AC3E}">
        <p14:creationId xmlns:p14="http://schemas.microsoft.com/office/powerpoint/2010/main" val="4251416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2967141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423284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831672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267AD-B4B1-49D3-B52A-AFD2B52F31DF}"/>
              </a:ext>
            </a:extLst>
          </p:cNvPr>
          <p:cNvSpPr>
            <a:spLocks noGrp="1"/>
          </p:cNvSpPr>
          <p:nvPr>
            <p:ph type="title" hasCustomPrompt="1"/>
          </p:nvPr>
        </p:nvSpPr>
        <p:spPr>
          <a:xfrm>
            <a:off x="20057" y="2073609"/>
            <a:ext cx="7031736" cy="1161288"/>
          </a:xfrm>
          <a:prstGeom prst="rect">
            <a:avLst/>
          </a:prstGeom>
        </p:spPr>
        <p:txBody>
          <a:bodyPr lIns="685800" tIns="228600" rIns="228600" bIns="228600"/>
          <a:lstStyle>
            <a:lvl1pPr>
              <a:defRPr lang="en-US" sz="4200" baseline="0">
                <a:solidFill>
                  <a:schemeClr val="bg1"/>
                </a:solidFill>
                <a:latin typeface="Arial" panose="020B0604020202020204" pitchFamily="34" charset="0"/>
                <a:ea typeface="+mn-ea"/>
                <a:cs typeface="+mn-cs"/>
              </a:defRPr>
            </a:lvl1pPr>
          </a:lstStyle>
          <a:p>
            <a:pPr marL="0" lvl="0" indent="0">
              <a:lnSpc>
                <a:spcPct val="100000"/>
              </a:lnSpc>
              <a:spcBef>
                <a:spcPts val="0"/>
              </a:spcBef>
              <a:buFont typeface="Arial" panose="020B0604020202020204" pitchFamily="34" charset="0"/>
            </a:pPr>
            <a:r>
              <a:rPr lang="en-US"/>
              <a:t>Title</a:t>
            </a:r>
          </a:p>
        </p:txBody>
      </p:sp>
      <p:sp>
        <p:nvSpPr>
          <p:cNvPr id="3" name="Subtitle 2">
            <a:extLst>
              <a:ext uri="{FF2B5EF4-FFF2-40B4-BE49-F238E27FC236}">
                <a16:creationId xmlns:a16="http://schemas.microsoft.com/office/drawing/2014/main" id="{1BB79187-B58F-4AA3-B80B-4D16EF744D22}"/>
              </a:ext>
            </a:extLst>
          </p:cNvPr>
          <p:cNvSpPr>
            <a:spLocks noGrp="1"/>
          </p:cNvSpPr>
          <p:nvPr>
            <p:ph type="subTitle" idx="1"/>
          </p:nvPr>
        </p:nvSpPr>
        <p:spPr>
          <a:xfrm>
            <a:off x="570623" y="3234897"/>
            <a:ext cx="6336792" cy="457200"/>
          </a:xfrm>
          <a:prstGeom prst="rect">
            <a:avLst/>
          </a:prstGeom>
        </p:spPr>
        <p:txBody>
          <a:bodyPr/>
          <a:lstStyle>
            <a:lvl1pPr>
              <a:defRPr lang="en-US" sz="1800">
                <a:solidFill>
                  <a:schemeClr val="bg1"/>
                </a:solidFill>
                <a:latin typeface="Arial" panose="020B0604020202020204" pitchFamily="34" charset="0"/>
                <a:cs typeface="Arial" panose="020B0604020202020204" pitchFamily="34" charset="0"/>
              </a:defRPr>
            </a:lvl1pPr>
          </a:lstStyle>
          <a:p>
            <a:pPr marL="0" lvl="0" indent="0">
              <a:buNone/>
            </a:pPr>
            <a:r>
              <a:rPr lang="en-US"/>
              <a:t>Click to edit Master subtitle style</a:t>
            </a:r>
          </a:p>
        </p:txBody>
      </p:sp>
      <p:sp>
        <p:nvSpPr>
          <p:cNvPr id="4" name="object 64">
            <a:extLst>
              <a:ext uri="{FF2B5EF4-FFF2-40B4-BE49-F238E27FC236}">
                <a16:creationId xmlns:a16="http://schemas.microsoft.com/office/drawing/2014/main" id="{93EF0DFE-F9E5-4187-9C1E-A609FC70BAA4}"/>
              </a:ext>
            </a:extLst>
          </p:cNvPr>
          <p:cNvSpPr/>
          <p:nvPr userDrawn="1"/>
        </p:nvSpPr>
        <p:spPr>
          <a:xfrm flipV="1">
            <a:off x="633568" y="3177890"/>
            <a:ext cx="939800" cy="45719"/>
          </a:xfrm>
          <a:custGeom>
            <a:avLst/>
            <a:gdLst/>
            <a:ahLst/>
            <a:cxnLst/>
            <a:rect l="l" t="t" r="r" b="b"/>
            <a:pathLst>
              <a:path w="939800">
                <a:moveTo>
                  <a:pt x="0" y="0"/>
                </a:moveTo>
                <a:lnTo>
                  <a:pt x="939800" y="0"/>
                </a:lnTo>
              </a:path>
            </a:pathLst>
          </a:custGeom>
          <a:ln w="12700">
            <a:solidFill>
              <a:schemeClr val="accent2"/>
            </a:solidFill>
          </a:ln>
        </p:spPr>
        <p:txBody>
          <a:bodyPr wrap="square" lIns="0" tIns="0" rIns="0" bIns="0" rtlCol="0"/>
          <a:lstStyle/>
          <a:p>
            <a:endParaRPr/>
          </a:p>
        </p:txBody>
      </p:sp>
    </p:spTree>
    <p:extLst>
      <p:ext uri="{BB962C8B-B14F-4D97-AF65-F5344CB8AC3E}">
        <p14:creationId xmlns:p14="http://schemas.microsoft.com/office/powerpoint/2010/main" val="42736611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p>
        </p:txBody>
      </p:sp>
    </p:spTree>
    <p:extLst>
      <p:ext uri="{BB962C8B-B14F-4D97-AF65-F5344CB8AC3E}">
        <p14:creationId xmlns:p14="http://schemas.microsoft.com/office/powerpoint/2010/main" val="10046360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9088965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22903123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p>
        </p:txBody>
      </p:sp>
    </p:spTree>
    <p:extLst>
      <p:ext uri="{BB962C8B-B14F-4D97-AF65-F5344CB8AC3E}">
        <p14:creationId xmlns:p14="http://schemas.microsoft.com/office/powerpoint/2010/main" val="9242428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5.xml"/><Relationship Id="rId5" Type="http://schemas.openxmlformats.org/officeDocument/2006/relationships/image" Target="../media/image3.png"/><Relationship Id="rId4" Type="http://schemas.microsoft.com/office/2007/relationships/hdphoto" Target="../media/hdphoto1.wdp"/></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image" Target="../media/image1.png"/><Relationship Id="rId5" Type="http://schemas.openxmlformats.org/officeDocument/2006/relationships/theme" Target="../theme/theme3.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1509268682"/>
      </p:ext>
    </p:extLst>
  </p:cSld>
  <p:clrMap bg1="lt1" tx1="dk1" bg2="lt2" tx2="dk2" accent1="accent1" accent2="accent2" accent3="accent3" accent4="accent4" accent5="accent5" accent6="accent6" hlink="hlink" folHlink="folHlink"/>
  <p:sldLayoutIdLst>
    <p:sldLayoutId id="2147483652" r:id="rId1"/>
    <p:sldLayoutId id="2147483655" r:id="rId2"/>
    <p:sldLayoutId id="2147483656" r:id="rId3"/>
    <p:sldLayoutId id="214748366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4A454DB7-A73F-40C4-A0D2-93123167F1BE}"/>
              </a:ext>
            </a:extLst>
          </p:cNvPr>
          <p:cNvSpPr/>
          <p:nvPr userDrawn="1"/>
        </p:nvSpPr>
        <p:spPr>
          <a:xfrm>
            <a:off x="0" y="0"/>
            <a:ext cx="12192000" cy="6858000"/>
          </a:xfrm>
          <a:custGeom>
            <a:avLst/>
            <a:gdLst/>
            <a:ahLst/>
            <a:cxnLst/>
            <a:rect l="l" t="t" r="r" b="b"/>
            <a:pathLst>
              <a:path w="12433300" h="6997700">
                <a:moveTo>
                  <a:pt x="0" y="6997700"/>
                </a:moveTo>
                <a:lnTo>
                  <a:pt x="12433300" y="6997700"/>
                </a:lnTo>
                <a:lnTo>
                  <a:pt x="12433300" y="0"/>
                </a:lnTo>
                <a:lnTo>
                  <a:pt x="0" y="0"/>
                </a:lnTo>
                <a:lnTo>
                  <a:pt x="0" y="6997700"/>
                </a:lnTo>
                <a:close/>
              </a:path>
            </a:pathLst>
          </a:custGeom>
          <a:solidFill>
            <a:srgbClr val="1E4D2B"/>
          </a:solidFill>
        </p:spPr>
        <p:txBody>
          <a:bodyPr wrap="square" lIns="0" tIns="0" rIns="0" bIns="0" rtlCol="0"/>
          <a:lstStyle/>
          <a:p>
            <a:endParaRPr/>
          </a:p>
        </p:txBody>
      </p:sp>
      <p:sp>
        <p:nvSpPr>
          <p:cNvPr id="8" name="object 3">
            <a:extLst>
              <a:ext uri="{FF2B5EF4-FFF2-40B4-BE49-F238E27FC236}">
                <a16:creationId xmlns:a16="http://schemas.microsoft.com/office/drawing/2014/main" id="{80E9EB47-13D9-4E9A-B8E7-21D64C865CF3}"/>
              </a:ext>
            </a:extLst>
          </p:cNvPr>
          <p:cNvSpPr/>
          <p:nvPr userDrawn="1"/>
        </p:nvSpPr>
        <p:spPr>
          <a:xfrm>
            <a:off x="6222491" y="0"/>
            <a:ext cx="5969509" cy="6839335"/>
          </a:xfrm>
          <a:prstGeom prst="rect">
            <a:avLst/>
          </a:prstGeom>
          <a:blipFill>
            <a:blip r:embed="rId3" cstate="print">
              <a:extLst>
                <a:ext uri="{BEBA8EAE-BF5A-486C-A8C5-ECC9F3942E4B}">
                  <a14:imgProps xmlns:a14="http://schemas.microsoft.com/office/drawing/2010/main">
                    <a14:imgLayer r:embed="rId4">
                      <a14:imgEffect>
                        <a14:brightnessContrast contrast="-70000"/>
                      </a14:imgEffect>
                    </a14:imgLayer>
                  </a14:imgProps>
                </a:ext>
              </a:extLst>
            </a:blip>
            <a:stretch>
              <a:fillRect/>
            </a:stretch>
          </a:blipFill>
        </p:spPr>
        <p:txBody>
          <a:bodyPr wrap="square" lIns="0" tIns="0" rIns="0" bIns="0" rtlCol="0"/>
          <a:lstStyle/>
          <a:p>
            <a:endParaRPr/>
          </a:p>
        </p:txBody>
      </p:sp>
      <p:pic>
        <p:nvPicPr>
          <p:cNvPr id="9" name="Picture 8">
            <a:extLst>
              <a:ext uri="{FF2B5EF4-FFF2-40B4-BE49-F238E27FC236}">
                <a16:creationId xmlns:a16="http://schemas.microsoft.com/office/drawing/2014/main" id="{92E8F1D3-5FD1-4707-B053-C7386CD9C38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30114" y="5991173"/>
            <a:ext cx="3461886" cy="848162"/>
          </a:xfrm>
          <a:prstGeom prst="rect">
            <a:avLst/>
          </a:prstGeom>
        </p:spPr>
      </p:pic>
    </p:spTree>
    <p:extLst>
      <p:ext uri="{BB962C8B-B14F-4D97-AF65-F5344CB8AC3E}">
        <p14:creationId xmlns:p14="http://schemas.microsoft.com/office/powerpoint/2010/main" val="1724814910"/>
      </p:ext>
    </p:extLst>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3270806916"/>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dirty="0"/>
              <a:t>Business Model Canvas (BMC) Instructions</a:t>
            </a:r>
          </a:p>
        </p:txBody>
      </p:sp>
      <p:sp>
        <p:nvSpPr>
          <p:cNvPr id="6" name="Content Placeholder 2">
            <a:extLst>
              <a:ext uri="{FF2B5EF4-FFF2-40B4-BE49-F238E27FC236}">
                <a16:creationId xmlns:a16="http://schemas.microsoft.com/office/drawing/2014/main" id="{0EC45CCC-C771-0DAB-88E1-E2FD06BD79BC}"/>
              </a:ext>
            </a:extLst>
          </p:cNvPr>
          <p:cNvSpPr>
            <a:spLocks noGrp="1"/>
          </p:cNvSpPr>
          <p:nvPr>
            <p:ph idx="1"/>
          </p:nvPr>
        </p:nvSpPr>
        <p:spPr>
          <a:xfrm>
            <a:off x="319454" y="1077491"/>
            <a:ext cx="11620500" cy="4351338"/>
          </a:xfrm>
        </p:spPr>
        <p:txBody>
          <a:bodyPr>
            <a:noAutofit/>
          </a:bodyPr>
          <a:lstStyle/>
          <a:p>
            <a:pPr marL="0" indent="0">
              <a:buNone/>
            </a:pPr>
            <a:r>
              <a:rPr lang="en-US" sz="1800" dirty="0">
                <a:latin typeface="Arial" panose="020B0604020202020204" pitchFamily="34" charset="0"/>
                <a:cs typeface="Arial" panose="020B0604020202020204" pitchFamily="34" charset="0"/>
              </a:rPr>
              <a:t>You will use this deck for this template for this week’s assignment. You will turn in this PowerPoint file as your homework submission. With each subsequent assignment, please include the “Student Name” and “Business Profile – Overview” slides with your submission. Here are some points to remember when using this template:</a:t>
            </a:r>
          </a:p>
          <a:p>
            <a:r>
              <a:rPr lang="en-US" sz="1800" dirty="0">
                <a:latin typeface="Arial" panose="020B0604020202020204" pitchFamily="34" charset="0"/>
                <a:cs typeface="Arial" panose="020B0604020202020204" pitchFamily="34" charset="0"/>
              </a:rPr>
              <a:t>You must use the same company for all assignments. Preferably, this is the company you currently work for.  However, if you are not working at the moment, or your company just doesn’t work well for these assignments (i.e. government agencies, small volunteer organizations) then select a company in an industry that interests you or that you would like to work for.</a:t>
            </a:r>
          </a:p>
          <a:p>
            <a:r>
              <a:rPr lang="en-US" sz="1800" dirty="0">
                <a:latin typeface="Arial" panose="020B0604020202020204" pitchFamily="34" charset="0"/>
                <a:cs typeface="Arial" panose="020B0604020202020204" pitchFamily="34" charset="0"/>
              </a:rPr>
              <a:t>These assignments are built around the company you work for to maximize your ability to apply the content to a familiar context.  However, it’s a challenge for ICs that may not be as familiar with your organization.  Provide additional detail, additional notes, or anything else that can help your IC grade the assignment either in slide notes or in additional slides.</a:t>
            </a:r>
          </a:p>
          <a:p>
            <a:r>
              <a:rPr lang="en-US" sz="1800" dirty="0">
                <a:latin typeface="Arial" panose="020B0604020202020204" pitchFamily="34" charset="0"/>
                <a:cs typeface="Arial" panose="020B0604020202020204" pitchFamily="34" charset="0"/>
              </a:rPr>
              <a:t>There are notes on each slide indicating which assignment that slide is a part of to make it easy for you to know when each slide needs to be completed.  The slide notes may also contain additional instructions – make sure you read them!</a:t>
            </a:r>
          </a:p>
          <a:p>
            <a:r>
              <a:rPr lang="en-US" sz="1800" dirty="0">
                <a:latin typeface="Arial" panose="020B0604020202020204" pitchFamily="34" charset="0"/>
                <a:cs typeface="Arial" panose="020B0604020202020204" pitchFamily="34" charset="0"/>
              </a:rPr>
              <a:t>If additional space is necessary, you may insert additional slides and/or use the notes option, just make it clear to your IC that the content is continued on the next slide.</a:t>
            </a:r>
          </a:p>
          <a:p>
            <a:pPr marL="0" indent="0">
              <a:buNone/>
            </a:pPr>
            <a:r>
              <a:rPr lang="en-US" sz="1800" b="1" dirty="0">
                <a:latin typeface="Arial" panose="020B0604020202020204" pitchFamily="34" charset="0"/>
                <a:cs typeface="Arial" panose="020B0604020202020204" pitchFamily="34" charset="0"/>
              </a:rPr>
              <a:t>FILE NAMING</a:t>
            </a:r>
            <a:endParaRPr lang="en-US" sz="1800" dirty="0">
              <a:latin typeface="Arial" panose="020B0604020202020204" pitchFamily="34" charset="0"/>
              <a:cs typeface="Arial" panose="020B0604020202020204" pitchFamily="34" charset="0"/>
            </a:endParaRPr>
          </a:p>
          <a:p>
            <a:r>
              <a:rPr lang="en-US" sz="1800" dirty="0">
                <a:latin typeface="Arial" panose="020B0604020202020204" pitchFamily="34" charset="0"/>
                <a:cs typeface="Arial" panose="020B0604020202020204" pitchFamily="34" charset="0"/>
              </a:rPr>
              <a:t>Please follow the file naming convention below.  This helps your IC find your assignment easily: LASTNAME.FIRSTNAME.ASSIGNMENTNAME. Example: PORTER.MICHAEL.BPA</a:t>
            </a:r>
          </a:p>
          <a:p>
            <a:pPr marL="0" indent="0">
              <a:buNone/>
            </a:pPr>
            <a:r>
              <a:rPr lang="en-US" sz="18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709961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a:t>Assignment Grading Criteria</a:t>
            </a:r>
          </a:p>
        </p:txBody>
      </p:sp>
      <p:sp>
        <p:nvSpPr>
          <p:cNvPr id="10" name="TextBox 9">
            <a:extLst>
              <a:ext uri="{FF2B5EF4-FFF2-40B4-BE49-F238E27FC236}">
                <a16:creationId xmlns:a16="http://schemas.microsoft.com/office/drawing/2014/main" id="{773629AF-B4CC-3758-2F2D-74F80E79F1A9}"/>
              </a:ext>
            </a:extLst>
          </p:cNvPr>
          <p:cNvSpPr txBox="1"/>
          <p:nvPr/>
        </p:nvSpPr>
        <p:spPr>
          <a:xfrm>
            <a:off x="6756640" y="1256446"/>
            <a:ext cx="4888523" cy="4808752"/>
          </a:xfrm>
          <a:prstGeom prst="rect">
            <a:avLst/>
          </a:prstGeom>
          <a:noFill/>
        </p:spPr>
        <p:txBody>
          <a:bodyPr wrap="square" rtlCol="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600" b="1" i="0" u="sng"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Evaluation Criteria</a:t>
            </a:r>
            <a:r>
              <a:rPr kumimoji="0" lang="en-US" sz="12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 (from Course Syllabus)</a:t>
            </a:r>
            <a:endParaRPr kumimoji="0" lang="en-US" sz="16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Support Quality of Work:</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Each statement or explanation is supported by sound facts, logics, or data points.</a:t>
            </a: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Analysis yields complex and nuanced syntheses of ideas, demonstrating true understanding.</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Accurate Class Concept Use:</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Class concepts are used throughout the assignment in a manner that demonstrates a full understanding of the concept.</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Critical Thinking:</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Exercises include data and reasoning that confirms or disconfirms the thesis.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The analysis or explanation demonstrates an understanding of the uncertainty surrounding the facts, logics, and conclusions.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Mechanics and Professionalism:</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Work is professionally presented and free from grammatical or typographical errors.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Headings, images, figures, and tables are appropriately and effectively used.</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WOW Factor:</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mn-ea"/>
                <a:cs typeface="Times New Roman" panose="02020603050405020304" pitchFamily="18" charset="0"/>
              </a:rPr>
              <a:t>Approximately 10% of the total grade will be determined by the WOW factor. This is evidence of work that exceeds expectations. These points are reserved for those projects that go beyond assignment requirements and demonstrate creativity, extra effort, and refined professionalism.</a:t>
            </a:r>
          </a:p>
        </p:txBody>
      </p:sp>
      <p:graphicFrame>
        <p:nvGraphicFramePr>
          <p:cNvPr id="4" name="Table 3">
            <a:extLst>
              <a:ext uri="{FF2B5EF4-FFF2-40B4-BE49-F238E27FC236}">
                <a16:creationId xmlns:a16="http://schemas.microsoft.com/office/drawing/2014/main" id="{13609270-3F34-F65E-0642-B4DBCEE08E13}"/>
              </a:ext>
            </a:extLst>
          </p:cNvPr>
          <p:cNvGraphicFramePr>
            <a:graphicFrameLocks noGrp="1"/>
          </p:cNvGraphicFramePr>
          <p:nvPr>
            <p:extLst>
              <p:ext uri="{D42A27DB-BD31-4B8C-83A1-F6EECF244321}">
                <p14:modId xmlns:p14="http://schemas.microsoft.com/office/powerpoint/2010/main" val="3830949331"/>
              </p:ext>
            </p:extLst>
          </p:nvPr>
        </p:nvGraphicFramePr>
        <p:xfrm>
          <a:off x="284782" y="1413770"/>
          <a:ext cx="5892213" cy="5274269"/>
        </p:xfrm>
        <a:graphic>
          <a:graphicData uri="http://schemas.openxmlformats.org/drawingml/2006/table">
            <a:tbl>
              <a:tblPr/>
              <a:tblGrid>
                <a:gridCol w="5073730">
                  <a:extLst>
                    <a:ext uri="{9D8B030D-6E8A-4147-A177-3AD203B41FA5}">
                      <a16:colId xmlns:a16="http://schemas.microsoft.com/office/drawing/2014/main" val="2042513258"/>
                    </a:ext>
                  </a:extLst>
                </a:gridCol>
                <a:gridCol w="818483">
                  <a:extLst>
                    <a:ext uri="{9D8B030D-6E8A-4147-A177-3AD203B41FA5}">
                      <a16:colId xmlns:a16="http://schemas.microsoft.com/office/drawing/2014/main" val="1063148183"/>
                    </a:ext>
                  </a:extLst>
                </a:gridCol>
              </a:tblGrid>
              <a:tr h="346071">
                <a:tc gridSpan="2">
                  <a:txBody>
                    <a:bodyPr/>
                    <a:lstStyle/>
                    <a:p>
                      <a:pPr algn="ctr" fontAlgn="ctr"/>
                      <a:r>
                        <a:rPr lang="en-US" sz="1800" b="1" i="0" u="none" strike="noStrike">
                          <a:solidFill>
                            <a:srgbClr val="000000"/>
                          </a:solidFill>
                          <a:effectLst/>
                          <a:highlight>
                            <a:srgbClr val="FFFFFF"/>
                          </a:highlight>
                          <a:latin typeface="Aptos Narrow" panose="020B0004020202020204" pitchFamily="34" charset="0"/>
                        </a:rPr>
                        <a:t>BMC Rubric</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3806741053"/>
                  </a:ext>
                </a:extLst>
              </a:tr>
              <a:tr h="259553">
                <a:tc>
                  <a:txBody>
                    <a:bodyPr/>
                    <a:lstStyle/>
                    <a:p>
                      <a:pPr algn="ctr" fontAlgn="ctr"/>
                      <a:r>
                        <a:rPr lang="en-US" sz="1400" b="1" i="0" u="none" strike="noStrike">
                          <a:solidFill>
                            <a:srgbClr val="2D3B45"/>
                          </a:solidFill>
                          <a:effectLst/>
                          <a:highlight>
                            <a:srgbClr val="FFFFFF"/>
                          </a:highlight>
                          <a:latin typeface="Lato" panose="020F0502020204030203" pitchFamily="34" charset="0"/>
                        </a:rPr>
                        <a:t>Criteria</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ctr"/>
                      <a:r>
                        <a:rPr lang="en-US" sz="1400" b="1" i="0" u="none" strike="noStrike">
                          <a:solidFill>
                            <a:srgbClr val="2D3B45"/>
                          </a:solidFill>
                          <a:effectLst/>
                          <a:highlight>
                            <a:srgbClr val="FFFFFF"/>
                          </a:highlight>
                          <a:latin typeface="Lato" panose="020F0502020204030203" pitchFamily="34" charset="0"/>
                        </a:rPr>
                        <a:t>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746794332"/>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rowSpan="4">
                  <a:txBody>
                    <a:bodyPr/>
                    <a:lstStyle/>
                    <a:p>
                      <a:pPr algn="l" fontAlgn="ctr"/>
                      <a:r>
                        <a:rPr lang="en-US" sz="1400" b="0" i="0" u="none" strike="noStrike">
                          <a:solidFill>
                            <a:srgbClr val="2D3B45"/>
                          </a:solidFill>
                          <a:effectLst/>
                          <a:highlight>
                            <a:srgbClr val="FFFFFF"/>
                          </a:highlight>
                          <a:latin typeface="Lato" panose="020F0502020204030203" pitchFamily="34" charset="0"/>
                        </a:rPr>
                        <a:t>60 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2018821861"/>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All boxes complete.</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874631422"/>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Depth, detail, and thought put into each section of the canvas.</a:t>
                      </a:r>
                    </a:p>
                    <a:p>
                      <a:pPr algn="l" fontAlgn="ctr"/>
                      <a:endParaRPr lang="en-US" sz="1400" b="0" i="0" u="none" strike="noStrike">
                        <a:solidFill>
                          <a:srgbClr val="2D3B45"/>
                        </a:solidFill>
                        <a:effectLst/>
                        <a:highlight>
                          <a:srgbClr val="FFFFFF"/>
                        </a:highlight>
                        <a:latin typeface="Lato" panose="020F0502020204030203" pitchFamily="34" charset="0"/>
                      </a:endParaRPr>
                    </a:p>
                    <a:p>
                      <a:pPr algn="l" fontAlgn="ctr"/>
                      <a:r>
                        <a:rPr lang="en-US" sz="1400" b="0" i="0" u="none" strike="noStrike">
                          <a:solidFill>
                            <a:srgbClr val="2D3B45"/>
                          </a:solidFill>
                          <a:effectLst/>
                          <a:highlight>
                            <a:srgbClr val="FFFFFF"/>
                          </a:highlight>
                          <a:latin typeface="Lato" panose="020F0502020204030203" pitchFamily="34" charset="0"/>
                        </a:rPr>
                        <a:t>NOTE: Examples in discussed during the lecture were simplified. More detail  and depth is expected for full credit.</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3788415428"/>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Applied class concepts to the analysis.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vMerge="1">
                  <a:txBody>
                    <a:bodyPr/>
                    <a:lstStyle/>
                    <a:p>
                      <a:endParaRPr lang="en-US"/>
                    </a:p>
                  </a:txBody>
                  <a:tcPr/>
                </a:tc>
                <a:extLst>
                  <a:ext uri="{0D108BD9-81ED-4DB2-BD59-A6C34878D82A}">
                    <a16:rowId xmlns:a16="http://schemas.microsoft.com/office/drawing/2014/main" val="2165917111"/>
                  </a:ext>
                </a:extLst>
              </a:tr>
              <a:tr h="259553">
                <a:tc>
                  <a:txBody>
                    <a:bodyPr/>
                    <a:lstStyle/>
                    <a:p>
                      <a:pPr algn="l" fontAlgn="ctr"/>
                      <a:r>
                        <a:rPr lang="en-US" sz="1400" b="0" i="0" u="none" strike="noStrike">
                          <a:solidFill>
                            <a:srgbClr val="2D3B45"/>
                          </a:solidFill>
                          <a:effectLst/>
                          <a:highlight>
                            <a:srgbClr val="FFFFFF"/>
                          </a:highlight>
                          <a:latin typeface="Lato" panose="020F0502020204030203" pitchFamily="34" charset="0"/>
                        </a:rPr>
                        <a:t>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FF"/>
                    </a:solidFill>
                  </a:tcPr>
                </a:tc>
                <a:tc rowSpan="4">
                  <a:txBody>
                    <a:bodyPr/>
                    <a:lstStyle/>
                    <a:p>
                      <a:pPr algn="l" fontAlgn="ctr"/>
                      <a:r>
                        <a:rPr lang="en-US" sz="1400" b="0" i="0" u="none" strike="noStrike">
                          <a:solidFill>
                            <a:srgbClr val="2D3B45"/>
                          </a:solidFill>
                          <a:effectLst/>
                          <a:highlight>
                            <a:srgbClr val="FFFFFF"/>
                          </a:highlight>
                          <a:latin typeface="Lato" panose="020F0502020204030203" pitchFamily="34" charset="0"/>
                        </a:rPr>
                        <a:t>20 pts</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403409393"/>
                  </a:ext>
                </a:extLst>
              </a:tr>
              <a:tr h="778660">
                <a:tc>
                  <a:txBody>
                    <a:bodyPr/>
                    <a:lstStyle/>
                    <a:p>
                      <a:pPr algn="l" fontAlgn="ctr"/>
                      <a:r>
                        <a:rPr lang="en-US" sz="1400" b="0" i="0" u="none" strike="noStrike">
                          <a:solidFill>
                            <a:srgbClr val="2D3B45"/>
                          </a:solidFill>
                          <a:effectLst/>
                          <a:highlight>
                            <a:srgbClr val="FFFFFF"/>
                          </a:highlight>
                          <a:latin typeface="Lato" panose="020F0502020204030203" pitchFamily="34" charset="0"/>
                        </a:rPr>
                        <a:t>Explain your customer segments and why is this the case. (Mass market, Niche market, Segmented, Diversified, Multi-sided)</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1710679293"/>
                  </a:ext>
                </a:extLst>
              </a:tr>
              <a:tr h="519107">
                <a:tc>
                  <a:txBody>
                    <a:bodyPr/>
                    <a:lstStyle/>
                    <a:p>
                      <a:pPr algn="l" fontAlgn="ctr"/>
                      <a:r>
                        <a:rPr lang="en-US" sz="1400" b="0" i="0" u="none" strike="noStrike">
                          <a:solidFill>
                            <a:srgbClr val="2D3B45"/>
                          </a:solidFill>
                          <a:effectLst/>
                          <a:highlight>
                            <a:srgbClr val="FFFFFF"/>
                          </a:highlight>
                          <a:latin typeface="Lato" panose="020F0502020204030203" pitchFamily="34" charset="0"/>
                        </a:rPr>
                        <a:t>List each revenue stream identified on your BMC and state the pricing mechanism used for that stream.</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vMerge="1">
                  <a:txBody>
                    <a:bodyPr/>
                    <a:lstStyle/>
                    <a:p>
                      <a:endParaRPr lang="en-US"/>
                    </a:p>
                  </a:txBody>
                  <a:tcPr/>
                </a:tc>
                <a:extLst>
                  <a:ext uri="{0D108BD9-81ED-4DB2-BD59-A6C34878D82A}">
                    <a16:rowId xmlns:a16="http://schemas.microsoft.com/office/drawing/2014/main" val="3953067999"/>
                  </a:ext>
                </a:extLst>
              </a:tr>
              <a:tr h="531467">
                <a:tc>
                  <a:txBody>
                    <a:bodyPr/>
                    <a:lstStyle/>
                    <a:p>
                      <a:pPr algn="l" fontAlgn="ctr"/>
                      <a:r>
                        <a:rPr lang="en-US" sz="1400" b="0" i="0" u="none" strike="noStrike">
                          <a:solidFill>
                            <a:srgbClr val="2D3B45"/>
                          </a:solidFill>
                          <a:effectLst/>
                          <a:highlight>
                            <a:srgbClr val="FFFFFF"/>
                          </a:highlight>
                          <a:latin typeface="Lato" panose="020F0502020204030203" pitchFamily="34" charset="0"/>
                        </a:rPr>
                        <a:t>List each key resource and specify which of the four general categories that resource belongs in. Why do you believe this is? </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FF"/>
                    </a:solidFill>
                  </a:tcPr>
                </a:tc>
                <a:tc vMerge="1">
                  <a:txBody>
                    <a:bodyPr/>
                    <a:lstStyle/>
                    <a:p>
                      <a:endParaRPr lang="en-US"/>
                    </a:p>
                  </a:txBody>
                  <a:tcPr/>
                </a:tc>
                <a:extLst>
                  <a:ext uri="{0D108BD9-81ED-4DB2-BD59-A6C34878D82A}">
                    <a16:rowId xmlns:a16="http://schemas.microsoft.com/office/drawing/2014/main" val="274717604"/>
                  </a:ext>
                </a:extLst>
              </a:tr>
              <a:tr h="410342">
                <a:tc gridSpan="2">
                  <a:txBody>
                    <a:bodyPr/>
                    <a:lstStyle/>
                    <a:p>
                      <a:pPr algn="r" fontAlgn="ctr"/>
                      <a:r>
                        <a:rPr lang="en-US" sz="1400" b="0" i="0" u="none" strike="noStrike">
                          <a:solidFill>
                            <a:srgbClr val="2D3B45"/>
                          </a:solidFill>
                          <a:effectLst/>
                          <a:highlight>
                            <a:srgbClr val="FFFFFF"/>
                          </a:highlight>
                          <a:latin typeface="Lato" panose="020F0502020204030203" pitchFamily="34" charset="0"/>
                        </a:rPr>
                        <a:t>Total Points: 80</a:t>
                      </a:r>
                    </a:p>
                  </a:txBody>
                  <a:tcPr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3586573995"/>
                  </a:ext>
                </a:extLst>
              </a:tr>
            </a:tbl>
          </a:graphicData>
        </a:graphic>
      </p:graphicFrame>
    </p:spTree>
    <p:extLst>
      <p:ext uri="{BB962C8B-B14F-4D97-AF65-F5344CB8AC3E}">
        <p14:creationId xmlns:p14="http://schemas.microsoft.com/office/powerpoint/2010/main" val="40014194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EDB7-E569-47F3-8EB7-88525EAA092B}"/>
              </a:ext>
            </a:extLst>
          </p:cNvPr>
          <p:cNvSpPr>
            <a:spLocks noGrp="1"/>
          </p:cNvSpPr>
          <p:nvPr>
            <p:ph type="title"/>
          </p:nvPr>
        </p:nvSpPr>
        <p:spPr/>
        <p:txBody>
          <a:bodyPr>
            <a:normAutofit/>
          </a:bodyPr>
          <a:lstStyle/>
          <a:p>
            <a:r>
              <a:rPr lang="en-US" dirty="0"/>
              <a:t>Student Name</a:t>
            </a:r>
          </a:p>
        </p:txBody>
      </p:sp>
      <p:sp>
        <p:nvSpPr>
          <p:cNvPr id="3" name="Subtitle 2">
            <a:extLst>
              <a:ext uri="{FF2B5EF4-FFF2-40B4-BE49-F238E27FC236}">
                <a16:creationId xmlns:a16="http://schemas.microsoft.com/office/drawing/2014/main" id="{39901997-3A38-45E0-AA63-EE66E6916619}"/>
              </a:ext>
            </a:extLst>
          </p:cNvPr>
          <p:cNvSpPr>
            <a:spLocks noGrp="1"/>
          </p:cNvSpPr>
          <p:nvPr>
            <p:ph idx="1"/>
          </p:nvPr>
        </p:nvSpPr>
        <p:spPr>
          <a:xfrm>
            <a:off x="6392006" y="1558925"/>
            <a:ext cx="5375031" cy="4351338"/>
          </a:xfrm>
        </p:spPr>
        <p:txBody>
          <a:bodyPr anchor="ctr">
            <a:normAutofit/>
          </a:bodyPr>
          <a:lstStyle/>
          <a:p>
            <a:r>
              <a:rPr lang="en-US" sz="3200" dirty="0"/>
              <a:t>Cyrus Bavarian </a:t>
            </a:r>
          </a:p>
        </p:txBody>
      </p:sp>
      <p:sp>
        <p:nvSpPr>
          <p:cNvPr id="4" name="Content Placeholder 2">
            <a:extLst>
              <a:ext uri="{FF2B5EF4-FFF2-40B4-BE49-F238E27FC236}">
                <a16:creationId xmlns:a16="http://schemas.microsoft.com/office/drawing/2014/main" id="{6F3B4236-D07F-4CF9-A5A5-D0014942611E}"/>
              </a:ext>
            </a:extLst>
          </p:cNvPr>
          <p:cNvSpPr txBox="1">
            <a:spLocks/>
          </p:cNvSpPr>
          <p:nvPr/>
        </p:nvSpPr>
        <p:spPr>
          <a:xfrm>
            <a:off x="609600" y="3429000"/>
            <a:ext cx="6432336" cy="2590800"/>
          </a:xfrm>
          <a:prstGeom prst="rect">
            <a:avLst/>
          </a:prstGeom>
        </p:spPr>
        <p:txBody>
          <a:bodyPr vert="horz" lIns="121919" tIns="60959" rIns="121919" bIns="60959" rtlCol="0">
            <a:normAutofit/>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endParaRPr kumimoji="0" lang="en-US" sz="4267" b="0" i="0" u="none" strike="noStrike" kern="1200" cap="none" spc="0" normalizeH="0" baseline="0" noProof="0">
              <a:ln>
                <a:noFill/>
              </a:ln>
              <a:solidFill>
                <a:srgbClr val="59595B">
                  <a:tint val="75000"/>
                </a:srgbClr>
              </a:solidFill>
              <a:effectLst/>
              <a:uLnTx/>
              <a:uFillTx/>
              <a:latin typeface="Helvetica"/>
              <a:ea typeface="+mn-ea"/>
              <a:cs typeface="Helvetica"/>
            </a:endParaRPr>
          </a:p>
        </p:txBody>
      </p:sp>
      <p:sp>
        <p:nvSpPr>
          <p:cNvPr id="6" name="Subtitle 2">
            <a:extLst>
              <a:ext uri="{FF2B5EF4-FFF2-40B4-BE49-F238E27FC236}">
                <a16:creationId xmlns:a16="http://schemas.microsoft.com/office/drawing/2014/main" id="{72F58189-B73F-4B04-A617-E5F099F2E514}"/>
              </a:ext>
            </a:extLst>
          </p:cNvPr>
          <p:cNvSpPr txBox="1">
            <a:spLocks/>
          </p:cNvSpPr>
          <p:nvPr/>
        </p:nvSpPr>
        <p:spPr>
          <a:xfrm>
            <a:off x="1411654" y="5147224"/>
            <a:ext cx="2946400" cy="533400"/>
          </a:xfrm>
          <a:prstGeom prst="rect">
            <a:avLst/>
          </a:prstGeom>
        </p:spPr>
        <p:txBody>
          <a:bodyPr vert="horz" lIns="121919" tIns="60959" rIns="121919" bIns="60959" rtlCol="0" anchor="ctr">
            <a:normAutofit fontScale="92500" lnSpcReduction="10000"/>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r>
              <a:rPr kumimoji="0" lang="en-US" sz="3200" b="0" i="0" u="none" strike="noStrike" kern="1200" cap="none" spc="0" normalizeH="0" baseline="0" noProof="0" dirty="0">
                <a:ln>
                  <a:noFill/>
                </a:ln>
                <a:solidFill>
                  <a:srgbClr val="59595B">
                    <a:tint val="75000"/>
                  </a:srgbClr>
                </a:solidFill>
                <a:effectLst/>
                <a:uLnTx/>
                <a:uFillTx/>
                <a:latin typeface="Helvetica"/>
                <a:ea typeface="+mn-ea"/>
                <a:cs typeface="Helvetica"/>
              </a:rPr>
              <a:t>Student photo</a:t>
            </a:r>
          </a:p>
        </p:txBody>
      </p:sp>
      <p:pic>
        <p:nvPicPr>
          <p:cNvPr id="1026" name="Picture 2" descr="Profile Icon Vector Art, Icons, and Graphics for Free Download">
            <a:extLst>
              <a:ext uri="{FF2B5EF4-FFF2-40B4-BE49-F238E27FC236}">
                <a16:creationId xmlns:a16="http://schemas.microsoft.com/office/drawing/2014/main" id="{77124042-986C-3442-CAB8-90B74189F1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979" y="1762125"/>
            <a:ext cx="3333750" cy="33337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3BBECC87-016D-481C-3A49-851531C34D4B}"/>
              </a:ext>
            </a:extLst>
          </p:cNvPr>
          <p:cNvSpPr/>
          <p:nvPr/>
        </p:nvSpPr>
        <p:spPr>
          <a:xfrm>
            <a:off x="826477" y="1635369"/>
            <a:ext cx="4149969" cy="4384431"/>
          </a:xfrm>
          <a:prstGeom prst="rect">
            <a:avLst/>
          </a:prstGeom>
          <a:noFill/>
          <a:ln w="38100">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9558260-2E64-B157-F8A2-815F64639DF4}"/>
              </a:ext>
            </a:extLst>
          </p:cNvPr>
          <p:cNvPicPr>
            <a:picLocks noChangeAspect="1"/>
          </p:cNvPicPr>
          <p:nvPr/>
        </p:nvPicPr>
        <p:blipFill>
          <a:blip r:embed="rId3"/>
          <a:stretch>
            <a:fillRect/>
          </a:stretch>
        </p:blipFill>
        <p:spPr>
          <a:xfrm>
            <a:off x="688250" y="1558924"/>
            <a:ext cx="4544163" cy="4544163"/>
          </a:xfrm>
          <a:prstGeom prst="rect">
            <a:avLst/>
          </a:prstGeom>
        </p:spPr>
      </p:pic>
    </p:spTree>
    <p:extLst>
      <p:ext uri="{BB962C8B-B14F-4D97-AF65-F5344CB8AC3E}">
        <p14:creationId xmlns:p14="http://schemas.microsoft.com/office/powerpoint/2010/main" val="2168793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normAutofit lnSpcReduction="10000"/>
          </a:bodyPr>
          <a:lstStyle/>
          <a:p>
            <a:r>
              <a:rPr lang="en-US" dirty="0"/>
              <a:t>Business name: Broadcom</a:t>
            </a:r>
          </a:p>
          <a:p>
            <a:r>
              <a:rPr lang="en-US" dirty="0"/>
              <a:t>Business website: </a:t>
            </a:r>
            <a:r>
              <a:rPr lang="en-US" dirty="0">
                <a:hlinkClick r:id="rId3"/>
              </a:rPr>
              <a:t>https://www.broadcom.com/</a:t>
            </a:r>
            <a:endParaRPr lang="en-US" dirty="0"/>
          </a:p>
          <a:p>
            <a:r>
              <a:rPr lang="en-US" dirty="0"/>
              <a:t>Products/services: Semiconductor Solutions &amp; Infrastructure Software</a:t>
            </a:r>
          </a:p>
          <a:p>
            <a:r>
              <a:rPr lang="en-US" dirty="0"/>
              <a:t>Target market(s)/customers: Broadcom’s main segments fall into AI and non-AI categories. Their AI solutions include custom ASIC and networking components for hyper scalers like Google and Meta. Their Non-AI solutions include Semiconductors for smartphone makers like Apple. </a:t>
            </a:r>
          </a:p>
          <a:p>
            <a:r>
              <a:rPr lang="en-US" dirty="0"/>
              <a:t>Top rivals/competitors: Their semiconductor division competitors would be Qorvo, Qualcomm and Marvell. Their enterprise infrastructure solutions would be Microsoft and IBM.</a:t>
            </a:r>
          </a:p>
        </p:txBody>
      </p:sp>
    </p:spTree>
    <p:extLst>
      <p:ext uri="{BB962C8B-B14F-4D97-AF65-F5344CB8AC3E}">
        <p14:creationId xmlns:p14="http://schemas.microsoft.com/office/powerpoint/2010/main" val="3540148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0A571-32E2-B138-C3A7-CCD2F655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77FFC-1C6E-3BF7-CFF8-51793921B232}"/>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74743F5E-4AA6-A5AF-32CA-7A206FC8840A}"/>
              </a:ext>
            </a:extLst>
          </p:cNvPr>
          <p:cNvSpPr>
            <a:spLocks noGrp="1"/>
          </p:cNvSpPr>
          <p:nvPr>
            <p:ph idx="1"/>
          </p:nvPr>
        </p:nvSpPr>
        <p:spPr>
          <a:xfrm>
            <a:off x="609600" y="1600204"/>
            <a:ext cx="10972800" cy="4419597"/>
          </a:xfrm>
        </p:spPr>
        <p:txBody>
          <a:bodyPr>
            <a:normAutofit/>
          </a:bodyPr>
          <a:lstStyle/>
          <a:p>
            <a:endParaRPr lang="en-US" dirty="0"/>
          </a:p>
          <a:p>
            <a:endParaRPr lang="en-US" dirty="0"/>
          </a:p>
          <a:p>
            <a:r>
              <a:rPr lang="en-US" dirty="0"/>
              <a:t>Business name: WSD – Wireless Semiconductor Division</a:t>
            </a:r>
          </a:p>
          <a:p>
            <a:r>
              <a:rPr lang="en-US" dirty="0"/>
              <a:t>Business website: </a:t>
            </a:r>
            <a:r>
              <a:rPr lang="en-US" dirty="0">
                <a:hlinkClick r:id="rId3"/>
              </a:rPr>
              <a:t>https://www.broadcom.com/</a:t>
            </a:r>
            <a:endParaRPr lang="en-US" dirty="0"/>
          </a:p>
          <a:p>
            <a:r>
              <a:rPr lang="en-US" dirty="0"/>
              <a:t>Products/services: RF Filters </a:t>
            </a:r>
          </a:p>
          <a:p>
            <a:r>
              <a:rPr lang="en-US" dirty="0"/>
              <a:t>Target market(s)/customers: Smart phone makers such as Apple, Samsung, and Google</a:t>
            </a:r>
          </a:p>
          <a:p>
            <a:r>
              <a:rPr lang="en-US" dirty="0"/>
              <a:t>Top rivals/competitors: Their semiconductor and networking competitors would be Qualcomm, Qorvo, and Marvell.</a:t>
            </a:r>
          </a:p>
        </p:txBody>
      </p:sp>
      <p:sp>
        <p:nvSpPr>
          <p:cNvPr id="4" name="Rectangle: Rounded Corners 3">
            <a:extLst>
              <a:ext uri="{FF2B5EF4-FFF2-40B4-BE49-F238E27FC236}">
                <a16:creationId xmlns:a16="http://schemas.microsoft.com/office/drawing/2014/main" id="{A72C9966-E2C1-76DA-63F9-1AA2047FA0F1}"/>
              </a:ext>
            </a:extLst>
          </p:cNvPr>
          <p:cNvSpPr/>
          <p:nvPr/>
        </p:nvSpPr>
        <p:spPr>
          <a:xfrm>
            <a:off x="608076" y="1600204"/>
            <a:ext cx="10972799" cy="5847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Note to IC: </a:t>
            </a:r>
            <a:r>
              <a:rPr lang="en-US" dirty="0"/>
              <a:t>In this assignment I will focus on the Wireless Semiconductor Division of Broadcom </a:t>
            </a:r>
          </a:p>
          <a:p>
            <a:pPr algn="ctr"/>
            <a:r>
              <a:rPr lang="en-US" dirty="0"/>
              <a:t>which is located here in Fort Collins Colorado</a:t>
            </a:r>
          </a:p>
        </p:txBody>
      </p:sp>
    </p:spTree>
    <p:extLst>
      <p:ext uri="{BB962C8B-B14F-4D97-AF65-F5344CB8AC3E}">
        <p14:creationId xmlns:p14="http://schemas.microsoft.com/office/powerpoint/2010/main" val="332974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6153397" y="4797631"/>
            <a:ext cx="5842000" cy="17526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7" name="Rectangle 6"/>
          <p:cNvSpPr/>
          <p:nvPr/>
        </p:nvSpPr>
        <p:spPr>
          <a:xfrm rot="16200000">
            <a:off x="-243774" y="1912258"/>
            <a:ext cx="3433948"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8" name="Rectangle 7"/>
          <p:cNvSpPr/>
          <p:nvPr/>
        </p:nvSpPr>
        <p:spPr>
          <a:xfrm rot="16200000">
            <a:off x="4429826" y="1912257"/>
            <a:ext cx="3433948"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9" name="Rectangle 8"/>
          <p:cNvSpPr/>
          <p:nvPr/>
        </p:nvSpPr>
        <p:spPr>
          <a:xfrm rot="16200000">
            <a:off x="9087593" y="1912256"/>
            <a:ext cx="3433948"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0" name="Rectangle 9"/>
          <p:cNvSpPr/>
          <p:nvPr/>
        </p:nvSpPr>
        <p:spPr>
          <a:xfrm rot="16200000">
            <a:off x="2951514" y="1053771"/>
            <a:ext cx="1716974"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1" name="Rectangle 10"/>
          <p:cNvSpPr/>
          <p:nvPr/>
        </p:nvSpPr>
        <p:spPr>
          <a:xfrm rot="16200000">
            <a:off x="2951512" y="2770744"/>
            <a:ext cx="1716974" cy="2336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2" name="Rectangle 11"/>
          <p:cNvSpPr/>
          <p:nvPr/>
        </p:nvSpPr>
        <p:spPr>
          <a:xfrm rot="16200000">
            <a:off x="7625114" y="2770744"/>
            <a:ext cx="1716974"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3" name="Rectangle 12"/>
          <p:cNvSpPr/>
          <p:nvPr/>
        </p:nvSpPr>
        <p:spPr>
          <a:xfrm rot="16200000">
            <a:off x="7625114" y="1053771"/>
            <a:ext cx="1716974" cy="2336800"/>
          </a:xfrm>
          <a:prstGeom prst="rect">
            <a:avLst/>
          </a:prstGeom>
          <a:solidFill>
            <a:schemeClr val="bg1"/>
          </a:solidFill>
          <a:ln w="25400"/>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4" name="Rectangle 13"/>
          <p:cNvSpPr/>
          <p:nvPr/>
        </p:nvSpPr>
        <p:spPr>
          <a:xfrm rot="16200000">
            <a:off x="-243773" y="1912258"/>
            <a:ext cx="3433948"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5" name="Rectangle 14"/>
          <p:cNvSpPr/>
          <p:nvPr/>
        </p:nvSpPr>
        <p:spPr>
          <a:xfrm rot="16200000">
            <a:off x="2951515" y="1053771"/>
            <a:ext cx="1716974"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6" name="Rectangle 15"/>
          <p:cNvSpPr/>
          <p:nvPr/>
        </p:nvSpPr>
        <p:spPr>
          <a:xfrm rot="16200000">
            <a:off x="2951514" y="2770744"/>
            <a:ext cx="1716974" cy="23368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7" name="TextBox 16"/>
          <p:cNvSpPr txBox="1"/>
          <p:nvPr/>
        </p:nvSpPr>
        <p:spPr>
          <a:xfrm>
            <a:off x="9652001" y="1363683"/>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Customer Segments</a:t>
            </a:r>
          </a:p>
        </p:txBody>
      </p:sp>
      <p:sp>
        <p:nvSpPr>
          <p:cNvPr id="19" name="TextBox 18"/>
          <p:cNvSpPr txBox="1"/>
          <p:nvPr/>
        </p:nvSpPr>
        <p:spPr>
          <a:xfrm>
            <a:off x="6400801" y="4876801"/>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Revenue Streams</a:t>
            </a:r>
          </a:p>
        </p:txBody>
      </p:sp>
      <p:sp>
        <p:nvSpPr>
          <p:cNvPr id="20" name="TextBox 19"/>
          <p:cNvSpPr txBox="1"/>
          <p:nvPr/>
        </p:nvSpPr>
        <p:spPr>
          <a:xfrm>
            <a:off x="5037117" y="1366661"/>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Value Propositions</a:t>
            </a:r>
          </a:p>
        </p:txBody>
      </p:sp>
      <p:sp>
        <p:nvSpPr>
          <p:cNvPr id="21" name="TextBox 20"/>
          <p:cNvSpPr txBox="1"/>
          <p:nvPr/>
        </p:nvSpPr>
        <p:spPr>
          <a:xfrm>
            <a:off x="344385" y="1367659"/>
            <a:ext cx="2219367" cy="356140"/>
          </a:xfrm>
          <a:prstGeom prst="rect">
            <a:avLst/>
          </a:prstGeom>
          <a:noFill/>
        </p:spPr>
        <p:txBody>
          <a:bodyPr wrap="square" lIns="108856" tIns="54428" rIns="108856" bIns="54428" rtlCol="0">
            <a:spAutoFit/>
          </a:bodyPr>
          <a:lstStyle/>
          <a:p>
            <a:r>
              <a:rPr lang="en-US" sz="1600" b="1" i="1" dirty="0">
                <a:latin typeface="Arial" panose="020B0604020202020204" pitchFamily="34" charset="0"/>
                <a:cs typeface="Arial" panose="020B0604020202020204" pitchFamily="34" charset="0"/>
              </a:rPr>
              <a:t>Key Partners</a:t>
            </a:r>
          </a:p>
        </p:txBody>
      </p:sp>
      <p:sp>
        <p:nvSpPr>
          <p:cNvPr id="22" name="TextBox 21"/>
          <p:cNvSpPr txBox="1"/>
          <p:nvPr/>
        </p:nvSpPr>
        <p:spPr>
          <a:xfrm>
            <a:off x="2677227" y="3083635"/>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Key Resources</a:t>
            </a:r>
          </a:p>
        </p:txBody>
      </p:sp>
      <p:sp>
        <p:nvSpPr>
          <p:cNvPr id="23" name="TextBox 22"/>
          <p:cNvSpPr txBox="1"/>
          <p:nvPr/>
        </p:nvSpPr>
        <p:spPr>
          <a:xfrm>
            <a:off x="2770910" y="1384489"/>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Key Activities</a:t>
            </a:r>
          </a:p>
        </p:txBody>
      </p:sp>
      <p:sp>
        <p:nvSpPr>
          <p:cNvPr id="24" name="TextBox 23"/>
          <p:cNvSpPr txBox="1"/>
          <p:nvPr/>
        </p:nvSpPr>
        <p:spPr>
          <a:xfrm>
            <a:off x="7443190" y="3083635"/>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Channels</a:t>
            </a:r>
          </a:p>
        </p:txBody>
      </p:sp>
      <p:sp>
        <p:nvSpPr>
          <p:cNvPr id="25" name="TextBox 24"/>
          <p:cNvSpPr txBox="1"/>
          <p:nvPr/>
        </p:nvSpPr>
        <p:spPr>
          <a:xfrm>
            <a:off x="7373917" y="1367658"/>
            <a:ext cx="2219367" cy="602362"/>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Customer Relationships</a:t>
            </a:r>
          </a:p>
        </p:txBody>
      </p:sp>
      <p:sp>
        <p:nvSpPr>
          <p:cNvPr id="26" name="Title 1"/>
          <p:cNvSpPr>
            <a:spLocks noGrp="1"/>
          </p:cNvSpPr>
          <p:nvPr>
            <p:ph type="title"/>
          </p:nvPr>
        </p:nvSpPr>
        <p:spPr>
          <a:xfrm>
            <a:off x="0" y="-19759"/>
            <a:ext cx="12192000" cy="1143000"/>
          </a:xfrm>
        </p:spPr>
        <p:txBody>
          <a:bodyPr>
            <a:noAutofit/>
          </a:bodyPr>
          <a:lstStyle/>
          <a:p>
            <a:r>
              <a:rPr lang="en-US" sz="4400" dirty="0"/>
              <a:t>Business Model Canvas</a:t>
            </a:r>
            <a:br>
              <a:rPr lang="en-US" sz="4400" dirty="0"/>
            </a:br>
            <a:r>
              <a:rPr lang="en-US" sz="933" dirty="0"/>
              <a:t>www.businessmodelgeneration.com</a:t>
            </a:r>
            <a:endParaRPr lang="en-US" sz="4400" dirty="0"/>
          </a:p>
        </p:txBody>
      </p:sp>
      <p:sp>
        <p:nvSpPr>
          <p:cNvPr id="5" name="Rectangle 4"/>
          <p:cNvSpPr/>
          <p:nvPr/>
        </p:nvSpPr>
        <p:spPr>
          <a:xfrm>
            <a:off x="304800" y="4800600"/>
            <a:ext cx="5842000" cy="17526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lIns="108856" tIns="54428" rIns="108856" bIns="54428" rtlCol="0" anchor="ctr"/>
          <a:lstStyle/>
          <a:p>
            <a:pPr algn="ctr"/>
            <a:endParaRPr lang="en-US" sz="1200">
              <a:latin typeface="Arial" panose="020B0604020202020204" pitchFamily="34" charset="0"/>
              <a:cs typeface="Arial" panose="020B0604020202020204" pitchFamily="34" charset="0"/>
            </a:endParaRPr>
          </a:p>
        </p:txBody>
      </p:sp>
      <p:sp>
        <p:nvSpPr>
          <p:cNvPr id="18" name="TextBox 17"/>
          <p:cNvSpPr txBox="1"/>
          <p:nvPr/>
        </p:nvSpPr>
        <p:spPr>
          <a:xfrm>
            <a:off x="422235" y="4876799"/>
            <a:ext cx="2219367" cy="356140"/>
          </a:xfrm>
          <a:prstGeom prst="rect">
            <a:avLst/>
          </a:prstGeom>
          <a:noFill/>
        </p:spPr>
        <p:txBody>
          <a:bodyPr wrap="square" lIns="108856" tIns="54428" rIns="108856" bIns="54428" rtlCol="0">
            <a:spAutoFit/>
          </a:bodyPr>
          <a:lstStyle/>
          <a:p>
            <a:r>
              <a:rPr lang="en-US" sz="1600" b="1" i="1">
                <a:latin typeface="Arial" panose="020B0604020202020204" pitchFamily="34" charset="0"/>
                <a:cs typeface="Arial" panose="020B0604020202020204" pitchFamily="34" charset="0"/>
              </a:rPr>
              <a:t>Cost Structure</a:t>
            </a:r>
          </a:p>
        </p:txBody>
      </p:sp>
      <p:sp>
        <p:nvSpPr>
          <p:cNvPr id="27" name="TextBox 26"/>
          <p:cNvSpPr txBox="1"/>
          <p:nvPr/>
        </p:nvSpPr>
        <p:spPr>
          <a:xfrm>
            <a:off x="9753601" y="1809407"/>
            <a:ext cx="2144156" cy="2850541"/>
          </a:xfrm>
          <a:prstGeom prst="rect">
            <a:avLst/>
          </a:prstGeom>
          <a:noFill/>
        </p:spPr>
        <p:txBody>
          <a:bodyPr wrap="square" rtlCol="0">
            <a:normAutofit/>
          </a:bodyPr>
          <a:lstStyle>
            <a:defPPr>
              <a:defRPr lang="en-US"/>
            </a:defPPr>
            <a:lvl1pPr marL="228600" indent="-228600">
              <a:buFont typeface="Arial" panose="020B0604020202020204" pitchFamily="34" charset="0"/>
              <a:buChar char="•"/>
              <a:defRPr sz="3200">
                <a:solidFill>
                  <a:srgbClr val="30813A"/>
                </a:solidFill>
              </a:defRPr>
            </a:lvl1pPr>
          </a:lstStyle>
          <a:p>
            <a:r>
              <a:rPr lang="en-US" sz="2133" dirty="0">
                <a:latin typeface="Arial" panose="020B0604020202020204" pitchFamily="34" charset="0"/>
                <a:cs typeface="Arial" panose="020B0604020202020204" pitchFamily="34" charset="0"/>
              </a:rPr>
              <a:t>Smartphone Manufactures</a:t>
            </a:r>
          </a:p>
        </p:txBody>
      </p:sp>
      <p:sp>
        <p:nvSpPr>
          <p:cNvPr id="28" name="TextBox 27"/>
          <p:cNvSpPr txBox="1"/>
          <p:nvPr/>
        </p:nvSpPr>
        <p:spPr>
          <a:xfrm>
            <a:off x="5037117" y="1773238"/>
            <a:ext cx="2192317" cy="2934811"/>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Broadcom offers the worlds best RF filters that enable cellular communication in advanced smartphones</a:t>
            </a:r>
          </a:p>
        </p:txBody>
      </p:sp>
      <p:sp>
        <p:nvSpPr>
          <p:cNvPr id="29" name="TextBox 28"/>
          <p:cNvSpPr txBox="1"/>
          <p:nvPr/>
        </p:nvSpPr>
        <p:spPr>
          <a:xfrm>
            <a:off x="7443191" y="3452141"/>
            <a:ext cx="2074883" cy="1255908"/>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B2B Direct</a:t>
            </a:r>
          </a:p>
        </p:txBody>
      </p:sp>
      <p:sp>
        <p:nvSpPr>
          <p:cNvPr id="30" name="TextBox 29"/>
          <p:cNvSpPr txBox="1"/>
          <p:nvPr/>
        </p:nvSpPr>
        <p:spPr>
          <a:xfrm>
            <a:off x="7416801" y="1905000"/>
            <a:ext cx="2149431" cy="1096487"/>
          </a:xfrm>
          <a:prstGeom prst="rect">
            <a:avLst/>
          </a:prstGeom>
          <a:noFill/>
        </p:spPr>
        <p:txBody>
          <a:bodyPr wrap="square" rtlCol="0">
            <a:normAutofit fontScale="62500" lnSpcReduction="20000"/>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Co-Creation</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Dedicated Assistance</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Multi-year design wins and joint roadmaps</a:t>
            </a:r>
          </a:p>
        </p:txBody>
      </p:sp>
      <p:sp>
        <p:nvSpPr>
          <p:cNvPr id="31" name="TextBox 30"/>
          <p:cNvSpPr txBox="1"/>
          <p:nvPr/>
        </p:nvSpPr>
        <p:spPr>
          <a:xfrm>
            <a:off x="6205517" y="5167008"/>
            <a:ext cx="5665851" cy="1293641"/>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Asset Sales</a:t>
            </a:r>
          </a:p>
          <a:p>
            <a:pPr marL="609608" lvl="1"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Volume of devices delivered on won sockets</a:t>
            </a:r>
          </a:p>
        </p:txBody>
      </p:sp>
      <p:sp>
        <p:nvSpPr>
          <p:cNvPr id="32" name="TextBox 31"/>
          <p:cNvSpPr txBox="1"/>
          <p:nvPr/>
        </p:nvSpPr>
        <p:spPr>
          <a:xfrm>
            <a:off x="2692400" y="3413908"/>
            <a:ext cx="2247077" cy="1294141"/>
          </a:xfrm>
          <a:prstGeom prst="rect">
            <a:avLst/>
          </a:prstGeom>
          <a:noFill/>
        </p:spPr>
        <p:txBody>
          <a:bodyPr wrap="square" rtlCol="0">
            <a:normAutofit fontScale="40000" lnSpcReduction="20000"/>
          </a:bodyPr>
          <a:lstStyle/>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Physical:</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Factory</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Equipment</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Chemicals/Consumables</a:t>
            </a:r>
          </a:p>
          <a:p>
            <a:pPr marL="152408" indent="-152408">
              <a:buFont typeface="Arial" panose="020B0604020202020204" pitchFamily="34" charset="0"/>
              <a:buChar char="•"/>
            </a:pPr>
            <a:r>
              <a:rPr lang="en-US" sz="1867" dirty="0" err="1">
                <a:solidFill>
                  <a:srgbClr val="30813A"/>
                </a:solidFill>
                <a:latin typeface="Arial" panose="020B0604020202020204" pitchFamily="34" charset="0"/>
                <a:cs typeface="Arial" panose="020B0604020202020204" pitchFamily="34" charset="0"/>
              </a:rPr>
              <a:t>Inellectual</a:t>
            </a:r>
            <a:endParaRPr lang="en-US" sz="1867" dirty="0">
              <a:solidFill>
                <a:srgbClr val="30813A"/>
              </a:solidFill>
              <a:latin typeface="Arial" panose="020B0604020202020204" pitchFamily="34" charset="0"/>
              <a:cs typeface="Arial" panose="020B0604020202020204" pitchFamily="34" charset="0"/>
            </a:endParaRPr>
          </a:p>
          <a:p>
            <a:pPr marL="609608" lvl="1" indent="-152408">
              <a:buFont typeface="Arial" panose="020B0604020202020204" pitchFamily="34" charset="0"/>
              <a:buChar char="•"/>
            </a:pPr>
            <a:r>
              <a:rPr lang="en-US" sz="1867" dirty="0" err="1">
                <a:solidFill>
                  <a:srgbClr val="30813A"/>
                </a:solidFill>
                <a:latin typeface="Arial" panose="020B0604020202020204" pitchFamily="34" charset="0"/>
                <a:cs typeface="Arial" panose="020B0604020202020204" pitchFamily="34" charset="0"/>
              </a:rPr>
              <a:t>Propriatary</a:t>
            </a:r>
            <a:r>
              <a:rPr lang="en-US" sz="1867" dirty="0">
                <a:solidFill>
                  <a:srgbClr val="30813A"/>
                </a:solidFill>
                <a:latin typeface="Arial" panose="020B0604020202020204" pitchFamily="34" charset="0"/>
                <a:cs typeface="Arial" panose="020B0604020202020204" pitchFamily="34" charset="0"/>
              </a:rPr>
              <a:t> knowledge</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Patents</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Human</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Employees</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Contractors</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Financial</a:t>
            </a:r>
          </a:p>
          <a:p>
            <a:pPr marL="609608" lvl="1"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Cash to operate</a:t>
            </a:r>
          </a:p>
          <a:p>
            <a:pPr marL="152408" indent="-152408">
              <a:buFont typeface="Arial" panose="020B0604020202020204" pitchFamily="34" charset="0"/>
              <a:buChar char="•"/>
            </a:pPr>
            <a:endParaRPr lang="en-US" sz="1867" dirty="0">
              <a:solidFill>
                <a:srgbClr val="30813A"/>
              </a:solidFill>
              <a:latin typeface="Arial" panose="020B0604020202020204" pitchFamily="34" charset="0"/>
              <a:cs typeface="Arial" panose="020B0604020202020204" pitchFamily="34" charset="0"/>
            </a:endParaRPr>
          </a:p>
        </p:txBody>
      </p:sp>
      <p:sp>
        <p:nvSpPr>
          <p:cNvPr id="33" name="TextBox 32"/>
          <p:cNvSpPr txBox="1"/>
          <p:nvPr/>
        </p:nvSpPr>
        <p:spPr>
          <a:xfrm>
            <a:off x="2692400" y="1701800"/>
            <a:ext cx="2247077" cy="1249640"/>
          </a:xfrm>
          <a:prstGeom prst="rect">
            <a:avLst/>
          </a:prstGeom>
          <a:noFill/>
        </p:spPr>
        <p:txBody>
          <a:bodyPr wrap="square" rtlCol="0">
            <a:normAutofit fontScale="85000" lnSpcReduction="10000"/>
          </a:bodyPr>
          <a:lstStyle/>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Manufacturing</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R&amp;D</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NPI</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Quality Management</a:t>
            </a:r>
          </a:p>
          <a:p>
            <a:pPr marL="152408" indent="-152408">
              <a:buFont typeface="Arial" panose="020B0604020202020204" pitchFamily="34" charset="0"/>
              <a:buChar char="•"/>
            </a:pPr>
            <a:r>
              <a:rPr lang="en-US" sz="1867" dirty="0">
                <a:solidFill>
                  <a:srgbClr val="30813A"/>
                </a:solidFill>
                <a:latin typeface="Arial" panose="020B0604020202020204" pitchFamily="34" charset="0"/>
                <a:cs typeface="Arial" panose="020B0604020202020204" pitchFamily="34" charset="0"/>
              </a:rPr>
              <a:t>Yield innovations</a:t>
            </a:r>
          </a:p>
        </p:txBody>
      </p:sp>
      <p:sp>
        <p:nvSpPr>
          <p:cNvPr id="34" name="TextBox 33"/>
          <p:cNvSpPr txBox="1"/>
          <p:nvPr/>
        </p:nvSpPr>
        <p:spPr>
          <a:xfrm>
            <a:off x="363517" y="1773238"/>
            <a:ext cx="2074883" cy="2886709"/>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Packaging Partners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Suppliers (Chemicals and Equipment)</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Contractors / Logistics</a:t>
            </a:r>
          </a:p>
        </p:txBody>
      </p:sp>
      <p:sp>
        <p:nvSpPr>
          <p:cNvPr id="35" name="TextBox 34"/>
          <p:cNvSpPr txBox="1"/>
          <p:nvPr/>
        </p:nvSpPr>
        <p:spPr>
          <a:xfrm>
            <a:off x="363517" y="5156201"/>
            <a:ext cx="5717970" cy="1374735"/>
          </a:xfrm>
          <a:prstGeom prst="rect">
            <a:avLst/>
          </a:prstGeom>
          <a:noFill/>
        </p:spPr>
        <p:txBody>
          <a:bodyPr wrap="square" rtlCol="0">
            <a:normAutofit/>
          </a:bodyPr>
          <a:lstStyle/>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Employee Salaries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Equipment / Chemicals / consumables</a:t>
            </a:r>
          </a:p>
          <a:p>
            <a:pPr marL="152408" indent="-152408">
              <a:buFont typeface="Arial" panose="020B0604020202020204" pitchFamily="34" charset="0"/>
              <a:buChar char="•"/>
            </a:pPr>
            <a:r>
              <a:rPr lang="en-US" sz="2133" dirty="0">
                <a:solidFill>
                  <a:srgbClr val="30813A"/>
                </a:solidFill>
                <a:latin typeface="Arial" panose="020B0604020202020204" pitchFamily="34" charset="0"/>
                <a:cs typeface="Arial" panose="020B0604020202020204" pitchFamily="34" charset="0"/>
              </a:rPr>
              <a:t>Contractors</a:t>
            </a:r>
          </a:p>
        </p:txBody>
      </p:sp>
      <p:sp>
        <p:nvSpPr>
          <p:cNvPr id="2" name="TextBox 1">
            <a:extLst>
              <a:ext uri="{FF2B5EF4-FFF2-40B4-BE49-F238E27FC236}">
                <a16:creationId xmlns:a16="http://schemas.microsoft.com/office/drawing/2014/main" id="{5D6A91EF-4A12-B88D-E0F5-C648C4A2F415}"/>
              </a:ext>
            </a:extLst>
          </p:cNvPr>
          <p:cNvSpPr txBox="1"/>
          <p:nvPr/>
        </p:nvSpPr>
        <p:spPr>
          <a:xfrm>
            <a:off x="92703" y="6550231"/>
            <a:ext cx="5299399" cy="307777"/>
          </a:xfrm>
          <a:prstGeom prst="rect">
            <a:avLst/>
          </a:prstGeom>
          <a:noFill/>
        </p:spPr>
        <p:txBody>
          <a:bodyPr wrap="none" rtlCol="0">
            <a:spAutoFit/>
          </a:bodyPr>
          <a:lstStyle/>
          <a:p>
            <a:r>
              <a:rPr lang="en-US" sz="1400" dirty="0">
                <a:solidFill>
                  <a:srgbClr val="C00000"/>
                </a:solidFill>
                <a:latin typeface="Arial" panose="020B0604020202020204" pitchFamily="34" charset="0"/>
                <a:cs typeface="Arial" panose="020B0604020202020204" pitchFamily="34" charset="0"/>
              </a:rPr>
              <a:t>You can use the speaker notes to provide more detail and depth.</a:t>
            </a:r>
          </a:p>
        </p:txBody>
      </p:sp>
    </p:spTree>
    <p:extLst>
      <p:ext uri="{BB962C8B-B14F-4D97-AF65-F5344CB8AC3E}">
        <p14:creationId xmlns:p14="http://schemas.microsoft.com/office/powerpoint/2010/main" val="2479526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2509A-CF00-438B-B020-D5EAA5BBA4D6}"/>
              </a:ext>
            </a:extLst>
          </p:cNvPr>
          <p:cNvSpPr>
            <a:spLocks noGrp="1"/>
          </p:cNvSpPr>
          <p:nvPr>
            <p:ph type="title"/>
          </p:nvPr>
        </p:nvSpPr>
        <p:spPr/>
        <p:txBody>
          <a:bodyPr/>
          <a:lstStyle/>
          <a:p>
            <a:r>
              <a:rPr lang="en-US" dirty="0"/>
              <a:t>Additional BMC Detail</a:t>
            </a:r>
          </a:p>
        </p:txBody>
      </p:sp>
      <p:sp>
        <p:nvSpPr>
          <p:cNvPr id="3" name="Content Placeholder 2">
            <a:extLst>
              <a:ext uri="{FF2B5EF4-FFF2-40B4-BE49-F238E27FC236}">
                <a16:creationId xmlns:a16="http://schemas.microsoft.com/office/drawing/2014/main" id="{8BB024B4-230E-476E-A81C-18D9BE1FFF6A}"/>
              </a:ext>
            </a:extLst>
          </p:cNvPr>
          <p:cNvSpPr>
            <a:spLocks noGrp="1"/>
          </p:cNvSpPr>
          <p:nvPr>
            <p:ph idx="1"/>
          </p:nvPr>
        </p:nvSpPr>
        <p:spPr/>
        <p:txBody>
          <a:bodyPr>
            <a:normAutofit/>
          </a:bodyPr>
          <a:lstStyle/>
          <a:p>
            <a:pPr>
              <a:buFont typeface="Arial" panose="020B0604020202020204" pitchFamily="34" charset="0"/>
              <a:buChar char="•"/>
            </a:pPr>
            <a:r>
              <a:rPr lang="en-US" dirty="0">
                <a:latin typeface="Arial" panose="020B0604020202020204" pitchFamily="34" charset="0"/>
                <a:cs typeface="Arial" panose="020B0604020202020204" pitchFamily="34" charset="0"/>
              </a:rPr>
              <a:t>Explain your customer segments and why is this the case.</a:t>
            </a:r>
          </a:p>
          <a:p>
            <a:pPr lvl="1">
              <a:buFont typeface="Arial" panose="020B0604020202020204" pitchFamily="34" charset="0"/>
              <a:buChar char="•"/>
            </a:pPr>
            <a:r>
              <a:rPr lang="en-US" sz="2400" dirty="0">
                <a:latin typeface="Arial" panose="020B0604020202020204" pitchFamily="34" charset="0"/>
                <a:cs typeface="Arial" panose="020B0604020202020204" pitchFamily="34" charset="0"/>
              </a:rPr>
              <a:t>(Mass market, Niche market, Segmented, Diversified, Multi-sided)</a:t>
            </a:r>
          </a:p>
          <a:p>
            <a:pPr>
              <a:buFont typeface="Arial" panose="020B0604020202020204" pitchFamily="34" charset="0"/>
              <a:buChar char="•"/>
            </a:pPr>
            <a:r>
              <a:rPr lang="en-US" dirty="0">
                <a:latin typeface="Arial" panose="020B0604020202020204" pitchFamily="34" charset="0"/>
                <a:cs typeface="Arial" panose="020B0604020202020204" pitchFamily="34" charset="0"/>
              </a:rPr>
              <a:t>List each revenue stream identified on your BMC and state the pricing mechanism used for that stream.</a:t>
            </a:r>
          </a:p>
          <a:p>
            <a:pPr>
              <a:buFont typeface="Arial" panose="020B0604020202020204" pitchFamily="34" charset="0"/>
              <a:buChar char="•"/>
            </a:pPr>
            <a:r>
              <a:rPr lang="en-US" dirty="0">
                <a:latin typeface="Arial" panose="020B0604020202020204" pitchFamily="34" charset="0"/>
                <a:cs typeface="Arial" panose="020B0604020202020204" pitchFamily="34" charset="0"/>
              </a:rPr>
              <a:t>List each key resource and specify which of the four general categories that resource belongs in.</a:t>
            </a:r>
          </a:p>
          <a:p>
            <a:pPr lvl="1">
              <a:buFont typeface="Arial" panose="020B0604020202020204" pitchFamily="34" charset="0"/>
              <a:buChar char="•"/>
            </a:pPr>
            <a:r>
              <a:rPr lang="en-US" dirty="0">
                <a:latin typeface="Arial" panose="020B0604020202020204" pitchFamily="34" charset="0"/>
                <a:cs typeface="Arial" panose="020B0604020202020204" pitchFamily="34" charset="0"/>
              </a:rPr>
              <a:t>Why do you believe this is?</a:t>
            </a:r>
          </a:p>
          <a:p>
            <a:pPr>
              <a:buFont typeface="Arial" panose="020B0604020202020204" pitchFamily="34" charset="0"/>
              <a:buChar char="•"/>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8747055"/>
      </p:ext>
    </p:extLst>
  </p:cSld>
  <p:clrMapOvr>
    <a:masterClrMapping/>
  </p:clrMapOvr>
</p:sld>
</file>

<file path=ppt/theme/theme1.xml><?xml version="1.0" encoding="utf-8"?>
<a:theme xmlns:a="http://schemas.openxmlformats.org/drawingml/2006/main" name="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3F125DA5-339E-4188-B67E-0A4CB6769972}" vid="{802DE646-30BF-4C2C-A5E0-630CEAD376E2}"/>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3F125DA5-339E-4188-B67E-0A4CB6769972}" vid="{57AC389D-7D1A-40F2-8141-22A25510AAA1}"/>
    </a:ext>
  </a:extLst>
</a:theme>
</file>

<file path=ppt/theme/theme3.xml><?xml version="1.0" encoding="utf-8"?>
<a:theme xmlns:a="http://schemas.openxmlformats.org/drawingml/2006/main" name="2_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DC0FB67F-5B06-4928-B3F0-FC0DCE5287E7}"/>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BMC Assignment Template</Template>
  <TotalTime>945</TotalTime>
  <Words>2183</Words>
  <Application>Microsoft Office PowerPoint</Application>
  <PresentationFormat>Widescreen</PresentationFormat>
  <Paragraphs>133</Paragraphs>
  <Slides>7</Slides>
  <Notes>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7</vt:i4>
      </vt:variant>
    </vt:vector>
  </HeadingPairs>
  <TitlesOfParts>
    <vt:vector size="17" baseType="lpstr">
      <vt:lpstr>Aptos Narrow</vt:lpstr>
      <vt:lpstr>Arial</vt:lpstr>
      <vt:lpstr>Calibri</vt:lpstr>
      <vt:lpstr>Calibri Light</vt:lpstr>
      <vt:lpstr>Helvetica</vt:lpstr>
      <vt:lpstr>Lato</vt:lpstr>
      <vt:lpstr>Wingdings</vt:lpstr>
      <vt:lpstr>Custom Design</vt:lpstr>
      <vt:lpstr>1_Custom Design</vt:lpstr>
      <vt:lpstr>2_Custom Design</vt:lpstr>
      <vt:lpstr>Business Model Canvas (BMC) Instructions</vt:lpstr>
      <vt:lpstr>Assignment Grading Criteria</vt:lpstr>
      <vt:lpstr>Student Name</vt:lpstr>
      <vt:lpstr>Business Profile – Overview </vt:lpstr>
      <vt:lpstr>Business Profile – Overview </vt:lpstr>
      <vt:lpstr>Business Model Canvas www.businessmodelgeneration.com</vt:lpstr>
      <vt:lpstr>Additional BMC Detail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Arneson,Shelly</dc:creator>
  <cp:lastModifiedBy>adam cyrus</cp:lastModifiedBy>
  <cp:revision>3</cp:revision>
  <dcterms:created xsi:type="dcterms:W3CDTF">2020-08-16T20:06:00Z</dcterms:created>
  <dcterms:modified xsi:type="dcterms:W3CDTF">2026-09-05T14:35:08Z</dcterms:modified>
</cp:coreProperties>
</file>