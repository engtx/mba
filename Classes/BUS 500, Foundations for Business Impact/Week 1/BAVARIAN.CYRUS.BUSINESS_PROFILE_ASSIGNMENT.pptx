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7" r:id="rId2"/>
  </p:sldMasterIdLst>
  <p:notesMasterIdLst>
    <p:notesMasterId r:id="rId11"/>
  </p:notesMasterIdLst>
  <p:sldIdLst>
    <p:sldId id="491" r:id="rId3"/>
    <p:sldId id="502" r:id="rId4"/>
    <p:sldId id="492" r:id="rId5"/>
    <p:sldId id="493" r:id="rId6"/>
    <p:sldId id="2088198109" r:id="rId7"/>
    <p:sldId id="501" r:id="rId8"/>
    <p:sldId id="2088198107" r:id="rId9"/>
    <p:sldId id="208819810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D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6CEA62-8D09-4891-B9E7-FF46DD34DA06}" v="7" dt="2026-08-27T03:46:28.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7" autoAdjust="0"/>
    <p:restoredTop sz="71447" autoAdjust="0"/>
  </p:normalViewPr>
  <p:slideViewPr>
    <p:cSldViewPr snapToGrid="0">
      <p:cViewPr varScale="1">
        <p:scale>
          <a:sx n="90" d="100"/>
          <a:sy n="90" d="100"/>
        </p:scale>
        <p:origin x="1218" y="96"/>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Peterson" userId="2f0c7ad8fcbba8e1" providerId="LiveId" clId="{B158E36D-E8E3-4E88-86C0-71CD988363E7}"/>
    <pc:docChg chg="custSel addSld delSld modSld delMainMaster">
      <pc:chgData name="Josh Peterson" userId="2f0c7ad8fcbba8e1" providerId="LiveId" clId="{B158E36D-E8E3-4E88-86C0-71CD988363E7}" dt="2026-08-27T03:46:59.142" v="192" actId="1035"/>
      <pc:docMkLst>
        <pc:docMk/>
      </pc:docMkLst>
      <pc:sldChg chg="del">
        <pc:chgData name="Josh Peterson" userId="2f0c7ad8fcbba8e1" providerId="LiveId" clId="{B158E36D-E8E3-4E88-86C0-71CD988363E7}" dt="2026-08-27T03:37:25.814" v="3" actId="47"/>
        <pc:sldMkLst>
          <pc:docMk/>
          <pc:sldMk cId="1285670949" sldId="379"/>
        </pc:sldMkLst>
      </pc:sldChg>
      <pc:sldChg chg="addSp delSp modSp del mod">
        <pc:chgData name="Josh Peterson" userId="2f0c7ad8fcbba8e1" providerId="LiveId" clId="{B158E36D-E8E3-4E88-86C0-71CD988363E7}" dt="2026-08-27T03:37:25.814" v="3" actId="47"/>
        <pc:sldMkLst>
          <pc:docMk/>
          <pc:sldMk cId="212588616" sldId="381"/>
        </pc:sldMkLst>
      </pc:sldChg>
      <pc:sldChg chg="modSp add del mod">
        <pc:chgData name="Josh Peterson" userId="2f0c7ad8fcbba8e1" providerId="LiveId" clId="{B158E36D-E8E3-4E88-86C0-71CD988363E7}" dt="2026-08-27T03:46:59.142" v="192" actId="1035"/>
        <pc:sldMkLst>
          <pc:docMk/>
          <pc:sldMk cId="323035411" sldId="491"/>
        </pc:sldMkLst>
        <pc:spChg chg="mod">
          <ac:chgData name="Josh Peterson" userId="2f0c7ad8fcbba8e1" providerId="LiveId" clId="{B158E36D-E8E3-4E88-86C0-71CD988363E7}" dt="2026-08-27T03:46:59.142" v="192" actId="1035"/>
          <ac:spMkLst>
            <pc:docMk/>
            <pc:sldMk cId="323035411" sldId="491"/>
            <ac:spMk id="3" creationId="{ADDCF111-9D3D-456A-8EA0-07182249C513}"/>
          </ac:spMkLst>
        </pc:spChg>
      </pc:sldChg>
      <pc:sldChg chg="add del">
        <pc:chgData name="Josh Peterson" userId="2f0c7ad8fcbba8e1" providerId="LiveId" clId="{B158E36D-E8E3-4E88-86C0-71CD988363E7}" dt="2026-08-27T03:38:11.886" v="10"/>
        <pc:sldMkLst>
          <pc:docMk/>
          <pc:sldMk cId="4196645517" sldId="492"/>
        </pc:sldMkLst>
      </pc:sldChg>
      <pc:sldChg chg="add del">
        <pc:chgData name="Josh Peterson" userId="2f0c7ad8fcbba8e1" providerId="LiveId" clId="{B158E36D-E8E3-4E88-86C0-71CD988363E7}" dt="2026-08-27T03:38:11.886" v="10"/>
        <pc:sldMkLst>
          <pc:docMk/>
          <pc:sldMk cId="3540148430" sldId="493"/>
        </pc:sldMkLst>
      </pc:sldChg>
      <pc:sldChg chg="add del">
        <pc:chgData name="Josh Peterson" userId="2f0c7ad8fcbba8e1" providerId="LiveId" clId="{B158E36D-E8E3-4E88-86C0-71CD988363E7}" dt="2026-08-27T03:38:11.886" v="10"/>
        <pc:sldMkLst>
          <pc:docMk/>
          <pc:sldMk cId="4199351705" sldId="501"/>
        </pc:sldMkLst>
      </pc:sldChg>
      <pc:sldChg chg="add del">
        <pc:chgData name="Josh Peterson" userId="2f0c7ad8fcbba8e1" providerId="LiveId" clId="{B158E36D-E8E3-4E88-86C0-71CD988363E7}" dt="2026-08-27T03:38:11.886" v="10"/>
        <pc:sldMkLst>
          <pc:docMk/>
          <pc:sldMk cId="899547087" sldId="502"/>
        </pc:sldMkLst>
      </pc:sldChg>
      <pc:sldChg chg="add del">
        <pc:chgData name="Josh Peterson" userId="2f0c7ad8fcbba8e1" providerId="LiveId" clId="{B158E36D-E8E3-4E88-86C0-71CD988363E7}" dt="2026-08-27T03:38:11.886" v="10"/>
        <pc:sldMkLst>
          <pc:docMk/>
          <pc:sldMk cId="1107030280" sldId="2088198107"/>
        </pc:sldMkLst>
      </pc:sldChg>
      <pc:sldChg chg="add del">
        <pc:chgData name="Josh Peterson" userId="2f0c7ad8fcbba8e1" providerId="LiveId" clId="{B158E36D-E8E3-4E88-86C0-71CD988363E7}" dt="2026-08-27T03:38:11.886" v="10"/>
        <pc:sldMkLst>
          <pc:docMk/>
          <pc:sldMk cId="1233806995" sldId="2088198108"/>
        </pc:sldMkLst>
      </pc:sldChg>
      <pc:sldMasterChg chg="delSldLayout">
        <pc:chgData name="Josh Peterson" userId="2f0c7ad8fcbba8e1" providerId="LiveId" clId="{B158E36D-E8E3-4E88-86C0-71CD988363E7}" dt="2026-08-27T03:37:25.814" v="3" actId="47"/>
        <pc:sldMasterMkLst>
          <pc:docMk/>
          <pc:sldMasterMk cId="1509268682" sldId="2147483650"/>
        </pc:sldMasterMkLst>
        <pc:sldLayoutChg chg="del">
          <pc:chgData name="Josh Peterson" userId="2f0c7ad8fcbba8e1" providerId="LiveId" clId="{B158E36D-E8E3-4E88-86C0-71CD988363E7}" dt="2026-08-27T03:37:25.814" v="3" actId="47"/>
          <pc:sldLayoutMkLst>
            <pc:docMk/>
            <pc:sldMasterMk cId="1509268682" sldId="2147483650"/>
            <pc:sldLayoutMk cId="1679953775" sldId="2147483669"/>
          </pc:sldLayoutMkLst>
        </pc:sldLayoutChg>
      </pc:sldMasterChg>
      <pc:sldMasterChg chg="del delSldLayout">
        <pc:chgData name="Josh Peterson" userId="2f0c7ad8fcbba8e1" providerId="LiveId" clId="{B158E36D-E8E3-4E88-86C0-71CD988363E7}" dt="2026-08-27T03:37:25.814" v="3" actId="47"/>
        <pc:sldMasterMkLst>
          <pc:docMk/>
          <pc:sldMasterMk cId="537669018" sldId="2147483671"/>
        </pc:sldMasterMkLst>
        <pc:sldLayoutChg chg="del">
          <pc:chgData name="Josh Peterson" userId="2f0c7ad8fcbba8e1" providerId="LiveId" clId="{B158E36D-E8E3-4E88-86C0-71CD988363E7}" dt="2026-08-27T03:37:25.814" v="3" actId="47"/>
          <pc:sldLayoutMkLst>
            <pc:docMk/>
            <pc:sldMasterMk cId="537669018" sldId="2147483671"/>
            <pc:sldLayoutMk cId="2574253286" sldId="2147483672"/>
          </pc:sldLayoutMkLst>
        </pc:sldLayoutChg>
        <pc:sldLayoutChg chg="del">
          <pc:chgData name="Josh Peterson" userId="2f0c7ad8fcbba8e1" providerId="LiveId" clId="{B158E36D-E8E3-4E88-86C0-71CD988363E7}" dt="2026-08-27T03:37:25.814" v="3" actId="47"/>
          <pc:sldLayoutMkLst>
            <pc:docMk/>
            <pc:sldMasterMk cId="537669018" sldId="2147483671"/>
            <pc:sldLayoutMk cId="2193388681" sldId="2147483673"/>
          </pc:sldLayoutMkLst>
        </pc:sldLayoutChg>
        <pc:sldLayoutChg chg="del">
          <pc:chgData name="Josh Peterson" userId="2f0c7ad8fcbba8e1" providerId="LiveId" clId="{B158E36D-E8E3-4E88-86C0-71CD988363E7}" dt="2026-08-27T03:37:25.814" v="3" actId="47"/>
          <pc:sldLayoutMkLst>
            <pc:docMk/>
            <pc:sldMasterMk cId="537669018" sldId="2147483671"/>
            <pc:sldLayoutMk cId="216578247" sldId="2147483674"/>
          </pc:sldLayoutMkLst>
        </pc:sldLayoutChg>
        <pc:sldLayoutChg chg="del">
          <pc:chgData name="Josh Peterson" userId="2f0c7ad8fcbba8e1" providerId="LiveId" clId="{B158E36D-E8E3-4E88-86C0-71CD988363E7}" dt="2026-08-27T03:37:25.814" v="3" actId="47"/>
          <pc:sldLayoutMkLst>
            <pc:docMk/>
            <pc:sldMasterMk cId="537669018" sldId="2147483671"/>
            <pc:sldLayoutMk cId="3699681839" sldId="2147483675"/>
          </pc:sldLayoutMkLst>
        </pc:sldLayoutChg>
        <pc:sldLayoutChg chg="del">
          <pc:chgData name="Josh Peterson" userId="2f0c7ad8fcbba8e1" providerId="LiveId" clId="{B158E36D-E8E3-4E88-86C0-71CD988363E7}" dt="2026-08-27T03:37:25.814" v="3" actId="47"/>
          <pc:sldLayoutMkLst>
            <pc:docMk/>
            <pc:sldMasterMk cId="537669018" sldId="2147483671"/>
            <pc:sldLayoutMk cId="1190750421" sldId="2147483676"/>
          </pc:sldLayoutMkLst>
        </pc:sldLayoutChg>
        <pc:sldLayoutChg chg="del">
          <pc:chgData name="Josh Peterson" userId="2f0c7ad8fcbba8e1" providerId="LiveId" clId="{B158E36D-E8E3-4E88-86C0-71CD988363E7}" dt="2026-08-27T03:37:25.814" v="3" actId="47"/>
          <pc:sldLayoutMkLst>
            <pc:docMk/>
            <pc:sldMasterMk cId="537669018" sldId="2147483671"/>
            <pc:sldLayoutMk cId="3294216980" sldId="2147483677"/>
          </pc:sldLayoutMkLst>
        </pc:sldLayoutChg>
        <pc:sldLayoutChg chg="del">
          <pc:chgData name="Josh Peterson" userId="2f0c7ad8fcbba8e1" providerId="LiveId" clId="{B158E36D-E8E3-4E88-86C0-71CD988363E7}" dt="2026-08-27T03:37:25.814" v="3" actId="47"/>
          <pc:sldLayoutMkLst>
            <pc:docMk/>
            <pc:sldMasterMk cId="537669018" sldId="2147483671"/>
            <pc:sldLayoutMk cId="1630499004" sldId="2147483678"/>
          </pc:sldLayoutMkLst>
        </pc:sldLayoutChg>
        <pc:sldLayoutChg chg="del">
          <pc:chgData name="Josh Peterson" userId="2f0c7ad8fcbba8e1" providerId="LiveId" clId="{B158E36D-E8E3-4E88-86C0-71CD988363E7}" dt="2026-08-27T03:37:25.814" v="3" actId="47"/>
          <pc:sldLayoutMkLst>
            <pc:docMk/>
            <pc:sldMasterMk cId="537669018" sldId="2147483671"/>
            <pc:sldLayoutMk cId="3065771531" sldId="2147483679"/>
          </pc:sldLayoutMkLst>
        </pc:sldLayoutChg>
        <pc:sldLayoutChg chg="del">
          <pc:chgData name="Josh Peterson" userId="2f0c7ad8fcbba8e1" providerId="LiveId" clId="{B158E36D-E8E3-4E88-86C0-71CD988363E7}" dt="2026-08-27T03:37:25.814" v="3" actId="47"/>
          <pc:sldLayoutMkLst>
            <pc:docMk/>
            <pc:sldMasterMk cId="537669018" sldId="2147483671"/>
            <pc:sldLayoutMk cId="525291709" sldId="2147483680"/>
          </pc:sldLayoutMkLst>
        </pc:sldLayoutChg>
        <pc:sldLayoutChg chg="del">
          <pc:chgData name="Josh Peterson" userId="2f0c7ad8fcbba8e1" providerId="LiveId" clId="{B158E36D-E8E3-4E88-86C0-71CD988363E7}" dt="2026-08-27T03:37:25.814" v="3" actId="47"/>
          <pc:sldLayoutMkLst>
            <pc:docMk/>
            <pc:sldMasterMk cId="537669018" sldId="2147483671"/>
            <pc:sldLayoutMk cId="2014412736" sldId="2147483681"/>
          </pc:sldLayoutMkLst>
        </pc:sldLayoutChg>
        <pc:sldLayoutChg chg="del">
          <pc:chgData name="Josh Peterson" userId="2f0c7ad8fcbba8e1" providerId="LiveId" clId="{B158E36D-E8E3-4E88-86C0-71CD988363E7}" dt="2026-08-27T03:37:25.814" v="3" actId="47"/>
          <pc:sldLayoutMkLst>
            <pc:docMk/>
            <pc:sldMasterMk cId="537669018" sldId="2147483671"/>
            <pc:sldLayoutMk cId="2569777711" sldId="2147483682"/>
          </pc:sldLayoutMkLst>
        </pc:sldLayoutChg>
        <pc:sldLayoutChg chg="del">
          <pc:chgData name="Josh Peterson" userId="2f0c7ad8fcbba8e1" providerId="LiveId" clId="{B158E36D-E8E3-4E88-86C0-71CD988363E7}" dt="2026-08-27T03:37:25.814" v="3" actId="47"/>
          <pc:sldLayoutMkLst>
            <pc:docMk/>
            <pc:sldMasterMk cId="537669018" sldId="2147483671"/>
            <pc:sldLayoutMk cId="440312546" sldId="2147483683"/>
          </pc:sldLayoutMkLst>
        </pc:sldLayoutChg>
        <pc:sldLayoutChg chg="del">
          <pc:chgData name="Josh Peterson" userId="2f0c7ad8fcbba8e1" providerId="LiveId" clId="{B158E36D-E8E3-4E88-86C0-71CD988363E7}" dt="2026-08-27T03:37:25.814" v="3" actId="47"/>
          <pc:sldLayoutMkLst>
            <pc:docMk/>
            <pc:sldMasterMk cId="537669018" sldId="2147483671"/>
            <pc:sldLayoutMk cId="2347146109" sldId="2147483684"/>
          </pc:sldLayoutMkLst>
        </pc:sldLayoutChg>
        <pc:sldLayoutChg chg="del">
          <pc:chgData name="Josh Peterson" userId="2f0c7ad8fcbba8e1" providerId="LiveId" clId="{B158E36D-E8E3-4E88-86C0-71CD988363E7}" dt="2026-08-27T03:37:25.814" v="3" actId="47"/>
          <pc:sldLayoutMkLst>
            <pc:docMk/>
            <pc:sldMasterMk cId="537669018" sldId="2147483671"/>
            <pc:sldLayoutMk cId="4073743602" sldId="2147483685"/>
          </pc:sldLayoutMkLst>
        </pc:sldLayoutChg>
        <pc:sldLayoutChg chg="del">
          <pc:chgData name="Josh Peterson" userId="2f0c7ad8fcbba8e1" providerId="LiveId" clId="{B158E36D-E8E3-4E88-86C0-71CD988363E7}" dt="2026-08-27T03:37:25.814" v="3" actId="47"/>
          <pc:sldLayoutMkLst>
            <pc:docMk/>
            <pc:sldMasterMk cId="537669018" sldId="2147483671"/>
            <pc:sldLayoutMk cId="428813488" sldId="2147483686"/>
          </pc:sldLayoutMkLst>
        </pc:sldLayoutChg>
        <pc:sldLayoutChg chg="del">
          <pc:chgData name="Josh Peterson" userId="2f0c7ad8fcbba8e1" providerId="LiveId" clId="{B158E36D-E8E3-4E88-86C0-71CD988363E7}" dt="2026-08-27T03:37:25.814" v="3" actId="47"/>
          <pc:sldLayoutMkLst>
            <pc:docMk/>
            <pc:sldMasterMk cId="537669018" sldId="2147483671"/>
            <pc:sldLayoutMk cId="1836634643" sldId="2147483687"/>
          </pc:sldLayoutMkLst>
        </pc:sldLayoutChg>
        <pc:sldLayoutChg chg="del">
          <pc:chgData name="Josh Peterson" userId="2f0c7ad8fcbba8e1" providerId="LiveId" clId="{B158E36D-E8E3-4E88-86C0-71CD988363E7}" dt="2026-08-27T03:37:25.814" v="3" actId="47"/>
          <pc:sldLayoutMkLst>
            <pc:docMk/>
            <pc:sldMasterMk cId="537669018" sldId="2147483671"/>
            <pc:sldLayoutMk cId="1341078664" sldId="2147483688"/>
          </pc:sldLayoutMkLst>
        </pc:sldLayoutChg>
        <pc:sldLayoutChg chg="del">
          <pc:chgData name="Josh Peterson" userId="2f0c7ad8fcbba8e1" providerId="LiveId" clId="{B158E36D-E8E3-4E88-86C0-71CD988363E7}" dt="2026-08-27T03:37:25.814" v="3" actId="47"/>
          <pc:sldLayoutMkLst>
            <pc:docMk/>
            <pc:sldMasterMk cId="537669018" sldId="2147483671"/>
            <pc:sldLayoutMk cId="3497075724" sldId="2147483689"/>
          </pc:sldLayoutMkLst>
        </pc:sldLayoutChg>
        <pc:sldLayoutChg chg="del">
          <pc:chgData name="Josh Peterson" userId="2f0c7ad8fcbba8e1" providerId="LiveId" clId="{B158E36D-E8E3-4E88-86C0-71CD988363E7}" dt="2026-08-27T03:37:25.814" v="3" actId="47"/>
          <pc:sldLayoutMkLst>
            <pc:docMk/>
            <pc:sldMasterMk cId="537669018" sldId="2147483671"/>
            <pc:sldLayoutMk cId="601494552" sldId="2147483690"/>
          </pc:sldLayoutMkLst>
        </pc:sldLayoutChg>
        <pc:sldLayoutChg chg="del">
          <pc:chgData name="Josh Peterson" userId="2f0c7ad8fcbba8e1" providerId="LiveId" clId="{B158E36D-E8E3-4E88-86C0-71CD988363E7}" dt="2026-08-27T03:37:25.814" v="3" actId="47"/>
          <pc:sldLayoutMkLst>
            <pc:docMk/>
            <pc:sldMasterMk cId="537669018" sldId="2147483671"/>
            <pc:sldLayoutMk cId="2641997676" sldId="2147483691"/>
          </pc:sldLayoutMkLst>
        </pc:sldLayoutChg>
        <pc:sldLayoutChg chg="del">
          <pc:chgData name="Josh Peterson" userId="2f0c7ad8fcbba8e1" providerId="LiveId" clId="{B158E36D-E8E3-4E88-86C0-71CD988363E7}" dt="2026-08-27T03:37:25.814" v="3" actId="47"/>
          <pc:sldLayoutMkLst>
            <pc:docMk/>
            <pc:sldMasterMk cId="537669018" sldId="2147483671"/>
            <pc:sldLayoutMk cId="668508409" sldId="2147483692"/>
          </pc:sldLayoutMkLst>
        </pc:sldLayoutChg>
        <pc:sldLayoutChg chg="del">
          <pc:chgData name="Josh Peterson" userId="2f0c7ad8fcbba8e1" providerId="LiveId" clId="{B158E36D-E8E3-4E88-86C0-71CD988363E7}" dt="2026-08-27T03:37:25.814" v="3" actId="47"/>
          <pc:sldLayoutMkLst>
            <pc:docMk/>
            <pc:sldMasterMk cId="537669018" sldId="2147483671"/>
            <pc:sldLayoutMk cId="4048256615" sldId="2147483693"/>
          </pc:sldLayoutMkLst>
        </pc:sldLayoutChg>
        <pc:sldLayoutChg chg="del">
          <pc:chgData name="Josh Peterson" userId="2f0c7ad8fcbba8e1" providerId="LiveId" clId="{B158E36D-E8E3-4E88-86C0-71CD988363E7}" dt="2026-08-27T03:37:25.814" v="3" actId="47"/>
          <pc:sldLayoutMkLst>
            <pc:docMk/>
            <pc:sldMasterMk cId="537669018" sldId="2147483671"/>
            <pc:sldLayoutMk cId="569616634" sldId="2147483694"/>
          </pc:sldLayoutMkLst>
        </pc:sldLayoutChg>
        <pc:sldLayoutChg chg="del">
          <pc:chgData name="Josh Peterson" userId="2f0c7ad8fcbba8e1" providerId="LiveId" clId="{B158E36D-E8E3-4E88-86C0-71CD988363E7}" dt="2026-08-27T03:37:25.814" v="3" actId="47"/>
          <pc:sldLayoutMkLst>
            <pc:docMk/>
            <pc:sldMasterMk cId="537669018" sldId="2147483671"/>
            <pc:sldLayoutMk cId="303740696" sldId="2147483695"/>
          </pc:sldLayoutMkLst>
        </pc:sldLayoutChg>
        <pc:sldLayoutChg chg="del">
          <pc:chgData name="Josh Peterson" userId="2f0c7ad8fcbba8e1" providerId="LiveId" clId="{B158E36D-E8E3-4E88-86C0-71CD988363E7}" dt="2026-08-27T03:37:25.814" v="3" actId="47"/>
          <pc:sldLayoutMkLst>
            <pc:docMk/>
            <pc:sldMasterMk cId="537669018" sldId="2147483671"/>
            <pc:sldLayoutMk cId="1778890182" sldId="2147483696"/>
          </pc:sldLayoutMkLst>
        </pc:sldLayoutChg>
        <pc:sldLayoutChg chg="del">
          <pc:chgData name="Josh Peterson" userId="2f0c7ad8fcbba8e1" providerId="LiveId" clId="{B158E36D-E8E3-4E88-86C0-71CD988363E7}" dt="2026-08-27T03:37:25.814" v="3" actId="47"/>
          <pc:sldLayoutMkLst>
            <pc:docMk/>
            <pc:sldMasterMk cId="537669018" sldId="2147483671"/>
            <pc:sldLayoutMk cId="1930050100" sldId="2147483697"/>
          </pc:sldLayoutMkLst>
        </pc:sldLayoutChg>
        <pc:sldLayoutChg chg="del">
          <pc:chgData name="Josh Peterson" userId="2f0c7ad8fcbba8e1" providerId="LiveId" clId="{B158E36D-E8E3-4E88-86C0-71CD988363E7}" dt="2026-08-27T03:37:25.814" v="3" actId="47"/>
          <pc:sldLayoutMkLst>
            <pc:docMk/>
            <pc:sldMasterMk cId="537669018" sldId="2147483671"/>
            <pc:sldLayoutMk cId="3104293823" sldId="2147483698"/>
          </pc:sldLayoutMkLst>
        </pc:sldLayoutChg>
        <pc:sldLayoutChg chg="del">
          <pc:chgData name="Josh Peterson" userId="2f0c7ad8fcbba8e1" providerId="LiveId" clId="{B158E36D-E8E3-4E88-86C0-71CD988363E7}" dt="2026-08-27T03:37:25.814" v="3" actId="47"/>
          <pc:sldLayoutMkLst>
            <pc:docMk/>
            <pc:sldMasterMk cId="537669018" sldId="2147483671"/>
            <pc:sldLayoutMk cId="1083117979" sldId="2147483699"/>
          </pc:sldLayoutMkLst>
        </pc:sldLayoutChg>
      </pc:sldMasterChg>
    </pc:docChg>
  </pc:docChgLst>
  <pc:docChgLst>
    <pc:chgData name="Josh Peterson" userId="2f0c7ad8fcbba8e1" providerId="LiveId" clId="{A3AB9BE9-F7B5-4880-AB98-CDDCEC184B48}"/>
    <pc:docChg chg="undo custSel addSld modSld">
      <pc:chgData name="Josh Peterson" userId="2f0c7ad8fcbba8e1" providerId="LiveId" clId="{A3AB9BE9-F7B5-4880-AB98-CDDCEC184B48}" dt="2024-08-11T04:23:14.439" v="221" actId="1076"/>
      <pc:docMkLst>
        <pc:docMk/>
      </pc:docMkLst>
      <pc:sldChg chg="modSp mod">
        <pc:chgData name="Josh Peterson" userId="2f0c7ad8fcbba8e1" providerId="LiveId" clId="{A3AB9BE9-F7B5-4880-AB98-CDDCEC184B48}" dt="2024-08-11T04:23:14.439" v="221" actId="1076"/>
        <pc:sldMkLst>
          <pc:docMk/>
          <pc:sldMk cId="323035411" sldId="491"/>
        </pc:sldMkLst>
      </pc:sldChg>
      <pc:sldChg chg="addSp delSp modSp add mod">
        <pc:chgData name="Josh Peterson" userId="2f0c7ad8fcbba8e1" providerId="LiveId" clId="{A3AB9BE9-F7B5-4880-AB98-CDDCEC184B48}" dt="2024-08-11T04:21:39.719" v="220" actId="403"/>
        <pc:sldMkLst>
          <pc:docMk/>
          <pc:sldMk cId="899547087" sldId="5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F2922-797C-45C2-9475-1803A9D22A0A}"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715CC-F7BD-45D9-B5AD-4E804062401C}" type="slidenum">
              <a:rPr lang="en-US" smtClean="0"/>
              <a:t>‹#›</a:t>
            </a:fld>
            <a:endParaRPr lang="en-US"/>
          </a:p>
        </p:txBody>
      </p:sp>
    </p:spTree>
    <p:extLst>
      <p:ext uri="{BB962C8B-B14F-4D97-AF65-F5344CB8AC3E}">
        <p14:creationId xmlns:p14="http://schemas.microsoft.com/office/powerpoint/2010/main" val="1714590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73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F6FEC-15D9-F68F-B632-3C990F3AF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90FEE-5D46-D3AF-C111-44931A0D4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1DF77-C481-4870-6848-E393B26139ED}"/>
              </a:ext>
            </a:extLst>
          </p:cNvPr>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a:extLst>
              <a:ext uri="{FF2B5EF4-FFF2-40B4-BE49-F238E27FC236}">
                <a16:creationId xmlns:a16="http://schemas.microsoft.com/office/drawing/2014/main" id="{09A72450-68E5-6E40-EDEE-88CA4D261A1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147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2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Broadcom WSD’s business is designed around a Functional Organizational structure which is an effective structure for a high-volume R&amp;D manufacturing facility. The key to success is the strong focus on role/responsibility which allows individual groups to dive deep into their skillsets and bring innovation to a rapidly changing environment. Technology developments are achieved by ensuring every step of the process has an owner who maintains a sense of urgency when monitoring and improving their process. Managers have a narrow span of control which ensures each functional group remains focused on their specialty and can deliver daily. Defects and Failures that occur in this type of organization are easy to detect and trace to the responsible group, offering a pipeline for quality management teams to innovate and drive continuous improvement initiatives. The main drawbacks in this type of organizational structure is the difficulty to standardize on operations as each functional group has a preference for how they accomplishing objectives. Special-case scenarios and tribal knowledge cause confusion when attempting to transfer solutions across groups. Each area plays a critical role in the overall success of the company as the final result of every groups work results in one final product. Of all of the groups, the most critical would be Supply Chain and Cleanroom. The Cleanroom group is responsible for ensuring the fabrication facility is operational and adheres to the local environmental laws and regulations. Supply Chain ensures that the necessary materials and chemicals are available to actually build the product.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4879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Broadcom’s Wireless Semiconductor Division (WSD) in Fort Collins is a 24/7 RF-filter fab and one of the city’s largest private employers (about 1,600 people). </a:t>
            </a:r>
            <a:r>
              <a:rPr lang="en-US" b="1" dirty="0"/>
              <a:t>Stakeholders</a:t>
            </a:r>
            <a:r>
              <a:rPr lang="en-US" dirty="0"/>
              <a:t> are the groups that can affect WSD or are affected by it. They fall into internal , external, and macro levels.</a:t>
            </a:r>
          </a:p>
          <a:p>
            <a:r>
              <a:rPr lang="en-US" b="1" dirty="0"/>
              <a:t>Internal stakeholders</a:t>
            </a:r>
            <a:r>
              <a:rPr lang="en-US" dirty="0"/>
              <a:t>: Operators, technicians, and engineers run the cleanroom facility. Directors align the organization around capacity, yield, and capital priorities. Without the workforce The fab would not be able to produce these products. Shareholders also play as critical stakeholders as our production capabilities here in Fort Collins directly impact the value of our publicly traded stock. </a:t>
            </a:r>
          </a:p>
          <a:p>
            <a:r>
              <a:rPr lang="en-US" b="1" dirty="0"/>
              <a:t>External stakeholders</a:t>
            </a:r>
            <a:r>
              <a:rPr lang="en-US" dirty="0"/>
              <a:t>: Revenue is tied to the design wins and production forecasts. Our main customer Apple sets multi-year commitments for our products which allow WSD to operate and expand. Chemical and Equipment suppliers offer a flow of raw materials and hardware to be constantly consumed in a 24/7 fab. Contractors ensure we have dedicated support for facilities, maintenance, warehouse, and cleaning which is a necessary component of running a facility that employs over 1200 people. Logistic parts carrier our final products out the doors into the hands of our packaging partners where it is assembled into a final product.</a:t>
            </a:r>
          </a:p>
          <a:p>
            <a:r>
              <a:rPr lang="en-US" b="1" dirty="0"/>
              <a:t>Macro Stakeholders: </a:t>
            </a:r>
            <a:r>
              <a:rPr lang="en-US" b="0" dirty="0"/>
              <a:t>The City of Fort Collins is home to Broadcom, one of the largest employers in the city, and is dependent on taxes that are generated by the organization. WSD depends on permits, utilities, and </a:t>
            </a:r>
            <a:r>
              <a:rPr lang="en-US" b="0" dirty="0" err="1"/>
              <a:t>licences</a:t>
            </a:r>
            <a:r>
              <a:rPr lang="en-US" b="0" dirty="0"/>
              <a:t> to operate in the city. OSHA, EHS, and local environmental policies set strict guidelines on the usage of chemicals from cradle to grave. CSU supplies a educated workforce pipeline and local programs between CSU and Broadcom positions to stay  staffed. The environment is a critical stakeholder for WSD as we take EHS programs very seriously to ensure we meet and exceed local regulations.</a:t>
            </a:r>
            <a:r>
              <a:rPr lang="en-US" b="1" dirty="0"/>
              <a:t> </a:t>
            </a:r>
          </a:p>
          <a:p>
            <a:r>
              <a:rPr lang="en-US" b="1" dirty="0"/>
              <a:t>Competitors: </a:t>
            </a:r>
            <a:r>
              <a:rPr lang="en-US" b="0" dirty="0"/>
              <a:t>Although not directly tied to our production capabilities, competitors like Qorvo and Qualcomm’s roadmaps and pricing have an impact on our products, price, placement and promotions.  </a:t>
            </a:r>
            <a:endParaRPr lang="en-US" b="1"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4981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425141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dirty="0"/>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dirty="0"/>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2967141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423284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83167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67AD-B4B1-49D3-B52A-AFD2B52F31DF}"/>
              </a:ext>
            </a:extLst>
          </p:cNvPr>
          <p:cNvSpPr>
            <a:spLocks noGrp="1"/>
          </p:cNvSpPr>
          <p:nvPr>
            <p:ph type="title" hasCustomPrompt="1"/>
          </p:nvPr>
        </p:nvSpPr>
        <p:spPr>
          <a:xfrm>
            <a:off x="20057" y="2073609"/>
            <a:ext cx="7031736" cy="1161288"/>
          </a:xfrm>
          <a:prstGeom prst="rect">
            <a:avLst/>
          </a:prstGeom>
        </p:spPr>
        <p:txBody>
          <a:bodyPr lIns="685800" tIns="228600" rIns="228600" bIns="228600"/>
          <a:lstStyle>
            <a:lvl1pPr>
              <a:defRPr lang="en-US" sz="4200" baseline="0">
                <a:solidFill>
                  <a:schemeClr val="bg1"/>
                </a:solidFill>
                <a:latin typeface="Arial" panose="020B0604020202020204" pitchFamily="34" charset="0"/>
                <a:ea typeface="+mn-ea"/>
                <a:cs typeface="+mn-cs"/>
              </a:defRPr>
            </a:lvl1pPr>
          </a:lstStyle>
          <a:p>
            <a:pPr marL="0" lvl="0" indent="0">
              <a:lnSpc>
                <a:spcPct val="100000"/>
              </a:lnSpc>
              <a:spcBef>
                <a:spcPts val="0"/>
              </a:spcBef>
              <a:buFont typeface="Arial" panose="020B0604020202020204" pitchFamily="34" charset="0"/>
            </a:pPr>
            <a:r>
              <a:rPr lang="en-US" dirty="0"/>
              <a:t>Title</a:t>
            </a:r>
          </a:p>
        </p:txBody>
      </p:sp>
      <p:sp>
        <p:nvSpPr>
          <p:cNvPr id="3" name="Subtitle 2">
            <a:extLst>
              <a:ext uri="{FF2B5EF4-FFF2-40B4-BE49-F238E27FC236}">
                <a16:creationId xmlns:a16="http://schemas.microsoft.com/office/drawing/2014/main" id="{1BB79187-B58F-4AA3-B80B-4D16EF744D22}"/>
              </a:ext>
            </a:extLst>
          </p:cNvPr>
          <p:cNvSpPr>
            <a:spLocks noGrp="1"/>
          </p:cNvSpPr>
          <p:nvPr>
            <p:ph type="subTitle" idx="1"/>
          </p:nvPr>
        </p:nvSpPr>
        <p:spPr>
          <a:xfrm>
            <a:off x="570623" y="3234897"/>
            <a:ext cx="6336792" cy="457200"/>
          </a:xfrm>
          <a:prstGeom prst="rect">
            <a:avLst/>
          </a:prstGeom>
        </p:spPr>
        <p:txBody>
          <a:bodyPr/>
          <a:lstStyle>
            <a:lvl1pPr>
              <a:defRPr lang="en-US" sz="1800">
                <a:solidFill>
                  <a:schemeClr val="bg1"/>
                </a:solidFill>
                <a:latin typeface="Arial" panose="020B0604020202020204" pitchFamily="34" charset="0"/>
                <a:cs typeface="Arial" panose="020B0604020202020204" pitchFamily="34" charset="0"/>
              </a:defRPr>
            </a:lvl1pPr>
          </a:lstStyle>
          <a:p>
            <a:pPr marL="0" lvl="0" indent="0">
              <a:buNone/>
            </a:pPr>
            <a:r>
              <a:rPr lang="en-US" dirty="0"/>
              <a:t>Click to edit Master subtitle style</a:t>
            </a:r>
          </a:p>
        </p:txBody>
      </p:sp>
      <p:sp>
        <p:nvSpPr>
          <p:cNvPr id="4" name="object 64">
            <a:extLst>
              <a:ext uri="{FF2B5EF4-FFF2-40B4-BE49-F238E27FC236}">
                <a16:creationId xmlns:a16="http://schemas.microsoft.com/office/drawing/2014/main" id="{93EF0DFE-F9E5-4187-9C1E-A609FC70BAA4}"/>
              </a:ext>
            </a:extLst>
          </p:cNvPr>
          <p:cNvSpPr/>
          <p:nvPr userDrawn="1"/>
        </p:nvSpPr>
        <p:spPr>
          <a:xfrm flipV="1">
            <a:off x="633568" y="3177890"/>
            <a:ext cx="939800" cy="45719"/>
          </a:xfrm>
          <a:custGeom>
            <a:avLst/>
            <a:gdLst/>
            <a:ahLst/>
            <a:cxnLst/>
            <a:rect l="l" t="t" r="r" b="b"/>
            <a:pathLst>
              <a:path w="939800">
                <a:moveTo>
                  <a:pt x="0" y="0"/>
                </a:moveTo>
                <a:lnTo>
                  <a:pt x="939800" y="0"/>
                </a:lnTo>
              </a:path>
            </a:pathLst>
          </a:custGeom>
          <a:ln w="12700">
            <a:solidFill>
              <a:schemeClr val="accent2"/>
            </a:solidFill>
          </a:ln>
        </p:spPr>
        <p:txBody>
          <a:bodyPr wrap="square" lIns="0" tIns="0" rIns="0" bIns="0" rtlCol="0"/>
          <a:lstStyle/>
          <a:p>
            <a:endParaRPr/>
          </a:p>
        </p:txBody>
      </p:sp>
    </p:spTree>
    <p:extLst>
      <p:ext uri="{BB962C8B-B14F-4D97-AF65-F5344CB8AC3E}">
        <p14:creationId xmlns:p14="http://schemas.microsoft.com/office/powerpoint/2010/main" val="42736611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 Id="rId5" Type="http://schemas.openxmlformats.org/officeDocument/2006/relationships/image" Target="../media/image3.png"/><Relationship Id="rId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1509268682"/>
      </p:ext>
    </p:extLst>
  </p:cSld>
  <p:clrMap bg1="lt1" tx1="dk1" bg2="lt2" tx2="dk2" accent1="accent1" accent2="accent2" accent3="accent3" accent4="accent4" accent5="accent5" accent6="accent6" hlink="hlink" folHlink="folHlink"/>
  <p:sldLayoutIdLst>
    <p:sldLayoutId id="2147483652" r:id="rId1"/>
    <p:sldLayoutId id="2147483655" r:id="rId2"/>
    <p:sldLayoutId id="2147483656" r:id="rId3"/>
    <p:sldLayoutId id="214748366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4A454DB7-A73F-40C4-A0D2-93123167F1BE}"/>
              </a:ext>
            </a:extLst>
          </p:cNvPr>
          <p:cNvSpPr/>
          <p:nvPr userDrawn="1"/>
        </p:nvSpPr>
        <p:spPr>
          <a:xfrm>
            <a:off x="0" y="0"/>
            <a:ext cx="12192000" cy="6858000"/>
          </a:xfrm>
          <a:custGeom>
            <a:avLst/>
            <a:gdLst/>
            <a:ahLst/>
            <a:cxnLst/>
            <a:rect l="l" t="t" r="r" b="b"/>
            <a:pathLst>
              <a:path w="12433300" h="6997700">
                <a:moveTo>
                  <a:pt x="0" y="6997700"/>
                </a:moveTo>
                <a:lnTo>
                  <a:pt x="12433300" y="6997700"/>
                </a:lnTo>
                <a:lnTo>
                  <a:pt x="12433300" y="0"/>
                </a:lnTo>
                <a:lnTo>
                  <a:pt x="0" y="0"/>
                </a:lnTo>
                <a:lnTo>
                  <a:pt x="0" y="6997700"/>
                </a:lnTo>
                <a:close/>
              </a:path>
            </a:pathLst>
          </a:custGeom>
          <a:solidFill>
            <a:srgbClr val="1E4D2B"/>
          </a:solidFill>
        </p:spPr>
        <p:txBody>
          <a:bodyPr wrap="square" lIns="0" tIns="0" rIns="0" bIns="0" rtlCol="0"/>
          <a:lstStyle/>
          <a:p>
            <a:endParaRPr/>
          </a:p>
        </p:txBody>
      </p:sp>
      <p:sp>
        <p:nvSpPr>
          <p:cNvPr id="8" name="object 3">
            <a:extLst>
              <a:ext uri="{FF2B5EF4-FFF2-40B4-BE49-F238E27FC236}">
                <a16:creationId xmlns:a16="http://schemas.microsoft.com/office/drawing/2014/main" id="{80E9EB47-13D9-4E9A-B8E7-21D64C865CF3}"/>
              </a:ext>
            </a:extLst>
          </p:cNvPr>
          <p:cNvSpPr/>
          <p:nvPr userDrawn="1"/>
        </p:nvSpPr>
        <p:spPr>
          <a:xfrm>
            <a:off x="6222491" y="0"/>
            <a:ext cx="5969509" cy="6839335"/>
          </a:xfrm>
          <a:prstGeom prst="rect">
            <a:avLst/>
          </a:prstGeom>
          <a:blipFill>
            <a:blip r:embed="rId3" cstate="print">
              <a:extLst>
                <a:ext uri="{BEBA8EAE-BF5A-486C-A8C5-ECC9F3942E4B}">
                  <a14:imgProps xmlns:a14="http://schemas.microsoft.com/office/drawing/2010/main">
                    <a14:imgLayer r:embed="rId4">
                      <a14:imgEffect>
                        <a14:brightnessContrast contrast="-70000"/>
                      </a14:imgEffect>
                    </a14:imgLayer>
                  </a14:imgProps>
                </a:ext>
              </a:extLst>
            </a:blip>
            <a:stretch>
              <a:fillRect/>
            </a:stretch>
          </a:blipFill>
        </p:spPr>
        <p:txBody>
          <a:bodyPr wrap="square" lIns="0" tIns="0" rIns="0" bIns="0" rtlCol="0"/>
          <a:lstStyle/>
          <a:p>
            <a:endParaRPr dirty="0"/>
          </a:p>
        </p:txBody>
      </p:sp>
      <p:pic>
        <p:nvPicPr>
          <p:cNvPr id="9" name="Picture 8">
            <a:extLst>
              <a:ext uri="{FF2B5EF4-FFF2-40B4-BE49-F238E27FC236}">
                <a16:creationId xmlns:a16="http://schemas.microsoft.com/office/drawing/2014/main" id="{92E8F1D3-5FD1-4707-B053-C7386CD9C38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30114" y="5991173"/>
            <a:ext cx="3461886" cy="848162"/>
          </a:xfrm>
          <a:prstGeom prst="rect">
            <a:avLst/>
          </a:prstGeom>
        </p:spPr>
      </p:pic>
    </p:spTree>
    <p:extLst>
      <p:ext uri="{BB962C8B-B14F-4D97-AF65-F5344CB8AC3E}">
        <p14:creationId xmlns:p14="http://schemas.microsoft.com/office/powerpoint/2010/main" val="1724814910"/>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broadcom.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broadcom.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dirty="0"/>
              <a:t>Business Profile Assignment (BPA) Instructions</a:t>
            </a:r>
          </a:p>
        </p:txBody>
      </p:sp>
      <p:sp>
        <p:nvSpPr>
          <p:cNvPr id="3" name="Content Placeholder 2">
            <a:extLst>
              <a:ext uri="{FF2B5EF4-FFF2-40B4-BE49-F238E27FC236}">
                <a16:creationId xmlns:a16="http://schemas.microsoft.com/office/drawing/2014/main" id="{ADDCF111-9D3D-456A-8EA0-07182249C513}"/>
              </a:ext>
            </a:extLst>
          </p:cNvPr>
          <p:cNvSpPr>
            <a:spLocks noGrp="1"/>
          </p:cNvSpPr>
          <p:nvPr>
            <p:ph idx="1"/>
          </p:nvPr>
        </p:nvSpPr>
        <p:spPr>
          <a:xfrm>
            <a:off x="319454" y="1077491"/>
            <a:ext cx="11620500" cy="4351338"/>
          </a:xfrm>
        </p:spPr>
        <p:txBody>
          <a:bodyPr>
            <a:noAutofit/>
          </a:bodyPr>
          <a:lstStyle/>
          <a:p>
            <a:pPr marL="0" indent="0">
              <a:buNone/>
            </a:pPr>
            <a:r>
              <a:rPr lang="en-US" sz="1800" dirty="0">
                <a:latin typeface="Arial" panose="020B0604020202020204" pitchFamily="34" charset="0"/>
                <a:cs typeface="Arial" panose="020B0604020202020204" pitchFamily="34" charset="0"/>
              </a:rPr>
              <a:t>You will use this deck for this template for this week’s assignment. You will turn in this PowerPoint file as your homework submission. With each subsequent assignment, please include the “Student Name” and “Business Profile – Overview” slides with your submission. Here are some points to remember when using this template:</a:t>
            </a:r>
          </a:p>
          <a:p>
            <a:r>
              <a:rPr lang="en-US" sz="1800" dirty="0">
                <a:latin typeface="Arial" panose="020B0604020202020204" pitchFamily="34" charset="0"/>
                <a:cs typeface="Arial" panose="020B0604020202020204" pitchFamily="34" charset="0"/>
              </a:rPr>
              <a:t>You must use the same company for all assignments. Preferably, this is the company you currently work for.  However, if you are not working at the moment, or your company just doesn’t work well for these assignments (i.e. government agencies, small volunteer organizations) then select a company in an industry that interests you or that you would like to work for.</a:t>
            </a:r>
          </a:p>
          <a:p>
            <a:r>
              <a:rPr lang="en-US" sz="1800" dirty="0">
                <a:latin typeface="Arial" panose="020B0604020202020204" pitchFamily="34" charset="0"/>
                <a:cs typeface="Arial" panose="020B0604020202020204" pitchFamily="34" charset="0"/>
              </a:rPr>
              <a:t>These assignments are built around the company you work for to maximize your ability to apply the content to a familiar context.  However, it’s a challenge for ICs that may not be as familiar with your organization.  Provide additional detail, additional notes, or anything else that can help your IC grade the assignment either in slide notes or in additional slides.</a:t>
            </a:r>
          </a:p>
          <a:p>
            <a:r>
              <a:rPr lang="en-US" sz="1800" dirty="0">
                <a:latin typeface="Arial" panose="020B0604020202020204" pitchFamily="34" charset="0"/>
                <a:cs typeface="Arial" panose="020B0604020202020204" pitchFamily="34" charset="0"/>
              </a:rPr>
              <a:t>There are notes on each slide indicating which assignment that slide is a part of to make it easy for you to know when each slide needs to be completed.  The slide notes may also contain additional instructions – make sure you read them!</a:t>
            </a:r>
          </a:p>
          <a:p>
            <a:r>
              <a:rPr lang="en-US" sz="1800" dirty="0">
                <a:latin typeface="Arial" panose="020B0604020202020204" pitchFamily="34" charset="0"/>
                <a:cs typeface="Arial" panose="020B0604020202020204" pitchFamily="34" charset="0"/>
              </a:rPr>
              <a:t>If additional space is necessary, you may insert additional slides and/or use the notes option, just make it clear to your IC that the content is continued on the next slide.</a:t>
            </a:r>
          </a:p>
          <a:p>
            <a:pPr marL="0" indent="0">
              <a:buNone/>
            </a:pPr>
            <a:r>
              <a:rPr lang="en-US" sz="1800" b="1" dirty="0">
                <a:latin typeface="Arial" panose="020B0604020202020204" pitchFamily="34" charset="0"/>
                <a:cs typeface="Arial" panose="020B0604020202020204" pitchFamily="34" charset="0"/>
              </a:rPr>
              <a:t>FILE NAMING</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Please follow the file naming convention below.  This helps your IC find your assignment easily: LASTNAME.FIRSTNAME.ASSIGNMENTNAME. Example: PORTER.MICHAEL.BPA</a:t>
            </a:r>
          </a:p>
          <a:p>
            <a:pPr marL="0" indent="0">
              <a:buNone/>
            </a:pPr>
            <a:r>
              <a:rPr lang="en-US"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3035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a:t>Assignment Grading Criteria</a:t>
            </a:r>
          </a:p>
        </p:txBody>
      </p:sp>
      <p:graphicFrame>
        <p:nvGraphicFramePr>
          <p:cNvPr id="8" name="Table 7">
            <a:extLst>
              <a:ext uri="{FF2B5EF4-FFF2-40B4-BE49-F238E27FC236}">
                <a16:creationId xmlns:a16="http://schemas.microsoft.com/office/drawing/2014/main" id="{109D9E67-73BA-135C-15F0-5744BA094DCA}"/>
              </a:ext>
            </a:extLst>
          </p:cNvPr>
          <p:cNvGraphicFramePr>
            <a:graphicFrameLocks noGrp="1"/>
          </p:cNvGraphicFramePr>
          <p:nvPr/>
        </p:nvGraphicFramePr>
        <p:xfrm>
          <a:off x="248607" y="1549744"/>
          <a:ext cx="6029101" cy="4040173"/>
        </p:xfrm>
        <a:graphic>
          <a:graphicData uri="http://schemas.openxmlformats.org/drawingml/2006/table">
            <a:tbl>
              <a:tblPr/>
              <a:tblGrid>
                <a:gridCol w="4921270">
                  <a:extLst>
                    <a:ext uri="{9D8B030D-6E8A-4147-A177-3AD203B41FA5}">
                      <a16:colId xmlns:a16="http://schemas.microsoft.com/office/drawing/2014/main" val="2945378647"/>
                    </a:ext>
                  </a:extLst>
                </a:gridCol>
                <a:gridCol w="1107831">
                  <a:extLst>
                    <a:ext uri="{9D8B030D-6E8A-4147-A177-3AD203B41FA5}">
                      <a16:colId xmlns:a16="http://schemas.microsoft.com/office/drawing/2014/main" val="45585094"/>
                    </a:ext>
                  </a:extLst>
                </a:gridCol>
              </a:tblGrid>
              <a:tr h="64915">
                <a:tc gridSpan="2">
                  <a:txBody>
                    <a:bodyPr/>
                    <a:lstStyle/>
                    <a:p>
                      <a:pPr algn="ctr"/>
                      <a:r>
                        <a:rPr lang="en-US" sz="1800" b="1" dirty="0"/>
                        <a:t>Business Profile Assignment Rubric</a:t>
                      </a:r>
                    </a:p>
                  </a:txBody>
                  <a:tcPr marL="16229" marR="16229" marT="8114" marB="8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3655088"/>
                  </a:ext>
                </a:extLst>
              </a:tr>
              <a:tr h="363258">
                <a:tc>
                  <a:txBody>
                    <a:bodyPr/>
                    <a:lstStyle/>
                    <a:p>
                      <a:pPr algn="ctr"/>
                      <a:r>
                        <a:rPr lang="en-US" sz="1400" b="1">
                          <a:effectLst/>
                          <a:highlight>
                            <a:srgbClr val="FFFFFF"/>
                          </a:highlight>
                        </a:rPr>
                        <a:t>Criteria</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b="1">
                          <a:effectLst/>
                          <a:highlight>
                            <a:srgbClr val="FFFFFF"/>
                          </a:highlight>
                        </a:rPr>
                        <a:t>Pts</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69659512"/>
                  </a:ext>
                </a:extLst>
              </a:tr>
              <a:tr h="834429">
                <a:tc>
                  <a:txBody>
                    <a:bodyPr/>
                    <a:lstStyle/>
                    <a:p>
                      <a:pPr fontAlgn="ctr"/>
                      <a:r>
                        <a:rPr lang="en-US" sz="1200" b="1">
                          <a:effectLst/>
                        </a:rPr>
                        <a:t>Business Profile</a:t>
                      </a:r>
                    </a:p>
                    <a:p>
                      <a:pPr fontAlgn="ctr"/>
                      <a:r>
                        <a:rPr lang="en-US" sz="1200" b="0">
                          <a:effectLst/>
                        </a:rPr>
                        <a:t>What’s your elevator pitch?</a:t>
                      </a:r>
                      <a:br>
                        <a:rPr lang="en-US" sz="1200" b="0">
                          <a:effectLst/>
                        </a:rPr>
                      </a:br>
                      <a:r>
                        <a:rPr lang="en-US" sz="1200" b="0">
                          <a:effectLst/>
                        </a:rPr>
                        <a:t>Be sure you provide sufficient detail for your IC to understand your business.</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10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12314360"/>
                  </a:ext>
                </a:extLst>
              </a:tr>
              <a:tr h="948707">
                <a:tc>
                  <a:txBody>
                    <a:bodyPr/>
                    <a:lstStyle/>
                    <a:p>
                      <a:pPr fontAlgn="ctr"/>
                      <a:r>
                        <a:rPr lang="en-US" sz="1200" b="1">
                          <a:effectLst/>
                        </a:rPr>
                        <a:t>Organization Structure</a:t>
                      </a:r>
                    </a:p>
                    <a:p>
                      <a:pPr fontAlgn="ctr"/>
                      <a:r>
                        <a:rPr lang="en-US" sz="1200" b="0">
                          <a:effectLst/>
                        </a:rPr>
                        <a:t>Provide company organizational structure.</a:t>
                      </a:r>
                      <a:br>
                        <a:rPr lang="en-US" sz="1200" b="0">
                          <a:effectLst/>
                        </a:rPr>
                      </a:br>
                      <a:r>
                        <a:rPr lang="en-US" sz="1200" b="0">
                          <a:effectLst/>
                        </a:rPr>
                        <a:t>Explain how your company is organized: is it a hierarchical organization? Flat organization?</a:t>
                      </a:r>
                      <a:br>
                        <a:rPr lang="en-US" sz="1200" b="0">
                          <a:effectLst/>
                        </a:rPr>
                      </a:br>
                      <a:r>
                        <a:rPr lang="en-US" sz="1200" b="0">
                          <a:effectLst/>
                        </a:rPr>
                        <a:t>Does the organizational structure facilitate meeting your objectives? Why?</a:t>
                      </a:r>
                      <a:br>
                        <a:rPr lang="en-US" sz="1200" b="0">
                          <a:effectLst/>
                        </a:rPr>
                      </a:br>
                      <a:r>
                        <a:rPr lang="en-US" sz="1200" b="0">
                          <a:effectLst/>
                        </a:rPr>
                        <a:t>Which functional areas are key to your organization’s success and why?</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35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1565112"/>
                  </a:ext>
                </a:extLst>
              </a:tr>
              <a:tr h="834429">
                <a:tc>
                  <a:txBody>
                    <a:bodyPr/>
                    <a:lstStyle/>
                    <a:p>
                      <a:pPr fontAlgn="ctr"/>
                      <a:r>
                        <a:rPr lang="en-US" sz="1200" b="1">
                          <a:effectLst/>
                        </a:rPr>
                        <a:t>Stakeholders</a:t>
                      </a:r>
                    </a:p>
                    <a:p>
                      <a:pPr fontAlgn="ctr"/>
                      <a:r>
                        <a:rPr lang="en-US" sz="1200" b="0">
                          <a:effectLst/>
                        </a:rPr>
                        <a:t>Who are some of the key stakeholders for your company?</a:t>
                      </a:r>
                      <a:br>
                        <a:rPr lang="en-US" sz="1200" b="0">
                          <a:effectLst/>
                        </a:rPr>
                      </a:br>
                      <a:r>
                        <a:rPr lang="en-US" sz="1200" b="0">
                          <a:effectLst/>
                        </a:rPr>
                        <a:t>What are ways that they influence your organization?</a:t>
                      </a:r>
                      <a:br>
                        <a:rPr lang="en-US" sz="1200" b="0">
                          <a:effectLst/>
                        </a:rPr>
                      </a:br>
                      <a:r>
                        <a:rPr lang="en-US" sz="1200" b="0">
                          <a:effectLst/>
                        </a:rPr>
                        <a:t>What are some examples of how they are critical to your organization’s success?</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35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6939744"/>
                  </a:ext>
                </a:extLst>
              </a:tr>
              <a:tr h="492926">
                <a:tc gridSpan="2">
                  <a:txBody>
                    <a:bodyPr/>
                    <a:lstStyle/>
                    <a:p>
                      <a:pPr algn="r"/>
                      <a:r>
                        <a:rPr lang="en-US" sz="1400" dirty="0">
                          <a:effectLst/>
                        </a:rPr>
                        <a:t>Total Points: 80</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78457049"/>
                  </a:ext>
                </a:extLst>
              </a:tr>
            </a:tbl>
          </a:graphicData>
        </a:graphic>
      </p:graphicFrame>
      <p:sp>
        <p:nvSpPr>
          <p:cNvPr id="10" name="TextBox 9">
            <a:extLst>
              <a:ext uri="{FF2B5EF4-FFF2-40B4-BE49-F238E27FC236}">
                <a16:creationId xmlns:a16="http://schemas.microsoft.com/office/drawing/2014/main" id="{773629AF-B4CC-3758-2F2D-74F80E79F1A9}"/>
              </a:ext>
            </a:extLst>
          </p:cNvPr>
          <p:cNvSpPr txBox="1"/>
          <p:nvPr/>
        </p:nvSpPr>
        <p:spPr>
          <a:xfrm>
            <a:off x="6756640" y="1256446"/>
            <a:ext cx="4888523" cy="4808752"/>
          </a:xfrm>
          <a:prstGeom prst="rect">
            <a:avLst/>
          </a:prstGeom>
          <a:noFill/>
        </p:spPr>
        <p:txBody>
          <a:bodyPr wrap="square" rtlCol="0">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600" b="1" i="0" u="sng"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Evaluation Criteria</a:t>
            </a:r>
            <a:r>
              <a:rPr kumimoji="0" lang="en-US" sz="12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 (from Course Syllabus)</a:t>
            </a:r>
            <a:endParaRPr kumimoji="0" lang="en-US" sz="16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Support Quality of Work:</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Each statement or explanation is supported by sound facts, logics, or data points.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Analysis yields complex and nuanced syntheses of ideas, demonstrating true understanding.</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Accurate Class Concept Use:</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Class concepts are used throughout the assignment in a manner that demonstrates a full understanding of the concept.</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Critical Thinking:</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Exercises include data and reasoning that confirms or disconfirms the thesis.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The analysis or explanation demonstrates an understanding of the uncertainty surrounding the facts, logics, and conclusions.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Mechanics and Professionalism:</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Work is professionally presented and free from grammatical or typographical errors.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Headings, images, figures, and tables are appropriately and effectively used.</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WOW Factor:</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mn-ea"/>
                <a:cs typeface="Times New Roman" panose="02020603050405020304" pitchFamily="18" charset="0"/>
              </a:rPr>
              <a:t>Approximately 10% of the total grade will be determined by the WOW factor. This is evidence of work that exceeds expectations. These points are reserved for those projects that go beyond assignment requirements and demonstrate creativity, extra effort, and refined professionalism.</a:t>
            </a:r>
          </a:p>
        </p:txBody>
      </p:sp>
    </p:spTree>
    <p:extLst>
      <p:ext uri="{BB962C8B-B14F-4D97-AF65-F5344CB8AC3E}">
        <p14:creationId xmlns:p14="http://schemas.microsoft.com/office/powerpoint/2010/main" val="899547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EDB7-E569-47F3-8EB7-88525EAA092B}"/>
              </a:ext>
            </a:extLst>
          </p:cNvPr>
          <p:cNvSpPr>
            <a:spLocks noGrp="1"/>
          </p:cNvSpPr>
          <p:nvPr>
            <p:ph type="title"/>
          </p:nvPr>
        </p:nvSpPr>
        <p:spPr/>
        <p:txBody>
          <a:bodyPr>
            <a:normAutofit/>
          </a:bodyPr>
          <a:lstStyle/>
          <a:p>
            <a:r>
              <a:rPr lang="en-US" dirty="0"/>
              <a:t>Student Name</a:t>
            </a:r>
          </a:p>
        </p:txBody>
      </p:sp>
      <p:sp>
        <p:nvSpPr>
          <p:cNvPr id="3" name="Subtitle 2">
            <a:extLst>
              <a:ext uri="{FF2B5EF4-FFF2-40B4-BE49-F238E27FC236}">
                <a16:creationId xmlns:a16="http://schemas.microsoft.com/office/drawing/2014/main" id="{39901997-3A38-45E0-AA63-EE66E6916619}"/>
              </a:ext>
            </a:extLst>
          </p:cNvPr>
          <p:cNvSpPr>
            <a:spLocks noGrp="1"/>
          </p:cNvSpPr>
          <p:nvPr>
            <p:ph idx="1"/>
          </p:nvPr>
        </p:nvSpPr>
        <p:spPr>
          <a:xfrm>
            <a:off x="6392006" y="1558925"/>
            <a:ext cx="5375031" cy="4351338"/>
          </a:xfrm>
        </p:spPr>
        <p:txBody>
          <a:bodyPr anchor="ctr">
            <a:normAutofit/>
          </a:bodyPr>
          <a:lstStyle/>
          <a:p>
            <a:r>
              <a:rPr lang="en-US" sz="3200" dirty="0"/>
              <a:t>Cyrus Bavarian </a:t>
            </a:r>
          </a:p>
        </p:txBody>
      </p:sp>
      <p:sp>
        <p:nvSpPr>
          <p:cNvPr id="4" name="Content Placeholder 2">
            <a:extLst>
              <a:ext uri="{FF2B5EF4-FFF2-40B4-BE49-F238E27FC236}">
                <a16:creationId xmlns:a16="http://schemas.microsoft.com/office/drawing/2014/main" id="{6F3B4236-D07F-4CF9-A5A5-D0014942611E}"/>
              </a:ext>
            </a:extLst>
          </p:cNvPr>
          <p:cNvSpPr txBox="1">
            <a:spLocks/>
          </p:cNvSpPr>
          <p:nvPr/>
        </p:nvSpPr>
        <p:spPr>
          <a:xfrm>
            <a:off x="609600" y="3429000"/>
            <a:ext cx="6432336" cy="2590800"/>
          </a:xfrm>
          <a:prstGeom prst="rect">
            <a:avLst/>
          </a:prstGeom>
        </p:spPr>
        <p:txBody>
          <a:bodyPr vert="horz" lIns="121919" tIns="60959" rIns="121919" bIns="60959" rtlCol="0">
            <a:normAutofit/>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endParaRPr kumimoji="0" lang="en-US" sz="4267" b="0" i="0" u="none" strike="noStrike" kern="1200" cap="none" spc="0" normalizeH="0" baseline="0" noProof="0">
              <a:ln>
                <a:noFill/>
              </a:ln>
              <a:solidFill>
                <a:srgbClr val="59595B">
                  <a:tint val="75000"/>
                </a:srgbClr>
              </a:solidFill>
              <a:effectLst/>
              <a:uLnTx/>
              <a:uFillTx/>
              <a:latin typeface="Helvetica"/>
              <a:ea typeface="+mn-ea"/>
              <a:cs typeface="Helvetica"/>
            </a:endParaRPr>
          </a:p>
        </p:txBody>
      </p:sp>
      <p:sp>
        <p:nvSpPr>
          <p:cNvPr id="6" name="Subtitle 2">
            <a:extLst>
              <a:ext uri="{FF2B5EF4-FFF2-40B4-BE49-F238E27FC236}">
                <a16:creationId xmlns:a16="http://schemas.microsoft.com/office/drawing/2014/main" id="{72F58189-B73F-4B04-A617-E5F099F2E514}"/>
              </a:ext>
            </a:extLst>
          </p:cNvPr>
          <p:cNvSpPr txBox="1">
            <a:spLocks/>
          </p:cNvSpPr>
          <p:nvPr/>
        </p:nvSpPr>
        <p:spPr>
          <a:xfrm>
            <a:off x="1411654" y="5147224"/>
            <a:ext cx="2946400" cy="533400"/>
          </a:xfrm>
          <a:prstGeom prst="rect">
            <a:avLst/>
          </a:prstGeom>
        </p:spPr>
        <p:txBody>
          <a:bodyPr vert="horz" lIns="121919" tIns="60959" rIns="121919" bIns="60959" rtlCol="0" anchor="ctr">
            <a:normAutofit fontScale="92500" lnSpcReduction="10000"/>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r>
              <a:rPr kumimoji="0" lang="en-US" sz="3200" b="0" i="0" u="none" strike="noStrike" kern="1200" cap="none" spc="0" normalizeH="0" baseline="0" noProof="0" dirty="0">
                <a:ln>
                  <a:noFill/>
                </a:ln>
                <a:solidFill>
                  <a:srgbClr val="59595B">
                    <a:tint val="75000"/>
                  </a:srgbClr>
                </a:solidFill>
                <a:effectLst/>
                <a:uLnTx/>
                <a:uFillTx/>
                <a:latin typeface="Helvetica"/>
                <a:ea typeface="+mn-ea"/>
                <a:cs typeface="Helvetica"/>
              </a:rPr>
              <a:t>Student photo</a:t>
            </a:r>
          </a:p>
        </p:txBody>
      </p:sp>
      <p:pic>
        <p:nvPicPr>
          <p:cNvPr id="1026" name="Picture 2" descr="Profile Icon Vector Art, Icons, and Graphics for Free Download">
            <a:extLst>
              <a:ext uri="{FF2B5EF4-FFF2-40B4-BE49-F238E27FC236}">
                <a16:creationId xmlns:a16="http://schemas.microsoft.com/office/drawing/2014/main" id="{77124042-986C-3442-CAB8-90B74189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979" y="1762125"/>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BBECC87-016D-481C-3A49-851531C34D4B}"/>
              </a:ext>
            </a:extLst>
          </p:cNvPr>
          <p:cNvSpPr/>
          <p:nvPr/>
        </p:nvSpPr>
        <p:spPr>
          <a:xfrm>
            <a:off x="826477" y="1635369"/>
            <a:ext cx="4149969" cy="4384431"/>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9558260-2E64-B157-F8A2-815F64639DF4}"/>
              </a:ext>
            </a:extLst>
          </p:cNvPr>
          <p:cNvPicPr>
            <a:picLocks noChangeAspect="1"/>
          </p:cNvPicPr>
          <p:nvPr/>
        </p:nvPicPr>
        <p:blipFill>
          <a:blip r:embed="rId3"/>
          <a:stretch>
            <a:fillRect/>
          </a:stretch>
        </p:blipFill>
        <p:spPr>
          <a:xfrm>
            <a:off x="688250" y="1558924"/>
            <a:ext cx="4544163" cy="4544163"/>
          </a:xfrm>
          <a:prstGeom prst="rect">
            <a:avLst/>
          </a:prstGeom>
        </p:spPr>
      </p:pic>
    </p:spTree>
    <p:extLst>
      <p:ext uri="{BB962C8B-B14F-4D97-AF65-F5344CB8AC3E}">
        <p14:creationId xmlns:p14="http://schemas.microsoft.com/office/powerpoint/2010/main" val="419664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normAutofit lnSpcReduction="10000"/>
          </a:bodyPr>
          <a:lstStyle/>
          <a:p>
            <a:r>
              <a:rPr lang="en-US" dirty="0"/>
              <a:t>Business name: Broadcom</a:t>
            </a:r>
          </a:p>
          <a:p>
            <a:r>
              <a:rPr lang="en-US" dirty="0"/>
              <a:t>Business website: </a:t>
            </a:r>
            <a:r>
              <a:rPr lang="en-US" dirty="0">
                <a:hlinkClick r:id="rId3"/>
              </a:rPr>
              <a:t>https://www.broadcom.com/</a:t>
            </a:r>
            <a:endParaRPr lang="en-US" dirty="0"/>
          </a:p>
          <a:p>
            <a:r>
              <a:rPr lang="en-US" dirty="0"/>
              <a:t>Products/services: Semiconductor Solutions &amp; Infrastructure Software</a:t>
            </a:r>
          </a:p>
          <a:p>
            <a:r>
              <a:rPr lang="en-US" dirty="0"/>
              <a:t>Target market(s)/customers: Broadcom’s main segments fall into AI and non-AI categories. Their AI solutions include custom ASIC and networking components for hyper scalers like Google and Meta. Their Non-AI solutions include Semiconductors for smartphone makers like Apple. </a:t>
            </a:r>
          </a:p>
          <a:p>
            <a:r>
              <a:rPr lang="en-US" dirty="0"/>
              <a:t>Top rivals/competitors: Their semiconductor division competitors would be Qorvo, Qualcomm and Marvell. Their enterprise infrastructure solutions would be Microsoft and IBM.</a:t>
            </a:r>
          </a:p>
        </p:txBody>
      </p:sp>
    </p:spTree>
    <p:extLst>
      <p:ext uri="{BB962C8B-B14F-4D97-AF65-F5344CB8AC3E}">
        <p14:creationId xmlns:p14="http://schemas.microsoft.com/office/powerpoint/2010/main" val="3540148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A571-32E2-B138-C3A7-CCD2F655D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77FFC-1C6E-3BF7-CFF8-51793921B232}"/>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74743F5E-4AA6-A5AF-32CA-7A206FC8840A}"/>
              </a:ext>
            </a:extLst>
          </p:cNvPr>
          <p:cNvSpPr>
            <a:spLocks noGrp="1"/>
          </p:cNvSpPr>
          <p:nvPr>
            <p:ph idx="1"/>
          </p:nvPr>
        </p:nvSpPr>
        <p:spPr>
          <a:xfrm>
            <a:off x="609600" y="1600204"/>
            <a:ext cx="10972800" cy="4419597"/>
          </a:xfrm>
        </p:spPr>
        <p:txBody>
          <a:bodyPr>
            <a:normAutofit/>
          </a:bodyPr>
          <a:lstStyle/>
          <a:p>
            <a:endParaRPr lang="en-US" dirty="0"/>
          </a:p>
          <a:p>
            <a:endParaRPr lang="en-US" dirty="0"/>
          </a:p>
          <a:p>
            <a:r>
              <a:rPr lang="en-US" dirty="0"/>
              <a:t>Business name: WSD – Wireless Semiconductor Division</a:t>
            </a:r>
          </a:p>
          <a:p>
            <a:r>
              <a:rPr lang="en-US" dirty="0"/>
              <a:t>Business website: </a:t>
            </a:r>
            <a:r>
              <a:rPr lang="en-US" dirty="0">
                <a:hlinkClick r:id="rId3"/>
              </a:rPr>
              <a:t>https://www.broadcom.com/</a:t>
            </a:r>
            <a:endParaRPr lang="en-US" dirty="0"/>
          </a:p>
          <a:p>
            <a:r>
              <a:rPr lang="en-US" dirty="0"/>
              <a:t>Products/services: RF Filters </a:t>
            </a:r>
          </a:p>
          <a:p>
            <a:r>
              <a:rPr lang="en-US" dirty="0"/>
              <a:t>Target market(s)/customers: Smart phone makers such as Apple, Samsung, and Google</a:t>
            </a:r>
          </a:p>
          <a:p>
            <a:r>
              <a:rPr lang="en-US" dirty="0"/>
              <a:t>Top rivals/competitors: Their semiconductor and networking competitors would be Qualcomm, Qorvo, and Marvell.</a:t>
            </a:r>
          </a:p>
        </p:txBody>
      </p:sp>
      <p:sp>
        <p:nvSpPr>
          <p:cNvPr id="4" name="Rectangle: Rounded Corners 3">
            <a:extLst>
              <a:ext uri="{FF2B5EF4-FFF2-40B4-BE49-F238E27FC236}">
                <a16:creationId xmlns:a16="http://schemas.microsoft.com/office/drawing/2014/main" id="{A72C9966-E2C1-76DA-63F9-1AA2047FA0F1}"/>
              </a:ext>
            </a:extLst>
          </p:cNvPr>
          <p:cNvSpPr/>
          <p:nvPr/>
        </p:nvSpPr>
        <p:spPr>
          <a:xfrm>
            <a:off x="744278" y="1297172"/>
            <a:ext cx="10972799" cy="584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this assignment I will focus on the Wireless Semiconductor Division of Broadcom </a:t>
            </a:r>
          </a:p>
          <a:p>
            <a:pPr algn="ctr"/>
            <a:r>
              <a:rPr lang="en-US" dirty="0"/>
              <a:t>which is located here in Fort Collins Colorado</a:t>
            </a:r>
          </a:p>
        </p:txBody>
      </p:sp>
    </p:spTree>
    <p:extLst>
      <p:ext uri="{BB962C8B-B14F-4D97-AF65-F5344CB8AC3E}">
        <p14:creationId xmlns:p14="http://schemas.microsoft.com/office/powerpoint/2010/main" val="33297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Description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lstStyle/>
          <a:p>
            <a:r>
              <a:rPr lang="en-US" dirty="0"/>
              <a:t>Broadcom’s wireless semiconductor division is a world leader in advanced RF Modules that enable cellular and wireless communication in the most advanced smartphones.  WSD’s R&amp;D fabrication facility in Fort Collins, Colorado is responsible for the manufacturing of these specialty devices. WSD is well known for fast-paced technological innovation that allows our manufacturing operation to keep up with demands of the rapidly changing smartphone market. WSD’s sophisticated cleanroom facility, testing, and metrology solutions ensure our products meet the quality and reliable expectations from worldclass companies. </a:t>
            </a:r>
          </a:p>
        </p:txBody>
      </p:sp>
    </p:spTree>
    <p:extLst>
      <p:ext uri="{BB962C8B-B14F-4D97-AF65-F5344CB8AC3E}">
        <p14:creationId xmlns:p14="http://schemas.microsoft.com/office/powerpoint/2010/main" val="4199351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Organization Structure</a:t>
            </a:r>
          </a:p>
        </p:txBody>
      </p:sp>
      <p:sp>
        <p:nvSpPr>
          <p:cNvPr id="5" name="Rectangle: Rounded Corners 4">
            <a:extLst>
              <a:ext uri="{FF2B5EF4-FFF2-40B4-BE49-F238E27FC236}">
                <a16:creationId xmlns:a16="http://schemas.microsoft.com/office/drawing/2014/main" id="{693E3014-0551-700B-CF39-6B90C4C3B39E}"/>
              </a:ext>
            </a:extLst>
          </p:cNvPr>
          <p:cNvSpPr/>
          <p:nvPr/>
        </p:nvSpPr>
        <p:spPr>
          <a:xfrm>
            <a:off x="5146158" y="1297172"/>
            <a:ext cx="2254102" cy="48909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General Manager</a:t>
            </a:r>
          </a:p>
        </p:txBody>
      </p:sp>
      <p:sp>
        <p:nvSpPr>
          <p:cNvPr id="9" name="Rectangle: Rounded Corners 8">
            <a:extLst>
              <a:ext uri="{FF2B5EF4-FFF2-40B4-BE49-F238E27FC236}">
                <a16:creationId xmlns:a16="http://schemas.microsoft.com/office/drawing/2014/main" id="{5A1445D5-0988-3CB6-1626-2CF62B37BB34}"/>
              </a:ext>
            </a:extLst>
          </p:cNvPr>
          <p:cNvSpPr/>
          <p:nvPr/>
        </p:nvSpPr>
        <p:spPr>
          <a:xfrm>
            <a:off x="5146158" y="2023730"/>
            <a:ext cx="2254102" cy="48909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Fab Manager</a:t>
            </a:r>
          </a:p>
        </p:txBody>
      </p:sp>
      <p:sp>
        <p:nvSpPr>
          <p:cNvPr id="11" name="Rectangle: Rounded Corners 10">
            <a:extLst>
              <a:ext uri="{FF2B5EF4-FFF2-40B4-BE49-F238E27FC236}">
                <a16:creationId xmlns:a16="http://schemas.microsoft.com/office/drawing/2014/main" id="{2B417227-891C-380D-2C05-1535BA6A49D5}"/>
              </a:ext>
            </a:extLst>
          </p:cNvPr>
          <p:cNvSpPr/>
          <p:nvPr/>
        </p:nvSpPr>
        <p:spPr>
          <a:xfrm>
            <a:off x="2534092" y="2023730"/>
            <a:ext cx="2254102" cy="48909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HR</a:t>
            </a:r>
          </a:p>
        </p:txBody>
      </p:sp>
      <p:sp>
        <p:nvSpPr>
          <p:cNvPr id="13" name="Rectangle: Rounded Corners 12">
            <a:extLst>
              <a:ext uri="{FF2B5EF4-FFF2-40B4-BE49-F238E27FC236}">
                <a16:creationId xmlns:a16="http://schemas.microsoft.com/office/drawing/2014/main" id="{098CC608-5F51-E387-3866-F7EFF1797F41}"/>
              </a:ext>
            </a:extLst>
          </p:cNvPr>
          <p:cNvSpPr/>
          <p:nvPr/>
        </p:nvSpPr>
        <p:spPr>
          <a:xfrm>
            <a:off x="7744046" y="2023730"/>
            <a:ext cx="2254102" cy="48909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Finance</a:t>
            </a:r>
          </a:p>
        </p:txBody>
      </p:sp>
      <p:sp>
        <p:nvSpPr>
          <p:cNvPr id="15" name="Rectangle: Rounded Corners 14">
            <a:extLst>
              <a:ext uri="{FF2B5EF4-FFF2-40B4-BE49-F238E27FC236}">
                <a16:creationId xmlns:a16="http://schemas.microsoft.com/office/drawing/2014/main" id="{8B5844EA-B9F5-69E6-AA84-8BA3E975B47A}"/>
              </a:ext>
            </a:extLst>
          </p:cNvPr>
          <p:cNvSpPr/>
          <p:nvPr/>
        </p:nvSpPr>
        <p:spPr>
          <a:xfrm>
            <a:off x="545810"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Operations</a:t>
            </a:r>
          </a:p>
        </p:txBody>
      </p:sp>
      <p:sp>
        <p:nvSpPr>
          <p:cNvPr id="19" name="Rectangle: Rounded Corners 18">
            <a:extLst>
              <a:ext uri="{FF2B5EF4-FFF2-40B4-BE49-F238E27FC236}">
                <a16:creationId xmlns:a16="http://schemas.microsoft.com/office/drawing/2014/main" id="{C463FE67-AA1B-E6A4-43BA-1A5FBD4B920F}"/>
              </a:ext>
            </a:extLst>
          </p:cNvPr>
          <p:cNvSpPr/>
          <p:nvPr/>
        </p:nvSpPr>
        <p:spPr>
          <a:xfrm>
            <a:off x="2200945"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R&amp;D</a:t>
            </a:r>
          </a:p>
        </p:txBody>
      </p:sp>
      <p:sp>
        <p:nvSpPr>
          <p:cNvPr id="21" name="Rectangle: Rounded Corners 20">
            <a:extLst>
              <a:ext uri="{FF2B5EF4-FFF2-40B4-BE49-F238E27FC236}">
                <a16:creationId xmlns:a16="http://schemas.microsoft.com/office/drawing/2014/main" id="{768B65AE-6ABC-F4AA-F84C-1169EB84A30F}"/>
              </a:ext>
            </a:extLst>
          </p:cNvPr>
          <p:cNvSpPr/>
          <p:nvPr/>
        </p:nvSpPr>
        <p:spPr>
          <a:xfrm>
            <a:off x="3856080"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Metrology</a:t>
            </a:r>
          </a:p>
        </p:txBody>
      </p:sp>
      <p:sp>
        <p:nvSpPr>
          <p:cNvPr id="23" name="Rectangle: Rounded Corners 22">
            <a:extLst>
              <a:ext uri="{FF2B5EF4-FFF2-40B4-BE49-F238E27FC236}">
                <a16:creationId xmlns:a16="http://schemas.microsoft.com/office/drawing/2014/main" id="{68E7A4AC-9F58-0EDB-B5A3-4BC126391662}"/>
              </a:ext>
            </a:extLst>
          </p:cNvPr>
          <p:cNvSpPr/>
          <p:nvPr/>
        </p:nvSpPr>
        <p:spPr>
          <a:xfrm>
            <a:off x="5511215"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Automation</a:t>
            </a:r>
          </a:p>
        </p:txBody>
      </p:sp>
      <p:sp>
        <p:nvSpPr>
          <p:cNvPr id="25" name="Rectangle: Rounded Corners 24">
            <a:extLst>
              <a:ext uri="{FF2B5EF4-FFF2-40B4-BE49-F238E27FC236}">
                <a16:creationId xmlns:a16="http://schemas.microsoft.com/office/drawing/2014/main" id="{0A045932-CEE0-5414-2A7D-F9D6008E5B99}"/>
              </a:ext>
            </a:extLst>
          </p:cNvPr>
          <p:cNvSpPr/>
          <p:nvPr/>
        </p:nvSpPr>
        <p:spPr>
          <a:xfrm>
            <a:off x="7166350"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t>Equipment/</a:t>
            </a:r>
          </a:p>
          <a:p>
            <a:pPr algn="ctr"/>
            <a:r>
              <a:rPr lang="en-US" sz="1600" dirty="0"/>
              <a:t>Process</a:t>
            </a:r>
          </a:p>
        </p:txBody>
      </p:sp>
      <p:sp>
        <p:nvSpPr>
          <p:cNvPr id="27" name="Rectangle: Rounded Corners 26">
            <a:extLst>
              <a:ext uri="{FF2B5EF4-FFF2-40B4-BE49-F238E27FC236}">
                <a16:creationId xmlns:a16="http://schemas.microsoft.com/office/drawing/2014/main" id="{D76CAD3F-E84B-306B-FC3C-2AC85D5F2893}"/>
              </a:ext>
            </a:extLst>
          </p:cNvPr>
          <p:cNvSpPr/>
          <p:nvPr/>
        </p:nvSpPr>
        <p:spPr>
          <a:xfrm>
            <a:off x="8821485"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Supply Chain</a:t>
            </a:r>
          </a:p>
        </p:txBody>
      </p:sp>
      <p:sp>
        <p:nvSpPr>
          <p:cNvPr id="29" name="Rectangle: Rounded Corners 28">
            <a:extLst>
              <a:ext uri="{FF2B5EF4-FFF2-40B4-BE49-F238E27FC236}">
                <a16:creationId xmlns:a16="http://schemas.microsoft.com/office/drawing/2014/main" id="{9B0BF2F1-E157-7E7F-D735-C831A5F379FF}"/>
              </a:ext>
            </a:extLst>
          </p:cNvPr>
          <p:cNvSpPr/>
          <p:nvPr/>
        </p:nvSpPr>
        <p:spPr>
          <a:xfrm>
            <a:off x="10476620" y="2939902"/>
            <a:ext cx="1431852" cy="48909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Cleanroom</a:t>
            </a:r>
          </a:p>
        </p:txBody>
      </p:sp>
      <p:sp>
        <p:nvSpPr>
          <p:cNvPr id="31" name="Rectangle: Rounded Corners 30">
            <a:extLst>
              <a:ext uri="{FF2B5EF4-FFF2-40B4-BE49-F238E27FC236}">
                <a16:creationId xmlns:a16="http://schemas.microsoft.com/office/drawing/2014/main" id="{A2E70BA8-51E7-AAEA-117F-3085B411D554}"/>
              </a:ext>
            </a:extLst>
          </p:cNvPr>
          <p:cNvSpPr/>
          <p:nvPr/>
        </p:nvSpPr>
        <p:spPr>
          <a:xfrm>
            <a:off x="8821485" y="3611525"/>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Logistics</a:t>
            </a:r>
          </a:p>
        </p:txBody>
      </p:sp>
      <p:sp>
        <p:nvSpPr>
          <p:cNvPr id="33" name="Rectangle: Rounded Corners 32">
            <a:extLst>
              <a:ext uri="{FF2B5EF4-FFF2-40B4-BE49-F238E27FC236}">
                <a16:creationId xmlns:a16="http://schemas.microsoft.com/office/drawing/2014/main" id="{126501DB-CE0A-4CE2-90D3-5192726186CA}"/>
              </a:ext>
            </a:extLst>
          </p:cNvPr>
          <p:cNvSpPr/>
          <p:nvPr/>
        </p:nvSpPr>
        <p:spPr>
          <a:xfrm>
            <a:off x="8821485" y="428314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Procurement</a:t>
            </a:r>
          </a:p>
        </p:txBody>
      </p:sp>
      <p:sp>
        <p:nvSpPr>
          <p:cNvPr id="35" name="Rectangle: Rounded Corners 34">
            <a:extLst>
              <a:ext uri="{FF2B5EF4-FFF2-40B4-BE49-F238E27FC236}">
                <a16:creationId xmlns:a16="http://schemas.microsoft.com/office/drawing/2014/main" id="{68F3C7BA-ED57-382E-E45F-0C16E3264C9B}"/>
              </a:ext>
            </a:extLst>
          </p:cNvPr>
          <p:cNvSpPr/>
          <p:nvPr/>
        </p:nvSpPr>
        <p:spPr>
          <a:xfrm>
            <a:off x="8821485" y="4954771"/>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Materials</a:t>
            </a:r>
          </a:p>
        </p:txBody>
      </p:sp>
      <p:sp>
        <p:nvSpPr>
          <p:cNvPr id="37" name="Rectangle: Rounded Corners 36">
            <a:extLst>
              <a:ext uri="{FF2B5EF4-FFF2-40B4-BE49-F238E27FC236}">
                <a16:creationId xmlns:a16="http://schemas.microsoft.com/office/drawing/2014/main" id="{F8473F6F-7501-8B05-7B30-A564C6C9F982}"/>
              </a:ext>
            </a:extLst>
          </p:cNvPr>
          <p:cNvSpPr/>
          <p:nvPr/>
        </p:nvSpPr>
        <p:spPr>
          <a:xfrm>
            <a:off x="7166350" y="368240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Equipment Groups</a:t>
            </a:r>
          </a:p>
        </p:txBody>
      </p:sp>
      <p:sp>
        <p:nvSpPr>
          <p:cNvPr id="39" name="Rectangle: Rounded Corners 38">
            <a:extLst>
              <a:ext uri="{FF2B5EF4-FFF2-40B4-BE49-F238E27FC236}">
                <a16:creationId xmlns:a16="http://schemas.microsoft.com/office/drawing/2014/main" id="{59EF233F-0EA7-4071-C699-4D22C60916B6}"/>
              </a:ext>
            </a:extLst>
          </p:cNvPr>
          <p:cNvSpPr/>
          <p:nvPr/>
        </p:nvSpPr>
        <p:spPr>
          <a:xfrm>
            <a:off x="7166350" y="4338083"/>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Equipment Support</a:t>
            </a:r>
          </a:p>
        </p:txBody>
      </p:sp>
      <p:sp>
        <p:nvSpPr>
          <p:cNvPr id="41" name="Rectangle: Rounded Corners 40">
            <a:extLst>
              <a:ext uri="{FF2B5EF4-FFF2-40B4-BE49-F238E27FC236}">
                <a16:creationId xmlns:a16="http://schemas.microsoft.com/office/drawing/2014/main" id="{8229C0D2-7C61-6963-2085-1FA20929192D}"/>
              </a:ext>
            </a:extLst>
          </p:cNvPr>
          <p:cNvSpPr/>
          <p:nvPr/>
        </p:nvSpPr>
        <p:spPr>
          <a:xfrm>
            <a:off x="10476620" y="3611525"/>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EHS</a:t>
            </a:r>
          </a:p>
        </p:txBody>
      </p:sp>
      <p:sp>
        <p:nvSpPr>
          <p:cNvPr id="43" name="Rectangle: Rounded Corners 42">
            <a:extLst>
              <a:ext uri="{FF2B5EF4-FFF2-40B4-BE49-F238E27FC236}">
                <a16:creationId xmlns:a16="http://schemas.microsoft.com/office/drawing/2014/main" id="{DC041ABC-D0E0-AD05-A1C8-849AF2AE1372}"/>
              </a:ext>
            </a:extLst>
          </p:cNvPr>
          <p:cNvSpPr/>
          <p:nvPr/>
        </p:nvSpPr>
        <p:spPr>
          <a:xfrm>
            <a:off x="10476620" y="428314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Engineering</a:t>
            </a:r>
          </a:p>
        </p:txBody>
      </p:sp>
      <p:sp>
        <p:nvSpPr>
          <p:cNvPr id="45" name="Rectangle: Rounded Corners 44">
            <a:extLst>
              <a:ext uri="{FF2B5EF4-FFF2-40B4-BE49-F238E27FC236}">
                <a16:creationId xmlns:a16="http://schemas.microsoft.com/office/drawing/2014/main" id="{B583AE43-164E-8558-2771-9F6C4ED5EDFD}"/>
              </a:ext>
            </a:extLst>
          </p:cNvPr>
          <p:cNvSpPr/>
          <p:nvPr/>
        </p:nvSpPr>
        <p:spPr>
          <a:xfrm>
            <a:off x="10476620" y="4954771"/>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Project Manager</a:t>
            </a:r>
          </a:p>
        </p:txBody>
      </p:sp>
      <p:sp>
        <p:nvSpPr>
          <p:cNvPr id="47" name="Rectangle: Rounded Corners 46">
            <a:extLst>
              <a:ext uri="{FF2B5EF4-FFF2-40B4-BE49-F238E27FC236}">
                <a16:creationId xmlns:a16="http://schemas.microsoft.com/office/drawing/2014/main" id="{A99D806D-3BC8-F447-DB74-1058417ADDF5}"/>
              </a:ext>
            </a:extLst>
          </p:cNvPr>
          <p:cNvSpPr/>
          <p:nvPr/>
        </p:nvSpPr>
        <p:spPr>
          <a:xfrm>
            <a:off x="10476620" y="5626394"/>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Construction</a:t>
            </a:r>
          </a:p>
        </p:txBody>
      </p:sp>
      <p:sp>
        <p:nvSpPr>
          <p:cNvPr id="49" name="Rectangle: Rounded Corners 48">
            <a:extLst>
              <a:ext uri="{FF2B5EF4-FFF2-40B4-BE49-F238E27FC236}">
                <a16:creationId xmlns:a16="http://schemas.microsoft.com/office/drawing/2014/main" id="{682C733B-24B8-F976-0453-BF215AFD02CE}"/>
              </a:ext>
            </a:extLst>
          </p:cNvPr>
          <p:cNvSpPr/>
          <p:nvPr/>
        </p:nvSpPr>
        <p:spPr>
          <a:xfrm>
            <a:off x="5511215" y="368240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MES</a:t>
            </a:r>
          </a:p>
        </p:txBody>
      </p:sp>
      <p:sp>
        <p:nvSpPr>
          <p:cNvPr id="51" name="Rectangle: Rounded Corners 50">
            <a:extLst>
              <a:ext uri="{FF2B5EF4-FFF2-40B4-BE49-F238E27FC236}">
                <a16:creationId xmlns:a16="http://schemas.microsoft.com/office/drawing/2014/main" id="{C4A55040-3095-6B0E-7FD9-799C25036C64}"/>
              </a:ext>
            </a:extLst>
          </p:cNvPr>
          <p:cNvSpPr/>
          <p:nvPr/>
        </p:nvSpPr>
        <p:spPr>
          <a:xfrm>
            <a:off x="5511215" y="4338083"/>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Industrial Engineering</a:t>
            </a:r>
          </a:p>
        </p:txBody>
      </p:sp>
      <p:sp>
        <p:nvSpPr>
          <p:cNvPr id="53" name="Rectangle: Rounded Corners 52">
            <a:extLst>
              <a:ext uri="{FF2B5EF4-FFF2-40B4-BE49-F238E27FC236}">
                <a16:creationId xmlns:a16="http://schemas.microsoft.com/office/drawing/2014/main" id="{E84BE913-140B-6D6B-C448-B32EE81B7518}"/>
              </a:ext>
            </a:extLst>
          </p:cNvPr>
          <p:cNvSpPr/>
          <p:nvPr/>
        </p:nvSpPr>
        <p:spPr>
          <a:xfrm>
            <a:off x="5511215" y="499375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Automation</a:t>
            </a:r>
          </a:p>
        </p:txBody>
      </p:sp>
      <p:sp>
        <p:nvSpPr>
          <p:cNvPr id="55" name="Rectangle: Rounded Corners 54">
            <a:extLst>
              <a:ext uri="{FF2B5EF4-FFF2-40B4-BE49-F238E27FC236}">
                <a16:creationId xmlns:a16="http://schemas.microsoft.com/office/drawing/2014/main" id="{E4A634E0-B87C-5C28-D381-9E0275971BD0}"/>
              </a:ext>
            </a:extLst>
          </p:cNvPr>
          <p:cNvSpPr/>
          <p:nvPr/>
        </p:nvSpPr>
        <p:spPr>
          <a:xfrm>
            <a:off x="5511215" y="5672469"/>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Technicians</a:t>
            </a:r>
          </a:p>
        </p:txBody>
      </p:sp>
      <p:sp>
        <p:nvSpPr>
          <p:cNvPr id="57" name="Rectangle: Rounded Corners 56">
            <a:extLst>
              <a:ext uri="{FF2B5EF4-FFF2-40B4-BE49-F238E27FC236}">
                <a16:creationId xmlns:a16="http://schemas.microsoft.com/office/drawing/2014/main" id="{AA23886D-092E-5C08-9FF4-FF3007C776DA}"/>
              </a:ext>
            </a:extLst>
          </p:cNvPr>
          <p:cNvSpPr/>
          <p:nvPr/>
        </p:nvSpPr>
        <p:spPr>
          <a:xfrm>
            <a:off x="3856080" y="3666460"/>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Metrology</a:t>
            </a:r>
          </a:p>
        </p:txBody>
      </p:sp>
      <p:sp>
        <p:nvSpPr>
          <p:cNvPr id="59" name="Rectangle: Rounded Corners 58">
            <a:extLst>
              <a:ext uri="{FF2B5EF4-FFF2-40B4-BE49-F238E27FC236}">
                <a16:creationId xmlns:a16="http://schemas.microsoft.com/office/drawing/2014/main" id="{AA3D06B5-45A2-6774-BB14-86308D2B9DD2}"/>
              </a:ext>
            </a:extLst>
          </p:cNvPr>
          <p:cNvSpPr/>
          <p:nvPr/>
        </p:nvSpPr>
        <p:spPr>
          <a:xfrm>
            <a:off x="3856080" y="4313273"/>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Yield</a:t>
            </a:r>
          </a:p>
        </p:txBody>
      </p:sp>
      <p:sp>
        <p:nvSpPr>
          <p:cNvPr id="61" name="Rectangle: Rounded Corners 60">
            <a:extLst>
              <a:ext uri="{FF2B5EF4-FFF2-40B4-BE49-F238E27FC236}">
                <a16:creationId xmlns:a16="http://schemas.microsoft.com/office/drawing/2014/main" id="{AC62B250-A655-EBD2-5AB9-0AE95829516A}"/>
              </a:ext>
            </a:extLst>
          </p:cNvPr>
          <p:cNvSpPr/>
          <p:nvPr/>
        </p:nvSpPr>
        <p:spPr>
          <a:xfrm>
            <a:off x="3856080" y="500261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Integration</a:t>
            </a:r>
          </a:p>
        </p:txBody>
      </p:sp>
      <p:sp>
        <p:nvSpPr>
          <p:cNvPr id="63" name="Rectangle: Rounded Corners 62">
            <a:extLst>
              <a:ext uri="{FF2B5EF4-FFF2-40B4-BE49-F238E27FC236}">
                <a16:creationId xmlns:a16="http://schemas.microsoft.com/office/drawing/2014/main" id="{E538F23F-B9F9-BDC4-75E9-1DAA75BB24E7}"/>
              </a:ext>
            </a:extLst>
          </p:cNvPr>
          <p:cNvSpPr/>
          <p:nvPr/>
        </p:nvSpPr>
        <p:spPr>
          <a:xfrm>
            <a:off x="2200945" y="369126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Design</a:t>
            </a:r>
          </a:p>
        </p:txBody>
      </p:sp>
      <p:sp>
        <p:nvSpPr>
          <p:cNvPr id="65" name="Rectangle: Rounded Corners 64">
            <a:extLst>
              <a:ext uri="{FF2B5EF4-FFF2-40B4-BE49-F238E27FC236}">
                <a16:creationId xmlns:a16="http://schemas.microsoft.com/office/drawing/2014/main" id="{5771158B-D06A-CAFD-47DF-0F10E2CADA12}"/>
              </a:ext>
            </a:extLst>
          </p:cNvPr>
          <p:cNvSpPr/>
          <p:nvPr/>
        </p:nvSpPr>
        <p:spPr>
          <a:xfrm>
            <a:off x="2200945" y="4362894"/>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Development</a:t>
            </a:r>
          </a:p>
        </p:txBody>
      </p:sp>
      <p:sp>
        <p:nvSpPr>
          <p:cNvPr id="67" name="Rectangle: Rounded Corners 66">
            <a:extLst>
              <a:ext uri="{FF2B5EF4-FFF2-40B4-BE49-F238E27FC236}">
                <a16:creationId xmlns:a16="http://schemas.microsoft.com/office/drawing/2014/main" id="{16078A17-BFEA-6539-EEAC-C7EC13E83018}"/>
              </a:ext>
            </a:extLst>
          </p:cNvPr>
          <p:cNvSpPr/>
          <p:nvPr/>
        </p:nvSpPr>
        <p:spPr>
          <a:xfrm>
            <a:off x="545810" y="369126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shift</a:t>
            </a:r>
          </a:p>
        </p:txBody>
      </p:sp>
      <p:sp>
        <p:nvSpPr>
          <p:cNvPr id="69" name="Rectangle: Rounded Corners 68">
            <a:extLst>
              <a:ext uri="{FF2B5EF4-FFF2-40B4-BE49-F238E27FC236}">
                <a16:creationId xmlns:a16="http://schemas.microsoft.com/office/drawing/2014/main" id="{74304385-A469-3A8E-BCD2-CDB296B1A3EE}"/>
              </a:ext>
            </a:extLst>
          </p:cNvPr>
          <p:cNvSpPr/>
          <p:nvPr/>
        </p:nvSpPr>
        <p:spPr>
          <a:xfrm>
            <a:off x="545810" y="4338083"/>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 Shift</a:t>
            </a:r>
          </a:p>
        </p:txBody>
      </p:sp>
      <p:sp>
        <p:nvSpPr>
          <p:cNvPr id="71" name="Rectangle: Rounded Corners 70">
            <a:extLst>
              <a:ext uri="{FF2B5EF4-FFF2-40B4-BE49-F238E27FC236}">
                <a16:creationId xmlns:a16="http://schemas.microsoft.com/office/drawing/2014/main" id="{C00D1AF5-E988-C69B-7E0E-9427513EC995}"/>
              </a:ext>
            </a:extLst>
          </p:cNvPr>
          <p:cNvSpPr/>
          <p:nvPr/>
        </p:nvSpPr>
        <p:spPr>
          <a:xfrm>
            <a:off x="545810" y="5002618"/>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 Shift</a:t>
            </a:r>
          </a:p>
        </p:txBody>
      </p:sp>
      <p:sp>
        <p:nvSpPr>
          <p:cNvPr id="73" name="Rectangle: Rounded Corners 72">
            <a:extLst>
              <a:ext uri="{FF2B5EF4-FFF2-40B4-BE49-F238E27FC236}">
                <a16:creationId xmlns:a16="http://schemas.microsoft.com/office/drawing/2014/main" id="{A0EF3523-BBDF-1D6B-2820-DBF14EC02F43}"/>
              </a:ext>
            </a:extLst>
          </p:cNvPr>
          <p:cNvSpPr/>
          <p:nvPr/>
        </p:nvSpPr>
        <p:spPr>
          <a:xfrm>
            <a:off x="545810" y="5681329"/>
            <a:ext cx="1431852" cy="4890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 Shift</a:t>
            </a:r>
          </a:p>
        </p:txBody>
      </p:sp>
      <p:cxnSp>
        <p:nvCxnSpPr>
          <p:cNvPr id="75" name="Straight Connector 74">
            <a:extLst>
              <a:ext uri="{FF2B5EF4-FFF2-40B4-BE49-F238E27FC236}">
                <a16:creationId xmlns:a16="http://schemas.microsoft.com/office/drawing/2014/main" id="{8AFEAAC1-E304-E477-3981-F769A7062269}"/>
              </a:ext>
            </a:extLst>
          </p:cNvPr>
          <p:cNvCxnSpPr>
            <a:stCxn id="5" idx="2"/>
            <a:endCxn id="9" idx="0"/>
          </p:cNvCxnSpPr>
          <p:nvPr/>
        </p:nvCxnSpPr>
        <p:spPr>
          <a:xfrm>
            <a:off x="6273209" y="1786270"/>
            <a:ext cx="0" cy="237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B0FDBF9F-9736-A0F0-444B-6516A6BF276C}"/>
              </a:ext>
            </a:extLst>
          </p:cNvPr>
          <p:cNvCxnSpPr>
            <a:cxnSpLocks/>
            <a:stCxn id="5" idx="2"/>
            <a:endCxn id="13" idx="0"/>
          </p:cNvCxnSpPr>
          <p:nvPr/>
        </p:nvCxnSpPr>
        <p:spPr>
          <a:xfrm rot="16200000" flipH="1">
            <a:off x="7453423" y="606056"/>
            <a:ext cx="237460" cy="25978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81508A3D-75F4-4EF8-7241-D67D70A7DDA0}"/>
              </a:ext>
            </a:extLst>
          </p:cNvPr>
          <p:cNvCxnSpPr>
            <a:cxnSpLocks/>
            <a:stCxn id="5" idx="2"/>
            <a:endCxn id="11" idx="0"/>
          </p:cNvCxnSpPr>
          <p:nvPr/>
        </p:nvCxnSpPr>
        <p:spPr>
          <a:xfrm rot="5400000">
            <a:off x="4848446" y="598967"/>
            <a:ext cx="237460" cy="261206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30DF4C78-070F-D01C-8AAF-FAAF98AAE0E2}"/>
              </a:ext>
            </a:extLst>
          </p:cNvPr>
          <p:cNvCxnSpPr>
            <a:cxnSpLocks/>
            <a:stCxn id="9" idx="2"/>
            <a:endCxn id="15" idx="0"/>
          </p:cNvCxnSpPr>
          <p:nvPr/>
        </p:nvCxnSpPr>
        <p:spPr>
          <a:xfrm rot="5400000">
            <a:off x="3553936" y="220629"/>
            <a:ext cx="427074" cy="501147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9EEA4205-E673-E903-77D8-C4FD44098A5B}"/>
              </a:ext>
            </a:extLst>
          </p:cNvPr>
          <p:cNvCxnSpPr>
            <a:cxnSpLocks/>
            <a:stCxn id="9" idx="2"/>
            <a:endCxn id="19" idx="0"/>
          </p:cNvCxnSpPr>
          <p:nvPr/>
        </p:nvCxnSpPr>
        <p:spPr>
          <a:xfrm rot="5400000">
            <a:off x="4381503" y="1048196"/>
            <a:ext cx="427074" cy="33563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46486B6-E980-BDBF-FB39-843599AE4986}"/>
              </a:ext>
            </a:extLst>
          </p:cNvPr>
          <p:cNvCxnSpPr>
            <a:cxnSpLocks/>
            <a:stCxn id="9" idx="2"/>
            <a:endCxn id="21" idx="0"/>
          </p:cNvCxnSpPr>
          <p:nvPr/>
        </p:nvCxnSpPr>
        <p:spPr>
          <a:xfrm rot="5400000">
            <a:off x="5209071" y="1875764"/>
            <a:ext cx="427074" cy="170120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F20A1FF3-09B9-D3BB-3EBC-77F1E1649EF2}"/>
              </a:ext>
            </a:extLst>
          </p:cNvPr>
          <p:cNvCxnSpPr>
            <a:cxnSpLocks/>
            <a:stCxn id="9" idx="2"/>
            <a:endCxn id="23" idx="0"/>
          </p:cNvCxnSpPr>
          <p:nvPr/>
        </p:nvCxnSpPr>
        <p:spPr>
          <a:xfrm rot="5400000">
            <a:off x="6036638" y="2703331"/>
            <a:ext cx="427074" cy="4606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70017DC7-BACC-B79F-9739-32CF8F6AE9C9}"/>
              </a:ext>
            </a:extLst>
          </p:cNvPr>
          <p:cNvCxnSpPr>
            <a:cxnSpLocks/>
            <a:stCxn id="9" idx="2"/>
            <a:endCxn id="25" idx="0"/>
          </p:cNvCxnSpPr>
          <p:nvPr/>
        </p:nvCxnSpPr>
        <p:spPr>
          <a:xfrm rot="16200000" flipH="1">
            <a:off x="6864205" y="1921831"/>
            <a:ext cx="427074" cy="160906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97E775CF-B5CD-4BB2-631D-4A7C6E5C2253}"/>
              </a:ext>
            </a:extLst>
          </p:cNvPr>
          <p:cNvCxnSpPr>
            <a:cxnSpLocks/>
            <a:stCxn id="9" idx="2"/>
            <a:endCxn id="27" idx="0"/>
          </p:cNvCxnSpPr>
          <p:nvPr/>
        </p:nvCxnSpPr>
        <p:spPr>
          <a:xfrm rot="16200000" flipH="1">
            <a:off x="7691773" y="1094264"/>
            <a:ext cx="427074" cy="326420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C0A7B756-8240-1915-5DDC-C718B72987D4}"/>
              </a:ext>
            </a:extLst>
          </p:cNvPr>
          <p:cNvCxnSpPr>
            <a:cxnSpLocks/>
            <a:stCxn id="9" idx="2"/>
            <a:endCxn id="29" idx="0"/>
          </p:cNvCxnSpPr>
          <p:nvPr/>
        </p:nvCxnSpPr>
        <p:spPr>
          <a:xfrm rot="16200000" flipH="1">
            <a:off x="8519340" y="266696"/>
            <a:ext cx="427074" cy="49193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12023B9-69E2-5E46-3820-35F3822EFBFA}"/>
              </a:ext>
            </a:extLst>
          </p:cNvPr>
          <p:cNvCxnSpPr>
            <a:stCxn id="15" idx="2"/>
            <a:endCxn id="67" idx="0"/>
          </p:cNvCxnSpPr>
          <p:nvPr/>
        </p:nvCxnSpPr>
        <p:spPr>
          <a:xfrm>
            <a:off x="1261736" y="3429000"/>
            <a:ext cx="0" cy="262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61490A1F-2AB9-A2F1-2B6C-10C5F1FE5348}"/>
              </a:ext>
            </a:extLst>
          </p:cNvPr>
          <p:cNvCxnSpPr>
            <a:stCxn id="19" idx="2"/>
            <a:endCxn id="63" idx="0"/>
          </p:cNvCxnSpPr>
          <p:nvPr/>
        </p:nvCxnSpPr>
        <p:spPr>
          <a:xfrm>
            <a:off x="2916871" y="3429000"/>
            <a:ext cx="0" cy="262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1621676D-0D35-2F3B-1910-80F276D7436A}"/>
              </a:ext>
            </a:extLst>
          </p:cNvPr>
          <p:cNvCxnSpPr>
            <a:stCxn id="67" idx="2"/>
            <a:endCxn id="69" idx="0"/>
          </p:cNvCxnSpPr>
          <p:nvPr/>
        </p:nvCxnSpPr>
        <p:spPr>
          <a:xfrm>
            <a:off x="1261736" y="4180366"/>
            <a:ext cx="0" cy="157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0A629B-ACD0-05DB-F813-D4FA9BAB23D0}"/>
              </a:ext>
            </a:extLst>
          </p:cNvPr>
          <p:cNvCxnSpPr>
            <a:cxnSpLocks/>
            <a:stCxn id="69" idx="2"/>
            <a:endCxn id="71" idx="0"/>
          </p:cNvCxnSpPr>
          <p:nvPr/>
        </p:nvCxnSpPr>
        <p:spPr>
          <a:xfrm>
            <a:off x="1261736" y="4827181"/>
            <a:ext cx="0" cy="175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E27FB63-352C-7285-F172-A210AAC1C60B}"/>
              </a:ext>
            </a:extLst>
          </p:cNvPr>
          <p:cNvCxnSpPr>
            <a:cxnSpLocks/>
            <a:stCxn id="71" idx="2"/>
            <a:endCxn id="73" idx="0"/>
          </p:cNvCxnSpPr>
          <p:nvPr/>
        </p:nvCxnSpPr>
        <p:spPr>
          <a:xfrm>
            <a:off x="1261736" y="5491716"/>
            <a:ext cx="0" cy="189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446BD976-7FC3-22C9-1BD3-4FCBCBB36EC0}"/>
              </a:ext>
            </a:extLst>
          </p:cNvPr>
          <p:cNvCxnSpPr>
            <a:cxnSpLocks/>
            <a:stCxn id="63" idx="2"/>
            <a:endCxn id="65" idx="0"/>
          </p:cNvCxnSpPr>
          <p:nvPr/>
        </p:nvCxnSpPr>
        <p:spPr>
          <a:xfrm>
            <a:off x="2916871" y="4180366"/>
            <a:ext cx="0" cy="1825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BFFC3AE-571C-063A-8A4C-153ED5F75F9C}"/>
              </a:ext>
            </a:extLst>
          </p:cNvPr>
          <p:cNvCxnSpPr>
            <a:cxnSpLocks/>
            <a:stCxn id="21" idx="2"/>
            <a:endCxn id="57" idx="0"/>
          </p:cNvCxnSpPr>
          <p:nvPr/>
        </p:nvCxnSpPr>
        <p:spPr>
          <a:xfrm>
            <a:off x="4572006" y="3429000"/>
            <a:ext cx="0" cy="237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7AE107BE-29F9-F22E-F22A-BD2165E30AD1}"/>
              </a:ext>
            </a:extLst>
          </p:cNvPr>
          <p:cNvCxnSpPr>
            <a:cxnSpLocks/>
            <a:stCxn id="57" idx="2"/>
            <a:endCxn id="59" idx="0"/>
          </p:cNvCxnSpPr>
          <p:nvPr/>
        </p:nvCxnSpPr>
        <p:spPr>
          <a:xfrm>
            <a:off x="4572006" y="4155558"/>
            <a:ext cx="0" cy="15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B1D1132-33E2-C4BF-869D-2915B6A87E44}"/>
              </a:ext>
            </a:extLst>
          </p:cNvPr>
          <p:cNvCxnSpPr>
            <a:cxnSpLocks/>
            <a:stCxn id="59" idx="2"/>
            <a:endCxn id="61" idx="0"/>
          </p:cNvCxnSpPr>
          <p:nvPr/>
        </p:nvCxnSpPr>
        <p:spPr>
          <a:xfrm>
            <a:off x="4572006" y="4802371"/>
            <a:ext cx="0" cy="2002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87D0A67D-C173-9D64-937F-69D4106EBC90}"/>
              </a:ext>
            </a:extLst>
          </p:cNvPr>
          <p:cNvCxnSpPr>
            <a:cxnSpLocks/>
            <a:stCxn id="23" idx="2"/>
            <a:endCxn id="49" idx="0"/>
          </p:cNvCxnSpPr>
          <p:nvPr/>
        </p:nvCxnSpPr>
        <p:spPr>
          <a:xfrm>
            <a:off x="6227141" y="3429000"/>
            <a:ext cx="0" cy="253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72371240-D95D-A82B-0CA1-54405A007E19}"/>
              </a:ext>
            </a:extLst>
          </p:cNvPr>
          <p:cNvCxnSpPr>
            <a:cxnSpLocks/>
            <a:stCxn id="49" idx="2"/>
            <a:endCxn id="51" idx="0"/>
          </p:cNvCxnSpPr>
          <p:nvPr/>
        </p:nvCxnSpPr>
        <p:spPr>
          <a:xfrm>
            <a:off x="6227141" y="4171506"/>
            <a:ext cx="0" cy="166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F6C1B512-BD64-A16D-A1FF-A69902EC47CB}"/>
              </a:ext>
            </a:extLst>
          </p:cNvPr>
          <p:cNvCxnSpPr>
            <a:cxnSpLocks/>
            <a:stCxn id="25" idx="2"/>
            <a:endCxn id="37" idx="0"/>
          </p:cNvCxnSpPr>
          <p:nvPr/>
        </p:nvCxnSpPr>
        <p:spPr>
          <a:xfrm>
            <a:off x="7882276" y="3429000"/>
            <a:ext cx="0" cy="253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C41D5769-6519-D0FB-D9B0-45F551724B1C}"/>
              </a:ext>
            </a:extLst>
          </p:cNvPr>
          <p:cNvCxnSpPr>
            <a:cxnSpLocks/>
            <a:stCxn id="37" idx="2"/>
            <a:endCxn id="39" idx="0"/>
          </p:cNvCxnSpPr>
          <p:nvPr/>
        </p:nvCxnSpPr>
        <p:spPr>
          <a:xfrm>
            <a:off x="7882276" y="4171506"/>
            <a:ext cx="0" cy="166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3E9835F-3D4F-D571-34D8-22C3DE2F4A85}"/>
              </a:ext>
            </a:extLst>
          </p:cNvPr>
          <p:cNvCxnSpPr>
            <a:cxnSpLocks/>
            <a:stCxn id="27" idx="2"/>
            <a:endCxn id="31" idx="0"/>
          </p:cNvCxnSpPr>
          <p:nvPr/>
        </p:nvCxnSpPr>
        <p:spPr>
          <a:xfrm>
            <a:off x="9537411" y="3429000"/>
            <a:ext cx="0" cy="182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E752B930-6A19-0FF5-543F-072BE956A208}"/>
              </a:ext>
            </a:extLst>
          </p:cNvPr>
          <p:cNvCxnSpPr>
            <a:cxnSpLocks/>
            <a:stCxn id="31" idx="2"/>
            <a:endCxn id="33" idx="0"/>
          </p:cNvCxnSpPr>
          <p:nvPr/>
        </p:nvCxnSpPr>
        <p:spPr>
          <a:xfrm>
            <a:off x="9537411" y="4100623"/>
            <a:ext cx="0" cy="182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EF3970F9-FF69-5B70-E8BA-E1B98E9AECBD}"/>
              </a:ext>
            </a:extLst>
          </p:cNvPr>
          <p:cNvCxnSpPr>
            <a:cxnSpLocks/>
            <a:stCxn id="33" idx="2"/>
            <a:endCxn id="35" idx="0"/>
          </p:cNvCxnSpPr>
          <p:nvPr/>
        </p:nvCxnSpPr>
        <p:spPr>
          <a:xfrm>
            <a:off x="9537411" y="4772246"/>
            <a:ext cx="0" cy="182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AE58E54-3183-CFA5-05B8-644832D54770}"/>
              </a:ext>
            </a:extLst>
          </p:cNvPr>
          <p:cNvCxnSpPr>
            <a:cxnSpLocks/>
            <a:stCxn id="29" idx="2"/>
            <a:endCxn id="41" idx="0"/>
          </p:cNvCxnSpPr>
          <p:nvPr/>
        </p:nvCxnSpPr>
        <p:spPr>
          <a:xfrm>
            <a:off x="11192546" y="3429000"/>
            <a:ext cx="0" cy="182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94D18503-7CCA-64A5-3D84-41B5DBD175F6}"/>
              </a:ext>
            </a:extLst>
          </p:cNvPr>
          <p:cNvCxnSpPr>
            <a:cxnSpLocks/>
            <a:stCxn id="41" idx="2"/>
            <a:endCxn id="43" idx="0"/>
          </p:cNvCxnSpPr>
          <p:nvPr/>
        </p:nvCxnSpPr>
        <p:spPr>
          <a:xfrm>
            <a:off x="11192546" y="4100623"/>
            <a:ext cx="0" cy="182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7778113E-8C9F-1F03-519F-B863D2956B01}"/>
              </a:ext>
            </a:extLst>
          </p:cNvPr>
          <p:cNvCxnSpPr>
            <a:stCxn id="53" idx="3"/>
            <a:endCxn id="55" idx="3"/>
          </p:cNvCxnSpPr>
          <p:nvPr/>
        </p:nvCxnSpPr>
        <p:spPr>
          <a:xfrm>
            <a:off x="6943067" y="5238307"/>
            <a:ext cx="12700" cy="67871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Connector: Elbow 190">
            <a:extLst>
              <a:ext uri="{FF2B5EF4-FFF2-40B4-BE49-F238E27FC236}">
                <a16:creationId xmlns:a16="http://schemas.microsoft.com/office/drawing/2014/main" id="{7B51A1E5-EBCA-6BD6-5F71-D0B4AAA90DF9}"/>
              </a:ext>
            </a:extLst>
          </p:cNvPr>
          <p:cNvCxnSpPr/>
          <p:nvPr/>
        </p:nvCxnSpPr>
        <p:spPr>
          <a:xfrm>
            <a:off x="11895772" y="5152360"/>
            <a:ext cx="12700" cy="67871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Connector: Elbow 191">
            <a:extLst>
              <a:ext uri="{FF2B5EF4-FFF2-40B4-BE49-F238E27FC236}">
                <a16:creationId xmlns:a16="http://schemas.microsoft.com/office/drawing/2014/main" id="{6377F9CF-DED6-08B7-7228-7FCE238E6140}"/>
              </a:ext>
            </a:extLst>
          </p:cNvPr>
          <p:cNvCxnSpPr>
            <a:cxnSpLocks/>
            <a:stCxn id="29" idx="1"/>
            <a:endCxn id="45" idx="1"/>
          </p:cNvCxnSpPr>
          <p:nvPr/>
        </p:nvCxnSpPr>
        <p:spPr>
          <a:xfrm rot="10800000" flipV="1">
            <a:off x="10476620" y="3184450"/>
            <a:ext cx="12700" cy="2014869"/>
          </a:xfrm>
          <a:prstGeom prst="bentConnector3">
            <a:avLst>
              <a:gd name="adj1" fmla="val 113023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Connector: Elbow 196">
            <a:extLst>
              <a:ext uri="{FF2B5EF4-FFF2-40B4-BE49-F238E27FC236}">
                <a16:creationId xmlns:a16="http://schemas.microsoft.com/office/drawing/2014/main" id="{5B0490D5-F74A-3EFF-64F2-F4368B5E2E45}"/>
              </a:ext>
            </a:extLst>
          </p:cNvPr>
          <p:cNvCxnSpPr>
            <a:cxnSpLocks/>
          </p:cNvCxnSpPr>
          <p:nvPr/>
        </p:nvCxnSpPr>
        <p:spPr>
          <a:xfrm rot="10800000" flipV="1">
            <a:off x="5480800" y="3172931"/>
            <a:ext cx="12700" cy="2014869"/>
          </a:xfrm>
          <a:prstGeom prst="bentConnector3">
            <a:avLst>
              <a:gd name="adj1" fmla="val 113023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7030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lanet Earth - Free multimedia icons">
            <a:extLst>
              <a:ext uri="{FF2B5EF4-FFF2-40B4-BE49-F238E27FC236}">
                <a16:creationId xmlns:a16="http://schemas.microsoft.com/office/drawing/2014/main" id="{15E9678D-8DDB-A704-0823-76FC746D6A22}"/>
              </a:ext>
            </a:extLst>
          </p:cNvPr>
          <p:cNvPicPr>
            <a:picLocks noChangeAspect="1"/>
          </p:cNvPicPr>
          <p:nvPr/>
        </p:nvPicPr>
        <p:blipFill>
          <a:blip r:embed="rId3"/>
          <a:stretch>
            <a:fillRect/>
          </a:stretch>
        </p:blipFill>
        <p:spPr>
          <a:xfrm>
            <a:off x="1946768" y="1169582"/>
            <a:ext cx="8070111" cy="5688418"/>
          </a:xfrm>
          <a:prstGeom prst="rect">
            <a:avLst/>
          </a:prstGeom>
        </p:spPr>
      </p:pic>
      <p:sp>
        <p:nvSpPr>
          <p:cNvPr id="23" name="Oval 22">
            <a:extLst>
              <a:ext uri="{FF2B5EF4-FFF2-40B4-BE49-F238E27FC236}">
                <a16:creationId xmlns:a16="http://schemas.microsoft.com/office/drawing/2014/main" id="{B9181D5E-5DEC-551A-416A-44F6E8EB4652}"/>
              </a:ext>
            </a:extLst>
          </p:cNvPr>
          <p:cNvSpPr/>
          <p:nvPr/>
        </p:nvSpPr>
        <p:spPr>
          <a:xfrm>
            <a:off x="3264195" y="1903225"/>
            <a:ext cx="5348177" cy="3997842"/>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2" name="Oval 21">
            <a:extLst>
              <a:ext uri="{FF2B5EF4-FFF2-40B4-BE49-F238E27FC236}">
                <a16:creationId xmlns:a16="http://schemas.microsoft.com/office/drawing/2014/main" id="{D8831AA4-5BFC-4C84-468A-6B62AD39F652}"/>
              </a:ext>
            </a:extLst>
          </p:cNvPr>
          <p:cNvSpPr/>
          <p:nvPr/>
        </p:nvSpPr>
        <p:spPr>
          <a:xfrm>
            <a:off x="4614530" y="2817625"/>
            <a:ext cx="2626242" cy="223283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Organizational Stakeholders </a:t>
            </a:r>
          </a:p>
        </p:txBody>
      </p:sp>
      <p:sp>
        <p:nvSpPr>
          <p:cNvPr id="5" name="Rectangle: Rounded Corners 4">
            <a:extLst>
              <a:ext uri="{FF2B5EF4-FFF2-40B4-BE49-F238E27FC236}">
                <a16:creationId xmlns:a16="http://schemas.microsoft.com/office/drawing/2014/main" id="{84285F78-8B82-6553-3958-A1A9F8046E9B}"/>
              </a:ext>
            </a:extLst>
          </p:cNvPr>
          <p:cNvSpPr/>
          <p:nvPr/>
        </p:nvSpPr>
        <p:spPr>
          <a:xfrm>
            <a:off x="5277293" y="3687727"/>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Employees</a:t>
            </a:r>
          </a:p>
        </p:txBody>
      </p:sp>
      <p:sp>
        <p:nvSpPr>
          <p:cNvPr id="9" name="Rectangle: Rounded Corners 8">
            <a:extLst>
              <a:ext uri="{FF2B5EF4-FFF2-40B4-BE49-F238E27FC236}">
                <a16:creationId xmlns:a16="http://schemas.microsoft.com/office/drawing/2014/main" id="{0CEEC69C-CC3E-ED3F-0CC1-641D39D253DD}"/>
              </a:ext>
            </a:extLst>
          </p:cNvPr>
          <p:cNvSpPr/>
          <p:nvPr/>
        </p:nvSpPr>
        <p:spPr>
          <a:xfrm>
            <a:off x="5277293" y="3152553"/>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Directors</a:t>
            </a:r>
          </a:p>
        </p:txBody>
      </p:sp>
      <p:sp>
        <p:nvSpPr>
          <p:cNvPr id="11" name="Rectangle: Rounded Corners 10">
            <a:extLst>
              <a:ext uri="{FF2B5EF4-FFF2-40B4-BE49-F238E27FC236}">
                <a16:creationId xmlns:a16="http://schemas.microsoft.com/office/drawing/2014/main" id="{2B263B6F-5E46-B232-A652-29C9C255A628}"/>
              </a:ext>
            </a:extLst>
          </p:cNvPr>
          <p:cNvSpPr/>
          <p:nvPr/>
        </p:nvSpPr>
        <p:spPr>
          <a:xfrm>
            <a:off x="5277293" y="4260115"/>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Contractors</a:t>
            </a:r>
          </a:p>
        </p:txBody>
      </p:sp>
      <p:sp>
        <p:nvSpPr>
          <p:cNvPr id="17" name="Rectangle: Rounded Corners 16">
            <a:extLst>
              <a:ext uri="{FF2B5EF4-FFF2-40B4-BE49-F238E27FC236}">
                <a16:creationId xmlns:a16="http://schemas.microsoft.com/office/drawing/2014/main" id="{ECEB74CA-6BFE-F12A-A461-C78ED1E2F8FB}"/>
              </a:ext>
            </a:extLst>
          </p:cNvPr>
          <p:cNvSpPr/>
          <p:nvPr/>
        </p:nvSpPr>
        <p:spPr>
          <a:xfrm>
            <a:off x="8310229" y="1903225"/>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Fort Collins</a:t>
            </a:r>
          </a:p>
        </p:txBody>
      </p:sp>
      <p:sp>
        <p:nvSpPr>
          <p:cNvPr id="19" name="Rectangle: Rounded Corners 18">
            <a:extLst>
              <a:ext uri="{FF2B5EF4-FFF2-40B4-BE49-F238E27FC236}">
                <a16:creationId xmlns:a16="http://schemas.microsoft.com/office/drawing/2014/main" id="{2C10627B-21D5-5A96-35BD-8C9B5507438B}"/>
              </a:ext>
            </a:extLst>
          </p:cNvPr>
          <p:cNvSpPr/>
          <p:nvPr/>
        </p:nvSpPr>
        <p:spPr>
          <a:xfrm>
            <a:off x="2766238" y="6079166"/>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OSHA</a:t>
            </a:r>
          </a:p>
        </p:txBody>
      </p:sp>
      <p:sp>
        <p:nvSpPr>
          <p:cNvPr id="25" name="Rectangle: Rounded Corners 24">
            <a:extLst>
              <a:ext uri="{FF2B5EF4-FFF2-40B4-BE49-F238E27FC236}">
                <a16:creationId xmlns:a16="http://schemas.microsoft.com/office/drawing/2014/main" id="{A7E9E244-E911-9E33-05C5-6476CB7E3A34}"/>
              </a:ext>
            </a:extLst>
          </p:cNvPr>
          <p:cNvSpPr/>
          <p:nvPr/>
        </p:nvSpPr>
        <p:spPr>
          <a:xfrm>
            <a:off x="2352454" y="1782724"/>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CSU</a:t>
            </a:r>
          </a:p>
        </p:txBody>
      </p:sp>
      <p:sp>
        <p:nvSpPr>
          <p:cNvPr id="27" name="Rectangle: Rounded Corners 26">
            <a:extLst>
              <a:ext uri="{FF2B5EF4-FFF2-40B4-BE49-F238E27FC236}">
                <a16:creationId xmlns:a16="http://schemas.microsoft.com/office/drawing/2014/main" id="{D0B173C6-D49A-7B91-D36A-F53CD890B1CE}"/>
              </a:ext>
            </a:extLst>
          </p:cNvPr>
          <p:cNvSpPr/>
          <p:nvPr/>
        </p:nvSpPr>
        <p:spPr>
          <a:xfrm>
            <a:off x="6434470" y="5374758"/>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t>Competitors</a:t>
            </a:r>
          </a:p>
        </p:txBody>
      </p:sp>
      <p:sp>
        <p:nvSpPr>
          <p:cNvPr id="29" name="Rectangle: Rounded Corners 28">
            <a:extLst>
              <a:ext uri="{FF2B5EF4-FFF2-40B4-BE49-F238E27FC236}">
                <a16:creationId xmlns:a16="http://schemas.microsoft.com/office/drawing/2014/main" id="{C6AF6540-3DB5-1046-7B4B-4E1E7D1A08A5}"/>
              </a:ext>
            </a:extLst>
          </p:cNvPr>
          <p:cNvSpPr/>
          <p:nvPr/>
        </p:nvSpPr>
        <p:spPr>
          <a:xfrm>
            <a:off x="4091764" y="5358807"/>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Customers</a:t>
            </a:r>
          </a:p>
        </p:txBody>
      </p:sp>
      <p:sp>
        <p:nvSpPr>
          <p:cNvPr id="31" name="Rectangle: Rounded Corners 30">
            <a:extLst>
              <a:ext uri="{FF2B5EF4-FFF2-40B4-BE49-F238E27FC236}">
                <a16:creationId xmlns:a16="http://schemas.microsoft.com/office/drawing/2014/main" id="{1A292A79-99B9-F70B-402A-D68C80258877}"/>
              </a:ext>
            </a:extLst>
          </p:cNvPr>
          <p:cNvSpPr/>
          <p:nvPr/>
        </p:nvSpPr>
        <p:spPr>
          <a:xfrm>
            <a:off x="5309191" y="1816396"/>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Contractors / Logistics</a:t>
            </a:r>
          </a:p>
        </p:txBody>
      </p:sp>
      <p:sp>
        <p:nvSpPr>
          <p:cNvPr id="33" name="Rectangle: Rounded Corners 32">
            <a:extLst>
              <a:ext uri="{FF2B5EF4-FFF2-40B4-BE49-F238E27FC236}">
                <a16:creationId xmlns:a16="http://schemas.microsoft.com/office/drawing/2014/main" id="{F05ECBB2-7574-18F4-FBA4-11A4B56D3B16}"/>
              </a:ext>
            </a:extLst>
          </p:cNvPr>
          <p:cNvSpPr/>
          <p:nvPr/>
        </p:nvSpPr>
        <p:spPr>
          <a:xfrm>
            <a:off x="2766238" y="3631016"/>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Equipment Suppliers</a:t>
            </a:r>
          </a:p>
        </p:txBody>
      </p:sp>
      <p:sp>
        <p:nvSpPr>
          <p:cNvPr id="35" name="Rectangle: Rounded Corners 34">
            <a:extLst>
              <a:ext uri="{FF2B5EF4-FFF2-40B4-BE49-F238E27FC236}">
                <a16:creationId xmlns:a16="http://schemas.microsoft.com/office/drawing/2014/main" id="{02B2647F-3966-5A60-ADF5-5427652ECC11}"/>
              </a:ext>
            </a:extLst>
          </p:cNvPr>
          <p:cNvSpPr/>
          <p:nvPr/>
        </p:nvSpPr>
        <p:spPr>
          <a:xfrm>
            <a:off x="7605823" y="3712537"/>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Chemical Suppliers</a:t>
            </a:r>
          </a:p>
        </p:txBody>
      </p:sp>
      <p:sp>
        <p:nvSpPr>
          <p:cNvPr id="37" name="Rectangle: Rounded Corners 36">
            <a:extLst>
              <a:ext uri="{FF2B5EF4-FFF2-40B4-BE49-F238E27FC236}">
                <a16:creationId xmlns:a16="http://schemas.microsoft.com/office/drawing/2014/main" id="{3A2871C3-7C39-9011-88DF-EC8FE0D6AF7C}"/>
              </a:ext>
            </a:extLst>
          </p:cNvPr>
          <p:cNvSpPr/>
          <p:nvPr/>
        </p:nvSpPr>
        <p:spPr>
          <a:xfrm>
            <a:off x="8100236" y="6176195"/>
            <a:ext cx="1325526" cy="4784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US Govt</a:t>
            </a:r>
          </a:p>
        </p:txBody>
      </p:sp>
      <p:sp>
        <p:nvSpPr>
          <p:cNvPr id="45" name="Oval 44">
            <a:extLst>
              <a:ext uri="{FF2B5EF4-FFF2-40B4-BE49-F238E27FC236}">
                <a16:creationId xmlns:a16="http://schemas.microsoft.com/office/drawing/2014/main" id="{2A42D948-362D-856A-5785-1F25878B8A75}"/>
              </a:ext>
            </a:extLst>
          </p:cNvPr>
          <p:cNvSpPr/>
          <p:nvPr/>
        </p:nvSpPr>
        <p:spPr>
          <a:xfrm>
            <a:off x="164044" y="2381688"/>
            <a:ext cx="421509" cy="36682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23A31068-81D2-918C-9FAA-A366193382EF}"/>
              </a:ext>
            </a:extLst>
          </p:cNvPr>
          <p:cNvSpPr/>
          <p:nvPr/>
        </p:nvSpPr>
        <p:spPr>
          <a:xfrm>
            <a:off x="164044" y="1836471"/>
            <a:ext cx="421509" cy="33493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49" name="Oval 48">
            <a:extLst>
              <a:ext uri="{FF2B5EF4-FFF2-40B4-BE49-F238E27FC236}">
                <a16:creationId xmlns:a16="http://schemas.microsoft.com/office/drawing/2014/main" id="{F1F201ED-4870-D10B-54A5-4123E6196C4E}"/>
              </a:ext>
            </a:extLst>
          </p:cNvPr>
          <p:cNvSpPr/>
          <p:nvPr/>
        </p:nvSpPr>
        <p:spPr>
          <a:xfrm>
            <a:off x="186070" y="1249108"/>
            <a:ext cx="409353" cy="334933"/>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889F8B24-BF62-A44C-D3E3-44EC9C19F352}"/>
              </a:ext>
            </a:extLst>
          </p:cNvPr>
          <p:cNvSpPr txBox="1"/>
          <p:nvPr/>
        </p:nvSpPr>
        <p:spPr>
          <a:xfrm>
            <a:off x="659219" y="1265274"/>
            <a:ext cx="2082045" cy="1477328"/>
          </a:xfrm>
          <a:prstGeom prst="rect">
            <a:avLst/>
          </a:prstGeom>
          <a:noFill/>
        </p:spPr>
        <p:txBody>
          <a:bodyPr wrap="none" rtlCol="0">
            <a:spAutoFit/>
          </a:bodyPr>
          <a:lstStyle/>
          <a:p>
            <a:r>
              <a:rPr lang="en-US" dirty="0"/>
              <a:t>Macro/Environment</a:t>
            </a:r>
          </a:p>
          <a:p>
            <a:endParaRPr lang="en-US" dirty="0"/>
          </a:p>
          <a:p>
            <a:r>
              <a:rPr lang="en-US" dirty="0"/>
              <a:t>External</a:t>
            </a:r>
          </a:p>
          <a:p>
            <a:endParaRPr lang="en-US" dirty="0"/>
          </a:p>
          <a:p>
            <a:r>
              <a:rPr lang="en-US" dirty="0"/>
              <a:t>Internal</a:t>
            </a:r>
          </a:p>
        </p:txBody>
      </p:sp>
    </p:spTree>
    <p:extLst>
      <p:ext uri="{BB962C8B-B14F-4D97-AF65-F5344CB8AC3E}">
        <p14:creationId xmlns:p14="http://schemas.microsoft.com/office/powerpoint/2010/main" val="1233806995"/>
      </p:ext>
    </p:extLst>
  </p:cSld>
  <p:clrMapOvr>
    <a:masterClrMapping/>
  </p:clrMapOvr>
</p:sld>
</file>

<file path=ppt/theme/theme1.xml><?xml version="1.0" encoding="utf-8"?>
<a:theme xmlns:a="http://schemas.openxmlformats.org/drawingml/2006/main" name="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DC0FB67F-5B06-4928-B3F0-FC0DCE5287E7}"/>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1F5A5870-A316-4A9C-AC88-DA6A89CC55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Profile Assignment Template</Template>
  <TotalTime>1370</TotalTime>
  <Words>1698</Words>
  <Application>Microsoft Office PowerPoint</Application>
  <PresentationFormat>Widescreen</PresentationFormat>
  <Paragraphs>125</Paragraphs>
  <Slides>8</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Arial</vt:lpstr>
      <vt:lpstr>Calibri</vt:lpstr>
      <vt:lpstr>Calibri Light</vt:lpstr>
      <vt:lpstr>Helvetica</vt:lpstr>
      <vt:lpstr>Wingdings</vt:lpstr>
      <vt:lpstr>Custom Design</vt:lpstr>
      <vt:lpstr>1_Custom Design</vt:lpstr>
      <vt:lpstr>Business Profile Assignment (BPA) Instructions</vt:lpstr>
      <vt:lpstr>Assignment Grading Criteria</vt:lpstr>
      <vt:lpstr>Student Name</vt:lpstr>
      <vt:lpstr>Business Profile – Overview </vt:lpstr>
      <vt:lpstr>Business Profile – Overview </vt:lpstr>
      <vt:lpstr>Business Profile – Description </vt:lpstr>
      <vt:lpstr>Business Profile – Organization Structure</vt:lpstr>
      <vt:lpstr>Business Profile – Organizational Stakeholders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Arneson,Shelly</dc:creator>
  <cp:lastModifiedBy>adam cyrus</cp:lastModifiedBy>
  <cp:revision>15</cp:revision>
  <dcterms:created xsi:type="dcterms:W3CDTF">2020-08-16T19:57:45Z</dcterms:created>
  <dcterms:modified xsi:type="dcterms:W3CDTF">2026-08-30T16:42:49Z</dcterms:modified>
</cp:coreProperties>
</file>