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7" r:id="rId2"/>
  </p:sldMasterIdLst>
  <p:notesMasterIdLst>
    <p:notesMasterId r:id="rId9"/>
  </p:notesMasterIdLst>
  <p:sldIdLst>
    <p:sldId id="492" r:id="rId3"/>
    <p:sldId id="493" r:id="rId4"/>
    <p:sldId id="2088198109" r:id="rId5"/>
    <p:sldId id="501" r:id="rId6"/>
    <p:sldId id="2088198107" r:id="rId7"/>
    <p:sldId id="2088198108"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4D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6CEA62-8D09-4891-B9E7-FF46DD34DA06}" v="7" dt="2026-08-27T03:46:28.9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47" autoAdjust="0"/>
    <p:restoredTop sz="71447" autoAdjust="0"/>
  </p:normalViewPr>
  <p:slideViewPr>
    <p:cSldViewPr snapToGrid="0">
      <p:cViewPr varScale="1">
        <p:scale>
          <a:sx n="90" d="100"/>
          <a:sy n="90" d="100"/>
        </p:scale>
        <p:origin x="1218" y="96"/>
      </p:cViewPr>
      <p:guideLst>
        <p:guide orient="horz" pos="2160"/>
        <p:guide pos="3840"/>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viewProps" Target="viewProps.xml"/><Relationship Id="rId5" Type="http://schemas.openxmlformats.org/officeDocument/2006/relationships/slide" Target="slides/slide3.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h Peterson" userId="2f0c7ad8fcbba8e1" providerId="LiveId" clId="{B158E36D-E8E3-4E88-86C0-71CD988363E7}"/>
    <pc:docChg chg="custSel addSld delSld modSld delMainMaster">
      <pc:chgData name="Josh Peterson" userId="2f0c7ad8fcbba8e1" providerId="LiveId" clId="{B158E36D-E8E3-4E88-86C0-71CD988363E7}" dt="2026-08-27T03:46:59.142" v="192" actId="1035"/>
      <pc:docMkLst>
        <pc:docMk/>
      </pc:docMkLst>
      <pc:sldChg chg="del">
        <pc:chgData name="Josh Peterson" userId="2f0c7ad8fcbba8e1" providerId="LiveId" clId="{B158E36D-E8E3-4E88-86C0-71CD988363E7}" dt="2026-08-27T03:37:25.814" v="3" actId="47"/>
        <pc:sldMkLst>
          <pc:docMk/>
          <pc:sldMk cId="1285670949" sldId="379"/>
        </pc:sldMkLst>
      </pc:sldChg>
      <pc:sldChg chg="addSp delSp modSp del mod">
        <pc:chgData name="Josh Peterson" userId="2f0c7ad8fcbba8e1" providerId="LiveId" clId="{B158E36D-E8E3-4E88-86C0-71CD988363E7}" dt="2026-08-27T03:37:25.814" v="3" actId="47"/>
        <pc:sldMkLst>
          <pc:docMk/>
          <pc:sldMk cId="212588616" sldId="381"/>
        </pc:sldMkLst>
      </pc:sldChg>
      <pc:sldChg chg="modSp add del mod">
        <pc:chgData name="Josh Peterson" userId="2f0c7ad8fcbba8e1" providerId="LiveId" clId="{B158E36D-E8E3-4E88-86C0-71CD988363E7}" dt="2026-08-27T03:46:59.142" v="192" actId="1035"/>
        <pc:sldMkLst>
          <pc:docMk/>
          <pc:sldMk cId="323035411" sldId="491"/>
        </pc:sldMkLst>
        <pc:spChg chg="mod">
          <ac:chgData name="Josh Peterson" userId="2f0c7ad8fcbba8e1" providerId="LiveId" clId="{B158E36D-E8E3-4E88-86C0-71CD988363E7}" dt="2026-08-27T03:46:59.142" v="192" actId="1035"/>
          <ac:spMkLst>
            <pc:docMk/>
            <pc:sldMk cId="323035411" sldId="491"/>
            <ac:spMk id="3" creationId="{ADDCF111-9D3D-456A-8EA0-07182249C513}"/>
          </ac:spMkLst>
        </pc:spChg>
      </pc:sldChg>
      <pc:sldChg chg="add del">
        <pc:chgData name="Josh Peterson" userId="2f0c7ad8fcbba8e1" providerId="LiveId" clId="{B158E36D-E8E3-4E88-86C0-71CD988363E7}" dt="2026-08-27T03:38:11.886" v="10"/>
        <pc:sldMkLst>
          <pc:docMk/>
          <pc:sldMk cId="4196645517" sldId="492"/>
        </pc:sldMkLst>
      </pc:sldChg>
      <pc:sldChg chg="add del">
        <pc:chgData name="Josh Peterson" userId="2f0c7ad8fcbba8e1" providerId="LiveId" clId="{B158E36D-E8E3-4E88-86C0-71CD988363E7}" dt="2026-08-27T03:38:11.886" v="10"/>
        <pc:sldMkLst>
          <pc:docMk/>
          <pc:sldMk cId="3540148430" sldId="493"/>
        </pc:sldMkLst>
      </pc:sldChg>
      <pc:sldChg chg="add del">
        <pc:chgData name="Josh Peterson" userId="2f0c7ad8fcbba8e1" providerId="LiveId" clId="{B158E36D-E8E3-4E88-86C0-71CD988363E7}" dt="2026-08-27T03:38:11.886" v="10"/>
        <pc:sldMkLst>
          <pc:docMk/>
          <pc:sldMk cId="4199351705" sldId="501"/>
        </pc:sldMkLst>
      </pc:sldChg>
      <pc:sldChg chg="add del">
        <pc:chgData name="Josh Peterson" userId="2f0c7ad8fcbba8e1" providerId="LiveId" clId="{B158E36D-E8E3-4E88-86C0-71CD988363E7}" dt="2026-08-27T03:38:11.886" v="10"/>
        <pc:sldMkLst>
          <pc:docMk/>
          <pc:sldMk cId="899547087" sldId="502"/>
        </pc:sldMkLst>
      </pc:sldChg>
      <pc:sldChg chg="add del">
        <pc:chgData name="Josh Peterson" userId="2f0c7ad8fcbba8e1" providerId="LiveId" clId="{B158E36D-E8E3-4E88-86C0-71CD988363E7}" dt="2026-08-27T03:38:11.886" v="10"/>
        <pc:sldMkLst>
          <pc:docMk/>
          <pc:sldMk cId="1107030280" sldId="2088198107"/>
        </pc:sldMkLst>
      </pc:sldChg>
      <pc:sldChg chg="add del">
        <pc:chgData name="Josh Peterson" userId="2f0c7ad8fcbba8e1" providerId="LiveId" clId="{B158E36D-E8E3-4E88-86C0-71CD988363E7}" dt="2026-08-27T03:38:11.886" v="10"/>
        <pc:sldMkLst>
          <pc:docMk/>
          <pc:sldMk cId="1233806995" sldId="2088198108"/>
        </pc:sldMkLst>
      </pc:sldChg>
      <pc:sldMasterChg chg="delSldLayout">
        <pc:chgData name="Josh Peterson" userId="2f0c7ad8fcbba8e1" providerId="LiveId" clId="{B158E36D-E8E3-4E88-86C0-71CD988363E7}" dt="2026-08-27T03:37:25.814" v="3" actId="47"/>
        <pc:sldMasterMkLst>
          <pc:docMk/>
          <pc:sldMasterMk cId="1509268682" sldId="2147483650"/>
        </pc:sldMasterMkLst>
        <pc:sldLayoutChg chg="del">
          <pc:chgData name="Josh Peterson" userId="2f0c7ad8fcbba8e1" providerId="LiveId" clId="{B158E36D-E8E3-4E88-86C0-71CD988363E7}" dt="2026-08-27T03:37:25.814" v="3" actId="47"/>
          <pc:sldLayoutMkLst>
            <pc:docMk/>
            <pc:sldMasterMk cId="1509268682" sldId="2147483650"/>
            <pc:sldLayoutMk cId="1679953775" sldId="2147483669"/>
          </pc:sldLayoutMkLst>
        </pc:sldLayoutChg>
      </pc:sldMasterChg>
      <pc:sldMasterChg chg="del delSldLayout">
        <pc:chgData name="Josh Peterson" userId="2f0c7ad8fcbba8e1" providerId="LiveId" clId="{B158E36D-E8E3-4E88-86C0-71CD988363E7}" dt="2026-08-27T03:37:25.814" v="3" actId="47"/>
        <pc:sldMasterMkLst>
          <pc:docMk/>
          <pc:sldMasterMk cId="537669018" sldId="2147483671"/>
        </pc:sldMasterMkLst>
        <pc:sldLayoutChg chg="del">
          <pc:chgData name="Josh Peterson" userId="2f0c7ad8fcbba8e1" providerId="LiveId" clId="{B158E36D-E8E3-4E88-86C0-71CD988363E7}" dt="2026-08-27T03:37:25.814" v="3" actId="47"/>
          <pc:sldLayoutMkLst>
            <pc:docMk/>
            <pc:sldMasterMk cId="537669018" sldId="2147483671"/>
            <pc:sldLayoutMk cId="2574253286" sldId="2147483672"/>
          </pc:sldLayoutMkLst>
        </pc:sldLayoutChg>
        <pc:sldLayoutChg chg="del">
          <pc:chgData name="Josh Peterson" userId="2f0c7ad8fcbba8e1" providerId="LiveId" clId="{B158E36D-E8E3-4E88-86C0-71CD988363E7}" dt="2026-08-27T03:37:25.814" v="3" actId="47"/>
          <pc:sldLayoutMkLst>
            <pc:docMk/>
            <pc:sldMasterMk cId="537669018" sldId="2147483671"/>
            <pc:sldLayoutMk cId="2193388681" sldId="2147483673"/>
          </pc:sldLayoutMkLst>
        </pc:sldLayoutChg>
        <pc:sldLayoutChg chg="del">
          <pc:chgData name="Josh Peterson" userId="2f0c7ad8fcbba8e1" providerId="LiveId" clId="{B158E36D-E8E3-4E88-86C0-71CD988363E7}" dt="2026-08-27T03:37:25.814" v="3" actId="47"/>
          <pc:sldLayoutMkLst>
            <pc:docMk/>
            <pc:sldMasterMk cId="537669018" sldId="2147483671"/>
            <pc:sldLayoutMk cId="216578247" sldId="2147483674"/>
          </pc:sldLayoutMkLst>
        </pc:sldLayoutChg>
        <pc:sldLayoutChg chg="del">
          <pc:chgData name="Josh Peterson" userId="2f0c7ad8fcbba8e1" providerId="LiveId" clId="{B158E36D-E8E3-4E88-86C0-71CD988363E7}" dt="2026-08-27T03:37:25.814" v="3" actId="47"/>
          <pc:sldLayoutMkLst>
            <pc:docMk/>
            <pc:sldMasterMk cId="537669018" sldId="2147483671"/>
            <pc:sldLayoutMk cId="3699681839" sldId="2147483675"/>
          </pc:sldLayoutMkLst>
        </pc:sldLayoutChg>
        <pc:sldLayoutChg chg="del">
          <pc:chgData name="Josh Peterson" userId="2f0c7ad8fcbba8e1" providerId="LiveId" clId="{B158E36D-E8E3-4E88-86C0-71CD988363E7}" dt="2026-08-27T03:37:25.814" v="3" actId="47"/>
          <pc:sldLayoutMkLst>
            <pc:docMk/>
            <pc:sldMasterMk cId="537669018" sldId="2147483671"/>
            <pc:sldLayoutMk cId="1190750421" sldId="2147483676"/>
          </pc:sldLayoutMkLst>
        </pc:sldLayoutChg>
        <pc:sldLayoutChg chg="del">
          <pc:chgData name="Josh Peterson" userId="2f0c7ad8fcbba8e1" providerId="LiveId" clId="{B158E36D-E8E3-4E88-86C0-71CD988363E7}" dt="2026-08-27T03:37:25.814" v="3" actId="47"/>
          <pc:sldLayoutMkLst>
            <pc:docMk/>
            <pc:sldMasterMk cId="537669018" sldId="2147483671"/>
            <pc:sldLayoutMk cId="3294216980" sldId="2147483677"/>
          </pc:sldLayoutMkLst>
        </pc:sldLayoutChg>
        <pc:sldLayoutChg chg="del">
          <pc:chgData name="Josh Peterson" userId="2f0c7ad8fcbba8e1" providerId="LiveId" clId="{B158E36D-E8E3-4E88-86C0-71CD988363E7}" dt="2026-08-27T03:37:25.814" v="3" actId="47"/>
          <pc:sldLayoutMkLst>
            <pc:docMk/>
            <pc:sldMasterMk cId="537669018" sldId="2147483671"/>
            <pc:sldLayoutMk cId="1630499004" sldId="2147483678"/>
          </pc:sldLayoutMkLst>
        </pc:sldLayoutChg>
        <pc:sldLayoutChg chg="del">
          <pc:chgData name="Josh Peterson" userId="2f0c7ad8fcbba8e1" providerId="LiveId" clId="{B158E36D-E8E3-4E88-86C0-71CD988363E7}" dt="2026-08-27T03:37:25.814" v="3" actId="47"/>
          <pc:sldLayoutMkLst>
            <pc:docMk/>
            <pc:sldMasterMk cId="537669018" sldId="2147483671"/>
            <pc:sldLayoutMk cId="3065771531" sldId="2147483679"/>
          </pc:sldLayoutMkLst>
        </pc:sldLayoutChg>
        <pc:sldLayoutChg chg="del">
          <pc:chgData name="Josh Peterson" userId="2f0c7ad8fcbba8e1" providerId="LiveId" clId="{B158E36D-E8E3-4E88-86C0-71CD988363E7}" dt="2026-08-27T03:37:25.814" v="3" actId="47"/>
          <pc:sldLayoutMkLst>
            <pc:docMk/>
            <pc:sldMasterMk cId="537669018" sldId="2147483671"/>
            <pc:sldLayoutMk cId="525291709" sldId="2147483680"/>
          </pc:sldLayoutMkLst>
        </pc:sldLayoutChg>
        <pc:sldLayoutChg chg="del">
          <pc:chgData name="Josh Peterson" userId="2f0c7ad8fcbba8e1" providerId="LiveId" clId="{B158E36D-E8E3-4E88-86C0-71CD988363E7}" dt="2026-08-27T03:37:25.814" v="3" actId="47"/>
          <pc:sldLayoutMkLst>
            <pc:docMk/>
            <pc:sldMasterMk cId="537669018" sldId="2147483671"/>
            <pc:sldLayoutMk cId="2014412736" sldId="2147483681"/>
          </pc:sldLayoutMkLst>
        </pc:sldLayoutChg>
        <pc:sldLayoutChg chg="del">
          <pc:chgData name="Josh Peterson" userId="2f0c7ad8fcbba8e1" providerId="LiveId" clId="{B158E36D-E8E3-4E88-86C0-71CD988363E7}" dt="2026-08-27T03:37:25.814" v="3" actId="47"/>
          <pc:sldLayoutMkLst>
            <pc:docMk/>
            <pc:sldMasterMk cId="537669018" sldId="2147483671"/>
            <pc:sldLayoutMk cId="2569777711" sldId="2147483682"/>
          </pc:sldLayoutMkLst>
        </pc:sldLayoutChg>
        <pc:sldLayoutChg chg="del">
          <pc:chgData name="Josh Peterson" userId="2f0c7ad8fcbba8e1" providerId="LiveId" clId="{B158E36D-E8E3-4E88-86C0-71CD988363E7}" dt="2026-08-27T03:37:25.814" v="3" actId="47"/>
          <pc:sldLayoutMkLst>
            <pc:docMk/>
            <pc:sldMasterMk cId="537669018" sldId="2147483671"/>
            <pc:sldLayoutMk cId="440312546" sldId="2147483683"/>
          </pc:sldLayoutMkLst>
        </pc:sldLayoutChg>
        <pc:sldLayoutChg chg="del">
          <pc:chgData name="Josh Peterson" userId="2f0c7ad8fcbba8e1" providerId="LiveId" clId="{B158E36D-E8E3-4E88-86C0-71CD988363E7}" dt="2026-08-27T03:37:25.814" v="3" actId="47"/>
          <pc:sldLayoutMkLst>
            <pc:docMk/>
            <pc:sldMasterMk cId="537669018" sldId="2147483671"/>
            <pc:sldLayoutMk cId="2347146109" sldId="2147483684"/>
          </pc:sldLayoutMkLst>
        </pc:sldLayoutChg>
        <pc:sldLayoutChg chg="del">
          <pc:chgData name="Josh Peterson" userId="2f0c7ad8fcbba8e1" providerId="LiveId" clId="{B158E36D-E8E3-4E88-86C0-71CD988363E7}" dt="2026-08-27T03:37:25.814" v="3" actId="47"/>
          <pc:sldLayoutMkLst>
            <pc:docMk/>
            <pc:sldMasterMk cId="537669018" sldId="2147483671"/>
            <pc:sldLayoutMk cId="4073743602" sldId="2147483685"/>
          </pc:sldLayoutMkLst>
        </pc:sldLayoutChg>
        <pc:sldLayoutChg chg="del">
          <pc:chgData name="Josh Peterson" userId="2f0c7ad8fcbba8e1" providerId="LiveId" clId="{B158E36D-E8E3-4E88-86C0-71CD988363E7}" dt="2026-08-27T03:37:25.814" v="3" actId="47"/>
          <pc:sldLayoutMkLst>
            <pc:docMk/>
            <pc:sldMasterMk cId="537669018" sldId="2147483671"/>
            <pc:sldLayoutMk cId="428813488" sldId="2147483686"/>
          </pc:sldLayoutMkLst>
        </pc:sldLayoutChg>
        <pc:sldLayoutChg chg="del">
          <pc:chgData name="Josh Peterson" userId="2f0c7ad8fcbba8e1" providerId="LiveId" clId="{B158E36D-E8E3-4E88-86C0-71CD988363E7}" dt="2026-08-27T03:37:25.814" v="3" actId="47"/>
          <pc:sldLayoutMkLst>
            <pc:docMk/>
            <pc:sldMasterMk cId="537669018" sldId="2147483671"/>
            <pc:sldLayoutMk cId="1836634643" sldId="2147483687"/>
          </pc:sldLayoutMkLst>
        </pc:sldLayoutChg>
        <pc:sldLayoutChg chg="del">
          <pc:chgData name="Josh Peterson" userId="2f0c7ad8fcbba8e1" providerId="LiveId" clId="{B158E36D-E8E3-4E88-86C0-71CD988363E7}" dt="2026-08-27T03:37:25.814" v="3" actId="47"/>
          <pc:sldLayoutMkLst>
            <pc:docMk/>
            <pc:sldMasterMk cId="537669018" sldId="2147483671"/>
            <pc:sldLayoutMk cId="1341078664" sldId="2147483688"/>
          </pc:sldLayoutMkLst>
        </pc:sldLayoutChg>
        <pc:sldLayoutChg chg="del">
          <pc:chgData name="Josh Peterson" userId="2f0c7ad8fcbba8e1" providerId="LiveId" clId="{B158E36D-E8E3-4E88-86C0-71CD988363E7}" dt="2026-08-27T03:37:25.814" v="3" actId="47"/>
          <pc:sldLayoutMkLst>
            <pc:docMk/>
            <pc:sldMasterMk cId="537669018" sldId="2147483671"/>
            <pc:sldLayoutMk cId="3497075724" sldId="2147483689"/>
          </pc:sldLayoutMkLst>
        </pc:sldLayoutChg>
        <pc:sldLayoutChg chg="del">
          <pc:chgData name="Josh Peterson" userId="2f0c7ad8fcbba8e1" providerId="LiveId" clId="{B158E36D-E8E3-4E88-86C0-71CD988363E7}" dt="2026-08-27T03:37:25.814" v="3" actId="47"/>
          <pc:sldLayoutMkLst>
            <pc:docMk/>
            <pc:sldMasterMk cId="537669018" sldId="2147483671"/>
            <pc:sldLayoutMk cId="601494552" sldId="2147483690"/>
          </pc:sldLayoutMkLst>
        </pc:sldLayoutChg>
        <pc:sldLayoutChg chg="del">
          <pc:chgData name="Josh Peterson" userId="2f0c7ad8fcbba8e1" providerId="LiveId" clId="{B158E36D-E8E3-4E88-86C0-71CD988363E7}" dt="2026-08-27T03:37:25.814" v="3" actId="47"/>
          <pc:sldLayoutMkLst>
            <pc:docMk/>
            <pc:sldMasterMk cId="537669018" sldId="2147483671"/>
            <pc:sldLayoutMk cId="2641997676" sldId="2147483691"/>
          </pc:sldLayoutMkLst>
        </pc:sldLayoutChg>
        <pc:sldLayoutChg chg="del">
          <pc:chgData name="Josh Peterson" userId="2f0c7ad8fcbba8e1" providerId="LiveId" clId="{B158E36D-E8E3-4E88-86C0-71CD988363E7}" dt="2026-08-27T03:37:25.814" v="3" actId="47"/>
          <pc:sldLayoutMkLst>
            <pc:docMk/>
            <pc:sldMasterMk cId="537669018" sldId="2147483671"/>
            <pc:sldLayoutMk cId="668508409" sldId="2147483692"/>
          </pc:sldLayoutMkLst>
        </pc:sldLayoutChg>
        <pc:sldLayoutChg chg="del">
          <pc:chgData name="Josh Peterson" userId="2f0c7ad8fcbba8e1" providerId="LiveId" clId="{B158E36D-E8E3-4E88-86C0-71CD988363E7}" dt="2026-08-27T03:37:25.814" v="3" actId="47"/>
          <pc:sldLayoutMkLst>
            <pc:docMk/>
            <pc:sldMasterMk cId="537669018" sldId="2147483671"/>
            <pc:sldLayoutMk cId="4048256615" sldId="2147483693"/>
          </pc:sldLayoutMkLst>
        </pc:sldLayoutChg>
        <pc:sldLayoutChg chg="del">
          <pc:chgData name="Josh Peterson" userId="2f0c7ad8fcbba8e1" providerId="LiveId" clId="{B158E36D-E8E3-4E88-86C0-71CD988363E7}" dt="2026-08-27T03:37:25.814" v="3" actId="47"/>
          <pc:sldLayoutMkLst>
            <pc:docMk/>
            <pc:sldMasterMk cId="537669018" sldId="2147483671"/>
            <pc:sldLayoutMk cId="569616634" sldId="2147483694"/>
          </pc:sldLayoutMkLst>
        </pc:sldLayoutChg>
        <pc:sldLayoutChg chg="del">
          <pc:chgData name="Josh Peterson" userId="2f0c7ad8fcbba8e1" providerId="LiveId" clId="{B158E36D-E8E3-4E88-86C0-71CD988363E7}" dt="2026-08-27T03:37:25.814" v="3" actId="47"/>
          <pc:sldLayoutMkLst>
            <pc:docMk/>
            <pc:sldMasterMk cId="537669018" sldId="2147483671"/>
            <pc:sldLayoutMk cId="303740696" sldId="2147483695"/>
          </pc:sldLayoutMkLst>
        </pc:sldLayoutChg>
        <pc:sldLayoutChg chg="del">
          <pc:chgData name="Josh Peterson" userId="2f0c7ad8fcbba8e1" providerId="LiveId" clId="{B158E36D-E8E3-4E88-86C0-71CD988363E7}" dt="2026-08-27T03:37:25.814" v="3" actId="47"/>
          <pc:sldLayoutMkLst>
            <pc:docMk/>
            <pc:sldMasterMk cId="537669018" sldId="2147483671"/>
            <pc:sldLayoutMk cId="1778890182" sldId="2147483696"/>
          </pc:sldLayoutMkLst>
        </pc:sldLayoutChg>
        <pc:sldLayoutChg chg="del">
          <pc:chgData name="Josh Peterson" userId="2f0c7ad8fcbba8e1" providerId="LiveId" clId="{B158E36D-E8E3-4E88-86C0-71CD988363E7}" dt="2026-08-27T03:37:25.814" v="3" actId="47"/>
          <pc:sldLayoutMkLst>
            <pc:docMk/>
            <pc:sldMasterMk cId="537669018" sldId="2147483671"/>
            <pc:sldLayoutMk cId="1930050100" sldId="2147483697"/>
          </pc:sldLayoutMkLst>
        </pc:sldLayoutChg>
        <pc:sldLayoutChg chg="del">
          <pc:chgData name="Josh Peterson" userId="2f0c7ad8fcbba8e1" providerId="LiveId" clId="{B158E36D-E8E3-4E88-86C0-71CD988363E7}" dt="2026-08-27T03:37:25.814" v="3" actId="47"/>
          <pc:sldLayoutMkLst>
            <pc:docMk/>
            <pc:sldMasterMk cId="537669018" sldId="2147483671"/>
            <pc:sldLayoutMk cId="3104293823" sldId="2147483698"/>
          </pc:sldLayoutMkLst>
        </pc:sldLayoutChg>
        <pc:sldLayoutChg chg="del">
          <pc:chgData name="Josh Peterson" userId="2f0c7ad8fcbba8e1" providerId="LiveId" clId="{B158E36D-E8E3-4E88-86C0-71CD988363E7}" dt="2026-08-27T03:37:25.814" v="3" actId="47"/>
          <pc:sldLayoutMkLst>
            <pc:docMk/>
            <pc:sldMasterMk cId="537669018" sldId="2147483671"/>
            <pc:sldLayoutMk cId="1083117979" sldId="2147483699"/>
          </pc:sldLayoutMkLst>
        </pc:sldLayoutChg>
      </pc:sldMasterChg>
    </pc:docChg>
  </pc:docChgLst>
  <pc:docChgLst>
    <pc:chgData name="Josh Peterson" userId="2f0c7ad8fcbba8e1" providerId="LiveId" clId="{A3AB9BE9-F7B5-4880-AB98-CDDCEC184B48}"/>
    <pc:docChg chg="undo custSel addSld modSld">
      <pc:chgData name="Josh Peterson" userId="2f0c7ad8fcbba8e1" providerId="LiveId" clId="{A3AB9BE9-F7B5-4880-AB98-CDDCEC184B48}" dt="2024-08-11T04:23:14.439" v="221" actId="1076"/>
      <pc:docMkLst>
        <pc:docMk/>
      </pc:docMkLst>
      <pc:sldChg chg="modSp mod">
        <pc:chgData name="Josh Peterson" userId="2f0c7ad8fcbba8e1" providerId="LiveId" clId="{A3AB9BE9-F7B5-4880-AB98-CDDCEC184B48}" dt="2024-08-11T04:23:14.439" v="221" actId="1076"/>
        <pc:sldMkLst>
          <pc:docMk/>
          <pc:sldMk cId="323035411" sldId="491"/>
        </pc:sldMkLst>
      </pc:sldChg>
      <pc:sldChg chg="addSp delSp modSp add mod">
        <pc:chgData name="Josh Peterson" userId="2f0c7ad8fcbba8e1" providerId="LiveId" clId="{A3AB9BE9-F7B5-4880-AB98-CDDCEC184B48}" dt="2024-08-11T04:21:39.719" v="220" actId="403"/>
        <pc:sldMkLst>
          <pc:docMk/>
          <pc:sldMk cId="899547087" sldId="50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6F2922-797C-45C2-9475-1803A9D22A0A}"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715CC-F7BD-45D9-B5AD-4E804062401C}" type="slidenum">
              <a:rPr lang="en-US" smtClean="0"/>
              <a:t>‹#›</a:t>
            </a:fld>
            <a:endParaRPr lang="en-US"/>
          </a:p>
        </p:txBody>
      </p:sp>
    </p:spTree>
    <p:extLst>
      <p:ext uri="{BB962C8B-B14F-4D97-AF65-F5344CB8AC3E}">
        <p14:creationId xmlns:p14="http://schemas.microsoft.com/office/powerpoint/2010/main" val="1714590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737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F6FEC-15D9-F68F-B632-3C990F3A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0FEE-5D46-D3AF-C111-44931A0D4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1DF77-C481-4870-6848-E393B26139ED}"/>
              </a:ext>
            </a:extLst>
          </p:cNvPr>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a:extLst>
              <a:ext uri="{FF2B5EF4-FFF2-40B4-BE49-F238E27FC236}">
                <a16:creationId xmlns:a16="http://schemas.microsoft.com/office/drawing/2014/main" id="{09A72450-68E5-6E40-EDEE-88CA4D261A1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3314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2324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Broadcom WSD in Fort Collins is a hierarchical functional organization, not a flat one. Broadcom the corporation is divisional (wireless vs. other semiconductor and software businesses). Inside the Fort Collins fab, people are grouped by specialty under a General Manager and Fab Manager, with a chain of command several layers deep: GM → Fab Manager → function → group → technicians or shifts.</a:t>
            </a:r>
          </a:p>
          <a:p>
            <a:endParaRPr lang="en-US" dirty="0"/>
          </a:p>
          <a:p>
            <a:r>
              <a:rPr lang="en-US" dirty="0"/>
              <a:t>Does this help us hit our objectives? WSD’s objectives are 24/7 output, yield/quality, and keeping up with smartphone production ramps. The functional model does support that. Each process step has an owner, first-line managers have a narrow span of control, and defects are easy to trace to a responsible group. That is how a high-volume R&amp;D fab stays accountable when the product and the process both change quickly.</a:t>
            </a:r>
          </a:p>
          <a:p>
            <a:endParaRPr lang="en-US" dirty="0"/>
          </a:p>
          <a:p>
            <a:r>
              <a:rPr lang="en-US" dirty="0"/>
              <a:t>The tradeoff is silos. Functions get very good at their own method, so it is hard to standardize work or move a solution from one group to another. Tribal knowledge and special cases slow cross-functional work — exactly when a yield excursion or a new product needs Equipment, Yield, R&amp;D, and Supply Chain in the same room. Also, “narrow span” is true at the group level; the Fab Manager layer is actually wide (seven functions). That is the hierarchical tradeoff from class: strong specialty focus, longer chain of command, more coordination cost.</a:t>
            </a:r>
          </a:p>
          <a:p>
            <a:endParaRPr lang="en-US" dirty="0"/>
          </a:p>
          <a:p>
            <a:r>
              <a:rPr lang="en-US" dirty="0"/>
              <a:t>Key functions. Every box on the chart exists because one wafer becomes one filter. The two I would call most critical to keeping the factory able to run are Supply Chain and Cleanroom. Supply Chain (logistics, procurement, materials) is the only reason chemicals and parts are on hand for a 24/7 line. Cleanroom (including EHS) is the only reason the facility stays up and legal. Equipment/Process, Yield, and R&amp;D are equally critical to whether the filter is worth shipping — they own process capability, defect reduction, and the technology the customer actually buys. If any of those fail, either the line stops or the design win does not hold.</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4879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Broadcom’s Wireless Semiconductor Division (WSD) in Fort Collins is a 24/7 RF-filter fab and one of the city’s largest private employers (about 1,600 people). </a:t>
            </a:r>
            <a:r>
              <a:rPr lang="en-US" b="1" dirty="0"/>
              <a:t>Stakeholders</a:t>
            </a:r>
            <a:r>
              <a:rPr lang="en-US" dirty="0"/>
              <a:t> are the groups that can affect WSD or are affected by it. They fall into internal , external, and macro levels.</a:t>
            </a:r>
          </a:p>
          <a:p>
            <a:r>
              <a:rPr lang="en-US" b="1" dirty="0"/>
              <a:t>Internal stakeholders</a:t>
            </a:r>
            <a:r>
              <a:rPr lang="en-US" dirty="0"/>
              <a:t>: Operators, technicians, and engineers run the cleanroom facility. Directors align the organization around capacity, yield, and capital priorities. Without the workforce The fab would not be able to produce these products. Shareholders also play as critical stakeholders as our production capabilities here in Fort Collins directly impact the value of our publicly traded stock. </a:t>
            </a:r>
          </a:p>
          <a:p>
            <a:r>
              <a:rPr lang="en-US" b="1" dirty="0"/>
              <a:t>External stakeholders</a:t>
            </a:r>
            <a:r>
              <a:rPr lang="en-US" dirty="0"/>
              <a:t>: Revenue is tied to the design wins and production forecasts. Our main customer Apple sets multi-year commitments for our products which allow WSD to operate and expand. Chemical and Equipment suppliers offer a flow of raw materials and hardware to be constantly consumed in a 24/7 fab. Contractors ensure we have dedicated support for facilities, maintenance, warehouse, and cleaning which is a necessary component of running a facility that employs over 1200 people. Logistic parts carrier our final products out the doors into the hands of our packaging partners where it is assembled into a final product.</a:t>
            </a:r>
          </a:p>
          <a:p>
            <a:r>
              <a:rPr lang="en-US" b="1" dirty="0"/>
              <a:t>Macro Stakeholders: </a:t>
            </a:r>
            <a:r>
              <a:rPr lang="en-US" b="0" dirty="0"/>
              <a:t>The City of Fort Collins is home to Broadcom, one of the largest employers in the city, and is dependent on taxes that are generated by the organization. WSD depends on permits, utilities, and </a:t>
            </a:r>
            <a:r>
              <a:rPr lang="en-US" b="0" dirty="0" err="1"/>
              <a:t>licences</a:t>
            </a:r>
            <a:r>
              <a:rPr lang="en-US" b="0" dirty="0"/>
              <a:t> to operate in the city. OSHA, EHS, and local environmental policies set strict guidelines on the usage of chemicals from cradle to grave. CSU supplies a educated workforce pipeline and local programs between CSU and Broadcom positions to stay  staffed. The environment is a critical stakeholder for WSD as we take EHS programs very seriously to ensure we meet and exceed local regulations.</a:t>
            </a:r>
            <a:r>
              <a:rPr lang="en-US" b="1" dirty="0"/>
              <a:t> </a:t>
            </a:r>
          </a:p>
          <a:p>
            <a:r>
              <a:rPr lang="en-US" b="1" dirty="0"/>
              <a:t>Competitors: </a:t>
            </a:r>
            <a:r>
              <a:rPr lang="en-US" b="0" dirty="0"/>
              <a:t>Although not directly tied to our production capabilities, competitors like Qorvo and Qualcomm’s roadmaps and pricing have an impact on our products, price, placement and promotions.  </a:t>
            </a:r>
            <a:endParaRPr lang="en-US" b="1"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849810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51416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2967141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3284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831672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267AD-B4B1-49D3-B52A-AFD2B52F31DF}"/>
              </a:ext>
            </a:extLst>
          </p:cNvPr>
          <p:cNvSpPr>
            <a:spLocks noGrp="1"/>
          </p:cNvSpPr>
          <p:nvPr>
            <p:ph type="title" hasCustomPrompt="1"/>
          </p:nvPr>
        </p:nvSpPr>
        <p:spPr>
          <a:xfrm>
            <a:off x="20057" y="2073609"/>
            <a:ext cx="7031736" cy="1161288"/>
          </a:xfrm>
          <a:prstGeom prst="rect">
            <a:avLst/>
          </a:prstGeom>
        </p:spPr>
        <p:txBody>
          <a:bodyPr lIns="685800" tIns="228600" rIns="228600" bIns="228600"/>
          <a:lstStyle>
            <a:lvl1pPr>
              <a:defRPr lang="en-US" sz="4200" baseline="0">
                <a:solidFill>
                  <a:schemeClr val="bg1"/>
                </a:solidFill>
                <a:latin typeface="Arial" panose="020B0604020202020204" pitchFamily="34" charset="0"/>
                <a:ea typeface="+mn-ea"/>
                <a:cs typeface="+mn-cs"/>
              </a:defRPr>
            </a:lvl1pPr>
          </a:lstStyle>
          <a:p>
            <a:pPr marL="0" lvl="0" indent="0">
              <a:lnSpc>
                <a:spcPct val="100000"/>
              </a:lnSpc>
              <a:spcBef>
                <a:spcPts val="0"/>
              </a:spcBef>
              <a:buFont typeface="Arial" panose="020B0604020202020204" pitchFamily="34" charset="0"/>
            </a:pPr>
            <a:r>
              <a:rPr lang="en-US" dirty="0"/>
              <a:t>Title</a:t>
            </a:r>
          </a:p>
        </p:txBody>
      </p:sp>
      <p:sp>
        <p:nvSpPr>
          <p:cNvPr id="3" name="Subtitle 2">
            <a:extLst>
              <a:ext uri="{FF2B5EF4-FFF2-40B4-BE49-F238E27FC236}">
                <a16:creationId xmlns:a16="http://schemas.microsoft.com/office/drawing/2014/main" id="{1BB79187-B58F-4AA3-B80B-4D16EF744D22}"/>
              </a:ext>
            </a:extLst>
          </p:cNvPr>
          <p:cNvSpPr>
            <a:spLocks noGrp="1"/>
          </p:cNvSpPr>
          <p:nvPr>
            <p:ph type="subTitle" idx="1"/>
          </p:nvPr>
        </p:nvSpPr>
        <p:spPr>
          <a:xfrm>
            <a:off x="570623" y="3234897"/>
            <a:ext cx="6336792" cy="457200"/>
          </a:xfrm>
          <a:prstGeom prst="rect">
            <a:avLst/>
          </a:prstGeom>
        </p:spPr>
        <p:txBody>
          <a:bodyPr/>
          <a:lstStyle>
            <a:lvl1pPr>
              <a:defRPr lang="en-US" sz="1800">
                <a:solidFill>
                  <a:schemeClr val="bg1"/>
                </a:solidFill>
                <a:latin typeface="Arial" panose="020B0604020202020204" pitchFamily="34" charset="0"/>
                <a:cs typeface="Arial" panose="020B0604020202020204" pitchFamily="34" charset="0"/>
              </a:defRPr>
            </a:lvl1pPr>
          </a:lstStyle>
          <a:p>
            <a:pPr marL="0" lvl="0" indent="0">
              <a:buNone/>
            </a:pPr>
            <a:r>
              <a:rPr lang="en-US" dirty="0"/>
              <a:t>Click to edit Master subtitle style</a:t>
            </a:r>
          </a:p>
        </p:txBody>
      </p:sp>
      <p:sp>
        <p:nvSpPr>
          <p:cNvPr id="4" name="object 64">
            <a:extLst>
              <a:ext uri="{FF2B5EF4-FFF2-40B4-BE49-F238E27FC236}">
                <a16:creationId xmlns:a16="http://schemas.microsoft.com/office/drawing/2014/main" id="{93EF0DFE-F9E5-4187-9C1E-A609FC70BAA4}"/>
              </a:ext>
            </a:extLst>
          </p:cNvPr>
          <p:cNvSpPr/>
          <p:nvPr userDrawn="1"/>
        </p:nvSpPr>
        <p:spPr>
          <a:xfrm flipV="1">
            <a:off x="633568" y="3177890"/>
            <a:ext cx="939800" cy="45719"/>
          </a:xfrm>
          <a:custGeom>
            <a:avLst/>
            <a:gdLst/>
            <a:ahLst/>
            <a:cxnLst/>
            <a:rect l="l" t="t" r="r" b="b"/>
            <a:pathLst>
              <a:path w="939800">
                <a:moveTo>
                  <a:pt x="0" y="0"/>
                </a:moveTo>
                <a:lnTo>
                  <a:pt x="939800" y="0"/>
                </a:lnTo>
              </a:path>
            </a:pathLst>
          </a:custGeom>
          <a:ln w="12700">
            <a:solidFill>
              <a:schemeClr val="accent2"/>
            </a:solidFill>
          </a:ln>
        </p:spPr>
        <p:txBody>
          <a:bodyPr wrap="square" lIns="0" tIns="0" rIns="0" bIns="0" rtlCol="0"/>
          <a:lstStyle/>
          <a:p>
            <a:endParaRPr/>
          </a:p>
        </p:txBody>
      </p:sp>
    </p:spTree>
    <p:extLst>
      <p:ext uri="{BB962C8B-B14F-4D97-AF65-F5344CB8AC3E}">
        <p14:creationId xmlns:p14="http://schemas.microsoft.com/office/powerpoint/2010/main" val="42736611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5.xml"/><Relationship Id="rId5" Type="http://schemas.openxmlformats.org/officeDocument/2006/relationships/image" Target="../media/image3.png"/><Relationship Id="rId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1509268682"/>
      </p:ext>
    </p:extLst>
  </p:cSld>
  <p:clrMap bg1="lt1" tx1="dk1" bg2="lt2" tx2="dk2" accent1="accent1" accent2="accent2" accent3="accent3" accent4="accent4" accent5="accent5" accent6="accent6" hlink="hlink" folHlink="folHlink"/>
  <p:sldLayoutIdLst>
    <p:sldLayoutId id="2147483652" r:id="rId1"/>
    <p:sldLayoutId id="2147483655" r:id="rId2"/>
    <p:sldLayoutId id="2147483656" r:id="rId3"/>
    <p:sldLayoutId id="214748366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4A454DB7-A73F-40C4-A0D2-93123167F1BE}"/>
              </a:ext>
            </a:extLst>
          </p:cNvPr>
          <p:cNvSpPr/>
          <p:nvPr userDrawn="1"/>
        </p:nvSpPr>
        <p:spPr>
          <a:xfrm>
            <a:off x="0" y="0"/>
            <a:ext cx="12192000" cy="6858000"/>
          </a:xfrm>
          <a:custGeom>
            <a:avLst/>
            <a:gdLst/>
            <a:ahLst/>
            <a:cxnLst/>
            <a:rect l="l" t="t" r="r" b="b"/>
            <a:pathLst>
              <a:path w="12433300" h="6997700">
                <a:moveTo>
                  <a:pt x="0" y="6997700"/>
                </a:moveTo>
                <a:lnTo>
                  <a:pt x="12433300" y="6997700"/>
                </a:lnTo>
                <a:lnTo>
                  <a:pt x="12433300" y="0"/>
                </a:lnTo>
                <a:lnTo>
                  <a:pt x="0" y="0"/>
                </a:lnTo>
                <a:lnTo>
                  <a:pt x="0" y="6997700"/>
                </a:lnTo>
                <a:close/>
              </a:path>
            </a:pathLst>
          </a:custGeom>
          <a:solidFill>
            <a:srgbClr val="1E4D2B"/>
          </a:solidFill>
        </p:spPr>
        <p:txBody>
          <a:bodyPr wrap="square" lIns="0" tIns="0" rIns="0" bIns="0" rtlCol="0"/>
          <a:lstStyle/>
          <a:p>
            <a:endParaRPr/>
          </a:p>
        </p:txBody>
      </p:sp>
      <p:sp>
        <p:nvSpPr>
          <p:cNvPr id="8" name="object 3">
            <a:extLst>
              <a:ext uri="{FF2B5EF4-FFF2-40B4-BE49-F238E27FC236}">
                <a16:creationId xmlns:a16="http://schemas.microsoft.com/office/drawing/2014/main" id="{80E9EB47-13D9-4E9A-B8E7-21D64C865CF3}"/>
              </a:ext>
            </a:extLst>
          </p:cNvPr>
          <p:cNvSpPr/>
          <p:nvPr userDrawn="1"/>
        </p:nvSpPr>
        <p:spPr>
          <a:xfrm>
            <a:off x="6222491" y="0"/>
            <a:ext cx="5969509" cy="6839335"/>
          </a:xfrm>
          <a:prstGeom prst="rect">
            <a:avLst/>
          </a:prstGeom>
          <a:blipFill>
            <a:blip r:embed="rId3" cstate="print">
              <a:extLst>
                <a:ext uri="{BEBA8EAE-BF5A-486C-A8C5-ECC9F3942E4B}">
                  <a14:imgProps xmlns:a14="http://schemas.microsoft.com/office/drawing/2010/main">
                    <a14:imgLayer r:embed="rId4">
                      <a14:imgEffect>
                        <a14:brightnessContrast contrast="-70000"/>
                      </a14:imgEffect>
                    </a14:imgLayer>
                  </a14:imgProps>
                </a:ext>
              </a:extLst>
            </a:blip>
            <a:stretch>
              <a:fillRect/>
            </a:stretch>
          </a:blipFill>
        </p:spPr>
        <p:txBody>
          <a:bodyPr wrap="square" lIns="0" tIns="0" rIns="0" bIns="0" rtlCol="0"/>
          <a:lstStyle/>
          <a:p>
            <a:endParaRPr dirty="0"/>
          </a:p>
        </p:txBody>
      </p:sp>
      <p:pic>
        <p:nvPicPr>
          <p:cNvPr id="9" name="Picture 8">
            <a:extLst>
              <a:ext uri="{FF2B5EF4-FFF2-40B4-BE49-F238E27FC236}">
                <a16:creationId xmlns:a16="http://schemas.microsoft.com/office/drawing/2014/main" id="{92E8F1D3-5FD1-4707-B053-C7386CD9C38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30114" y="5991173"/>
            <a:ext cx="3461886" cy="848162"/>
          </a:xfrm>
          <a:prstGeom prst="rect">
            <a:avLst/>
          </a:prstGeom>
        </p:spPr>
      </p:pic>
    </p:spTree>
    <p:extLst>
      <p:ext uri="{BB962C8B-B14F-4D97-AF65-F5344CB8AC3E}">
        <p14:creationId xmlns:p14="http://schemas.microsoft.com/office/powerpoint/2010/main" val="1724814910"/>
      </p:ext>
    </p:extLst>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EDB7-E569-47F3-8EB7-88525EAA092B}"/>
              </a:ext>
            </a:extLst>
          </p:cNvPr>
          <p:cNvSpPr>
            <a:spLocks noGrp="1"/>
          </p:cNvSpPr>
          <p:nvPr>
            <p:ph type="title"/>
          </p:nvPr>
        </p:nvSpPr>
        <p:spPr/>
        <p:txBody>
          <a:bodyPr>
            <a:normAutofit/>
          </a:bodyPr>
          <a:lstStyle/>
          <a:p>
            <a:r>
              <a:rPr lang="en-US" dirty="0"/>
              <a:t>Student Name</a:t>
            </a:r>
          </a:p>
        </p:txBody>
      </p:sp>
      <p:sp>
        <p:nvSpPr>
          <p:cNvPr id="3" name="Subtitle 2">
            <a:extLst>
              <a:ext uri="{FF2B5EF4-FFF2-40B4-BE49-F238E27FC236}">
                <a16:creationId xmlns:a16="http://schemas.microsoft.com/office/drawing/2014/main" id="{39901997-3A38-45E0-AA63-EE66E6916619}"/>
              </a:ext>
            </a:extLst>
          </p:cNvPr>
          <p:cNvSpPr>
            <a:spLocks noGrp="1"/>
          </p:cNvSpPr>
          <p:nvPr>
            <p:ph idx="1"/>
          </p:nvPr>
        </p:nvSpPr>
        <p:spPr>
          <a:xfrm>
            <a:off x="6392006" y="1558925"/>
            <a:ext cx="5375031" cy="4351338"/>
          </a:xfrm>
        </p:spPr>
        <p:txBody>
          <a:bodyPr anchor="ctr">
            <a:normAutofit/>
          </a:bodyPr>
          <a:lstStyle/>
          <a:p>
            <a:r>
              <a:rPr lang="en-US" sz="3200" dirty="0"/>
              <a:t>Cyrus Bavarian </a:t>
            </a:r>
          </a:p>
        </p:txBody>
      </p:sp>
      <p:sp>
        <p:nvSpPr>
          <p:cNvPr id="4" name="Content Placeholder 2">
            <a:extLst>
              <a:ext uri="{FF2B5EF4-FFF2-40B4-BE49-F238E27FC236}">
                <a16:creationId xmlns:a16="http://schemas.microsoft.com/office/drawing/2014/main" id="{6F3B4236-D07F-4CF9-A5A5-D0014942611E}"/>
              </a:ext>
            </a:extLst>
          </p:cNvPr>
          <p:cNvSpPr txBox="1">
            <a:spLocks/>
          </p:cNvSpPr>
          <p:nvPr/>
        </p:nvSpPr>
        <p:spPr>
          <a:xfrm>
            <a:off x="609600" y="3429000"/>
            <a:ext cx="6432336" cy="2590800"/>
          </a:xfrm>
          <a:prstGeom prst="rect">
            <a:avLst/>
          </a:prstGeom>
        </p:spPr>
        <p:txBody>
          <a:bodyPr vert="horz" lIns="121919" tIns="60959" rIns="121919" bIns="60959" rtlCol="0">
            <a:normAutofit/>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endParaRPr kumimoji="0" lang="en-US" sz="4267" b="0" i="0" u="none" strike="noStrike" kern="1200" cap="none" spc="0" normalizeH="0" baseline="0" noProof="0">
              <a:ln>
                <a:noFill/>
              </a:ln>
              <a:solidFill>
                <a:srgbClr val="59595B">
                  <a:tint val="75000"/>
                </a:srgbClr>
              </a:solidFill>
              <a:effectLst/>
              <a:uLnTx/>
              <a:uFillTx/>
              <a:latin typeface="Helvetica"/>
              <a:ea typeface="+mn-ea"/>
              <a:cs typeface="Helvetica"/>
            </a:endParaRPr>
          </a:p>
        </p:txBody>
      </p:sp>
      <p:sp>
        <p:nvSpPr>
          <p:cNvPr id="6" name="Subtitle 2">
            <a:extLst>
              <a:ext uri="{FF2B5EF4-FFF2-40B4-BE49-F238E27FC236}">
                <a16:creationId xmlns:a16="http://schemas.microsoft.com/office/drawing/2014/main" id="{72F58189-B73F-4B04-A617-E5F099F2E514}"/>
              </a:ext>
            </a:extLst>
          </p:cNvPr>
          <p:cNvSpPr txBox="1">
            <a:spLocks/>
          </p:cNvSpPr>
          <p:nvPr/>
        </p:nvSpPr>
        <p:spPr>
          <a:xfrm>
            <a:off x="1411654" y="5147224"/>
            <a:ext cx="2946400" cy="533400"/>
          </a:xfrm>
          <a:prstGeom prst="rect">
            <a:avLst/>
          </a:prstGeom>
        </p:spPr>
        <p:txBody>
          <a:bodyPr vert="horz" lIns="121919" tIns="60959" rIns="121919" bIns="60959" rtlCol="0" anchor="ctr">
            <a:normAutofit fontScale="92500" lnSpcReduction="10000"/>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r>
              <a:rPr kumimoji="0" lang="en-US" sz="3200" b="0" i="0" u="none" strike="noStrike" kern="1200" cap="none" spc="0" normalizeH="0" baseline="0" noProof="0" dirty="0">
                <a:ln>
                  <a:noFill/>
                </a:ln>
                <a:solidFill>
                  <a:srgbClr val="59595B">
                    <a:tint val="75000"/>
                  </a:srgbClr>
                </a:solidFill>
                <a:effectLst/>
                <a:uLnTx/>
                <a:uFillTx/>
                <a:latin typeface="Helvetica"/>
                <a:ea typeface="+mn-ea"/>
                <a:cs typeface="Helvetica"/>
              </a:rPr>
              <a:t>Student photo</a:t>
            </a:r>
          </a:p>
        </p:txBody>
      </p:sp>
      <p:pic>
        <p:nvPicPr>
          <p:cNvPr id="1026" name="Picture 2" descr="Profile Icon Vector Art, Icons, and Graphics for Free Download">
            <a:extLst>
              <a:ext uri="{FF2B5EF4-FFF2-40B4-BE49-F238E27FC236}">
                <a16:creationId xmlns:a16="http://schemas.microsoft.com/office/drawing/2014/main" id="{77124042-986C-3442-CAB8-90B74189F1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979" y="1762125"/>
            <a:ext cx="3333750" cy="33337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3BBECC87-016D-481C-3A49-851531C34D4B}"/>
              </a:ext>
            </a:extLst>
          </p:cNvPr>
          <p:cNvSpPr/>
          <p:nvPr/>
        </p:nvSpPr>
        <p:spPr>
          <a:xfrm>
            <a:off x="826477" y="1635369"/>
            <a:ext cx="4149969" cy="4384431"/>
          </a:xfrm>
          <a:prstGeom prst="rect">
            <a:avLst/>
          </a:prstGeom>
          <a:noFill/>
          <a:ln w="38100">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9558260-2E64-B157-F8A2-815F64639DF4}"/>
              </a:ext>
            </a:extLst>
          </p:cNvPr>
          <p:cNvPicPr>
            <a:picLocks noChangeAspect="1"/>
          </p:cNvPicPr>
          <p:nvPr/>
        </p:nvPicPr>
        <p:blipFill>
          <a:blip r:embed="rId3"/>
          <a:stretch>
            <a:fillRect/>
          </a:stretch>
        </p:blipFill>
        <p:spPr>
          <a:xfrm>
            <a:off x="688250" y="1558924"/>
            <a:ext cx="4544163" cy="4544163"/>
          </a:xfrm>
          <a:prstGeom prst="rect">
            <a:avLst/>
          </a:prstGeom>
        </p:spPr>
      </p:pic>
    </p:spTree>
    <p:extLst>
      <p:ext uri="{BB962C8B-B14F-4D97-AF65-F5344CB8AC3E}">
        <p14:creationId xmlns:p14="http://schemas.microsoft.com/office/powerpoint/2010/main" val="4196645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normAutofit lnSpcReduction="10000"/>
          </a:bodyPr>
          <a:lstStyle/>
          <a:p>
            <a:r>
              <a:rPr lang="en-US" dirty="0"/>
              <a:t>Business name: Broadcom</a:t>
            </a:r>
          </a:p>
          <a:p>
            <a:r>
              <a:rPr lang="en-US" dirty="0"/>
              <a:t>Business website: </a:t>
            </a:r>
            <a:r>
              <a:rPr lang="en-US" dirty="0">
                <a:hlinkClick r:id="rId3"/>
              </a:rPr>
              <a:t>https://www.broadcom.com/</a:t>
            </a:r>
            <a:endParaRPr lang="en-US" dirty="0"/>
          </a:p>
          <a:p>
            <a:r>
              <a:rPr lang="en-US" dirty="0"/>
              <a:t>Products/services: Semiconductor Solutions &amp; Infrastructure Software</a:t>
            </a:r>
          </a:p>
          <a:p>
            <a:r>
              <a:rPr lang="en-US" dirty="0"/>
              <a:t>Target market(s)/customers: Broadcom’s main segments fall into AI and non-AI categories. Their AI solutions include custom ASIC and networking components for hyper scalers like Google and Meta. Their Non-AI solutions include Semiconductors for smartphone makers like Apple. </a:t>
            </a:r>
          </a:p>
          <a:p>
            <a:r>
              <a:rPr lang="en-US" dirty="0"/>
              <a:t>Top rivals/competitors: Their semiconductor division competitors would be Qorvo, Qualcomm and Marvell. Their enterprise infrastructure solutions would be Microsoft and IBM.</a:t>
            </a:r>
          </a:p>
        </p:txBody>
      </p:sp>
    </p:spTree>
    <p:extLst>
      <p:ext uri="{BB962C8B-B14F-4D97-AF65-F5344CB8AC3E}">
        <p14:creationId xmlns:p14="http://schemas.microsoft.com/office/powerpoint/2010/main" val="3540148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0A571-32E2-B138-C3A7-CCD2F655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77FFC-1C6E-3BF7-CFF8-51793921B232}"/>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74743F5E-4AA6-A5AF-32CA-7A206FC8840A}"/>
              </a:ext>
            </a:extLst>
          </p:cNvPr>
          <p:cNvSpPr>
            <a:spLocks noGrp="1"/>
          </p:cNvSpPr>
          <p:nvPr>
            <p:ph idx="1"/>
          </p:nvPr>
        </p:nvSpPr>
        <p:spPr>
          <a:xfrm>
            <a:off x="609600" y="1600204"/>
            <a:ext cx="10972800" cy="4419597"/>
          </a:xfrm>
        </p:spPr>
        <p:txBody>
          <a:bodyPr>
            <a:normAutofit/>
          </a:bodyPr>
          <a:lstStyle/>
          <a:p>
            <a:endParaRPr lang="en-US" dirty="0"/>
          </a:p>
          <a:p>
            <a:endParaRPr lang="en-US" dirty="0"/>
          </a:p>
          <a:p>
            <a:r>
              <a:rPr lang="en-US" dirty="0"/>
              <a:t>Business name: WSD – Wireless Semiconductor Division</a:t>
            </a:r>
          </a:p>
          <a:p>
            <a:r>
              <a:rPr lang="en-US" dirty="0"/>
              <a:t>Business website: </a:t>
            </a:r>
            <a:r>
              <a:rPr lang="en-US" dirty="0">
                <a:hlinkClick r:id="rId3"/>
              </a:rPr>
              <a:t>https://www.broadcom.com/</a:t>
            </a:r>
            <a:endParaRPr lang="en-US" dirty="0"/>
          </a:p>
          <a:p>
            <a:r>
              <a:rPr lang="en-US" dirty="0"/>
              <a:t>Products/services: RF Filters </a:t>
            </a:r>
          </a:p>
          <a:p>
            <a:r>
              <a:rPr lang="en-US" dirty="0"/>
              <a:t>Target market(s)/customers: Smart phone makers such as Apple, Samsung, and Google</a:t>
            </a:r>
          </a:p>
          <a:p>
            <a:r>
              <a:rPr lang="en-US" dirty="0"/>
              <a:t>Top rivals/competitors: Their semiconductor and networking competitors would be Qualcomm, Qorvo, and Marvell.</a:t>
            </a:r>
          </a:p>
        </p:txBody>
      </p:sp>
      <p:sp>
        <p:nvSpPr>
          <p:cNvPr id="4" name="Rectangle: Rounded Corners 3">
            <a:extLst>
              <a:ext uri="{FF2B5EF4-FFF2-40B4-BE49-F238E27FC236}">
                <a16:creationId xmlns:a16="http://schemas.microsoft.com/office/drawing/2014/main" id="{A72C9966-E2C1-76DA-63F9-1AA2047FA0F1}"/>
              </a:ext>
            </a:extLst>
          </p:cNvPr>
          <p:cNvSpPr/>
          <p:nvPr/>
        </p:nvSpPr>
        <p:spPr>
          <a:xfrm>
            <a:off x="608076" y="1600204"/>
            <a:ext cx="10972799" cy="5847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Note to IC: </a:t>
            </a:r>
            <a:r>
              <a:rPr lang="en-US" dirty="0"/>
              <a:t>In this assignment I will focus on the Wireless Semiconductor Division of Broadcom </a:t>
            </a:r>
          </a:p>
          <a:p>
            <a:pPr algn="ctr"/>
            <a:r>
              <a:rPr lang="en-US" dirty="0"/>
              <a:t>which is located here in Fort Collins Colorado</a:t>
            </a:r>
          </a:p>
        </p:txBody>
      </p:sp>
    </p:spTree>
    <p:extLst>
      <p:ext uri="{BB962C8B-B14F-4D97-AF65-F5344CB8AC3E}">
        <p14:creationId xmlns:p14="http://schemas.microsoft.com/office/powerpoint/2010/main" val="332974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Description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lstStyle/>
          <a:p>
            <a:r>
              <a:rPr lang="en-US" dirty="0"/>
              <a:t>Broadcom’s wireless semiconductor division is a world leader in advanced RF Modules that enable cellular and wireless communication in the most advanced smartphones.  WSD’s R&amp;D fabrication facility in Fort Collins, Colorado is responsible for the manufacturing of these specialty devices. WSD is well known for fast-paced technological innovation that allows our manufacturing operation to keep up with demands of the rapidly changing smartphone market. WSD’s sophisticated cleanroom facility, testing, and metrology solutions ensure our products meet the quality and reliable expectations from worldclass companies. </a:t>
            </a:r>
          </a:p>
        </p:txBody>
      </p:sp>
    </p:spTree>
    <p:extLst>
      <p:ext uri="{BB962C8B-B14F-4D97-AF65-F5344CB8AC3E}">
        <p14:creationId xmlns:p14="http://schemas.microsoft.com/office/powerpoint/2010/main" val="4199351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 Structure</a:t>
            </a:r>
          </a:p>
        </p:txBody>
      </p:sp>
      <p:sp>
        <p:nvSpPr>
          <p:cNvPr id="5" name="Rectangle: Rounded Corners 4">
            <a:extLst>
              <a:ext uri="{FF2B5EF4-FFF2-40B4-BE49-F238E27FC236}">
                <a16:creationId xmlns:a16="http://schemas.microsoft.com/office/drawing/2014/main" id="{693E3014-0551-700B-CF39-6B90C4C3B39E}"/>
              </a:ext>
            </a:extLst>
          </p:cNvPr>
          <p:cNvSpPr/>
          <p:nvPr/>
        </p:nvSpPr>
        <p:spPr>
          <a:xfrm>
            <a:off x="5146158" y="1297172"/>
            <a:ext cx="2254102" cy="489098"/>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General Manager</a:t>
            </a:r>
          </a:p>
        </p:txBody>
      </p:sp>
      <p:sp>
        <p:nvSpPr>
          <p:cNvPr id="9" name="Rectangle: Rounded Corners 8">
            <a:extLst>
              <a:ext uri="{FF2B5EF4-FFF2-40B4-BE49-F238E27FC236}">
                <a16:creationId xmlns:a16="http://schemas.microsoft.com/office/drawing/2014/main" id="{5A1445D5-0988-3CB6-1626-2CF62B37BB34}"/>
              </a:ext>
            </a:extLst>
          </p:cNvPr>
          <p:cNvSpPr/>
          <p:nvPr/>
        </p:nvSpPr>
        <p:spPr>
          <a:xfrm>
            <a:off x="5146158"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Fab Manager</a:t>
            </a:r>
          </a:p>
        </p:txBody>
      </p:sp>
      <p:sp>
        <p:nvSpPr>
          <p:cNvPr id="11" name="Rectangle: Rounded Corners 10">
            <a:extLst>
              <a:ext uri="{FF2B5EF4-FFF2-40B4-BE49-F238E27FC236}">
                <a16:creationId xmlns:a16="http://schemas.microsoft.com/office/drawing/2014/main" id="{2B417227-891C-380D-2C05-1535BA6A49D5}"/>
              </a:ext>
            </a:extLst>
          </p:cNvPr>
          <p:cNvSpPr/>
          <p:nvPr/>
        </p:nvSpPr>
        <p:spPr>
          <a:xfrm>
            <a:off x="2534092"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HR</a:t>
            </a:r>
          </a:p>
        </p:txBody>
      </p:sp>
      <p:sp>
        <p:nvSpPr>
          <p:cNvPr id="13" name="Rectangle: Rounded Corners 12">
            <a:extLst>
              <a:ext uri="{FF2B5EF4-FFF2-40B4-BE49-F238E27FC236}">
                <a16:creationId xmlns:a16="http://schemas.microsoft.com/office/drawing/2014/main" id="{098CC608-5F51-E387-3866-F7EFF1797F41}"/>
              </a:ext>
            </a:extLst>
          </p:cNvPr>
          <p:cNvSpPr/>
          <p:nvPr/>
        </p:nvSpPr>
        <p:spPr>
          <a:xfrm>
            <a:off x="7744046"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Finance</a:t>
            </a:r>
          </a:p>
        </p:txBody>
      </p:sp>
      <p:sp>
        <p:nvSpPr>
          <p:cNvPr id="15" name="Rectangle: Rounded Corners 14">
            <a:extLst>
              <a:ext uri="{FF2B5EF4-FFF2-40B4-BE49-F238E27FC236}">
                <a16:creationId xmlns:a16="http://schemas.microsoft.com/office/drawing/2014/main" id="{8B5844EA-B9F5-69E6-AA84-8BA3E975B47A}"/>
              </a:ext>
            </a:extLst>
          </p:cNvPr>
          <p:cNvSpPr/>
          <p:nvPr/>
        </p:nvSpPr>
        <p:spPr>
          <a:xfrm>
            <a:off x="54581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Operations</a:t>
            </a:r>
          </a:p>
        </p:txBody>
      </p:sp>
      <p:sp>
        <p:nvSpPr>
          <p:cNvPr id="19" name="Rectangle: Rounded Corners 18">
            <a:extLst>
              <a:ext uri="{FF2B5EF4-FFF2-40B4-BE49-F238E27FC236}">
                <a16:creationId xmlns:a16="http://schemas.microsoft.com/office/drawing/2014/main" id="{C463FE67-AA1B-E6A4-43BA-1A5FBD4B920F}"/>
              </a:ext>
            </a:extLst>
          </p:cNvPr>
          <p:cNvSpPr/>
          <p:nvPr/>
        </p:nvSpPr>
        <p:spPr>
          <a:xfrm>
            <a:off x="220094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R&amp;D</a:t>
            </a:r>
          </a:p>
        </p:txBody>
      </p:sp>
      <p:sp>
        <p:nvSpPr>
          <p:cNvPr id="21" name="Rectangle: Rounded Corners 20">
            <a:extLst>
              <a:ext uri="{FF2B5EF4-FFF2-40B4-BE49-F238E27FC236}">
                <a16:creationId xmlns:a16="http://schemas.microsoft.com/office/drawing/2014/main" id="{768B65AE-6ABC-F4AA-F84C-1169EB84A30F}"/>
              </a:ext>
            </a:extLst>
          </p:cNvPr>
          <p:cNvSpPr/>
          <p:nvPr/>
        </p:nvSpPr>
        <p:spPr>
          <a:xfrm>
            <a:off x="385608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Metrology</a:t>
            </a:r>
          </a:p>
        </p:txBody>
      </p:sp>
      <p:sp>
        <p:nvSpPr>
          <p:cNvPr id="23" name="Rectangle: Rounded Corners 22">
            <a:extLst>
              <a:ext uri="{FF2B5EF4-FFF2-40B4-BE49-F238E27FC236}">
                <a16:creationId xmlns:a16="http://schemas.microsoft.com/office/drawing/2014/main" id="{68E7A4AC-9F58-0EDB-B5A3-4BC126391662}"/>
              </a:ext>
            </a:extLst>
          </p:cNvPr>
          <p:cNvSpPr/>
          <p:nvPr/>
        </p:nvSpPr>
        <p:spPr>
          <a:xfrm>
            <a:off x="551121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Automation</a:t>
            </a:r>
          </a:p>
        </p:txBody>
      </p:sp>
      <p:sp>
        <p:nvSpPr>
          <p:cNvPr id="25" name="Rectangle: Rounded Corners 24">
            <a:extLst>
              <a:ext uri="{FF2B5EF4-FFF2-40B4-BE49-F238E27FC236}">
                <a16:creationId xmlns:a16="http://schemas.microsoft.com/office/drawing/2014/main" id="{0A045932-CEE0-5414-2A7D-F9D6008E5B99}"/>
              </a:ext>
            </a:extLst>
          </p:cNvPr>
          <p:cNvSpPr/>
          <p:nvPr/>
        </p:nvSpPr>
        <p:spPr>
          <a:xfrm>
            <a:off x="716635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Equipment/</a:t>
            </a:r>
          </a:p>
          <a:p>
            <a:pPr algn="ctr"/>
            <a:r>
              <a:rPr lang="en-US" sz="1600" dirty="0"/>
              <a:t>Process</a:t>
            </a:r>
          </a:p>
        </p:txBody>
      </p:sp>
      <p:sp>
        <p:nvSpPr>
          <p:cNvPr id="27" name="Rectangle: Rounded Corners 26">
            <a:extLst>
              <a:ext uri="{FF2B5EF4-FFF2-40B4-BE49-F238E27FC236}">
                <a16:creationId xmlns:a16="http://schemas.microsoft.com/office/drawing/2014/main" id="{D76CAD3F-E84B-306B-FC3C-2AC85D5F2893}"/>
              </a:ext>
            </a:extLst>
          </p:cNvPr>
          <p:cNvSpPr/>
          <p:nvPr/>
        </p:nvSpPr>
        <p:spPr>
          <a:xfrm>
            <a:off x="882148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Supply Chain</a:t>
            </a:r>
          </a:p>
        </p:txBody>
      </p:sp>
      <p:sp>
        <p:nvSpPr>
          <p:cNvPr id="29" name="Rectangle: Rounded Corners 28">
            <a:extLst>
              <a:ext uri="{FF2B5EF4-FFF2-40B4-BE49-F238E27FC236}">
                <a16:creationId xmlns:a16="http://schemas.microsoft.com/office/drawing/2014/main" id="{9B0BF2F1-E157-7E7F-D735-C831A5F379FF}"/>
              </a:ext>
            </a:extLst>
          </p:cNvPr>
          <p:cNvSpPr/>
          <p:nvPr/>
        </p:nvSpPr>
        <p:spPr>
          <a:xfrm>
            <a:off x="1047662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Cleanroom</a:t>
            </a:r>
          </a:p>
        </p:txBody>
      </p:sp>
      <p:sp>
        <p:nvSpPr>
          <p:cNvPr id="31" name="Rectangle: Rounded Corners 30">
            <a:extLst>
              <a:ext uri="{FF2B5EF4-FFF2-40B4-BE49-F238E27FC236}">
                <a16:creationId xmlns:a16="http://schemas.microsoft.com/office/drawing/2014/main" id="{A2E70BA8-51E7-AAEA-117F-3085B411D554}"/>
              </a:ext>
            </a:extLst>
          </p:cNvPr>
          <p:cNvSpPr/>
          <p:nvPr/>
        </p:nvSpPr>
        <p:spPr>
          <a:xfrm>
            <a:off x="8821485"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Logistics</a:t>
            </a:r>
          </a:p>
        </p:txBody>
      </p:sp>
      <p:sp>
        <p:nvSpPr>
          <p:cNvPr id="33" name="Rectangle: Rounded Corners 32">
            <a:extLst>
              <a:ext uri="{FF2B5EF4-FFF2-40B4-BE49-F238E27FC236}">
                <a16:creationId xmlns:a16="http://schemas.microsoft.com/office/drawing/2014/main" id="{126501DB-CE0A-4CE2-90D3-5192726186CA}"/>
              </a:ext>
            </a:extLst>
          </p:cNvPr>
          <p:cNvSpPr/>
          <p:nvPr/>
        </p:nvSpPr>
        <p:spPr>
          <a:xfrm>
            <a:off x="8821485"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Procurement</a:t>
            </a:r>
          </a:p>
        </p:txBody>
      </p:sp>
      <p:sp>
        <p:nvSpPr>
          <p:cNvPr id="35" name="Rectangle: Rounded Corners 34">
            <a:extLst>
              <a:ext uri="{FF2B5EF4-FFF2-40B4-BE49-F238E27FC236}">
                <a16:creationId xmlns:a16="http://schemas.microsoft.com/office/drawing/2014/main" id="{68F3C7BA-ED57-382E-E45F-0C16E3264C9B}"/>
              </a:ext>
            </a:extLst>
          </p:cNvPr>
          <p:cNvSpPr/>
          <p:nvPr/>
        </p:nvSpPr>
        <p:spPr>
          <a:xfrm>
            <a:off x="8821485"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Materials</a:t>
            </a:r>
          </a:p>
        </p:txBody>
      </p:sp>
      <p:sp>
        <p:nvSpPr>
          <p:cNvPr id="37" name="Rectangle: Rounded Corners 36">
            <a:extLst>
              <a:ext uri="{FF2B5EF4-FFF2-40B4-BE49-F238E27FC236}">
                <a16:creationId xmlns:a16="http://schemas.microsoft.com/office/drawing/2014/main" id="{F8473F6F-7501-8B05-7B30-A564C6C9F982}"/>
              </a:ext>
            </a:extLst>
          </p:cNvPr>
          <p:cNvSpPr/>
          <p:nvPr/>
        </p:nvSpPr>
        <p:spPr>
          <a:xfrm>
            <a:off x="7166350"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Equipment Groups</a:t>
            </a:r>
          </a:p>
        </p:txBody>
      </p:sp>
      <p:sp>
        <p:nvSpPr>
          <p:cNvPr id="39" name="Rectangle: Rounded Corners 38">
            <a:extLst>
              <a:ext uri="{FF2B5EF4-FFF2-40B4-BE49-F238E27FC236}">
                <a16:creationId xmlns:a16="http://schemas.microsoft.com/office/drawing/2014/main" id="{59EF233F-0EA7-4071-C699-4D22C60916B6}"/>
              </a:ext>
            </a:extLst>
          </p:cNvPr>
          <p:cNvSpPr/>
          <p:nvPr/>
        </p:nvSpPr>
        <p:spPr>
          <a:xfrm>
            <a:off x="716635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Equipment Support</a:t>
            </a:r>
          </a:p>
        </p:txBody>
      </p:sp>
      <p:sp>
        <p:nvSpPr>
          <p:cNvPr id="41" name="Rectangle: Rounded Corners 40">
            <a:extLst>
              <a:ext uri="{FF2B5EF4-FFF2-40B4-BE49-F238E27FC236}">
                <a16:creationId xmlns:a16="http://schemas.microsoft.com/office/drawing/2014/main" id="{8229C0D2-7C61-6963-2085-1FA20929192D}"/>
              </a:ext>
            </a:extLst>
          </p:cNvPr>
          <p:cNvSpPr/>
          <p:nvPr/>
        </p:nvSpPr>
        <p:spPr>
          <a:xfrm>
            <a:off x="10476620"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EHS</a:t>
            </a:r>
          </a:p>
        </p:txBody>
      </p:sp>
      <p:sp>
        <p:nvSpPr>
          <p:cNvPr id="43" name="Rectangle: Rounded Corners 42">
            <a:extLst>
              <a:ext uri="{FF2B5EF4-FFF2-40B4-BE49-F238E27FC236}">
                <a16:creationId xmlns:a16="http://schemas.microsoft.com/office/drawing/2014/main" id="{DC041ABC-D0E0-AD05-A1C8-849AF2AE1372}"/>
              </a:ext>
            </a:extLst>
          </p:cNvPr>
          <p:cNvSpPr/>
          <p:nvPr/>
        </p:nvSpPr>
        <p:spPr>
          <a:xfrm>
            <a:off x="10476620"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Engineering</a:t>
            </a:r>
          </a:p>
        </p:txBody>
      </p:sp>
      <p:sp>
        <p:nvSpPr>
          <p:cNvPr id="45" name="Rectangle: Rounded Corners 44">
            <a:extLst>
              <a:ext uri="{FF2B5EF4-FFF2-40B4-BE49-F238E27FC236}">
                <a16:creationId xmlns:a16="http://schemas.microsoft.com/office/drawing/2014/main" id="{B583AE43-164E-8558-2771-9F6C4ED5EDFD}"/>
              </a:ext>
            </a:extLst>
          </p:cNvPr>
          <p:cNvSpPr/>
          <p:nvPr/>
        </p:nvSpPr>
        <p:spPr>
          <a:xfrm>
            <a:off x="10476620"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Project Manager</a:t>
            </a:r>
          </a:p>
        </p:txBody>
      </p:sp>
      <p:sp>
        <p:nvSpPr>
          <p:cNvPr id="47" name="Rectangle: Rounded Corners 46">
            <a:extLst>
              <a:ext uri="{FF2B5EF4-FFF2-40B4-BE49-F238E27FC236}">
                <a16:creationId xmlns:a16="http://schemas.microsoft.com/office/drawing/2014/main" id="{A99D806D-3BC8-F447-DB74-1058417ADDF5}"/>
              </a:ext>
            </a:extLst>
          </p:cNvPr>
          <p:cNvSpPr/>
          <p:nvPr/>
        </p:nvSpPr>
        <p:spPr>
          <a:xfrm>
            <a:off x="10476620" y="56263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Construction</a:t>
            </a:r>
          </a:p>
        </p:txBody>
      </p:sp>
      <p:sp>
        <p:nvSpPr>
          <p:cNvPr id="49" name="Rectangle: Rounded Corners 48">
            <a:extLst>
              <a:ext uri="{FF2B5EF4-FFF2-40B4-BE49-F238E27FC236}">
                <a16:creationId xmlns:a16="http://schemas.microsoft.com/office/drawing/2014/main" id="{682C733B-24B8-F976-0453-BF215AFD02CE}"/>
              </a:ext>
            </a:extLst>
          </p:cNvPr>
          <p:cNvSpPr/>
          <p:nvPr/>
        </p:nvSpPr>
        <p:spPr>
          <a:xfrm>
            <a:off x="5511215"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MES</a:t>
            </a:r>
          </a:p>
        </p:txBody>
      </p:sp>
      <p:sp>
        <p:nvSpPr>
          <p:cNvPr id="51" name="Rectangle: Rounded Corners 50">
            <a:extLst>
              <a:ext uri="{FF2B5EF4-FFF2-40B4-BE49-F238E27FC236}">
                <a16:creationId xmlns:a16="http://schemas.microsoft.com/office/drawing/2014/main" id="{C4A55040-3095-6B0E-7FD9-799C25036C64}"/>
              </a:ext>
            </a:extLst>
          </p:cNvPr>
          <p:cNvSpPr/>
          <p:nvPr/>
        </p:nvSpPr>
        <p:spPr>
          <a:xfrm>
            <a:off x="5511215"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Industrial Engineering</a:t>
            </a:r>
          </a:p>
        </p:txBody>
      </p:sp>
      <p:sp>
        <p:nvSpPr>
          <p:cNvPr id="53" name="Rectangle: Rounded Corners 52">
            <a:extLst>
              <a:ext uri="{FF2B5EF4-FFF2-40B4-BE49-F238E27FC236}">
                <a16:creationId xmlns:a16="http://schemas.microsoft.com/office/drawing/2014/main" id="{E84BE913-140B-6D6B-C448-B32EE81B7518}"/>
              </a:ext>
            </a:extLst>
          </p:cNvPr>
          <p:cNvSpPr/>
          <p:nvPr/>
        </p:nvSpPr>
        <p:spPr>
          <a:xfrm>
            <a:off x="5511215" y="499375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Automation</a:t>
            </a:r>
          </a:p>
        </p:txBody>
      </p:sp>
      <p:sp>
        <p:nvSpPr>
          <p:cNvPr id="55" name="Rectangle: Rounded Corners 54">
            <a:extLst>
              <a:ext uri="{FF2B5EF4-FFF2-40B4-BE49-F238E27FC236}">
                <a16:creationId xmlns:a16="http://schemas.microsoft.com/office/drawing/2014/main" id="{E4A634E0-B87C-5C28-D381-9E0275971BD0}"/>
              </a:ext>
            </a:extLst>
          </p:cNvPr>
          <p:cNvSpPr/>
          <p:nvPr/>
        </p:nvSpPr>
        <p:spPr>
          <a:xfrm>
            <a:off x="5511215" y="567246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Technicians</a:t>
            </a:r>
          </a:p>
        </p:txBody>
      </p:sp>
      <p:sp>
        <p:nvSpPr>
          <p:cNvPr id="57" name="Rectangle: Rounded Corners 56">
            <a:extLst>
              <a:ext uri="{FF2B5EF4-FFF2-40B4-BE49-F238E27FC236}">
                <a16:creationId xmlns:a16="http://schemas.microsoft.com/office/drawing/2014/main" id="{AA23886D-092E-5C08-9FF4-FF3007C776DA}"/>
              </a:ext>
            </a:extLst>
          </p:cNvPr>
          <p:cNvSpPr/>
          <p:nvPr/>
        </p:nvSpPr>
        <p:spPr>
          <a:xfrm>
            <a:off x="3856080" y="3666460"/>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Metrology</a:t>
            </a:r>
          </a:p>
        </p:txBody>
      </p:sp>
      <p:sp>
        <p:nvSpPr>
          <p:cNvPr id="59" name="Rectangle: Rounded Corners 58">
            <a:extLst>
              <a:ext uri="{FF2B5EF4-FFF2-40B4-BE49-F238E27FC236}">
                <a16:creationId xmlns:a16="http://schemas.microsoft.com/office/drawing/2014/main" id="{AA3D06B5-45A2-6774-BB14-86308D2B9DD2}"/>
              </a:ext>
            </a:extLst>
          </p:cNvPr>
          <p:cNvSpPr/>
          <p:nvPr/>
        </p:nvSpPr>
        <p:spPr>
          <a:xfrm>
            <a:off x="3856080" y="431327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Yield</a:t>
            </a:r>
          </a:p>
        </p:txBody>
      </p:sp>
      <p:sp>
        <p:nvSpPr>
          <p:cNvPr id="61" name="Rectangle: Rounded Corners 60">
            <a:extLst>
              <a:ext uri="{FF2B5EF4-FFF2-40B4-BE49-F238E27FC236}">
                <a16:creationId xmlns:a16="http://schemas.microsoft.com/office/drawing/2014/main" id="{AC62B250-A655-EBD2-5AB9-0AE95829516A}"/>
              </a:ext>
            </a:extLst>
          </p:cNvPr>
          <p:cNvSpPr/>
          <p:nvPr/>
        </p:nvSpPr>
        <p:spPr>
          <a:xfrm>
            <a:off x="385608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Integration</a:t>
            </a:r>
          </a:p>
        </p:txBody>
      </p:sp>
      <p:sp>
        <p:nvSpPr>
          <p:cNvPr id="63" name="Rectangle: Rounded Corners 62">
            <a:extLst>
              <a:ext uri="{FF2B5EF4-FFF2-40B4-BE49-F238E27FC236}">
                <a16:creationId xmlns:a16="http://schemas.microsoft.com/office/drawing/2014/main" id="{E538F23F-B9F9-BDC4-75E9-1DAA75BB24E7}"/>
              </a:ext>
            </a:extLst>
          </p:cNvPr>
          <p:cNvSpPr/>
          <p:nvPr/>
        </p:nvSpPr>
        <p:spPr>
          <a:xfrm>
            <a:off x="2200945"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Design</a:t>
            </a:r>
          </a:p>
        </p:txBody>
      </p:sp>
      <p:sp>
        <p:nvSpPr>
          <p:cNvPr id="65" name="Rectangle: Rounded Corners 64">
            <a:extLst>
              <a:ext uri="{FF2B5EF4-FFF2-40B4-BE49-F238E27FC236}">
                <a16:creationId xmlns:a16="http://schemas.microsoft.com/office/drawing/2014/main" id="{5771158B-D06A-CAFD-47DF-0F10E2CADA12}"/>
              </a:ext>
            </a:extLst>
          </p:cNvPr>
          <p:cNvSpPr/>
          <p:nvPr/>
        </p:nvSpPr>
        <p:spPr>
          <a:xfrm>
            <a:off x="2200945" y="43628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Development</a:t>
            </a:r>
          </a:p>
        </p:txBody>
      </p:sp>
      <p:sp>
        <p:nvSpPr>
          <p:cNvPr id="67" name="Rectangle: Rounded Corners 66">
            <a:extLst>
              <a:ext uri="{FF2B5EF4-FFF2-40B4-BE49-F238E27FC236}">
                <a16:creationId xmlns:a16="http://schemas.microsoft.com/office/drawing/2014/main" id="{16078A17-BFEA-6539-EEAC-C7EC13E83018}"/>
              </a:ext>
            </a:extLst>
          </p:cNvPr>
          <p:cNvSpPr/>
          <p:nvPr/>
        </p:nvSpPr>
        <p:spPr>
          <a:xfrm>
            <a:off x="545810"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 shift</a:t>
            </a:r>
          </a:p>
        </p:txBody>
      </p:sp>
      <p:sp>
        <p:nvSpPr>
          <p:cNvPr id="69" name="Rectangle: Rounded Corners 68">
            <a:extLst>
              <a:ext uri="{FF2B5EF4-FFF2-40B4-BE49-F238E27FC236}">
                <a16:creationId xmlns:a16="http://schemas.microsoft.com/office/drawing/2014/main" id="{74304385-A469-3A8E-BCD2-CDB296B1A3EE}"/>
              </a:ext>
            </a:extLst>
          </p:cNvPr>
          <p:cNvSpPr/>
          <p:nvPr/>
        </p:nvSpPr>
        <p:spPr>
          <a:xfrm>
            <a:off x="54581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 Shift</a:t>
            </a:r>
          </a:p>
        </p:txBody>
      </p:sp>
      <p:sp>
        <p:nvSpPr>
          <p:cNvPr id="71" name="Rectangle: Rounded Corners 70">
            <a:extLst>
              <a:ext uri="{FF2B5EF4-FFF2-40B4-BE49-F238E27FC236}">
                <a16:creationId xmlns:a16="http://schemas.microsoft.com/office/drawing/2014/main" id="{C00D1AF5-E988-C69B-7E0E-9427513EC995}"/>
              </a:ext>
            </a:extLst>
          </p:cNvPr>
          <p:cNvSpPr/>
          <p:nvPr/>
        </p:nvSpPr>
        <p:spPr>
          <a:xfrm>
            <a:off x="54581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 Shift</a:t>
            </a:r>
          </a:p>
        </p:txBody>
      </p:sp>
      <p:sp>
        <p:nvSpPr>
          <p:cNvPr id="73" name="Rectangle: Rounded Corners 72">
            <a:extLst>
              <a:ext uri="{FF2B5EF4-FFF2-40B4-BE49-F238E27FC236}">
                <a16:creationId xmlns:a16="http://schemas.microsoft.com/office/drawing/2014/main" id="{A0EF3523-BBDF-1D6B-2820-DBF14EC02F43}"/>
              </a:ext>
            </a:extLst>
          </p:cNvPr>
          <p:cNvSpPr/>
          <p:nvPr/>
        </p:nvSpPr>
        <p:spPr>
          <a:xfrm>
            <a:off x="545810" y="568132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 Shift</a:t>
            </a:r>
          </a:p>
        </p:txBody>
      </p:sp>
      <p:cxnSp>
        <p:nvCxnSpPr>
          <p:cNvPr id="75" name="Straight Connector 74">
            <a:extLst>
              <a:ext uri="{FF2B5EF4-FFF2-40B4-BE49-F238E27FC236}">
                <a16:creationId xmlns:a16="http://schemas.microsoft.com/office/drawing/2014/main" id="{8AFEAAC1-E304-E477-3981-F769A7062269}"/>
              </a:ext>
            </a:extLst>
          </p:cNvPr>
          <p:cNvCxnSpPr>
            <a:stCxn id="5" idx="2"/>
            <a:endCxn id="9" idx="0"/>
          </p:cNvCxnSpPr>
          <p:nvPr/>
        </p:nvCxnSpPr>
        <p:spPr>
          <a:xfrm>
            <a:off x="6273209" y="178627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Connector: Elbow 79">
            <a:extLst>
              <a:ext uri="{FF2B5EF4-FFF2-40B4-BE49-F238E27FC236}">
                <a16:creationId xmlns:a16="http://schemas.microsoft.com/office/drawing/2014/main" id="{B0FDBF9F-9736-A0F0-444B-6516A6BF276C}"/>
              </a:ext>
            </a:extLst>
          </p:cNvPr>
          <p:cNvCxnSpPr>
            <a:cxnSpLocks/>
            <a:stCxn id="5" idx="2"/>
            <a:endCxn id="13" idx="0"/>
          </p:cNvCxnSpPr>
          <p:nvPr/>
        </p:nvCxnSpPr>
        <p:spPr>
          <a:xfrm rot="16200000" flipH="1">
            <a:off x="7453423" y="606056"/>
            <a:ext cx="237460" cy="25978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a16:creationId xmlns:a16="http://schemas.microsoft.com/office/drawing/2014/main" id="{81508A3D-75F4-4EF8-7241-D67D70A7DDA0}"/>
              </a:ext>
            </a:extLst>
          </p:cNvPr>
          <p:cNvCxnSpPr>
            <a:cxnSpLocks/>
            <a:stCxn id="5" idx="2"/>
            <a:endCxn id="11" idx="0"/>
          </p:cNvCxnSpPr>
          <p:nvPr/>
        </p:nvCxnSpPr>
        <p:spPr>
          <a:xfrm rot="5400000">
            <a:off x="4848446" y="598967"/>
            <a:ext cx="237460" cy="261206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a16:creationId xmlns:a16="http://schemas.microsoft.com/office/drawing/2014/main" id="{30DF4C78-070F-D01C-8AAF-FAAF98AAE0E2}"/>
              </a:ext>
            </a:extLst>
          </p:cNvPr>
          <p:cNvCxnSpPr>
            <a:cxnSpLocks/>
            <a:stCxn id="9" idx="2"/>
            <a:endCxn id="15" idx="0"/>
          </p:cNvCxnSpPr>
          <p:nvPr/>
        </p:nvCxnSpPr>
        <p:spPr>
          <a:xfrm rot="5400000">
            <a:off x="3553936" y="220629"/>
            <a:ext cx="427074" cy="501147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9EEA4205-E673-E903-77D8-C4FD44098A5B}"/>
              </a:ext>
            </a:extLst>
          </p:cNvPr>
          <p:cNvCxnSpPr>
            <a:cxnSpLocks/>
            <a:stCxn id="9" idx="2"/>
            <a:endCxn id="19" idx="0"/>
          </p:cNvCxnSpPr>
          <p:nvPr/>
        </p:nvCxnSpPr>
        <p:spPr>
          <a:xfrm rot="5400000">
            <a:off x="4381503" y="1048196"/>
            <a:ext cx="427074" cy="335633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4" name="Connector: Elbow 93">
            <a:extLst>
              <a:ext uri="{FF2B5EF4-FFF2-40B4-BE49-F238E27FC236}">
                <a16:creationId xmlns:a16="http://schemas.microsoft.com/office/drawing/2014/main" id="{C46486B6-E980-BDBF-FB39-843599AE4986}"/>
              </a:ext>
            </a:extLst>
          </p:cNvPr>
          <p:cNvCxnSpPr>
            <a:cxnSpLocks/>
            <a:stCxn id="9" idx="2"/>
            <a:endCxn id="21" idx="0"/>
          </p:cNvCxnSpPr>
          <p:nvPr/>
        </p:nvCxnSpPr>
        <p:spPr>
          <a:xfrm rot="5400000">
            <a:off x="5209071" y="1875764"/>
            <a:ext cx="427074" cy="170120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F20A1FF3-09B9-D3BB-3EBC-77F1E1649EF2}"/>
              </a:ext>
            </a:extLst>
          </p:cNvPr>
          <p:cNvCxnSpPr>
            <a:cxnSpLocks/>
            <a:stCxn id="9" idx="2"/>
            <a:endCxn id="23" idx="0"/>
          </p:cNvCxnSpPr>
          <p:nvPr/>
        </p:nvCxnSpPr>
        <p:spPr>
          <a:xfrm rot="5400000">
            <a:off x="6036638" y="2703331"/>
            <a:ext cx="427074" cy="4606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3" name="Connector: Elbow 102">
            <a:extLst>
              <a:ext uri="{FF2B5EF4-FFF2-40B4-BE49-F238E27FC236}">
                <a16:creationId xmlns:a16="http://schemas.microsoft.com/office/drawing/2014/main" id="{70017DC7-BACC-B79F-9739-32CF8F6AE9C9}"/>
              </a:ext>
            </a:extLst>
          </p:cNvPr>
          <p:cNvCxnSpPr>
            <a:cxnSpLocks/>
            <a:stCxn id="9" idx="2"/>
            <a:endCxn id="25" idx="0"/>
          </p:cNvCxnSpPr>
          <p:nvPr/>
        </p:nvCxnSpPr>
        <p:spPr>
          <a:xfrm rot="16200000" flipH="1">
            <a:off x="6864205" y="1921831"/>
            <a:ext cx="427074" cy="160906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7" name="Connector: Elbow 106">
            <a:extLst>
              <a:ext uri="{FF2B5EF4-FFF2-40B4-BE49-F238E27FC236}">
                <a16:creationId xmlns:a16="http://schemas.microsoft.com/office/drawing/2014/main" id="{97E775CF-B5CD-4BB2-631D-4A7C6E5C2253}"/>
              </a:ext>
            </a:extLst>
          </p:cNvPr>
          <p:cNvCxnSpPr>
            <a:cxnSpLocks/>
            <a:stCxn id="9" idx="2"/>
            <a:endCxn id="27" idx="0"/>
          </p:cNvCxnSpPr>
          <p:nvPr/>
        </p:nvCxnSpPr>
        <p:spPr>
          <a:xfrm rot="16200000" flipH="1">
            <a:off x="7691773" y="1094264"/>
            <a:ext cx="427074" cy="3264202"/>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0" name="Connector: Elbow 109">
            <a:extLst>
              <a:ext uri="{FF2B5EF4-FFF2-40B4-BE49-F238E27FC236}">
                <a16:creationId xmlns:a16="http://schemas.microsoft.com/office/drawing/2014/main" id="{C0A7B756-8240-1915-5DDC-C718B72987D4}"/>
              </a:ext>
            </a:extLst>
          </p:cNvPr>
          <p:cNvCxnSpPr>
            <a:cxnSpLocks/>
            <a:stCxn id="9" idx="2"/>
            <a:endCxn id="29" idx="0"/>
          </p:cNvCxnSpPr>
          <p:nvPr/>
        </p:nvCxnSpPr>
        <p:spPr>
          <a:xfrm rot="16200000" flipH="1">
            <a:off x="8519340" y="266696"/>
            <a:ext cx="427074" cy="491933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112023B9-69E2-5E46-3820-35F3822EFBFA}"/>
              </a:ext>
            </a:extLst>
          </p:cNvPr>
          <p:cNvCxnSpPr>
            <a:stCxn id="15" idx="2"/>
            <a:endCxn id="67" idx="0"/>
          </p:cNvCxnSpPr>
          <p:nvPr/>
        </p:nvCxnSpPr>
        <p:spPr>
          <a:xfrm>
            <a:off x="1261736"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61490A1F-2AB9-A2F1-2B6C-10C5F1FE5348}"/>
              </a:ext>
            </a:extLst>
          </p:cNvPr>
          <p:cNvCxnSpPr>
            <a:stCxn id="19" idx="2"/>
            <a:endCxn id="63" idx="0"/>
          </p:cNvCxnSpPr>
          <p:nvPr/>
        </p:nvCxnSpPr>
        <p:spPr>
          <a:xfrm>
            <a:off x="2916871"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1621676D-0D35-2F3B-1910-80F276D7436A}"/>
              </a:ext>
            </a:extLst>
          </p:cNvPr>
          <p:cNvCxnSpPr>
            <a:stCxn id="67" idx="2"/>
            <a:endCxn id="69" idx="0"/>
          </p:cNvCxnSpPr>
          <p:nvPr/>
        </p:nvCxnSpPr>
        <p:spPr>
          <a:xfrm>
            <a:off x="1261736" y="4180366"/>
            <a:ext cx="0" cy="1577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A00A629B-ACD0-05DB-F813-D4FA9BAB23D0}"/>
              </a:ext>
            </a:extLst>
          </p:cNvPr>
          <p:cNvCxnSpPr>
            <a:cxnSpLocks/>
            <a:stCxn id="69" idx="2"/>
            <a:endCxn id="71" idx="0"/>
          </p:cNvCxnSpPr>
          <p:nvPr/>
        </p:nvCxnSpPr>
        <p:spPr>
          <a:xfrm>
            <a:off x="1261736" y="4827181"/>
            <a:ext cx="0" cy="1754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FE27FB63-352C-7285-F172-A210AAC1C60B}"/>
              </a:ext>
            </a:extLst>
          </p:cNvPr>
          <p:cNvCxnSpPr>
            <a:cxnSpLocks/>
            <a:stCxn id="71" idx="2"/>
            <a:endCxn id="73" idx="0"/>
          </p:cNvCxnSpPr>
          <p:nvPr/>
        </p:nvCxnSpPr>
        <p:spPr>
          <a:xfrm>
            <a:off x="1261736" y="5491716"/>
            <a:ext cx="0" cy="18961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446BD976-7FC3-22C9-1BD3-4FCBCBB36EC0}"/>
              </a:ext>
            </a:extLst>
          </p:cNvPr>
          <p:cNvCxnSpPr>
            <a:cxnSpLocks/>
            <a:stCxn id="63" idx="2"/>
            <a:endCxn id="65" idx="0"/>
          </p:cNvCxnSpPr>
          <p:nvPr/>
        </p:nvCxnSpPr>
        <p:spPr>
          <a:xfrm>
            <a:off x="2916871" y="4180366"/>
            <a:ext cx="0" cy="18252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CBFFC3AE-571C-063A-8A4C-153ED5F75F9C}"/>
              </a:ext>
            </a:extLst>
          </p:cNvPr>
          <p:cNvCxnSpPr>
            <a:cxnSpLocks/>
            <a:stCxn id="21" idx="2"/>
            <a:endCxn id="57" idx="0"/>
          </p:cNvCxnSpPr>
          <p:nvPr/>
        </p:nvCxnSpPr>
        <p:spPr>
          <a:xfrm>
            <a:off x="4572006" y="342900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7AE107BE-29F9-F22E-F22A-BD2165E30AD1}"/>
              </a:ext>
            </a:extLst>
          </p:cNvPr>
          <p:cNvCxnSpPr>
            <a:cxnSpLocks/>
            <a:stCxn id="57" idx="2"/>
            <a:endCxn id="59" idx="0"/>
          </p:cNvCxnSpPr>
          <p:nvPr/>
        </p:nvCxnSpPr>
        <p:spPr>
          <a:xfrm>
            <a:off x="4572006" y="4155558"/>
            <a:ext cx="0" cy="1577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3B1D1132-33E2-C4BF-869D-2915B6A87E44}"/>
              </a:ext>
            </a:extLst>
          </p:cNvPr>
          <p:cNvCxnSpPr>
            <a:cxnSpLocks/>
            <a:stCxn id="59" idx="2"/>
            <a:endCxn id="61" idx="0"/>
          </p:cNvCxnSpPr>
          <p:nvPr/>
        </p:nvCxnSpPr>
        <p:spPr>
          <a:xfrm>
            <a:off x="4572006" y="4802371"/>
            <a:ext cx="0" cy="20024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D0A67D-C173-9D64-937F-69D4106EBC90}"/>
              </a:ext>
            </a:extLst>
          </p:cNvPr>
          <p:cNvCxnSpPr>
            <a:cxnSpLocks/>
            <a:stCxn id="23" idx="2"/>
            <a:endCxn id="49" idx="0"/>
          </p:cNvCxnSpPr>
          <p:nvPr/>
        </p:nvCxnSpPr>
        <p:spPr>
          <a:xfrm>
            <a:off x="6227141"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72371240-D95D-A82B-0CA1-54405A007E19}"/>
              </a:ext>
            </a:extLst>
          </p:cNvPr>
          <p:cNvCxnSpPr>
            <a:cxnSpLocks/>
            <a:stCxn id="49" idx="2"/>
            <a:endCxn id="51" idx="0"/>
          </p:cNvCxnSpPr>
          <p:nvPr/>
        </p:nvCxnSpPr>
        <p:spPr>
          <a:xfrm>
            <a:off x="6227141"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F6C1B512-BD64-A16D-A1FF-A69902EC47CB}"/>
              </a:ext>
            </a:extLst>
          </p:cNvPr>
          <p:cNvCxnSpPr>
            <a:cxnSpLocks/>
            <a:stCxn id="25" idx="2"/>
            <a:endCxn id="37" idx="0"/>
          </p:cNvCxnSpPr>
          <p:nvPr/>
        </p:nvCxnSpPr>
        <p:spPr>
          <a:xfrm>
            <a:off x="7882276"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C41D5769-6519-D0FB-D9B0-45F551724B1C}"/>
              </a:ext>
            </a:extLst>
          </p:cNvPr>
          <p:cNvCxnSpPr>
            <a:cxnSpLocks/>
            <a:stCxn id="37" idx="2"/>
            <a:endCxn id="39" idx="0"/>
          </p:cNvCxnSpPr>
          <p:nvPr/>
        </p:nvCxnSpPr>
        <p:spPr>
          <a:xfrm>
            <a:off x="7882276"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C3E9835F-3D4F-D571-34D8-22C3DE2F4A85}"/>
              </a:ext>
            </a:extLst>
          </p:cNvPr>
          <p:cNvCxnSpPr>
            <a:cxnSpLocks/>
            <a:stCxn id="27" idx="2"/>
            <a:endCxn id="31" idx="0"/>
          </p:cNvCxnSpPr>
          <p:nvPr/>
        </p:nvCxnSpPr>
        <p:spPr>
          <a:xfrm>
            <a:off x="9537411"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E752B930-6A19-0FF5-543F-072BE956A208}"/>
              </a:ext>
            </a:extLst>
          </p:cNvPr>
          <p:cNvCxnSpPr>
            <a:cxnSpLocks/>
            <a:stCxn id="31" idx="2"/>
            <a:endCxn id="33" idx="0"/>
          </p:cNvCxnSpPr>
          <p:nvPr/>
        </p:nvCxnSpPr>
        <p:spPr>
          <a:xfrm>
            <a:off x="9537411"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EF3970F9-FF69-5B70-E8BA-E1B98E9AECBD}"/>
              </a:ext>
            </a:extLst>
          </p:cNvPr>
          <p:cNvCxnSpPr>
            <a:cxnSpLocks/>
            <a:stCxn id="33" idx="2"/>
            <a:endCxn id="35" idx="0"/>
          </p:cNvCxnSpPr>
          <p:nvPr/>
        </p:nvCxnSpPr>
        <p:spPr>
          <a:xfrm>
            <a:off x="9537411" y="4772246"/>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3AE58E54-3183-CFA5-05B8-644832D54770}"/>
              </a:ext>
            </a:extLst>
          </p:cNvPr>
          <p:cNvCxnSpPr>
            <a:cxnSpLocks/>
            <a:stCxn id="29" idx="2"/>
            <a:endCxn id="41" idx="0"/>
          </p:cNvCxnSpPr>
          <p:nvPr/>
        </p:nvCxnSpPr>
        <p:spPr>
          <a:xfrm>
            <a:off x="11192546"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94D18503-7CCA-64A5-3D84-41B5DBD175F6}"/>
              </a:ext>
            </a:extLst>
          </p:cNvPr>
          <p:cNvCxnSpPr>
            <a:cxnSpLocks/>
            <a:stCxn id="41" idx="2"/>
            <a:endCxn id="43" idx="0"/>
          </p:cNvCxnSpPr>
          <p:nvPr/>
        </p:nvCxnSpPr>
        <p:spPr>
          <a:xfrm>
            <a:off x="11192546"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7778113E-8C9F-1F03-519F-B863D2956B01}"/>
              </a:ext>
            </a:extLst>
          </p:cNvPr>
          <p:cNvCxnSpPr>
            <a:stCxn id="53" idx="3"/>
            <a:endCxn id="55" idx="3"/>
          </p:cNvCxnSpPr>
          <p:nvPr/>
        </p:nvCxnSpPr>
        <p:spPr>
          <a:xfrm>
            <a:off x="6943067" y="5238307"/>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Connector: Elbow 190">
            <a:extLst>
              <a:ext uri="{FF2B5EF4-FFF2-40B4-BE49-F238E27FC236}">
                <a16:creationId xmlns:a16="http://schemas.microsoft.com/office/drawing/2014/main" id="{7B51A1E5-EBCA-6BD6-5F71-D0B4AAA90DF9}"/>
              </a:ext>
            </a:extLst>
          </p:cNvPr>
          <p:cNvCxnSpPr/>
          <p:nvPr/>
        </p:nvCxnSpPr>
        <p:spPr>
          <a:xfrm>
            <a:off x="11895772" y="5152360"/>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2" name="Connector: Elbow 191">
            <a:extLst>
              <a:ext uri="{FF2B5EF4-FFF2-40B4-BE49-F238E27FC236}">
                <a16:creationId xmlns:a16="http://schemas.microsoft.com/office/drawing/2014/main" id="{6377F9CF-DED6-08B7-7228-7FCE238E6140}"/>
              </a:ext>
            </a:extLst>
          </p:cNvPr>
          <p:cNvCxnSpPr>
            <a:cxnSpLocks/>
            <a:stCxn id="29" idx="1"/>
            <a:endCxn id="45" idx="1"/>
          </p:cNvCxnSpPr>
          <p:nvPr/>
        </p:nvCxnSpPr>
        <p:spPr>
          <a:xfrm rot="10800000" flipV="1">
            <a:off x="10476620" y="3184450"/>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7" name="Connector: Elbow 196">
            <a:extLst>
              <a:ext uri="{FF2B5EF4-FFF2-40B4-BE49-F238E27FC236}">
                <a16:creationId xmlns:a16="http://schemas.microsoft.com/office/drawing/2014/main" id="{5B0490D5-F74A-3EFF-64F2-F4368B5E2E45}"/>
              </a:ext>
            </a:extLst>
          </p:cNvPr>
          <p:cNvCxnSpPr>
            <a:cxnSpLocks/>
          </p:cNvCxnSpPr>
          <p:nvPr/>
        </p:nvCxnSpPr>
        <p:spPr>
          <a:xfrm rot="10800000" flipV="1">
            <a:off x="5480800" y="3172931"/>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0302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lanet Earth - Free multimedia icons">
            <a:extLst>
              <a:ext uri="{FF2B5EF4-FFF2-40B4-BE49-F238E27FC236}">
                <a16:creationId xmlns:a16="http://schemas.microsoft.com/office/drawing/2014/main" id="{15E9678D-8DDB-A704-0823-76FC746D6A22}"/>
              </a:ext>
            </a:extLst>
          </p:cNvPr>
          <p:cNvPicPr>
            <a:picLocks noChangeAspect="1"/>
          </p:cNvPicPr>
          <p:nvPr/>
        </p:nvPicPr>
        <p:blipFill>
          <a:blip r:embed="rId3"/>
          <a:stretch>
            <a:fillRect/>
          </a:stretch>
        </p:blipFill>
        <p:spPr>
          <a:xfrm>
            <a:off x="1946768" y="1169582"/>
            <a:ext cx="8070111" cy="5688418"/>
          </a:xfrm>
          <a:prstGeom prst="rect">
            <a:avLst/>
          </a:prstGeom>
        </p:spPr>
      </p:pic>
      <p:sp>
        <p:nvSpPr>
          <p:cNvPr id="23" name="Oval 22">
            <a:extLst>
              <a:ext uri="{FF2B5EF4-FFF2-40B4-BE49-F238E27FC236}">
                <a16:creationId xmlns:a16="http://schemas.microsoft.com/office/drawing/2014/main" id="{B9181D5E-5DEC-551A-416A-44F6E8EB4652}"/>
              </a:ext>
            </a:extLst>
          </p:cNvPr>
          <p:cNvSpPr/>
          <p:nvPr/>
        </p:nvSpPr>
        <p:spPr>
          <a:xfrm>
            <a:off x="3264195" y="1903225"/>
            <a:ext cx="5348177" cy="3997842"/>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22" name="Oval 21">
            <a:extLst>
              <a:ext uri="{FF2B5EF4-FFF2-40B4-BE49-F238E27FC236}">
                <a16:creationId xmlns:a16="http://schemas.microsoft.com/office/drawing/2014/main" id="{D8831AA4-5BFC-4C84-468A-6B62AD39F652}"/>
              </a:ext>
            </a:extLst>
          </p:cNvPr>
          <p:cNvSpPr/>
          <p:nvPr/>
        </p:nvSpPr>
        <p:spPr>
          <a:xfrm>
            <a:off x="4614530" y="2817625"/>
            <a:ext cx="2626242" cy="223283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Organizational Stakeholders </a:t>
            </a:r>
          </a:p>
        </p:txBody>
      </p:sp>
      <p:sp>
        <p:nvSpPr>
          <p:cNvPr id="5" name="Rectangle: Rounded Corners 4">
            <a:extLst>
              <a:ext uri="{FF2B5EF4-FFF2-40B4-BE49-F238E27FC236}">
                <a16:creationId xmlns:a16="http://schemas.microsoft.com/office/drawing/2014/main" id="{84285F78-8B82-6553-3958-A1A9F8046E9B}"/>
              </a:ext>
            </a:extLst>
          </p:cNvPr>
          <p:cNvSpPr/>
          <p:nvPr/>
        </p:nvSpPr>
        <p:spPr>
          <a:xfrm>
            <a:off x="5277293" y="368772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Employees</a:t>
            </a:r>
          </a:p>
        </p:txBody>
      </p:sp>
      <p:sp>
        <p:nvSpPr>
          <p:cNvPr id="9" name="Rectangle: Rounded Corners 8">
            <a:extLst>
              <a:ext uri="{FF2B5EF4-FFF2-40B4-BE49-F238E27FC236}">
                <a16:creationId xmlns:a16="http://schemas.microsoft.com/office/drawing/2014/main" id="{0CEEC69C-CC3E-ED3F-0CC1-641D39D253DD}"/>
              </a:ext>
            </a:extLst>
          </p:cNvPr>
          <p:cNvSpPr/>
          <p:nvPr/>
        </p:nvSpPr>
        <p:spPr>
          <a:xfrm>
            <a:off x="5277293" y="3152553"/>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Directors</a:t>
            </a:r>
          </a:p>
        </p:txBody>
      </p:sp>
      <p:sp>
        <p:nvSpPr>
          <p:cNvPr id="11" name="Rectangle: Rounded Corners 10">
            <a:extLst>
              <a:ext uri="{FF2B5EF4-FFF2-40B4-BE49-F238E27FC236}">
                <a16:creationId xmlns:a16="http://schemas.microsoft.com/office/drawing/2014/main" id="{2B263B6F-5E46-B232-A652-29C9C255A628}"/>
              </a:ext>
            </a:extLst>
          </p:cNvPr>
          <p:cNvSpPr/>
          <p:nvPr/>
        </p:nvSpPr>
        <p:spPr>
          <a:xfrm>
            <a:off x="5277293" y="426011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Contractors</a:t>
            </a:r>
          </a:p>
        </p:txBody>
      </p:sp>
      <p:sp>
        <p:nvSpPr>
          <p:cNvPr id="17" name="Rectangle: Rounded Corners 16">
            <a:extLst>
              <a:ext uri="{FF2B5EF4-FFF2-40B4-BE49-F238E27FC236}">
                <a16:creationId xmlns:a16="http://schemas.microsoft.com/office/drawing/2014/main" id="{ECEB74CA-6BFE-F12A-A461-C78ED1E2F8FB}"/>
              </a:ext>
            </a:extLst>
          </p:cNvPr>
          <p:cNvSpPr/>
          <p:nvPr/>
        </p:nvSpPr>
        <p:spPr>
          <a:xfrm>
            <a:off x="8310229" y="190322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Fort Collins</a:t>
            </a:r>
          </a:p>
        </p:txBody>
      </p:sp>
      <p:sp>
        <p:nvSpPr>
          <p:cNvPr id="19" name="Rectangle: Rounded Corners 18">
            <a:extLst>
              <a:ext uri="{FF2B5EF4-FFF2-40B4-BE49-F238E27FC236}">
                <a16:creationId xmlns:a16="http://schemas.microsoft.com/office/drawing/2014/main" id="{2C10627B-21D5-5A96-35BD-8C9B5507438B}"/>
              </a:ext>
            </a:extLst>
          </p:cNvPr>
          <p:cNvSpPr/>
          <p:nvPr/>
        </p:nvSpPr>
        <p:spPr>
          <a:xfrm>
            <a:off x="2766238" y="607916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OSHA</a:t>
            </a:r>
          </a:p>
        </p:txBody>
      </p:sp>
      <p:sp>
        <p:nvSpPr>
          <p:cNvPr id="25" name="Rectangle: Rounded Corners 24">
            <a:extLst>
              <a:ext uri="{FF2B5EF4-FFF2-40B4-BE49-F238E27FC236}">
                <a16:creationId xmlns:a16="http://schemas.microsoft.com/office/drawing/2014/main" id="{A7E9E244-E911-9E33-05C5-6476CB7E3A34}"/>
              </a:ext>
            </a:extLst>
          </p:cNvPr>
          <p:cNvSpPr/>
          <p:nvPr/>
        </p:nvSpPr>
        <p:spPr>
          <a:xfrm>
            <a:off x="2352454" y="1782724"/>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CSU</a:t>
            </a:r>
          </a:p>
        </p:txBody>
      </p:sp>
      <p:sp>
        <p:nvSpPr>
          <p:cNvPr id="27" name="Rectangle: Rounded Corners 26">
            <a:extLst>
              <a:ext uri="{FF2B5EF4-FFF2-40B4-BE49-F238E27FC236}">
                <a16:creationId xmlns:a16="http://schemas.microsoft.com/office/drawing/2014/main" id="{D0B173C6-D49A-7B91-D36A-F53CD890B1CE}"/>
              </a:ext>
            </a:extLst>
          </p:cNvPr>
          <p:cNvSpPr/>
          <p:nvPr/>
        </p:nvSpPr>
        <p:spPr>
          <a:xfrm>
            <a:off x="6434470" y="5374758"/>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Competitors</a:t>
            </a:r>
          </a:p>
        </p:txBody>
      </p:sp>
      <p:sp>
        <p:nvSpPr>
          <p:cNvPr id="29" name="Rectangle: Rounded Corners 28">
            <a:extLst>
              <a:ext uri="{FF2B5EF4-FFF2-40B4-BE49-F238E27FC236}">
                <a16:creationId xmlns:a16="http://schemas.microsoft.com/office/drawing/2014/main" id="{C6AF6540-3DB5-1046-7B4B-4E1E7D1A08A5}"/>
              </a:ext>
            </a:extLst>
          </p:cNvPr>
          <p:cNvSpPr/>
          <p:nvPr/>
        </p:nvSpPr>
        <p:spPr>
          <a:xfrm>
            <a:off x="4091764" y="535880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Customers</a:t>
            </a:r>
          </a:p>
        </p:txBody>
      </p:sp>
      <p:sp>
        <p:nvSpPr>
          <p:cNvPr id="31" name="Rectangle: Rounded Corners 30">
            <a:extLst>
              <a:ext uri="{FF2B5EF4-FFF2-40B4-BE49-F238E27FC236}">
                <a16:creationId xmlns:a16="http://schemas.microsoft.com/office/drawing/2014/main" id="{1A292A79-99B9-F70B-402A-D68C80258877}"/>
              </a:ext>
            </a:extLst>
          </p:cNvPr>
          <p:cNvSpPr/>
          <p:nvPr/>
        </p:nvSpPr>
        <p:spPr>
          <a:xfrm>
            <a:off x="5309191" y="181639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Contractors / Logistics</a:t>
            </a:r>
          </a:p>
        </p:txBody>
      </p:sp>
      <p:sp>
        <p:nvSpPr>
          <p:cNvPr id="33" name="Rectangle: Rounded Corners 32">
            <a:extLst>
              <a:ext uri="{FF2B5EF4-FFF2-40B4-BE49-F238E27FC236}">
                <a16:creationId xmlns:a16="http://schemas.microsoft.com/office/drawing/2014/main" id="{F05ECBB2-7574-18F4-FBA4-11A4B56D3B16}"/>
              </a:ext>
            </a:extLst>
          </p:cNvPr>
          <p:cNvSpPr/>
          <p:nvPr/>
        </p:nvSpPr>
        <p:spPr>
          <a:xfrm>
            <a:off x="2766238" y="363101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Equipment Suppliers</a:t>
            </a:r>
          </a:p>
        </p:txBody>
      </p:sp>
      <p:sp>
        <p:nvSpPr>
          <p:cNvPr id="35" name="Rectangle: Rounded Corners 34">
            <a:extLst>
              <a:ext uri="{FF2B5EF4-FFF2-40B4-BE49-F238E27FC236}">
                <a16:creationId xmlns:a16="http://schemas.microsoft.com/office/drawing/2014/main" id="{02B2647F-3966-5A60-ADF5-5427652ECC11}"/>
              </a:ext>
            </a:extLst>
          </p:cNvPr>
          <p:cNvSpPr/>
          <p:nvPr/>
        </p:nvSpPr>
        <p:spPr>
          <a:xfrm>
            <a:off x="7605823" y="371253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Chemical Suppliers</a:t>
            </a:r>
          </a:p>
        </p:txBody>
      </p:sp>
      <p:sp>
        <p:nvSpPr>
          <p:cNvPr id="37" name="Rectangle: Rounded Corners 36">
            <a:extLst>
              <a:ext uri="{FF2B5EF4-FFF2-40B4-BE49-F238E27FC236}">
                <a16:creationId xmlns:a16="http://schemas.microsoft.com/office/drawing/2014/main" id="{3A2871C3-7C39-9011-88DF-EC8FE0D6AF7C}"/>
              </a:ext>
            </a:extLst>
          </p:cNvPr>
          <p:cNvSpPr/>
          <p:nvPr/>
        </p:nvSpPr>
        <p:spPr>
          <a:xfrm>
            <a:off x="8100236" y="617619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US Govt</a:t>
            </a:r>
          </a:p>
        </p:txBody>
      </p:sp>
      <p:sp>
        <p:nvSpPr>
          <p:cNvPr id="45" name="Oval 44">
            <a:extLst>
              <a:ext uri="{FF2B5EF4-FFF2-40B4-BE49-F238E27FC236}">
                <a16:creationId xmlns:a16="http://schemas.microsoft.com/office/drawing/2014/main" id="{2A42D948-362D-856A-5785-1F25878B8A75}"/>
              </a:ext>
            </a:extLst>
          </p:cNvPr>
          <p:cNvSpPr/>
          <p:nvPr/>
        </p:nvSpPr>
        <p:spPr>
          <a:xfrm>
            <a:off x="164044" y="2381688"/>
            <a:ext cx="421509" cy="36682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23A31068-81D2-918C-9FAA-A366193382EF}"/>
              </a:ext>
            </a:extLst>
          </p:cNvPr>
          <p:cNvSpPr/>
          <p:nvPr/>
        </p:nvSpPr>
        <p:spPr>
          <a:xfrm>
            <a:off x="164044" y="1836471"/>
            <a:ext cx="421509" cy="334933"/>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9" name="Oval 48">
            <a:extLst>
              <a:ext uri="{FF2B5EF4-FFF2-40B4-BE49-F238E27FC236}">
                <a16:creationId xmlns:a16="http://schemas.microsoft.com/office/drawing/2014/main" id="{F1F201ED-4870-D10B-54A5-4123E6196C4E}"/>
              </a:ext>
            </a:extLst>
          </p:cNvPr>
          <p:cNvSpPr/>
          <p:nvPr/>
        </p:nvSpPr>
        <p:spPr>
          <a:xfrm>
            <a:off x="186070" y="1249108"/>
            <a:ext cx="409353" cy="334933"/>
          </a:xfrm>
          <a:prstGeom prst="ellipse">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dirty="0"/>
          </a:p>
        </p:txBody>
      </p:sp>
      <p:sp>
        <p:nvSpPr>
          <p:cNvPr id="50" name="TextBox 49">
            <a:extLst>
              <a:ext uri="{FF2B5EF4-FFF2-40B4-BE49-F238E27FC236}">
                <a16:creationId xmlns:a16="http://schemas.microsoft.com/office/drawing/2014/main" id="{889F8B24-BF62-A44C-D3E3-44EC9C19F352}"/>
              </a:ext>
            </a:extLst>
          </p:cNvPr>
          <p:cNvSpPr txBox="1"/>
          <p:nvPr/>
        </p:nvSpPr>
        <p:spPr>
          <a:xfrm>
            <a:off x="659219" y="1265274"/>
            <a:ext cx="2082045" cy="1477328"/>
          </a:xfrm>
          <a:prstGeom prst="rect">
            <a:avLst/>
          </a:prstGeom>
          <a:noFill/>
        </p:spPr>
        <p:txBody>
          <a:bodyPr wrap="none" rtlCol="0">
            <a:spAutoFit/>
          </a:bodyPr>
          <a:lstStyle/>
          <a:p>
            <a:r>
              <a:rPr lang="en-US" dirty="0"/>
              <a:t>Macro/Environment</a:t>
            </a:r>
          </a:p>
          <a:p>
            <a:endParaRPr lang="en-US" dirty="0"/>
          </a:p>
          <a:p>
            <a:r>
              <a:rPr lang="en-US" dirty="0"/>
              <a:t>External</a:t>
            </a:r>
          </a:p>
          <a:p>
            <a:endParaRPr lang="en-US" dirty="0"/>
          </a:p>
          <a:p>
            <a:r>
              <a:rPr lang="en-US" dirty="0"/>
              <a:t>Internal</a:t>
            </a:r>
          </a:p>
        </p:txBody>
      </p:sp>
    </p:spTree>
    <p:extLst>
      <p:ext uri="{BB962C8B-B14F-4D97-AF65-F5344CB8AC3E}">
        <p14:creationId xmlns:p14="http://schemas.microsoft.com/office/powerpoint/2010/main" val="1233806995"/>
      </p:ext>
    </p:extLst>
  </p:cSld>
  <p:clrMapOvr>
    <a:masterClrMapping/>
  </p:clrMapOvr>
</p:sld>
</file>

<file path=ppt/theme/theme1.xml><?xml version="1.0" encoding="utf-8"?>
<a:theme xmlns:a="http://schemas.openxmlformats.org/drawingml/2006/main" name="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DC0FB67F-5B06-4928-B3F0-FC0DCE5287E7}"/>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1F5A5870-A316-4A9C-AC88-DA6A89CC5572}"/>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Business Profile Assignment Template</Template>
  <TotalTime>1376</TotalTime>
  <Words>1200</Words>
  <Application>Microsoft Office PowerPoint</Application>
  <PresentationFormat>Widescreen</PresentationFormat>
  <Paragraphs>95</Paragraphs>
  <Slides>6</Slides>
  <Notes>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6</vt:i4>
      </vt:variant>
    </vt:vector>
  </HeadingPairs>
  <TitlesOfParts>
    <vt:vector size="13" baseType="lpstr">
      <vt:lpstr>Arial</vt:lpstr>
      <vt:lpstr>Calibri</vt:lpstr>
      <vt:lpstr>Calibri Light</vt:lpstr>
      <vt:lpstr>Helvetica</vt:lpstr>
      <vt:lpstr>Wingdings</vt:lpstr>
      <vt:lpstr>Custom Design</vt:lpstr>
      <vt:lpstr>1_Custom Design</vt:lpstr>
      <vt:lpstr>Student Name</vt:lpstr>
      <vt:lpstr>Business Profile – Overview </vt:lpstr>
      <vt:lpstr>Business Profile – Overview </vt:lpstr>
      <vt:lpstr>Business Profile – Description </vt:lpstr>
      <vt:lpstr>Business Profile – Organization Structure</vt:lpstr>
      <vt:lpstr>Business Profile – Organizational Stakeholders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Arneson,Shelly</dc:creator>
  <cp:lastModifiedBy>adam cyrus</cp:lastModifiedBy>
  <cp:revision>17</cp:revision>
  <dcterms:created xsi:type="dcterms:W3CDTF">2020-08-16T19:57:45Z</dcterms:created>
  <dcterms:modified xsi:type="dcterms:W3CDTF">2026-09-03T00:54:41Z</dcterms:modified>
</cp:coreProperties>
</file>