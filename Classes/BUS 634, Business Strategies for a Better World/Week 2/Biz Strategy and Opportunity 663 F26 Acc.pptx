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iff" ContentType="image/tiff"/>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6"/>
  </p:notesMasterIdLst>
  <p:handoutMasterIdLst>
    <p:handoutMasterId r:id="rId67"/>
  </p:handoutMasterIdLst>
  <p:sldIdLst>
    <p:sldId id="287" r:id="rId2"/>
    <p:sldId id="1458" r:id="rId3"/>
    <p:sldId id="1503" r:id="rId4"/>
    <p:sldId id="408" r:id="rId5"/>
    <p:sldId id="1506" r:id="rId6"/>
    <p:sldId id="335" r:id="rId7"/>
    <p:sldId id="407" r:id="rId8"/>
    <p:sldId id="337" r:id="rId9"/>
    <p:sldId id="1504" r:id="rId10"/>
    <p:sldId id="380" r:id="rId11"/>
    <p:sldId id="1452" r:id="rId12"/>
    <p:sldId id="332" r:id="rId13"/>
    <p:sldId id="1465" r:id="rId14"/>
    <p:sldId id="339" r:id="rId15"/>
    <p:sldId id="415" r:id="rId16"/>
    <p:sldId id="371" r:id="rId17"/>
    <p:sldId id="372" r:id="rId18"/>
    <p:sldId id="1456" r:id="rId19"/>
    <p:sldId id="413" r:id="rId20"/>
    <p:sldId id="358" r:id="rId21"/>
    <p:sldId id="1469" r:id="rId22"/>
    <p:sldId id="666" r:id="rId23"/>
    <p:sldId id="1505" r:id="rId24"/>
    <p:sldId id="1499" r:id="rId25"/>
    <p:sldId id="1459" r:id="rId26"/>
    <p:sldId id="677" r:id="rId27"/>
    <p:sldId id="397" r:id="rId28"/>
    <p:sldId id="434" r:id="rId29"/>
    <p:sldId id="435" r:id="rId30"/>
    <p:sldId id="399" r:id="rId31"/>
    <p:sldId id="400" r:id="rId32"/>
    <p:sldId id="401" r:id="rId33"/>
    <p:sldId id="402" r:id="rId34"/>
    <p:sldId id="403" r:id="rId35"/>
    <p:sldId id="1460" r:id="rId36"/>
    <p:sldId id="405" r:id="rId37"/>
    <p:sldId id="1461" r:id="rId38"/>
    <p:sldId id="1462" r:id="rId39"/>
    <p:sldId id="1463" r:id="rId40"/>
    <p:sldId id="1464" r:id="rId41"/>
    <p:sldId id="1457" r:id="rId42"/>
    <p:sldId id="1468" r:id="rId43"/>
    <p:sldId id="376" r:id="rId44"/>
    <p:sldId id="351" r:id="rId45"/>
    <p:sldId id="446" r:id="rId46"/>
    <p:sldId id="404" r:id="rId47"/>
    <p:sldId id="665" r:id="rId48"/>
    <p:sldId id="348" r:id="rId49"/>
    <p:sldId id="349" r:id="rId50"/>
    <p:sldId id="350" r:id="rId51"/>
    <p:sldId id="347" r:id="rId52"/>
    <p:sldId id="379" r:id="rId53"/>
    <p:sldId id="409" r:id="rId54"/>
    <p:sldId id="1453" r:id="rId55"/>
    <p:sldId id="410" r:id="rId56"/>
    <p:sldId id="344" r:id="rId57"/>
    <p:sldId id="417" r:id="rId58"/>
    <p:sldId id="1500" r:id="rId59"/>
    <p:sldId id="431" r:id="rId60"/>
    <p:sldId id="1498" r:id="rId61"/>
    <p:sldId id="373" r:id="rId62"/>
    <p:sldId id="374" r:id="rId63"/>
    <p:sldId id="1412" r:id="rId64"/>
    <p:sldId id="281" r:id="rId65"/>
  </p:sldIdLst>
  <p:sldSz cx="13817600" cy="7772400"/>
  <p:notesSz cx="6858000" cy="9144000"/>
  <p:defaultTextStyle>
    <a:defPPr>
      <a:defRPr lang="en-US"/>
    </a:defPPr>
    <a:lvl1pPr marL="0" algn="l" defTabSz="509292" rtl="0" eaLnBrk="1" latinLnBrk="0" hangingPunct="1">
      <a:defRPr sz="2000" kern="1200">
        <a:solidFill>
          <a:schemeClr val="tx1"/>
        </a:solidFill>
        <a:latin typeface="+mn-lt"/>
        <a:ea typeface="+mn-ea"/>
        <a:cs typeface="+mn-cs"/>
      </a:defRPr>
    </a:lvl1pPr>
    <a:lvl2pPr marL="509292" algn="l" defTabSz="509292" rtl="0" eaLnBrk="1" latinLnBrk="0" hangingPunct="1">
      <a:defRPr sz="2000" kern="1200">
        <a:solidFill>
          <a:schemeClr val="tx1"/>
        </a:solidFill>
        <a:latin typeface="+mn-lt"/>
        <a:ea typeface="+mn-ea"/>
        <a:cs typeface="+mn-cs"/>
      </a:defRPr>
    </a:lvl2pPr>
    <a:lvl3pPr marL="1018586" algn="l" defTabSz="509292" rtl="0" eaLnBrk="1" latinLnBrk="0" hangingPunct="1">
      <a:defRPr sz="2000" kern="1200">
        <a:solidFill>
          <a:schemeClr val="tx1"/>
        </a:solidFill>
        <a:latin typeface="+mn-lt"/>
        <a:ea typeface="+mn-ea"/>
        <a:cs typeface="+mn-cs"/>
      </a:defRPr>
    </a:lvl3pPr>
    <a:lvl4pPr marL="1527879" algn="l" defTabSz="509292" rtl="0" eaLnBrk="1" latinLnBrk="0" hangingPunct="1">
      <a:defRPr sz="2000" kern="1200">
        <a:solidFill>
          <a:schemeClr val="tx1"/>
        </a:solidFill>
        <a:latin typeface="+mn-lt"/>
        <a:ea typeface="+mn-ea"/>
        <a:cs typeface="+mn-cs"/>
      </a:defRPr>
    </a:lvl4pPr>
    <a:lvl5pPr marL="2037173" algn="l" defTabSz="509292" rtl="0" eaLnBrk="1" latinLnBrk="0" hangingPunct="1">
      <a:defRPr sz="2000" kern="1200">
        <a:solidFill>
          <a:schemeClr val="tx1"/>
        </a:solidFill>
        <a:latin typeface="+mn-lt"/>
        <a:ea typeface="+mn-ea"/>
        <a:cs typeface="+mn-cs"/>
      </a:defRPr>
    </a:lvl5pPr>
    <a:lvl6pPr marL="2546466" algn="l" defTabSz="509292" rtl="0" eaLnBrk="1" latinLnBrk="0" hangingPunct="1">
      <a:defRPr sz="2000" kern="1200">
        <a:solidFill>
          <a:schemeClr val="tx1"/>
        </a:solidFill>
        <a:latin typeface="+mn-lt"/>
        <a:ea typeface="+mn-ea"/>
        <a:cs typeface="+mn-cs"/>
      </a:defRPr>
    </a:lvl6pPr>
    <a:lvl7pPr marL="3055758" algn="l" defTabSz="509292" rtl="0" eaLnBrk="1" latinLnBrk="0" hangingPunct="1">
      <a:defRPr sz="2000" kern="1200">
        <a:solidFill>
          <a:schemeClr val="tx1"/>
        </a:solidFill>
        <a:latin typeface="+mn-lt"/>
        <a:ea typeface="+mn-ea"/>
        <a:cs typeface="+mn-cs"/>
      </a:defRPr>
    </a:lvl7pPr>
    <a:lvl8pPr marL="3565052" algn="l" defTabSz="509292" rtl="0" eaLnBrk="1" latinLnBrk="0" hangingPunct="1">
      <a:defRPr sz="2000" kern="1200">
        <a:solidFill>
          <a:schemeClr val="tx1"/>
        </a:solidFill>
        <a:latin typeface="+mn-lt"/>
        <a:ea typeface="+mn-ea"/>
        <a:cs typeface="+mn-cs"/>
      </a:defRPr>
    </a:lvl8pPr>
    <a:lvl9pPr marL="4074344" algn="l" defTabSz="509292" rtl="0" eaLnBrk="1" latinLnBrk="0" hangingPunct="1">
      <a:defRPr sz="20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4352"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2529"/>
    <a:srgbClr val="1E4D2B"/>
    <a:srgbClr val="C10065"/>
    <a:srgbClr val="CC006A"/>
    <a:srgbClr val="404140"/>
    <a:srgbClr val="DAD490"/>
    <a:srgbClr val="E1963E"/>
    <a:srgbClr val="7F7F7F"/>
    <a:srgbClr val="E57D30"/>
    <a:srgbClr val="55A89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053" autoAdjust="0"/>
    <p:restoredTop sz="72618" autoAdjust="0"/>
  </p:normalViewPr>
  <p:slideViewPr>
    <p:cSldViewPr snapToGrid="0" snapToObjects="1">
      <p:cViewPr varScale="1">
        <p:scale>
          <a:sx n="122" d="100"/>
          <a:sy n="122" d="100"/>
        </p:scale>
        <p:origin x="216" y="664"/>
      </p:cViewPr>
      <p:guideLst>
        <p:guide orient="horz" pos="2448"/>
        <p:guide pos="435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35" d="100"/>
        <a:sy n="135" d="100"/>
      </p:scale>
      <p:origin x="0" y="0"/>
    </p:cViewPr>
  </p:sorterViewPr>
  <p:notesViewPr>
    <p:cSldViewPr snapToGrid="0" snapToObjects="1">
      <p:cViewPr varScale="1">
        <p:scale>
          <a:sx n="166" d="100"/>
          <a:sy n="166" d="100"/>
        </p:scale>
        <p:origin x="1528" y="20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D7E51A5-B478-1E40-8CBB-0DAA8831E99D}" type="datetimeFigureOut">
              <a:rPr lang="en-US" smtClean="0"/>
              <a:t>9/2/26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FAAD578-DED7-9640-8F31-2B6A02B2A2D3}" type="slidenum">
              <a:rPr lang="en-US" smtClean="0"/>
              <a:t>‹#›</a:t>
            </a:fld>
            <a:endParaRPr lang="en-US"/>
          </a:p>
        </p:txBody>
      </p:sp>
    </p:spTree>
    <p:extLst>
      <p:ext uri="{BB962C8B-B14F-4D97-AF65-F5344CB8AC3E}">
        <p14:creationId xmlns:p14="http://schemas.microsoft.com/office/powerpoint/2010/main" val="34757782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ED587F-861E-6740-9643-E3DDAE89B8D6}" type="datetimeFigureOut">
              <a:rPr lang="en-US" smtClean="0"/>
              <a:t>9/2/26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032F50-0B60-B34B-8422-4E195A5AE2C1}" type="slidenum">
              <a:rPr lang="en-US" smtClean="0"/>
              <a:t>‹#›</a:t>
            </a:fld>
            <a:endParaRPr lang="en-US"/>
          </a:p>
        </p:txBody>
      </p:sp>
    </p:spTree>
    <p:extLst>
      <p:ext uri="{BB962C8B-B14F-4D97-AF65-F5344CB8AC3E}">
        <p14:creationId xmlns:p14="http://schemas.microsoft.com/office/powerpoint/2010/main" val="15685432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en.wikipedia.org/wiki/Herfindahl_index#cite_note-5"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A032F50-0B60-B34B-8422-4E195A5AE2C1}" type="slidenum">
              <a:rPr lang="en-US" smtClean="0"/>
              <a:t>1</a:t>
            </a:fld>
            <a:endParaRPr lang="en-US"/>
          </a:p>
        </p:txBody>
      </p:sp>
    </p:spTree>
    <p:extLst>
      <p:ext uri="{BB962C8B-B14F-4D97-AF65-F5344CB8AC3E}">
        <p14:creationId xmlns:p14="http://schemas.microsoft.com/office/powerpoint/2010/main" val="25777953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A032F50-0B60-B34B-8422-4E195A5AE2C1}" type="slidenum">
              <a:rPr lang="en-US" smtClean="0"/>
              <a:t>2</a:t>
            </a:fld>
            <a:endParaRPr lang="en-US"/>
          </a:p>
        </p:txBody>
      </p:sp>
    </p:spTree>
    <p:extLst>
      <p:ext uri="{BB962C8B-B14F-4D97-AF65-F5344CB8AC3E}">
        <p14:creationId xmlns:p14="http://schemas.microsoft.com/office/powerpoint/2010/main" val="21495664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A032F50-0B60-B34B-8422-4E195A5AE2C1}" type="slidenum">
              <a:rPr lang="en-US" smtClean="0"/>
              <a:t>3</a:t>
            </a:fld>
            <a:endParaRPr lang="en-US"/>
          </a:p>
        </p:txBody>
      </p:sp>
    </p:spTree>
    <p:extLst>
      <p:ext uri="{BB962C8B-B14F-4D97-AF65-F5344CB8AC3E}">
        <p14:creationId xmlns:p14="http://schemas.microsoft.com/office/powerpoint/2010/main" val="34267421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A032F50-0B60-B34B-8422-4E195A5AE2C1}" type="slidenum">
              <a:rPr lang="en-US" smtClean="0"/>
              <a:t>4</a:t>
            </a:fld>
            <a:endParaRPr lang="en-US"/>
          </a:p>
        </p:txBody>
      </p:sp>
    </p:spTree>
    <p:extLst>
      <p:ext uri="{BB962C8B-B14F-4D97-AF65-F5344CB8AC3E}">
        <p14:creationId xmlns:p14="http://schemas.microsoft.com/office/powerpoint/2010/main" val="22518939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CDB46-53F0-9C27-7FBF-5D06B87B43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D8DD4B-4F88-0DB7-76A8-8A87935E03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C6E719-CD0A-6B56-8B3D-E133992DACD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BBB318D-3316-3F86-540C-5939475599F7}"/>
              </a:ext>
            </a:extLst>
          </p:cNvPr>
          <p:cNvSpPr>
            <a:spLocks noGrp="1"/>
          </p:cNvSpPr>
          <p:nvPr>
            <p:ph type="sldNum" sz="quarter" idx="10"/>
          </p:nvPr>
        </p:nvSpPr>
        <p:spPr/>
        <p:txBody>
          <a:bodyPr/>
          <a:lstStyle/>
          <a:p>
            <a:fld id="{1A032F50-0B60-B34B-8422-4E195A5AE2C1}" type="slidenum">
              <a:rPr lang="en-US" smtClean="0"/>
              <a:t>5</a:t>
            </a:fld>
            <a:endParaRPr lang="en-US"/>
          </a:p>
        </p:txBody>
      </p:sp>
    </p:spTree>
    <p:extLst>
      <p:ext uri="{BB962C8B-B14F-4D97-AF65-F5344CB8AC3E}">
        <p14:creationId xmlns:p14="http://schemas.microsoft.com/office/powerpoint/2010/main" val="38745596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A032F50-0B60-B34B-8422-4E195A5AE2C1}" type="slidenum">
              <a:rPr lang="en-US" smtClean="0"/>
              <a:t>6</a:t>
            </a:fld>
            <a:endParaRPr lang="en-US"/>
          </a:p>
        </p:txBody>
      </p:sp>
    </p:spTree>
    <p:extLst>
      <p:ext uri="{BB962C8B-B14F-4D97-AF65-F5344CB8AC3E}">
        <p14:creationId xmlns:p14="http://schemas.microsoft.com/office/powerpoint/2010/main" val="34829268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A032F50-0B60-B34B-8422-4E195A5AE2C1}" type="slidenum">
              <a:rPr lang="en-US" smtClean="0"/>
              <a:t>7</a:t>
            </a:fld>
            <a:endParaRPr lang="en-US"/>
          </a:p>
        </p:txBody>
      </p:sp>
    </p:spTree>
    <p:extLst>
      <p:ext uri="{BB962C8B-B14F-4D97-AF65-F5344CB8AC3E}">
        <p14:creationId xmlns:p14="http://schemas.microsoft.com/office/powerpoint/2010/main" val="39639271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23907"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9050" tIns="0" rIns="19050" bIns="0" anchor="b"/>
          <a:lstStyle/>
          <a:p>
            <a:pPr algn="r"/>
            <a:r>
              <a:rPr lang="en-US" altLang="en-US" sz="1000" i="1"/>
              <a:t>59</a:t>
            </a:r>
          </a:p>
        </p:txBody>
      </p:sp>
      <p:sp>
        <p:nvSpPr>
          <p:cNvPr id="123908"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23909"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23910" name="Rectangle 6"/>
          <p:cNvSpPr>
            <a:spLocks noGrp="1" noRot="1" noChangeAspect="1" noChangeArrowheads="1" noTextEdit="1"/>
          </p:cNvSpPr>
          <p:nvPr>
            <p:ph type="sldImg"/>
          </p:nvPr>
        </p:nvSpPr>
        <p:spPr>
          <a:xfrm>
            <a:off x="393700" y="692150"/>
            <a:ext cx="6070600" cy="3416300"/>
          </a:xfrm>
          <a:ln cap="flat"/>
        </p:spPr>
      </p:sp>
      <p:sp>
        <p:nvSpPr>
          <p:cNvPr id="123911" name="Rectangle 7"/>
          <p:cNvSpPr>
            <a:spLocks noGrp="1" noChangeArrowheads="1"/>
          </p:cNvSpPr>
          <p:nvPr>
            <p:ph type="body" idx="1"/>
          </p:nvPr>
        </p:nvSpPr>
        <p:spPr>
          <a:ln/>
        </p:spPr>
        <p:txBody>
          <a:bodyPr/>
          <a:lstStyle/>
          <a:p>
            <a:endParaRPr lang="en-US" altLang="en-US"/>
          </a:p>
        </p:txBody>
      </p:sp>
    </p:spTree>
    <p:extLst>
      <p:ext uri="{BB962C8B-B14F-4D97-AF65-F5344CB8AC3E}">
        <p14:creationId xmlns:p14="http://schemas.microsoft.com/office/powerpoint/2010/main" val="911247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A032F50-0B60-B34B-8422-4E195A5AE2C1}" type="slidenum">
              <a:rPr lang="en-US" smtClean="0"/>
              <a:t>10</a:t>
            </a:fld>
            <a:endParaRPr lang="en-US"/>
          </a:p>
        </p:txBody>
      </p:sp>
    </p:spTree>
    <p:extLst>
      <p:ext uri="{BB962C8B-B14F-4D97-AF65-F5344CB8AC3E}">
        <p14:creationId xmlns:p14="http://schemas.microsoft.com/office/powerpoint/2010/main" val="7369025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A032F50-0B60-B34B-8422-4E195A5AE2C1}" type="slidenum">
              <a:rPr lang="en-US" smtClean="0"/>
              <a:t>11</a:t>
            </a:fld>
            <a:endParaRPr lang="en-US"/>
          </a:p>
        </p:txBody>
      </p:sp>
    </p:spTree>
    <p:extLst>
      <p:ext uri="{BB962C8B-B14F-4D97-AF65-F5344CB8AC3E}">
        <p14:creationId xmlns:p14="http://schemas.microsoft.com/office/powerpoint/2010/main" val="15789862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A032F50-0B60-B34B-8422-4E195A5AE2C1}" type="slidenum">
              <a:rPr lang="en-US" smtClean="0"/>
              <a:t>12</a:t>
            </a:fld>
            <a:endParaRPr lang="en-US"/>
          </a:p>
        </p:txBody>
      </p:sp>
    </p:spTree>
    <p:extLst>
      <p:ext uri="{BB962C8B-B14F-4D97-AF65-F5344CB8AC3E}">
        <p14:creationId xmlns:p14="http://schemas.microsoft.com/office/powerpoint/2010/main" val="38569738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A032F50-0B60-B34B-8422-4E195A5AE2C1}" type="slidenum">
              <a:rPr lang="en-US" smtClean="0"/>
              <a:t>13</a:t>
            </a:fld>
            <a:endParaRPr lang="en-US"/>
          </a:p>
        </p:txBody>
      </p:sp>
    </p:spTree>
    <p:extLst>
      <p:ext uri="{BB962C8B-B14F-4D97-AF65-F5344CB8AC3E}">
        <p14:creationId xmlns:p14="http://schemas.microsoft.com/office/powerpoint/2010/main" val="40499820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Arial" charset="0"/>
                <a:ea typeface="ＭＳ Ｐゴシック" charset="-128"/>
              </a:defRPr>
            </a:lvl1pPr>
            <a:lvl2pPr marL="742950" indent="-285750" defTabSz="931863">
              <a:spcBef>
                <a:spcPct val="30000"/>
              </a:spcBef>
              <a:defRPr sz="1200">
                <a:solidFill>
                  <a:schemeClr val="tx1"/>
                </a:solidFill>
                <a:latin typeface="Arial" charset="0"/>
                <a:ea typeface="ＭＳ Ｐゴシック" charset="-128"/>
              </a:defRPr>
            </a:lvl2pPr>
            <a:lvl3pPr marL="1143000" indent="-228600" defTabSz="931863">
              <a:spcBef>
                <a:spcPct val="30000"/>
              </a:spcBef>
              <a:defRPr sz="1200">
                <a:solidFill>
                  <a:schemeClr val="tx1"/>
                </a:solidFill>
                <a:latin typeface="Arial" charset="0"/>
                <a:ea typeface="ＭＳ Ｐゴシック" charset="-128"/>
              </a:defRPr>
            </a:lvl3pPr>
            <a:lvl4pPr marL="1600200" indent="-228600" defTabSz="931863">
              <a:spcBef>
                <a:spcPct val="30000"/>
              </a:spcBef>
              <a:defRPr sz="1200">
                <a:solidFill>
                  <a:schemeClr val="tx1"/>
                </a:solidFill>
                <a:latin typeface="Arial" charset="0"/>
                <a:ea typeface="ＭＳ Ｐゴシック" charset="-128"/>
              </a:defRPr>
            </a:lvl4pPr>
            <a:lvl5pPr marL="2057400" indent="-228600" defTabSz="931863">
              <a:spcBef>
                <a:spcPct val="30000"/>
              </a:spcBef>
              <a:defRPr sz="1200">
                <a:solidFill>
                  <a:schemeClr val="tx1"/>
                </a:solidFill>
                <a:latin typeface="Arial" charset="0"/>
                <a:ea typeface="ＭＳ Ｐゴシック" charset="-128"/>
              </a:defRPr>
            </a:lvl5pPr>
            <a:lvl6pPr marL="2514600" indent="-228600" defTabSz="931863" eaLnBrk="0" fontAlgn="base" hangingPunct="0">
              <a:spcBef>
                <a:spcPct val="30000"/>
              </a:spcBef>
              <a:spcAft>
                <a:spcPct val="0"/>
              </a:spcAft>
              <a:defRPr sz="1200">
                <a:solidFill>
                  <a:schemeClr val="tx1"/>
                </a:solidFill>
                <a:latin typeface="Arial" charset="0"/>
                <a:ea typeface="ＭＳ Ｐゴシック" charset="-128"/>
              </a:defRPr>
            </a:lvl6pPr>
            <a:lvl7pPr marL="2971800" indent="-228600" defTabSz="931863" eaLnBrk="0" fontAlgn="base" hangingPunct="0">
              <a:spcBef>
                <a:spcPct val="30000"/>
              </a:spcBef>
              <a:spcAft>
                <a:spcPct val="0"/>
              </a:spcAft>
              <a:defRPr sz="1200">
                <a:solidFill>
                  <a:schemeClr val="tx1"/>
                </a:solidFill>
                <a:latin typeface="Arial" charset="0"/>
                <a:ea typeface="ＭＳ Ｐゴシック" charset="-128"/>
              </a:defRPr>
            </a:lvl7pPr>
            <a:lvl8pPr marL="3429000" indent="-228600" defTabSz="931863" eaLnBrk="0" fontAlgn="base" hangingPunct="0">
              <a:spcBef>
                <a:spcPct val="30000"/>
              </a:spcBef>
              <a:spcAft>
                <a:spcPct val="0"/>
              </a:spcAft>
              <a:defRPr sz="1200">
                <a:solidFill>
                  <a:schemeClr val="tx1"/>
                </a:solidFill>
                <a:latin typeface="Arial" charset="0"/>
                <a:ea typeface="ＭＳ Ｐゴシック" charset="-128"/>
              </a:defRPr>
            </a:lvl8pPr>
            <a:lvl9pPr marL="3886200" indent="-228600" defTabSz="931863" eaLnBrk="0" fontAlgn="base" hangingPunct="0">
              <a:spcBef>
                <a:spcPct val="30000"/>
              </a:spcBef>
              <a:spcAft>
                <a:spcPct val="0"/>
              </a:spcAft>
              <a:defRPr sz="1200">
                <a:solidFill>
                  <a:schemeClr val="tx1"/>
                </a:solidFill>
                <a:latin typeface="Arial" charset="0"/>
                <a:ea typeface="ＭＳ Ｐゴシック" charset="-128"/>
              </a:defRPr>
            </a:lvl9pPr>
          </a:lstStyle>
          <a:p>
            <a:pPr>
              <a:spcBef>
                <a:spcPct val="0"/>
              </a:spcBef>
            </a:pPr>
            <a:fld id="{0F7EFC33-52E0-784E-99DB-DEE60CC749F4}" type="slidenum">
              <a:rPr lang="en-US" altLang="en-US"/>
              <a:pPr>
                <a:spcBef>
                  <a:spcPct val="0"/>
                </a:spcBef>
              </a:pPr>
              <a:t>14</a:t>
            </a:fld>
            <a:endParaRPr lang="en-US" altLang="en-US"/>
          </a:p>
        </p:txBody>
      </p:sp>
      <p:sp>
        <p:nvSpPr>
          <p:cNvPr id="154626" name="Rectangle 2"/>
          <p:cNvSpPr>
            <a:spLocks noGrp="1" noRot="1" noChangeAspect="1" noChangeArrowheads="1" noTextEdit="1"/>
          </p:cNvSpPr>
          <p:nvPr>
            <p:ph type="sldImg"/>
          </p:nvPr>
        </p:nvSpPr>
        <p:spPr>
          <a:ln/>
        </p:spPr>
      </p:sp>
      <p:sp>
        <p:nvSpPr>
          <p:cNvPr id="15462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ltLang="en-US">
              <a:latin typeface="Arial" charset="0"/>
              <a:ea typeface="ＭＳ Ｐゴシック" charset="-128"/>
            </a:endParaRPr>
          </a:p>
        </p:txBody>
      </p:sp>
    </p:spTree>
    <p:extLst>
      <p:ext uri="{BB962C8B-B14F-4D97-AF65-F5344CB8AC3E}">
        <p14:creationId xmlns:p14="http://schemas.microsoft.com/office/powerpoint/2010/main" val="23981737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A032F50-0B60-B34B-8422-4E195A5AE2C1}" type="slidenum">
              <a:rPr lang="en-US" smtClean="0"/>
              <a:t>15</a:t>
            </a:fld>
            <a:endParaRPr lang="en-US"/>
          </a:p>
        </p:txBody>
      </p:sp>
    </p:spTree>
    <p:extLst>
      <p:ext uri="{BB962C8B-B14F-4D97-AF65-F5344CB8AC3E}">
        <p14:creationId xmlns:p14="http://schemas.microsoft.com/office/powerpoint/2010/main" val="9561663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A032F50-0B60-B34B-8422-4E195A5AE2C1}" type="slidenum">
              <a:rPr lang="en-US" smtClean="0"/>
              <a:t>16</a:t>
            </a:fld>
            <a:endParaRPr lang="en-US"/>
          </a:p>
        </p:txBody>
      </p:sp>
    </p:spTree>
    <p:extLst>
      <p:ext uri="{BB962C8B-B14F-4D97-AF65-F5344CB8AC3E}">
        <p14:creationId xmlns:p14="http://schemas.microsoft.com/office/powerpoint/2010/main" val="223446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A032F50-0B60-B34B-8422-4E195A5AE2C1}" type="slidenum">
              <a:rPr lang="en-US" smtClean="0"/>
              <a:t>17</a:t>
            </a:fld>
            <a:endParaRPr lang="en-US"/>
          </a:p>
        </p:txBody>
      </p:sp>
    </p:spTree>
    <p:extLst>
      <p:ext uri="{BB962C8B-B14F-4D97-AF65-F5344CB8AC3E}">
        <p14:creationId xmlns:p14="http://schemas.microsoft.com/office/powerpoint/2010/main" val="29889340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A032F50-0B60-B34B-8422-4E195A5AE2C1}" type="slidenum">
              <a:rPr lang="en-US" smtClean="0"/>
              <a:t>18</a:t>
            </a:fld>
            <a:endParaRPr lang="en-US"/>
          </a:p>
        </p:txBody>
      </p:sp>
    </p:spTree>
    <p:extLst>
      <p:ext uri="{BB962C8B-B14F-4D97-AF65-F5344CB8AC3E}">
        <p14:creationId xmlns:p14="http://schemas.microsoft.com/office/powerpoint/2010/main" val="8954255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A032F50-0B60-B34B-8422-4E195A5AE2C1}" type="slidenum">
              <a:rPr lang="en-US" smtClean="0"/>
              <a:t>19</a:t>
            </a:fld>
            <a:endParaRPr lang="en-US"/>
          </a:p>
        </p:txBody>
      </p:sp>
    </p:spTree>
    <p:extLst>
      <p:ext uri="{BB962C8B-B14F-4D97-AF65-F5344CB8AC3E}">
        <p14:creationId xmlns:p14="http://schemas.microsoft.com/office/powerpoint/2010/main" val="16101757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ＭＳ Ｐゴシック" charset="-128"/>
              </a:defRPr>
            </a:lvl1pPr>
            <a:lvl2pPr marL="742950" indent="-285750">
              <a:defRPr sz="2400">
                <a:solidFill>
                  <a:schemeClr val="tx1"/>
                </a:solidFill>
                <a:latin typeface="Times New Roman" charset="0"/>
                <a:ea typeface="ＭＳ Ｐゴシック" charset="-128"/>
              </a:defRPr>
            </a:lvl2pPr>
            <a:lvl3pPr marL="1143000" indent="-228600">
              <a:defRPr sz="2400">
                <a:solidFill>
                  <a:schemeClr val="tx1"/>
                </a:solidFill>
                <a:latin typeface="Times New Roman" charset="0"/>
                <a:ea typeface="ＭＳ Ｐゴシック" charset="-128"/>
              </a:defRPr>
            </a:lvl3pPr>
            <a:lvl4pPr marL="1600200" indent="-228600">
              <a:defRPr sz="2400">
                <a:solidFill>
                  <a:schemeClr val="tx1"/>
                </a:solidFill>
                <a:latin typeface="Times New Roman" charset="0"/>
                <a:ea typeface="ＭＳ Ｐゴシック" charset="-128"/>
              </a:defRPr>
            </a:lvl4pPr>
            <a:lvl5pPr marL="2057400" indent="-228600">
              <a:defRPr sz="2400">
                <a:solidFill>
                  <a:schemeClr val="tx1"/>
                </a:solidFill>
                <a:latin typeface="Times New Roman" charset="0"/>
                <a:ea typeface="ＭＳ Ｐゴシック" charset="-128"/>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128"/>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128"/>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128"/>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128"/>
              </a:defRPr>
            </a:lvl9pPr>
          </a:lstStyle>
          <a:p>
            <a:fld id="{321CCB66-EB62-AA48-B0FD-075107FE7012}" type="slidenum">
              <a:rPr lang="en-US" altLang="en-US" sz="1200"/>
              <a:pPr/>
              <a:t>20</a:t>
            </a:fld>
            <a:endParaRPr lang="en-US" altLang="en-US" sz="1200"/>
          </a:p>
        </p:txBody>
      </p:sp>
      <p:sp>
        <p:nvSpPr>
          <p:cNvPr id="101378" name="Rectangle 2"/>
          <p:cNvSpPr>
            <a:spLocks noGrp="1" noRot="1" noChangeAspect="1" noChangeArrowheads="1" noTextEdit="1"/>
          </p:cNvSpPr>
          <p:nvPr>
            <p:ph type="sldImg"/>
          </p:nvPr>
        </p:nvSpPr>
        <p:spPr>
          <a:ln/>
        </p:spPr>
      </p:sp>
      <p:sp>
        <p:nvSpPr>
          <p:cNvPr id="1013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charset="0"/>
                <a:ea typeface="ＭＳ Ｐゴシック" charset="-128"/>
              </a:rPr>
              <a:t>In regard to industry concentration, you should report how concentrated or fragmented your industry is.  </a:t>
            </a:r>
          </a:p>
          <a:p>
            <a:pPr eaLnBrk="1" hangingPunct="1"/>
            <a:endParaRPr lang="en-US" altLang="en-US">
              <a:latin typeface="Arial" charset="0"/>
              <a:ea typeface="ＭＳ Ｐゴシック" charset="-128"/>
            </a:endParaRPr>
          </a:p>
          <a:p>
            <a:pPr eaLnBrk="1" hangingPunct="1"/>
            <a:r>
              <a:rPr lang="en-US" altLang="en-US">
                <a:latin typeface="Arial" charset="0"/>
                <a:ea typeface="ＭＳ Ｐゴシック" charset="-128"/>
              </a:rPr>
              <a:t>Concentrated industries are dominated by a few large firms, while fragmented industries include a large number of smaller companies. </a:t>
            </a:r>
          </a:p>
          <a:p>
            <a:pPr eaLnBrk="1" hangingPunct="1"/>
            <a:endParaRPr lang="en-US" altLang="en-US">
              <a:latin typeface="Arial" charset="0"/>
              <a:ea typeface="ＭＳ Ｐゴシック" charset="-128"/>
            </a:endParaRPr>
          </a:p>
          <a:p>
            <a:pPr eaLnBrk="1" hangingPunct="1"/>
            <a:r>
              <a:rPr lang="en-US" altLang="en-US">
                <a:latin typeface="Arial" charset="0"/>
                <a:ea typeface="ＭＳ Ｐゴシック" charset="-128"/>
              </a:rPr>
              <a:t>The second topic regarding industry structure is the general attractiveness (or lack of attractiveness) of an industry</a:t>
            </a:r>
            <a:r>
              <a:rPr lang="ja-JP" altLang="en-US">
                <a:latin typeface="Arial" charset="0"/>
                <a:ea typeface="ＭＳ Ｐゴシック" charset="-128"/>
              </a:rPr>
              <a:t>’</a:t>
            </a:r>
            <a:r>
              <a:rPr lang="en-US" altLang="ja-JP">
                <a:latin typeface="Arial" charset="0"/>
                <a:ea typeface="ＭＳ Ｐゴシック" charset="-128"/>
              </a:rPr>
              <a:t>s competitive landscape.  </a:t>
            </a:r>
          </a:p>
          <a:p>
            <a:pPr eaLnBrk="1" hangingPunct="1"/>
            <a:endParaRPr lang="en-US" altLang="en-US">
              <a:latin typeface="Arial" charset="0"/>
              <a:ea typeface="ＭＳ Ｐゴシック" charset="-128"/>
            </a:endParaRPr>
          </a:p>
          <a:p>
            <a:pPr eaLnBrk="1" hangingPunct="1"/>
            <a:r>
              <a:rPr lang="en-US" altLang="en-US">
                <a:latin typeface="Arial" charset="0"/>
                <a:ea typeface="ＭＳ Ｐゴシック" charset="-128"/>
              </a:rPr>
              <a:t>A structurally attractive industry, according to Harvard professor Michael Porter</a:t>
            </a:r>
            <a:r>
              <a:rPr lang="ja-JP" altLang="en-US">
                <a:latin typeface="Arial" charset="0"/>
                <a:ea typeface="ＭＳ Ｐゴシック" charset="-128"/>
              </a:rPr>
              <a:t>’</a:t>
            </a:r>
            <a:r>
              <a:rPr lang="en-US" altLang="ja-JP">
                <a:latin typeface="Arial" charset="0"/>
                <a:ea typeface="ＭＳ Ｐゴシック" charset="-128"/>
              </a:rPr>
              <a:t>s </a:t>
            </a:r>
            <a:r>
              <a:rPr lang="ja-JP" altLang="en-US">
                <a:latin typeface="Arial" charset="0"/>
                <a:ea typeface="ＭＳ Ｐゴシック" charset="-128"/>
              </a:rPr>
              <a:t>“</a:t>
            </a:r>
            <a:r>
              <a:rPr lang="en-US" altLang="ja-JP">
                <a:latin typeface="Arial" charset="0"/>
                <a:ea typeface="ＭＳ Ｐゴシック" charset="-128"/>
              </a:rPr>
              <a:t>five forces</a:t>
            </a:r>
            <a:r>
              <a:rPr lang="ja-JP" altLang="en-US">
                <a:latin typeface="Arial" charset="0"/>
                <a:ea typeface="ＭＳ Ｐゴシック" charset="-128"/>
              </a:rPr>
              <a:t>”</a:t>
            </a:r>
            <a:r>
              <a:rPr lang="en-US" altLang="ja-JP">
                <a:latin typeface="Arial" charset="0"/>
                <a:ea typeface="ＭＳ Ｐゴシック" charset="-128"/>
              </a:rPr>
              <a:t> model, is that there should be relatively high barriers of entry to keep competitors out, not enough rivalry to create cutthroat competition, no good substitutes for the basic product or service the industry sells, limited power of suppliers to negotiate input prices up, and limited power of buyers to force selling prices down. </a:t>
            </a:r>
            <a:endParaRPr lang="en-US" altLang="en-US">
              <a:latin typeface="Arial" charset="0"/>
              <a:ea typeface="ＭＳ Ｐゴシック" charset="-128"/>
            </a:endParaRPr>
          </a:p>
        </p:txBody>
      </p:sp>
    </p:spTree>
    <p:extLst>
      <p:ext uri="{BB962C8B-B14F-4D97-AF65-F5344CB8AC3E}">
        <p14:creationId xmlns:p14="http://schemas.microsoft.com/office/powerpoint/2010/main" val="8543564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dirty="0">
              <a:solidFill>
                <a:schemeClr val="tx1"/>
              </a:solidFill>
              <a:effectLst/>
              <a:latin typeface="+mn-lt"/>
              <a:ea typeface="+mn-ea"/>
              <a:cs typeface="+mn-cs"/>
            </a:endParaRPr>
          </a:p>
          <a:p>
            <a:endParaRPr lang="en-US" sz="1200" b="0" i="0" u="none" strike="noStrike" kern="1200" dirty="0">
              <a:solidFill>
                <a:schemeClr val="tx1"/>
              </a:solidFill>
              <a:effectLst/>
              <a:latin typeface="+mn-lt"/>
              <a:ea typeface="+mn-ea"/>
              <a:cs typeface="+mn-cs"/>
            </a:endParaRP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where </a:t>
            </a:r>
            <a:r>
              <a:rPr lang="en-US" sz="1200" b="0" i="1" u="none" strike="noStrike" kern="1200" dirty="0" err="1">
                <a:solidFill>
                  <a:schemeClr val="tx1"/>
                </a:solidFill>
                <a:effectLst/>
                <a:latin typeface="+mn-lt"/>
                <a:ea typeface="+mn-ea"/>
                <a:cs typeface="+mn-cs"/>
              </a:rPr>
              <a:t>s</a:t>
            </a:r>
            <a:r>
              <a:rPr lang="en-US" sz="1200" b="0" i="1" u="none" strike="noStrike" kern="1200" baseline="-25000" dirty="0" err="1">
                <a:solidFill>
                  <a:schemeClr val="tx1"/>
                </a:solidFill>
                <a:effectLst/>
                <a:latin typeface="+mn-lt"/>
                <a:ea typeface="+mn-ea"/>
                <a:cs typeface="+mn-cs"/>
              </a:rPr>
              <a:t>i</a:t>
            </a:r>
            <a:r>
              <a:rPr lang="en-US" sz="1200" b="0" i="0" u="none" strike="noStrike" kern="1200" dirty="0">
                <a:solidFill>
                  <a:schemeClr val="tx1"/>
                </a:solidFill>
                <a:effectLst/>
                <a:latin typeface="+mn-lt"/>
                <a:ea typeface="+mn-ea"/>
                <a:cs typeface="+mn-cs"/>
              </a:rPr>
              <a:t> is the market share of firm </a:t>
            </a:r>
            <a:r>
              <a:rPr lang="en-US" sz="1200" b="0" i="1" u="none" strike="noStrike" kern="1200" dirty="0" err="1">
                <a:solidFill>
                  <a:schemeClr val="tx1"/>
                </a:solidFill>
                <a:effectLst/>
                <a:latin typeface="+mn-lt"/>
                <a:ea typeface="+mn-ea"/>
                <a:cs typeface="+mn-cs"/>
              </a:rPr>
              <a:t>i</a:t>
            </a:r>
            <a:r>
              <a:rPr lang="en-US" sz="1200" b="0" i="0" u="none" strike="noStrike" kern="1200" dirty="0">
                <a:solidFill>
                  <a:schemeClr val="tx1"/>
                </a:solidFill>
                <a:effectLst/>
                <a:latin typeface="+mn-lt"/>
                <a:ea typeface="+mn-ea"/>
                <a:cs typeface="+mn-cs"/>
              </a:rPr>
              <a:t> in the market, and </a:t>
            </a:r>
            <a:r>
              <a:rPr lang="en-US" sz="1200" b="0" i="1" u="none" strike="noStrike" kern="1200" dirty="0">
                <a:solidFill>
                  <a:schemeClr val="tx1"/>
                </a:solidFill>
                <a:effectLst/>
                <a:latin typeface="+mn-lt"/>
                <a:ea typeface="+mn-ea"/>
                <a:cs typeface="+mn-cs"/>
              </a:rPr>
              <a:t>N</a:t>
            </a:r>
            <a:r>
              <a:rPr lang="en-US" sz="1200" b="0" i="0" u="none" strike="noStrike" kern="1200" dirty="0">
                <a:solidFill>
                  <a:schemeClr val="tx1"/>
                </a:solidFill>
                <a:effectLst/>
                <a:latin typeface="+mn-lt"/>
                <a:ea typeface="+mn-ea"/>
                <a:cs typeface="+mn-cs"/>
              </a:rPr>
              <a:t> is the number of firms. Thus, in a market with two firms that each have 50 percent market share, the Herfindahl index equals 0.50</a:t>
            </a:r>
            <a:r>
              <a:rPr lang="en-US" sz="1200" b="0" i="0" u="none" strike="noStrike" kern="1200" baseline="30000" dirty="0">
                <a:solidFill>
                  <a:schemeClr val="tx1"/>
                </a:solidFill>
                <a:effectLst/>
                <a:latin typeface="+mn-lt"/>
                <a:ea typeface="+mn-ea"/>
                <a:cs typeface="+mn-cs"/>
              </a:rPr>
              <a:t>2</a:t>
            </a:r>
            <a:r>
              <a:rPr lang="en-US" sz="1200" b="0" i="0" u="none" strike="noStrike" kern="1200" dirty="0">
                <a:solidFill>
                  <a:schemeClr val="tx1"/>
                </a:solidFill>
                <a:effectLst/>
                <a:latin typeface="+mn-lt"/>
                <a:ea typeface="+mn-ea"/>
                <a:cs typeface="+mn-cs"/>
              </a:rPr>
              <a:t>+0.50</a:t>
            </a:r>
            <a:r>
              <a:rPr lang="en-US" sz="1200" b="0" i="0" u="none" strike="noStrike" kern="1200" baseline="30000" dirty="0">
                <a:solidFill>
                  <a:schemeClr val="tx1"/>
                </a:solidFill>
                <a:effectLst/>
                <a:latin typeface="+mn-lt"/>
                <a:ea typeface="+mn-ea"/>
                <a:cs typeface="+mn-cs"/>
              </a:rPr>
              <a:t>2</a:t>
            </a:r>
            <a:r>
              <a:rPr lang="en-US" sz="1200" b="0" i="0" u="none" strike="noStrike" kern="1200" dirty="0">
                <a:solidFill>
                  <a:schemeClr val="tx1"/>
                </a:solidFill>
                <a:effectLst/>
                <a:latin typeface="+mn-lt"/>
                <a:ea typeface="+mn-ea"/>
                <a:cs typeface="+mn-cs"/>
              </a:rPr>
              <a:t> = 1/2.</a:t>
            </a:r>
          </a:p>
          <a:p>
            <a:r>
              <a:rPr lang="en-US" sz="1200" b="0" i="0" u="none" strike="noStrike" kern="1200" dirty="0">
                <a:solidFill>
                  <a:schemeClr val="tx1"/>
                </a:solidFill>
                <a:effectLst/>
                <a:latin typeface="+mn-lt"/>
                <a:ea typeface="+mn-ea"/>
                <a:cs typeface="+mn-cs"/>
              </a:rPr>
              <a:t>The Herfindahl Index (</a:t>
            </a:r>
            <a:r>
              <a:rPr lang="en-US" sz="1200" b="0" i="1" u="none" strike="noStrike" kern="1200" dirty="0">
                <a:solidFill>
                  <a:schemeClr val="tx1"/>
                </a:solidFill>
                <a:effectLst/>
                <a:latin typeface="+mn-lt"/>
                <a:ea typeface="+mn-ea"/>
                <a:cs typeface="+mn-cs"/>
              </a:rPr>
              <a:t>H</a:t>
            </a:r>
            <a:r>
              <a:rPr lang="en-US" sz="1200" b="0" i="0" u="none" strike="noStrike" kern="1200" dirty="0">
                <a:solidFill>
                  <a:schemeClr val="tx1"/>
                </a:solidFill>
                <a:effectLst/>
                <a:latin typeface="+mn-lt"/>
                <a:ea typeface="+mn-ea"/>
                <a:cs typeface="+mn-cs"/>
              </a:rPr>
              <a:t>) ranges from 1/</a:t>
            </a:r>
            <a:r>
              <a:rPr lang="en-US" sz="1200" b="0" i="1" u="none" strike="noStrike" kern="1200" dirty="0">
                <a:solidFill>
                  <a:schemeClr val="tx1"/>
                </a:solidFill>
                <a:effectLst/>
                <a:latin typeface="+mn-lt"/>
                <a:ea typeface="+mn-ea"/>
                <a:cs typeface="+mn-cs"/>
              </a:rPr>
              <a:t>N</a:t>
            </a:r>
            <a:r>
              <a:rPr lang="en-US" sz="1200" b="0" i="0" u="none" strike="noStrike" kern="1200" dirty="0">
                <a:solidFill>
                  <a:schemeClr val="tx1"/>
                </a:solidFill>
                <a:effectLst/>
                <a:latin typeface="+mn-lt"/>
                <a:ea typeface="+mn-ea"/>
                <a:cs typeface="+mn-cs"/>
              </a:rPr>
              <a:t> to one, where </a:t>
            </a:r>
            <a:r>
              <a:rPr lang="en-US" sz="1200" b="0" i="1" u="none" strike="noStrike" kern="1200" dirty="0">
                <a:solidFill>
                  <a:schemeClr val="tx1"/>
                </a:solidFill>
                <a:effectLst/>
                <a:latin typeface="+mn-lt"/>
                <a:ea typeface="+mn-ea"/>
                <a:cs typeface="+mn-cs"/>
              </a:rPr>
              <a:t>N</a:t>
            </a:r>
            <a:r>
              <a:rPr lang="en-US" sz="1200" b="0" i="0" u="none" strike="noStrike" kern="1200" dirty="0">
                <a:solidFill>
                  <a:schemeClr val="tx1"/>
                </a:solidFill>
                <a:effectLst/>
                <a:latin typeface="+mn-lt"/>
                <a:ea typeface="+mn-ea"/>
                <a:cs typeface="+mn-cs"/>
              </a:rPr>
              <a:t> is the number of firms in the market. Equivalently, if </a:t>
            </a:r>
            <a:r>
              <a:rPr lang="en-US" sz="1200" b="0" i="0" u="none" strike="noStrike" kern="1200" dirty="0" err="1">
                <a:solidFill>
                  <a:schemeClr val="tx1"/>
                </a:solidFill>
                <a:effectLst/>
                <a:latin typeface="+mn-lt"/>
                <a:ea typeface="+mn-ea"/>
                <a:cs typeface="+mn-cs"/>
              </a:rPr>
              <a:t>percents</a:t>
            </a:r>
            <a:r>
              <a:rPr lang="en-US" sz="1200" b="0" i="0" u="none" strike="noStrike" kern="1200" dirty="0">
                <a:solidFill>
                  <a:schemeClr val="tx1"/>
                </a:solidFill>
                <a:effectLst/>
                <a:latin typeface="+mn-lt"/>
                <a:ea typeface="+mn-ea"/>
                <a:cs typeface="+mn-cs"/>
              </a:rPr>
              <a:t> are used as whole numbers, as in 75 instead of 0.75, the index can range up to 100</a:t>
            </a:r>
            <a:r>
              <a:rPr lang="en-US" sz="1200" b="0" i="0" u="none" strike="noStrike" kern="1200" baseline="30000" dirty="0">
                <a:solidFill>
                  <a:schemeClr val="tx1"/>
                </a:solidFill>
                <a:effectLst/>
                <a:latin typeface="+mn-lt"/>
                <a:ea typeface="+mn-ea"/>
                <a:cs typeface="+mn-cs"/>
              </a:rPr>
              <a:t>2</a:t>
            </a:r>
            <a:r>
              <a:rPr lang="en-US" sz="1200" b="0" i="0" u="none" strike="noStrike" kern="1200" dirty="0">
                <a:solidFill>
                  <a:schemeClr val="tx1"/>
                </a:solidFill>
                <a:effectLst/>
                <a:latin typeface="+mn-lt"/>
                <a:ea typeface="+mn-ea"/>
                <a:cs typeface="+mn-cs"/>
              </a:rPr>
              <a:t>, or 10,000.</a:t>
            </a:r>
          </a:p>
          <a:p>
            <a:r>
              <a:rPr lang="en-US" sz="1200" b="0" i="0" u="none" strike="noStrike" kern="1200" dirty="0">
                <a:solidFill>
                  <a:schemeClr val="tx1"/>
                </a:solidFill>
                <a:effectLst/>
                <a:latin typeface="+mn-lt"/>
                <a:ea typeface="+mn-ea"/>
                <a:cs typeface="+mn-cs"/>
              </a:rPr>
              <a:t>An </a:t>
            </a:r>
            <a:r>
              <a:rPr lang="en-US" sz="1200" b="0" i="1" u="none" strike="noStrike" kern="1200" dirty="0">
                <a:solidFill>
                  <a:schemeClr val="tx1"/>
                </a:solidFill>
                <a:effectLst/>
                <a:latin typeface="+mn-lt"/>
                <a:ea typeface="+mn-ea"/>
                <a:cs typeface="+mn-cs"/>
              </a:rPr>
              <a:t>H</a:t>
            </a:r>
            <a:r>
              <a:rPr lang="en-US" sz="1200" b="0" i="0" u="none" strike="noStrike" kern="1200" dirty="0">
                <a:solidFill>
                  <a:schemeClr val="tx1"/>
                </a:solidFill>
                <a:effectLst/>
                <a:latin typeface="+mn-lt"/>
                <a:ea typeface="+mn-ea"/>
                <a:cs typeface="+mn-cs"/>
              </a:rPr>
              <a:t> below 0.01 (or 100) indicates a highly competitive industry.</a:t>
            </a:r>
            <a:br>
              <a:rPr lang="en-US" sz="1200" b="0" i="0" u="none" strike="noStrike"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rPr>
              <a:t>An </a:t>
            </a:r>
            <a:r>
              <a:rPr lang="en-US" sz="1200" b="0" i="1" u="none" strike="noStrike" kern="1200" dirty="0">
                <a:solidFill>
                  <a:schemeClr val="tx1"/>
                </a:solidFill>
                <a:effectLst/>
                <a:latin typeface="+mn-lt"/>
                <a:ea typeface="+mn-ea"/>
                <a:cs typeface="+mn-cs"/>
              </a:rPr>
              <a:t>H</a:t>
            </a:r>
            <a:r>
              <a:rPr lang="en-US" sz="1200" b="0" i="0" u="none" strike="noStrike" kern="1200" dirty="0">
                <a:solidFill>
                  <a:schemeClr val="tx1"/>
                </a:solidFill>
                <a:effectLst/>
                <a:latin typeface="+mn-lt"/>
                <a:ea typeface="+mn-ea"/>
                <a:cs typeface="+mn-cs"/>
              </a:rPr>
              <a:t> below 0.15 (or 1,500) indicates an unconcentrated industry.</a:t>
            </a:r>
            <a:br>
              <a:rPr lang="en-US" sz="1200" b="0" i="0" u="none" strike="noStrike"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rPr>
              <a:t>An </a:t>
            </a:r>
            <a:r>
              <a:rPr lang="en-US" sz="1200" b="0" i="1" u="none" strike="noStrike" kern="1200" dirty="0">
                <a:solidFill>
                  <a:schemeClr val="tx1"/>
                </a:solidFill>
                <a:effectLst/>
                <a:latin typeface="+mn-lt"/>
                <a:ea typeface="+mn-ea"/>
                <a:cs typeface="+mn-cs"/>
              </a:rPr>
              <a:t>H</a:t>
            </a:r>
            <a:r>
              <a:rPr lang="en-US" sz="1200" b="0" i="0" u="none" strike="noStrike" kern="1200" dirty="0">
                <a:solidFill>
                  <a:schemeClr val="tx1"/>
                </a:solidFill>
                <a:effectLst/>
                <a:latin typeface="+mn-lt"/>
                <a:ea typeface="+mn-ea"/>
                <a:cs typeface="+mn-cs"/>
              </a:rPr>
              <a:t> between 0.15 to 0.25 (or 1,500 to 2,500) indicates moderate concentration.</a:t>
            </a:r>
            <a:br>
              <a:rPr lang="en-US" sz="1200" b="0" i="0" u="none" strike="noStrike"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rPr>
              <a:t>An </a:t>
            </a:r>
            <a:r>
              <a:rPr lang="en-US" sz="1200" b="0" i="1" u="none" strike="noStrike" kern="1200" dirty="0">
                <a:solidFill>
                  <a:schemeClr val="tx1"/>
                </a:solidFill>
                <a:effectLst/>
                <a:latin typeface="+mn-lt"/>
                <a:ea typeface="+mn-ea"/>
                <a:cs typeface="+mn-cs"/>
              </a:rPr>
              <a:t>H</a:t>
            </a:r>
            <a:r>
              <a:rPr lang="en-US" sz="1200" b="0" i="0" u="none" strike="noStrike" kern="1200" dirty="0">
                <a:solidFill>
                  <a:schemeClr val="tx1"/>
                </a:solidFill>
                <a:effectLst/>
                <a:latin typeface="+mn-lt"/>
                <a:ea typeface="+mn-ea"/>
                <a:cs typeface="+mn-cs"/>
              </a:rPr>
              <a:t> above 0.25 (above 2,500) indicates high concentration.</a:t>
            </a:r>
            <a:r>
              <a:rPr lang="en-US" sz="1200" b="0" i="0" u="none" strike="noStrike" kern="1200" baseline="30000" dirty="0">
                <a:solidFill>
                  <a:schemeClr val="tx1"/>
                </a:solidFill>
                <a:effectLst/>
                <a:latin typeface="+mn-lt"/>
                <a:ea typeface="+mn-ea"/>
                <a:cs typeface="+mn-cs"/>
                <a:hlinkClick r:id="rId3"/>
              </a:rPr>
              <a:t>[5]</a:t>
            </a:r>
            <a:endParaRPr lang="en-US" sz="1200" b="0" i="0" u="none" strike="noStrike"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1A032F50-0B60-B34B-8422-4E195A5AE2C1}" type="slidenum">
              <a:rPr lang="en-US" smtClean="0"/>
              <a:t>22</a:t>
            </a:fld>
            <a:endParaRPr lang="en-US"/>
          </a:p>
        </p:txBody>
      </p:sp>
    </p:spTree>
    <p:extLst>
      <p:ext uri="{BB962C8B-B14F-4D97-AF65-F5344CB8AC3E}">
        <p14:creationId xmlns:p14="http://schemas.microsoft.com/office/powerpoint/2010/main" val="14256555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04451"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9050" tIns="0" rIns="19050" bIns="0" anchor="b"/>
          <a:lstStyle/>
          <a:p>
            <a:pPr algn="r"/>
            <a:r>
              <a:rPr lang="en-US" altLang="en-US" sz="1000" i="1"/>
              <a:t>23</a:t>
            </a:r>
          </a:p>
        </p:txBody>
      </p:sp>
      <p:sp>
        <p:nvSpPr>
          <p:cNvPr id="104452"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04453"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04454" name="Rectangle 6"/>
          <p:cNvSpPr>
            <a:spLocks noGrp="1" noRot="1" noChangeAspect="1" noChangeArrowheads="1" noTextEdit="1"/>
          </p:cNvSpPr>
          <p:nvPr>
            <p:ph type="sldImg"/>
          </p:nvPr>
        </p:nvSpPr>
        <p:spPr>
          <a:xfrm>
            <a:off x="393700" y="692150"/>
            <a:ext cx="6070600" cy="3416300"/>
          </a:xfrm>
          <a:ln cap="flat"/>
        </p:spPr>
      </p:sp>
      <p:sp>
        <p:nvSpPr>
          <p:cNvPr id="104455" name="Rectangle 7"/>
          <p:cNvSpPr>
            <a:spLocks noGrp="1" noChangeArrowheads="1"/>
          </p:cNvSpPr>
          <p:nvPr>
            <p:ph type="body" idx="1"/>
          </p:nvPr>
        </p:nvSpPr>
        <p:spPr>
          <a:ln/>
        </p:spPr>
        <p:txBody>
          <a:bodyPr/>
          <a:lstStyle/>
          <a:p>
            <a:endParaRPr lang="en-US" altLang="en-US"/>
          </a:p>
        </p:txBody>
      </p:sp>
    </p:spTree>
    <p:extLst>
      <p:ext uri="{BB962C8B-B14F-4D97-AF65-F5344CB8AC3E}">
        <p14:creationId xmlns:p14="http://schemas.microsoft.com/office/powerpoint/2010/main" val="19962435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5603"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9050" tIns="0" rIns="19050" bIns="0" anchor="b"/>
          <a:lstStyle/>
          <a:p>
            <a:pPr algn="r"/>
            <a:r>
              <a:rPr lang="en-US" altLang="en-US" sz="1000" i="1"/>
              <a:t>11</a:t>
            </a:r>
          </a:p>
        </p:txBody>
      </p:sp>
      <p:sp>
        <p:nvSpPr>
          <p:cNvPr id="25604"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5605"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5606" name="Rectangle 6"/>
          <p:cNvSpPr>
            <a:spLocks noGrp="1" noRot="1" noChangeAspect="1" noChangeArrowheads="1" noTextEdit="1"/>
          </p:cNvSpPr>
          <p:nvPr>
            <p:ph type="sldImg"/>
          </p:nvPr>
        </p:nvSpPr>
        <p:spPr>
          <a:xfrm>
            <a:off x="393700" y="692150"/>
            <a:ext cx="6070600" cy="3416300"/>
          </a:xfrm>
          <a:ln cap="flat"/>
        </p:spPr>
      </p:sp>
      <p:sp>
        <p:nvSpPr>
          <p:cNvPr id="25607" name="Rectangle 7"/>
          <p:cNvSpPr>
            <a:spLocks noGrp="1" noChangeArrowheads="1"/>
          </p:cNvSpPr>
          <p:nvPr>
            <p:ph type="body" idx="1"/>
          </p:nvPr>
        </p:nvSpPr>
        <p:spPr>
          <a:ln/>
        </p:spPr>
        <p:txBody>
          <a:bodyPr/>
          <a:lstStyle/>
          <a:p>
            <a:endParaRPr lang="en-US" altLang="en-US"/>
          </a:p>
        </p:txBody>
      </p:sp>
    </p:spTree>
    <p:extLst>
      <p:ext uri="{BB962C8B-B14F-4D97-AF65-F5344CB8AC3E}">
        <p14:creationId xmlns:p14="http://schemas.microsoft.com/office/powerpoint/2010/main" val="24305576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A032F50-0B60-B34B-8422-4E195A5AE2C1}" type="slidenum">
              <a:rPr lang="en-US" smtClean="0"/>
              <a:t>28</a:t>
            </a:fld>
            <a:endParaRPr lang="en-US"/>
          </a:p>
        </p:txBody>
      </p:sp>
    </p:spTree>
    <p:extLst>
      <p:ext uri="{BB962C8B-B14F-4D97-AF65-F5344CB8AC3E}">
        <p14:creationId xmlns:p14="http://schemas.microsoft.com/office/powerpoint/2010/main" val="38381506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A032F50-0B60-B34B-8422-4E195A5AE2C1}" type="slidenum">
              <a:rPr lang="en-US" smtClean="0"/>
              <a:t>29</a:t>
            </a:fld>
            <a:endParaRPr lang="en-US"/>
          </a:p>
        </p:txBody>
      </p:sp>
    </p:spTree>
    <p:extLst>
      <p:ext uri="{BB962C8B-B14F-4D97-AF65-F5344CB8AC3E}">
        <p14:creationId xmlns:p14="http://schemas.microsoft.com/office/powerpoint/2010/main" val="12296590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15715"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9050" tIns="0" rIns="19050" bIns="0" anchor="b"/>
          <a:lstStyle/>
          <a:p>
            <a:pPr algn="r"/>
            <a:r>
              <a:rPr lang="en-US" altLang="en-US" sz="1000" i="1"/>
              <a:t>20</a:t>
            </a:r>
          </a:p>
        </p:txBody>
      </p:sp>
      <p:sp>
        <p:nvSpPr>
          <p:cNvPr id="115716"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15717"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15718" name="Rectangle 6"/>
          <p:cNvSpPr>
            <a:spLocks noGrp="1" noRot="1" noChangeAspect="1" noChangeArrowheads="1" noTextEdit="1"/>
          </p:cNvSpPr>
          <p:nvPr>
            <p:ph type="sldImg"/>
          </p:nvPr>
        </p:nvSpPr>
        <p:spPr>
          <a:xfrm>
            <a:off x="393700" y="692150"/>
            <a:ext cx="6070600" cy="3416300"/>
          </a:xfrm>
          <a:ln cap="flat"/>
        </p:spPr>
      </p:sp>
      <p:sp>
        <p:nvSpPr>
          <p:cNvPr id="115719" name="Rectangle 7"/>
          <p:cNvSpPr>
            <a:spLocks noGrp="1" noChangeArrowheads="1"/>
          </p:cNvSpPr>
          <p:nvPr>
            <p:ph type="body" idx="1"/>
          </p:nvPr>
        </p:nvSpPr>
        <p:spPr>
          <a:ln/>
        </p:spPr>
        <p:txBody>
          <a:bodyPr/>
          <a:lstStyle/>
          <a:p>
            <a:endParaRPr lang="en-US" altLang="en-US"/>
          </a:p>
        </p:txBody>
      </p:sp>
    </p:spTree>
    <p:extLst>
      <p:ext uri="{BB962C8B-B14F-4D97-AF65-F5344CB8AC3E}">
        <p14:creationId xmlns:p14="http://schemas.microsoft.com/office/powerpoint/2010/main" val="34410014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939"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9050" tIns="0" rIns="19050" bIns="0" anchor="b"/>
          <a:lstStyle/>
          <a:p>
            <a:pPr algn="r"/>
            <a:r>
              <a:rPr lang="en-US" altLang="en-US" sz="1000" i="1"/>
              <a:t>18</a:t>
            </a:r>
          </a:p>
        </p:txBody>
      </p:sp>
      <p:sp>
        <p:nvSpPr>
          <p:cNvPr id="39940"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941"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942" name="Rectangle 6"/>
          <p:cNvSpPr>
            <a:spLocks noGrp="1" noRot="1" noChangeAspect="1" noChangeArrowheads="1" noTextEdit="1"/>
          </p:cNvSpPr>
          <p:nvPr>
            <p:ph type="sldImg"/>
          </p:nvPr>
        </p:nvSpPr>
        <p:spPr>
          <a:xfrm>
            <a:off x="393700" y="692150"/>
            <a:ext cx="6070600" cy="3416300"/>
          </a:xfrm>
          <a:ln cap="flat"/>
        </p:spPr>
      </p:sp>
      <p:sp>
        <p:nvSpPr>
          <p:cNvPr id="39943" name="Rectangle 7"/>
          <p:cNvSpPr>
            <a:spLocks noGrp="1" noChangeArrowheads="1"/>
          </p:cNvSpPr>
          <p:nvPr>
            <p:ph type="body" idx="1"/>
          </p:nvPr>
        </p:nvSpPr>
        <p:spPr>
          <a:ln/>
        </p:spPr>
        <p:txBody>
          <a:bodyPr/>
          <a:lstStyle/>
          <a:p>
            <a:endParaRPr lang="en-US" altLang="en-US"/>
          </a:p>
        </p:txBody>
      </p:sp>
    </p:spTree>
    <p:extLst>
      <p:ext uri="{BB962C8B-B14F-4D97-AF65-F5344CB8AC3E}">
        <p14:creationId xmlns:p14="http://schemas.microsoft.com/office/powerpoint/2010/main" val="12209765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7891"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9050" tIns="0" rIns="19050" bIns="0" anchor="b"/>
          <a:lstStyle/>
          <a:p>
            <a:pPr algn="r"/>
            <a:r>
              <a:rPr lang="en-US" altLang="en-US" sz="1000" i="1"/>
              <a:t>17</a:t>
            </a:r>
          </a:p>
        </p:txBody>
      </p:sp>
      <p:sp>
        <p:nvSpPr>
          <p:cNvPr id="37892"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7893"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7894" name="Rectangle 6"/>
          <p:cNvSpPr>
            <a:spLocks noGrp="1" noRot="1" noChangeAspect="1" noChangeArrowheads="1" noTextEdit="1"/>
          </p:cNvSpPr>
          <p:nvPr>
            <p:ph type="sldImg"/>
          </p:nvPr>
        </p:nvSpPr>
        <p:spPr>
          <a:xfrm>
            <a:off x="393700" y="692150"/>
            <a:ext cx="6070600" cy="3416300"/>
          </a:xfrm>
          <a:ln cap="flat"/>
        </p:spPr>
      </p:sp>
      <p:sp>
        <p:nvSpPr>
          <p:cNvPr id="37895" name="Rectangle 7"/>
          <p:cNvSpPr>
            <a:spLocks noGrp="1" noChangeArrowheads="1"/>
          </p:cNvSpPr>
          <p:nvPr>
            <p:ph type="body" idx="1"/>
          </p:nvPr>
        </p:nvSpPr>
        <p:spPr>
          <a:ln/>
        </p:spPr>
        <p:txBody>
          <a:bodyPr/>
          <a:lstStyle/>
          <a:p>
            <a:endParaRPr lang="en-US" altLang="en-US"/>
          </a:p>
        </p:txBody>
      </p:sp>
    </p:spTree>
    <p:extLst>
      <p:ext uri="{BB962C8B-B14F-4D97-AF65-F5344CB8AC3E}">
        <p14:creationId xmlns:p14="http://schemas.microsoft.com/office/powerpoint/2010/main" val="33567347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3795"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9050" tIns="0" rIns="19050" bIns="0" anchor="b"/>
          <a:lstStyle/>
          <a:p>
            <a:pPr algn="r"/>
            <a:r>
              <a:rPr lang="en-US" altLang="en-US" sz="1000" i="1"/>
              <a:t>15</a:t>
            </a:r>
          </a:p>
        </p:txBody>
      </p:sp>
      <p:sp>
        <p:nvSpPr>
          <p:cNvPr id="33796"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3797"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3798" name="Rectangle 6"/>
          <p:cNvSpPr>
            <a:spLocks noGrp="1" noRot="1" noChangeAspect="1" noChangeArrowheads="1" noTextEdit="1"/>
          </p:cNvSpPr>
          <p:nvPr>
            <p:ph type="sldImg"/>
          </p:nvPr>
        </p:nvSpPr>
        <p:spPr>
          <a:xfrm>
            <a:off x="393700" y="692150"/>
            <a:ext cx="6070600" cy="3416300"/>
          </a:xfrm>
          <a:ln cap="flat"/>
        </p:spPr>
      </p:sp>
      <p:sp>
        <p:nvSpPr>
          <p:cNvPr id="33799" name="Rectangle 7"/>
          <p:cNvSpPr>
            <a:spLocks noGrp="1" noChangeArrowheads="1"/>
          </p:cNvSpPr>
          <p:nvPr>
            <p:ph type="body" idx="1"/>
          </p:nvPr>
        </p:nvSpPr>
        <p:spPr>
          <a:ln/>
        </p:spPr>
        <p:txBody>
          <a:bodyPr/>
          <a:lstStyle/>
          <a:p>
            <a:endParaRPr lang="en-US" altLang="en-US"/>
          </a:p>
        </p:txBody>
      </p:sp>
    </p:spTree>
    <p:extLst>
      <p:ext uri="{BB962C8B-B14F-4D97-AF65-F5344CB8AC3E}">
        <p14:creationId xmlns:p14="http://schemas.microsoft.com/office/powerpoint/2010/main" val="11523097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4035"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9050" tIns="0" rIns="19050" bIns="0" anchor="b"/>
          <a:lstStyle/>
          <a:p>
            <a:pPr algn="r"/>
            <a:r>
              <a:rPr lang="en-US" altLang="en-US" sz="1000" i="1"/>
              <a:t>20</a:t>
            </a:r>
          </a:p>
        </p:txBody>
      </p:sp>
      <p:sp>
        <p:nvSpPr>
          <p:cNvPr id="44036"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4037"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4038" name="Rectangle 6"/>
          <p:cNvSpPr>
            <a:spLocks noGrp="1" noRot="1" noChangeAspect="1" noChangeArrowheads="1" noTextEdit="1"/>
          </p:cNvSpPr>
          <p:nvPr>
            <p:ph type="sldImg"/>
          </p:nvPr>
        </p:nvSpPr>
        <p:spPr>
          <a:xfrm>
            <a:off x="393700" y="692150"/>
            <a:ext cx="6070600" cy="3416300"/>
          </a:xfrm>
          <a:ln cap="flat"/>
        </p:spPr>
      </p:sp>
      <p:sp>
        <p:nvSpPr>
          <p:cNvPr id="44039" name="Rectangle 7"/>
          <p:cNvSpPr>
            <a:spLocks noGrp="1" noChangeArrowheads="1"/>
          </p:cNvSpPr>
          <p:nvPr>
            <p:ph type="body" idx="1"/>
          </p:nvPr>
        </p:nvSpPr>
        <p:spPr>
          <a:ln/>
        </p:spPr>
        <p:txBody>
          <a:bodyPr/>
          <a:lstStyle/>
          <a:p>
            <a:endParaRPr lang="en-US" altLang="en-US"/>
          </a:p>
        </p:txBody>
      </p:sp>
    </p:spTree>
    <p:extLst>
      <p:ext uri="{BB962C8B-B14F-4D97-AF65-F5344CB8AC3E}">
        <p14:creationId xmlns:p14="http://schemas.microsoft.com/office/powerpoint/2010/main" val="423929378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6083"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9050" tIns="0" rIns="19050" bIns="0" anchor="b"/>
          <a:lstStyle/>
          <a:p>
            <a:pPr algn="r"/>
            <a:r>
              <a:rPr lang="en-US" altLang="en-US" sz="1000" i="1"/>
              <a:t>21</a:t>
            </a:r>
          </a:p>
        </p:txBody>
      </p:sp>
      <p:sp>
        <p:nvSpPr>
          <p:cNvPr id="46084"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6085"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6086" name="Rectangle 6"/>
          <p:cNvSpPr>
            <a:spLocks noGrp="1" noRot="1" noChangeAspect="1" noChangeArrowheads="1" noTextEdit="1"/>
          </p:cNvSpPr>
          <p:nvPr>
            <p:ph type="sldImg"/>
          </p:nvPr>
        </p:nvSpPr>
        <p:spPr>
          <a:xfrm>
            <a:off x="393700" y="692150"/>
            <a:ext cx="6070600" cy="3416300"/>
          </a:xfrm>
          <a:ln cap="flat"/>
        </p:spPr>
      </p:sp>
      <p:sp>
        <p:nvSpPr>
          <p:cNvPr id="46087" name="Rectangle 7"/>
          <p:cNvSpPr>
            <a:spLocks noGrp="1" noChangeArrowheads="1"/>
          </p:cNvSpPr>
          <p:nvPr>
            <p:ph type="body" idx="1"/>
          </p:nvPr>
        </p:nvSpPr>
        <p:spPr>
          <a:ln/>
        </p:spPr>
        <p:txBody>
          <a:bodyPr/>
          <a:lstStyle/>
          <a:p>
            <a:endParaRPr lang="en-US" altLang="en-US"/>
          </a:p>
        </p:txBody>
      </p:sp>
    </p:spTree>
    <p:extLst>
      <p:ext uri="{BB962C8B-B14F-4D97-AF65-F5344CB8AC3E}">
        <p14:creationId xmlns:p14="http://schemas.microsoft.com/office/powerpoint/2010/main" val="247022586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0179"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9050" tIns="0" rIns="19050" bIns="0" anchor="b"/>
          <a:lstStyle/>
          <a:p>
            <a:pPr algn="r"/>
            <a:r>
              <a:rPr lang="en-US" altLang="en-US" sz="1000" i="1"/>
              <a:t>23</a:t>
            </a:r>
          </a:p>
        </p:txBody>
      </p:sp>
      <p:sp>
        <p:nvSpPr>
          <p:cNvPr id="50180"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0181"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0182" name="Rectangle 6"/>
          <p:cNvSpPr>
            <a:spLocks noGrp="1" noRot="1" noChangeAspect="1" noChangeArrowheads="1" noTextEdit="1"/>
          </p:cNvSpPr>
          <p:nvPr>
            <p:ph type="sldImg"/>
          </p:nvPr>
        </p:nvSpPr>
        <p:spPr>
          <a:xfrm>
            <a:off x="393700" y="692150"/>
            <a:ext cx="6070600" cy="3416300"/>
          </a:xfrm>
          <a:ln cap="flat"/>
        </p:spPr>
      </p:sp>
      <p:sp>
        <p:nvSpPr>
          <p:cNvPr id="50183" name="Rectangle 7"/>
          <p:cNvSpPr>
            <a:spLocks noGrp="1" noChangeArrowheads="1"/>
          </p:cNvSpPr>
          <p:nvPr>
            <p:ph type="body" idx="1"/>
          </p:nvPr>
        </p:nvSpPr>
        <p:spPr>
          <a:ln/>
        </p:spPr>
        <p:txBody>
          <a:bodyPr/>
          <a:lstStyle/>
          <a:p>
            <a:endParaRPr lang="en-US" altLang="en-US"/>
          </a:p>
        </p:txBody>
      </p:sp>
    </p:spTree>
    <p:extLst>
      <p:ext uri="{BB962C8B-B14F-4D97-AF65-F5344CB8AC3E}">
        <p14:creationId xmlns:p14="http://schemas.microsoft.com/office/powerpoint/2010/main" val="23214057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4275"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9050" tIns="0" rIns="19050" bIns="0" anchor="b"/>
          <a:lstStyle/>
          <a:p>
            <a:pPr algn="r"/>
            <a:r>
              <a:rPr lang="en-US" altLang="en-US" sz="1000" i="1"/>
              <a:t>25</a:t>
            </a:r>
          </a:p>
        </p:txBody>
      </p:sp>
      <p:sp>
        <p:nvSpPr>
          <p:cNvPr id="54276"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4277"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4278" name="Rectangle 6"/>
          <p:cNvSpPr>
            <a:spLocks noGrp="1" noRot="1" noChangeAspect="1" noChangeArrowheads="1" noTextEdit="1"/>
          </p:cNvSpPr>
          <p:nvPr>
            <p:ph type="sldImg"/>
          </p:nvPr>
        </p:nvSpPr>
        <p:spPr>
          <a:xfrm>
            <a:off x="393700" y="692150"/>
            <a:ext cx="6070600" cy="3416300"/>
          </a:xfrm>
          <a:ln cap="flat"/>
        </p:spPr>
      </p:sp>
      <p:sp>
        <p:nvSpPr>
          <p:cNvPr id="54279" name="Rectangle 7"/>
          <p:cNvSpPr>
            <a:spLocks noGrp="1" noChangeArrowheads="1"/>
          </p:cNvSpPr>
          <p:nvPr>
            <p:ph type="body" idx="1"/>
          </p:nvPr>
        </p:nvSpPr>
        <p:spPr>
          <a:ln/>
        </p:spPr>
        <p:txBody>
          <a:bodyPr/>
          <a:lstStyle/>
          <a:p>
            <a:endParaRPr lang="en-US" altLang="en-US"/>
          </a:p>
        </p:txBody>
      </p:sp>
    </p:spTree>
    <p:extLst>
      <p:ext uri="{BB962C8B-B14F-4D97-AF65-F5344CB8AC3E}">
        <p14:creationId xmlns:p14="http://schemas.microsoft.com/office/powerpoint/2010/main" val="204136360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6323"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9050" tIns="0" rIns="19050" bIns="0" anchor="b"/>
          <a:lstStyle/>
          <a:p>
            <a:pPr algn="r"/>
            <a:r>
              <a:rPr lang="en-US" altLang="en-US" sz="1000" i="1"/>
              <a:t>26</a:t>
            </a:r>
          </a:p>
        </p:txBody>
      </p:sp>
      <p:sp>
        <p:nvSpPr>
          <p:cNvPr id="56324"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6325"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6326" name="Rectangle 6"/>
          <p:cNvSpPr>
            <a:spLocks noGrp="1" noRot="1" noChangeAspect="1" noChangeArrowheads="1" noTextEdit="1"/>
          </p:cNvSpPr>
          <p:nvPr>
            <p:ph type="sldImg"/>
          </p:nvPr>
        </p:nvSpPr>
        <p:spPr>
          <a:xfrm>
            <a:off x="393700" y="692150"/>
            <a:ext cx="6070600" cy="3416300"/>
          </a:xfrm>
          <a:ln cap="flat"/>
        </p:spPr>
      </p:sp>
      <p:sp>
        <p:nvSpPr>
          <p:cNvPr id="56327" name="Rectangle 7"/>
          <p:cNvSpPr>
            <a:spLocks noGrp="1" noChangeArrowheads="1"/>
          </p:cNvSpPr>
          <p:nvPr>
            <p:ph type="body" idx="1"/>
          </p:nvPr>
        </p:nvSpPr>
        <p:spPr>
          <a:ln/>
        </p:spPr>
        <p:txBody>
          <a:bodyPr/>
          <a:lstStyle/>
          <a:p>
            <a:endParaRPr lang="en-US" altLang="en-US"/>
          </a:p>
        </p:txBody>
      </p:sp>
    </p:spTree>
    <p:extLst>
      <p:ext uri="{BB962C8B-B14F-4D97-AF65-F5344CB8AC3E}">
        <p14:creationId xmlns:p14="http://schemas.microsoft.com/office/powerpoint/2010/main" val="163202066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8371"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9050" tIns="0" rIns="19050" bIns="0" anchor="b"/>
          <a:lstStyle/>
          <a:p>
            <a:pPr algn="r"/>
            <a:r>
              <a:rPr lang="en-US" altLang="en-US" sz="1000" i="1"/>
              <a:t>27</a:t>
            </a:r>
          </a:p>
        </p:txBody>
      </p:sp>
      <p:sp>
        <p:nvSpPr>
          <p:cNvPr id="58372"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8373"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8374" name="Rectangle 6"/>
          <p:cNvSpPr>
            <a:spLocks noGrp="1" noRot="1" noChangeAspect="1" noChangeArrowheads="1" noTextEdit="1"/>
          </p:cNvSpPr>
          <p:nvPr>
            <p:ph type="sldImg"/>
          </p:nvPr>
        </p:nvSpPr>
        <p:spPr>
          <a:xfrm>
            <a:off x="393700" y="692150"/>
            <a:ext cx="6070600" cy="3416300"/>
          </a:xfrm>
          <a:ln cap="flat"/>
        </p:spPr>
      </p:sp>
      <p:sp>
        <p:nvSpPr>
          <p:cNvPr id="58375" name="Rectangle 7"/>
          <p:cNvSpPr>
            <a:spLocks noGrp="1" noChangeArrowheads="1"/>
          </p:cNvSpPr>
          <p:nvPr>
            <p:ph type="body" idx="1"/>
          </p:nvPr>
        </p:nvSpPr>
        <p:spPr>
          <a:ln/>
        </p:spPr>
        <p:txBody>
          <a:bodyPr/>
          <a:lstStyle/>
          <a:p>
            <a:endParaRPr lang="en-US" altLang="en-US"/>
          </a:p>
        </p:txBody>
      </p:sp>
    </p:spTree>
    <p:extLst>
      <p:ext uri="{BB962C8B-B14F-4D97-AF65-F5344CB8AC3E}">
        <p14:creationId xmlns:p14="http://schemas.microsoft.com/office/powerpoint/2010/main" val="19290136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A032F50-0B60-B34B-8422-4E195A5AE2C1}" type="slidenum">
              <a:rPr lang="en-US" smtClean="0"/>
              <a:t>41</a:t>
            </a:fld>
            <a:endParaRPr lang="en-US"/>
          </a:p>
        </p:txBody>
      </p:sp>
    </p:spTree>
    <p:extLst>
      <p:ext uri="{BB962C8B-B14F-4D97-AF65-F5344CB8AC3E}">
        <p14:creationId xmlns:p14="http://schemas.microsoft.com/office/powerpoint/2010/main" val="283973802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A032F50-0B60-B34B-8422-4E195A5AE2C1}" type="slidenum">
              <a:rPr lang="en-US" smtClean="0"/>
              <a:t>42</a:t>
            </a:fld>
            <a:endParaRPr lang="en-US"/>
          </a:p>
        </p:txBody>
      </p:sp>
    </p:spTree>
    <p:extLst>
      <p:ext uri="{BB962C8B-B14F-4D97-AF65-F5344CB8AC3E}">
        <p14:creationId xmlns:p14="http://schemas.microsoft.com/office/powerpoint/2010/main" val="234031124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A032F50-0B60-B34B-8422-4E195A5AE2C1}" type="slidenum">
              <a:rPr lang="en-US" smtClean="0"/>
              <a:t>43</a:t>
            </a:fld>
            <a:endParaRPr lang="en-US"/>
          </a:p>
        </p:txBody>
      </p:sp>
    </p:spTree>
    <p:extLst>
      <p:ext uri="{BB962C8B-B14F-4D97-AF65-F5344CB8AC3E}">
        <p14:creationId xmlns:p14="http://schemas.microsoft.com/office/powerpoint/2010/main" val="86851573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9459"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9050" tIns="0" rIns="19050" bIns="0" anchor="b"/>
          <a:lstStyle/>
          <a:p>
            <a:pPr algn="r"/>
            <a:r>
              <a:rPr lang="en-US" altLang="en-US" sz="1000" i="1"/>
              <a:t>8</a:t>
            </a:r>
          </a:p>
        </p:txBody>
      </p:sp>
      <p:sp>
        <p:nvSpPr>
          <p:cNvPr id="19460"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9461"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9462" name="Rectangle 6"/>
          <p:cNvSpPr>
            <a:spLocks noGrp="1" noRot="1" noChangeAspect="1" noChangeArrowheads="1" noTextEdit="1"/>
          </p:cNvSpPr>
          <p:nvPr>
            <p:ph type="sldImg"/>
          </p:nvPr>
        </p:nvSpPr>
        <p:spPr>
          <a:xfrm>
            <a:off x="393700" y="692150"/>
            <a:ext cx="6070600" cy="3416300"/>
          </a:xfrm>
          <a:ln cap="flat"/>
        </p:spPr>
      </p:sp>
      <p:sp>
        <p:nvSpPr>
          <p:cNvPr id="19463" name="Rectangle 7"/>
          <p:cNvSpPr>
            <a:spLocks noGrp="1" noChangeArrowheads="1"/>
          </p:cNvSpPr>
          <p:nvPr>
            <p:ph type="body" idx="1"/>
          </p:nvPr>
        </p:nvSpPr>
        <p:spPr>
          <a:ln/>
        </p:spPr>
        <p:txBody>
          <a:bodyPr/>
          <a:lstStyle/>
          <a:p>
            <a:endParaRPr lang="en-US" altLang="en-US"/>
          </a:p>
        </p:txBody>
      </p:sp>
    </p:spTree>
    <p:extLst>
      <p:ext uri="{BB962C8B-B14F-4D97-AF65-F5344CB8AC3E}">
        <p14:creationId xmlns:p14="http://schemas.microsoft.com/office/powerpoint/2010/main" val="4612571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A032F50-0B60-B34B-8422-4E195A5AE2C1}" type="slidenum">
              <a:rPr lang="en-US" smtClean="0"/>
              <a:t>46</a:t>
            </a:fld>
            <a:endParaRPr lang="en-US"/>
          </a:p>
        </p:txBody>
      </p:sp>
    </p:spTree>
    <p:extLst>
      <p:ext uri="{BB962C8B-B14F-4D97-AF65-F5344CB8AC3E}">
        <p14:creationId xmlns:p14="http://schemas.microsoft.com/office/powerpoint/2010/main" val="8365993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A032F50-0B60-B34B-8422-4E195A5AE2C1}" type="slidenum">
              <a:rPr lang="en-US" smtClean="0"/>
              <a:t>47</a:t>
            </a:fld>
            <a:endParaRPr lang="en-US"/>
          </a:p>
        </p:txBody>
      </p:sp>
    </p:spTree>
    <p:extLst>
      <p:ext uri="{BB962C8B-B14F-4D97-AF65-F5344CB8AC3E}">
        <p14:creationId xmlns:p14="http://schemas.microsoft.com/office/powerpoint/2010/main" val="308390463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09571"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9050" tIns="0" rIns="19050" bIns="0" anchor="b"/>
          <a:lstStyle/>
          <a:p>
            <a:pPr algn="r"/>
            <a:r>
              <a:rPr lang="en-US" altLang="en-US" sz="1000" i="1"/>
              <a:t>52</a:t>
            </a:r>
          </a:p>
        </p:txBody>
      </p:sp>
      <p:sp>
        <p:nvSpPr>
          <p:cNvPr id="109572"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09573"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09574" name="Rectangle 6"/>
          <p:cNvSpPr>
            <a:spLocks noGrp="1" noRot="1" noChangeAspect="1" noChangeArrowheads="1" noTextEdit="1"/>
          </p:cNvSpPr>
          <p:nvPr>
            <p:ph type="sldImg"/>
          </p:nvPr>
        </p:nvSpPr>
        <p:spPr>
          <a:xfrm>
            <a:off x="393700" y="692150"/>
            <a:ext cx="6070600" cy="3416300"/>
          </a:xfrm>
          <a:ln cap="flat"/>
        </p:spPr>
      </p:sp>
      <p:sp>
        <p:nvSpPr>
          <p:cNvPr id="109575" name="Rectangle 7"/>
          <p:cNvSpPr>
            <a:spLocks noGrp="1" noChangeArrowheads="1"/>
          </p:cNvSpPr>
          <p:nvPr>
            <p:ph type="body" idx="1"/>
          </p:nvPr>
        </p:nvSpPr>
        <p:spPr>
          <a:ln/>
        </p:spPr>
        <p:txBody>
          <a:bodyPr/>
          <a:lstStyle/>
          <a:p>
            <a:endParaRPr lang="en-US" altLang="en-US"/>
          </a:p>
        </p:txBody>
      </p:sp>
    </p:spTree>
    <p:extLst>
      <p:ext uri="{BB962C8B-B14F-4D97-AF65-F5344CB8AC3E}">
        <p14:creationId xmlns:p14="http://schemas.microsoft.com/office/powerpoint/2010/main" val="365039043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A032F50-0B60-B34B-8422-4E195A5AE2C1}" type="slidenum">
              <a:rPr lang="en-US" smtClean="0"/>
              <a:t>49</a:t>
            </a:fld>
            <a:endParaRPr lang="en-US"/>
          </a:p>
        </p:txBody>
      </p:sp>
    </p:spTree>
    <p:extLst>
      <p:ext uri="{BB962C8B-B14F-4D97-AF65-F5344CB8AC3E}">
        <p14:creationId xmlns:p14="http://schemas.microsoft.com/office/powerpoint/2010/main" val="31631226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A032F50-0B60-B34B-8422-4E195A5AE2C1}" type="slidenum">
              <a:rPr lang="en-US" smtClean="0"/>
              <a:t>50</a:t>
            </a:fld>
            <a:endParaRPr lang="en-US"/>
          </a:p>
        </p:txBody>
      </p:sp>
    </p:spTree>
    <p:extLst>
      <p:ext uri="{BB962C8B-B14F-4D97-AF65-F5344CB8AC3E}">
        <p14:creationId xmlns:p14="http://schemas.microsoft.com/office/powerpoint/2010/main" val="111037746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11619"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9050" tIns="0" rIns="19050" bIns="0" anchor="b"/>
          <a:lstStyle/>
          <a:p>
            <a:pPr algn="r"/>
            <a:r>
              <a:rPr lang="en-US" altLang="en-US" sz="1000" i="1"/>
              <a:t>53</a:t>
            </a:r>
          </a:p>
        </p:txBody>
      </p:sp>
      <p:sp>
        <p:nvSpPr>
          <p:cNvPr id="111620"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11621"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11622" name="Rectangle 6"/>
          <p:cNvSpPr>
            <a:spLocks noGrp="1" noRot="1" noChangeAspect="1" noChangeArrowheads="1" noTextEdit="1"/>
          </p:cNvSpPr>
          <p:nvPr>
            <p:ph type="sldImg"/>
          </p:nvPr>
        </p:nvSpPr>
        <p:spPr>
          <a:xfrm>
            <a:off x="393700" y="692150"/>
            <a:ext cx="6070600" cy="3416300"/>
          </a:xfrm>
          <a:ln cap="flat"/>
        </p:spPr>
      </p:sp>
      <p:sp>
        <p:nvSpPr>
          <p:cNvPr id="111623" name="Rectangle 7"/>
          <p:cNvSpPr>
            <a:spLocks noGrp="1" noChangeArrowheads="1"/>
          </p:cNvSpPr>
          <p:nvPr>
            <p:ph type="body" idx="1"/>
          </p:nvPr>
        </p:nvSpPr>
        <p:spPr>
          <a:ln/>
        </p:spPr>
        <p:txBody>
          <a:bodyPr/>
          <a:lstStyle/>
          <a:p>
            <a:endParaRPr lang="en-US" altLang="en-US"/>
          </a:p>
        </p:txBody>
      </p:sp>
    </p:spTree>
    <p:extLst>
      <p:ext uri="{BB962C8B-B14F-4D97-AF65-F5344CB8AC3E}">
        <p14:creationId xmlns:p14="http://schemas.microsoft.com/office/powerpoint/2010/main" val="27036792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A032F50-0B60-B34B-8422-4E195A5AE2C1}" type="slidenum">
              <a:rPr lang="en-US" smtClean="0"/>
              <a:t>52</a:t>
            </a:fld>
            <a:endParaRPr lang="en-US"/>
          </a:p>
        </p:txBody>
      </p:sp>
    </p:spTree>
    <p:extLst>
      <p:ext uri="{BB962C8B-B14F-4D97-AF65-F5344CB8AC3E}">
        <p14:creationId xmlns:p14="http://schemas.microsoft.com/office/powerpoint/2010/main" val="239234021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A032F50-0B60-B34B-8422-4E195A5AE2C1}" type="slidenum">
              <a:rPr lang="en-US" smtClean="0"/>
              <a:t>53</a:t>
            </a:fld>
            <a:endParaRPr lang="en-US"/>
          </a:p>
        </p:txBody>
      </p:sp>
    </p:spTree>
    <p:extLst>
      <p:ext uri="{BB962C8B-B14F-4D97-AF65-F5344CB8AC3E}">
        <p14:creationId xmlns:p14="http://schemas.microsoft.com/office/powerpoint/2010/main" val="129021312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A032F50-0B60-B34B-8422-4E195A5AE2C1}" type="slidenum">
              <a:rPr lang="en-US" smtClean="0"/>
              <a:t>55</a:t>
            </a:fld>
            <a:endParaRPr lang="en-US"/>
          </a:p>
        </p:txBody>
      </p:sp>
    </p:spTree>
    <p:extLst>
      <p:ext uri="{BB962C8B-B14F-4D97-AF65-F5344CB8AC3E}">
        <p14:creationId xmlns:p14="http://schemas.microsoft.com/office/powerpoint/2010/main" val="87318315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Arial" charset="0"/>
                <a:ea typeface="ＭＳ Ｐゴシック" charset="-128"/>
              </a:defRPr>
            </a:lvl1pPr>
            <a:lvl2pPr marL="742950" indent="-285750" defTabSz="931863">
              <a:spcBef>
                <a:spcPct val="30000"/>
              </a:spcBef>
              <a:defRPr sz="1200">
                <a:solidFill>
                  <a:schemeClr val="tx1"/>
                </a:solidFill>
                <a:latin typeface="Arial" charset="0"/>
                <a:ea typeface="ＭＳ Ｐゴシック" charset="-128"/>
              </a:defRPr>
            </a:lvl2pPr>
            <a:lvl3pPr marL="1143000" indent="-228600" defTabSz="931863">
              <a:spcBef>
                <a:spcPct val="30000"/>
              </a:spcBef>
              <a:defRPr sz="1200">
                <a:solidFill>
                  <a:schemeClr val="tx1"/>
                </a:solidFill>
                <a:latin typeface="Arial" charset="0"/>
                <a:ea typeface="ＭＳ Ｐゴシック" charset="-128"/>
              </a:defRPr>
            </a:lvl3pPr>
            <a:lvl4pPr marL="1600200" indent="-228600" defTabSz="931863">
              <a:spcBef>
                <a:spcPct val="30000"/>
              </a:spcBef>
              <a:defRPr sz="1200">
                <a:solidFill>
                  <a:schemeClr val="tx1"/>
                </a:solidFill>
                <a:latin typeface="Arial" charset="0"/>
                <a:ea typeface="ＭＳ Ｐゴシック" charset="-128"/>
              </a:defRPr>
            </a:lvl4pPr>
            <a:lvl5pPr marL="2057400" indent="-228600" defTabSz="931863">
              <a:spcBef>
                <a:spcPct val="30000"/>
              </a:spcBef>
              <a:defRPr sz="1200">
                <a:solidFill>
                  <a:schemeClr val="tx1"/>
                </a:solidFill>
                <a:latin typeface="Arial" charset="0"/>
                <a:ea typeface="ＭＳ Ｐゴシック" charset="-128"/>
              </a:defRPr>
            </a:lvl5pPr>
            <a:lvl6pPr marL="2514600" indent="-228600" defTabSz="931863" eaLnBrk="0" fontAlgn="base" hangingPunct="0">
              <a:spcBef>
                <a:spcPct val="30000"/>
              </a:spcBef>
              <a:spcAft>
                <a:spcPct val="0"/>
              </a:spcAft>
              <a:defRPr sz="1200">
                <a:solidFill>
                  <a:schemeClr val="tx1"/>
                </a:solidFill>
                <a:latin typeface="Arial" charset="0"/>
                <a:ea typeface="ＭＳ Ｐゴシック" charset="-128"/>
              </a:defRPr>
            </a:lvl6pPr>
            <a:lvl7pPr marL="2971800" indent="-228600" defTabSz="931863" eaLnBrk="0" fontAlgn="base" hangingPunct="0">
              <a:spcBef>
                <a:spcPct val="30000"/>
              </a:spcBef>
              <a:spcAft>
                <a:spcPct val="0"/>
              </a:spcAft>
              <a:defRPr sz="1200">
                <a:solidFill>
                  <a:schemeClr val="tx1"/>
                </a:solidFill>
                <a:latin typeface="Arial" charset="0"/>
                <a:ea typeface="ＭＳ Ｐゴシック" charset="-128"/>
              </a:defRPr>
            </a:lvl7pPr>
            <a:lvl8pPr marL="3429000" indent="-228600" defTabSz="931863" eaLnBrk="0" fontAlgn="base" hangingPunct="0">
              <a:spcBef>
                <a:spcPct val="30000"/>
              </a:spcBef>
              <a:spcAft>
                <a:spcPct val="0"/>
              </a:spcAft>
              <a:defRPr sz="1200">
                <a:solidFill>
                  <a:schemeClr val="tx1"/>
                </a:solidFill>
                <a:latin typeface="Arial" charset="0"/>
                <a:ea typeface="ＭＳ Ｐゴシック" charset="-128"/>
              </a:defRPr>
            </a:lvl8pPr>
            <a:lvl9pPr marL="3886200" indent="-228600" defTabSz="931863" eaLnBrk="0" fontAlgn="base" hangingPunct="0">
              <a:spcBef>
                <a:spcPct val="30000"/>
              </a:spcBef>
              <a:spcAft>
                <a:spcPct val="0"/>
              </a:spcAft>
              <a:defRPr sz="1200">
                <a:solidFill>
                  <a:schemeClr val="tx1"/>
                </a:solidFill>
                <a:latin typeface="Arial" charset="0"/>
                <a:ea typeface="ＭＳ Ｐゴシック" charset="-128"/>
              </a:defRPr>
            </a:lvl9pPr>
          </a:lstStyle>
          <a:p>
            <a:pPr>
              <a:spcBef>
                <a:spcPct val="0"/>
              </a:spcBef>
            </a:pPr>
            <a:fld id="{8F42F5EB-1DD0-A247-A457-5111C386DD58}" type="slidenum">
              <a:rPr lang="en-US" altLang="en-US"/>
              <a:pPr>
                <a:spcBef>
                  <a:spcPct val="0"/>
                </a:spcBef>
              </a:pPr>
              <a:t>56</a:t>
            </a:fld>
            <a:endParaRPr lang="en-US" altLang="en-US"/>
          </a:p>
        </p:txBody>
      </p:sp>
      <p:sp>
        <p:nvSpPr>
          <p:cNvPr id="156674" name="Rectangle 2"/>
          <p:cNvSpPr>
            <a:spLocks noGrp="1" noRot="1" noChangeAspect="1" noChangeArrowheads="1" noTextEdit="1"/>
          </p:cNvSpPr>
          <p:nvPr>
            <p:ph type="sldImg"/>
          </p:nvPr>
        </p:nvSpPr>
        <p:spPr>
          <a:ln/>
        </p:spPr>
      </p:sp>
      <p:sp>
        <p:nvSpPr>
          <p:cNvPr id="15667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ltLang="en-US">
              <a:latin typeface="Arial" charset="0"/>
              <a:ea typeface="ＭＳ Ｐゴシック" charset="-128"/>
            </a:endParaRPr>
          </a:p>
        </p:txBody>
      </p:sp>
    </p:spTree>
    <p:extLst>
      <p:ext uri="{BB962C8B-B14F-4D97-AF65-F5344CB8AC3E}">
        <p14:creationId xmlns:p14="http://schemas.microsoft.com/office/powerpoint/2010/main" val="275587700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A032F50-0B60-B34B-8422-4E195A5AE2C1}" type="slidenum">
              <a:rPr lang="en-US" smtClean="0"/>
              <a:t>57</a:t>
            </a:fld>
            <a:endParaRPr lang="en-US"/>
          </a:p>
        </p:txBody>
      </p:sp>
    </p:spTree>
    <p:extLst>
      <p:ext uri="{BB962C8B-B14F-4D97-AF65-F5344CB8AC3E}">
        <p14:creationId xmlns:p14="http://schemas.microsoft.com/office/powerpoint/2010/main" val="429397422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032F50-0B60-B34B-8422-4E195A5AE2C1}" type="slidenum">
              <a:rPr lang="en-US" smtClean="0"/>
              <a:t>58</a:t>
            </a:fld>
            <a:endParaRPr lang="en-US"/>
          </a:p>
        </p:txBody>
      </p:sp>
    </p:spTree>
    <p:extLst>
      <p:ext uri="{BB962C8B-B14F-4D97-AF65-F5344CB8AC3E}">
        <p14:creationId xmlns:p14="http://schemas.microsoft.com/office/powerpoint/2010/main" val="113053574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Makes Entrepreneurs Entrepreneurial?</a:t>
            </a:r>
          </a:p>
          <a:p>
            <a:endParaRPr lang="en-US" dirty="0"/>
          </a:p>
          <a:p>
            <a:r>
              <a:rPr lang="en-US" dirty="0"/>
              <a:t>What is effectual versus causal reasoning?</a:t>
            </a:r>
          </a:p>
          <a:p>
            <a:r>
              <a:rPr lang="en-US" dirty="0"/>
              <a:t>	Start with means versus ends (goals)</a:t>
            </a:r>
          </a:p>
          <a:p>
            <a:r>
              <a:rPr lang="en-US" dirty="0"/>
              <a:t>	Causal: “To the extent that we can predict the future, we can control it”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Effectual: To the extent that we can control the future, we do not need to predict it!</a:t>
            </a:r>
          </a:p>
          <a:p>
            <a:endParaRPr lang="en-US" dirty="0"/>
          </a:p>
          <a:p>
            <a:r>
              <a:rPr lang="en-US" dirty="0"/>
              <a:t>	Conquerors versus explorers</a:t>
            </a:r>
          </a:p>
          <a:p>
            <a:r>
              <a:rPr lang="en-US" dirty="0"/>
              <a:t>	Can use both</a:t>
            </a:r>
          </a:p>
          <a:p>
            <a:endParaRPr lang="en-US" dirty="0"/>
          </a:p>
          <a:p>
            <a:r>
              <a:rPr lang="en-US" dirty="0"/>
              <a:t>What does the author mean by means?</a:t>
            </a:r>
          </a:p>
          <a:p>
            <a:r>
              <a:rPr lang="en-US" dirty="0"/>
              <a:t>	Three categories of means, </a:t>
            </a:r>
          </a:p>
          <a:p>
            <a:r>
              <a:rPr lang="en-US" dirty="0"/>
              <a:t>		1.  Who they are</a:t>
            </a:r>
          </a:p>
          <a:p>
            <a:r>
              <a:rPr lang="en-US" dirty="0"/>
              <a:t>		2.  What they know</a:t>
            </a:r>
          </a:p>
          <a:p>
            <a:r>
              <a:rPr lang="en-US" dirty="0"/>
              <a:t>		3) Whom they know</a:t>
            </a:r>
          </a:p>
          <a:p>
            <a:r>
              <a:rPr lang="en-US" dirty="0"/>
              <a:t>Start small</a:t>
            </a:r>
          </a:p>
          <a:p>
            <a:r>
              <a:rPr lang="en-US" dirty="0"/>
              <a:t>Make and unmake and revise plans through action and interaction</a:t>
            </a:r>
          </a:p>
          <a:p>
            <a:r>
              <a:rPr lang="en-US" dirty="0"/>
              <a:t>Surprises are the norm-The unexpected as opportunity</a:t>
            </a:r>
          </a:p>
          <a:p>
            <a:endParaRPr lang="en-US" dirty="0"/>
          </a:p>
          <a:p>
            <a:r>
              <a:rPr lang="en-US" dirty="0"/>
              <a:t>What is affordable loss?</a:t>
            </a:r>
          </a:p>
          <a:p>
            <a:r>
              <a:rPr lang="en-US" dirty="0"/>
              <a:t>Competitive </a:t>
            </a:r>
            <a:r>
              <a:rPr lang="en-US" dirty="0" err="1"/>
              <a:t>anlysis</a:t>
            </a:r>
            <a:r>
              <a:rPr lang="en-US" dirty="0"/>
              <a:t> versus strategic partnerships?</a:t>
            </a:r>
          </a:p>
          <a:p>
            <a:r>
              <a:rPr lang="en-US" dirty="0"/>
              <a:t>Leveraging contingencies – Ready, fire, aim! – not all surprises are bad, but actually good. Inputs to venture creation process.</a:t>
            </a:r>
          </a:p>
          <a:p>
            <a:endParaRPr lang="en-US" dirty="0"/>
          </a:p>
          <a:p>
            <a:r>
              <a:rPr lang="en-US" dirty="0"/>
              <a:t>Urn example-</a:t>
            </a:r>
          </a:p>
          <a:p>
            <a:endParaRPr lang="en-US" dirty="0"/>
          </a:p>
          <a:p>
            <a:r>
              <a:rPr lang="en-US" dirty="0"/>
              <a:t>1.  unknown distribution of colors.  Discover distribution based on experimenting.</a:t>
            </a:r>
          </a:p>
          <a:p>
            <a:pPr marL="228600" indent="-228600">
              <a:buAutoNum type="arabicPeriod" startAt="2"/>
            </a:pPr>
            <a:r>
              <a:rPr lang="en-US" dirty="0"/>
              <a:t>Future is created through actions of the players – Add more red balls to the urn</a:t>
            </a:r>
          </a:p>
          <a:p>
            <a:pPr marL="228600" indent="-228600">
              <a:buAutoNum type="arabicPeriod" startAt="2"/>
            </a:pPr>
            <a:endParaRPr lang="en-US" dirty="0"/>
          </a:p>
          <a:p>
            <a:pPr marL="0" indent="0">
              <a:buFontTx/>
              <a:buNone/>
            </a:pPr>
            <a:r>
              <a:rPr lang="en-US" dirty="0"/>
              <a:t>What did you think of the </a:t>
            </a:r>
            <a:r>
              <a:rPr lang="en-US" dirty="0" err="1"/>
              <a:t>U-haul</a:t>
            </a:r>
            <a:r>
              <a:rPr lang="en-US" dirty="0"/>
              <a:t>  Example?</a:t>
            </a:r>
          </a:p>
          <a:p>
            <a:pPr marL="0" indent="0">
              <a:buFontTx/>
              <a:buNone/>
            </a:pPr>
            <a:r>
              <a:rPr lang="en-US" dirty="0"/>
              <a:t>Lacked means, capital outlay too high.</a:t>
            </a:r>
          </a:p>
          <a:p>
            <a:pPr marL="0" indent="0">
              <a:buFontTx/>
              <a:buNone/>
            </a:pPr>
            <a:r>
              <a:rPr lang="en-US" dirty="0"/>
              <a:t>No entry barriers</a:t>
            </a:r>
          </a:p>
          <a:p>
            <a:pPr marL="0" indent="0">
              <a:buFontTx/>
              <a:buNone/>
            </a:pPr>
            <a:endParaRPr lang="en-US" dirty="0"/>
          </a:p>
          <a:p>
            <a:pPr marL="0" indent="0">
              <a:buFontTx/>
              <a:buNone/>
            </a:pPr>
            <a:r>
              <a:rPr lang="en-US" dirty="0"/>
              <a:t>Started small</a:t>
            </a:r>
          </a:p>
          <a:p>
            <a:pPr marL="0" indent="0">
              <a:buFontTx/>
              <a:buNone/>
            </a:pPr>
            <a:r>
              <a:rPr lang="en-US" dirty="0"/>
              <a:t>Built their own trailers</a:t>
            </a:r>
          </a:p>
          <a:p>
            <a:pPr marL="0" indent="0">
              <a:buFontTx/>
              <a:buNone/>
            </a:pPr>
            <a:r>
              <a:rPr lang="en-US" dirty="0"/>
              <a:t>Striking orange paint</a:t>
            </a:r>
          </a:p>
          <a:p>
            <a:pPr marL="0" indent="0">
              <a:buFontTx/>
              <a:buNone/>
            </a:pPr>
            <a:r>
              <a:rPr lang="en-US" dirty="0"/>
              <a:t>Gave away trailers to renters to establish dealers</a:t>
            </a:r>
          </a:p>
          <a:p>
            <a:pPr marL="0" indent="0">
              <a:buFontTx/>
              <a:buNone/>
            </a:pPr>
            <a:r>
              <a:rPr lang="en-US" dirty="0"/>
              <a:t>Contracted with gas station chains for parking</a:t>
            </a:r>
          </a:p>
          <a:p>
            <a:pPr marL="0" indent="0">
              <a:buFontTx/>
              <a:buNone/>
            </a:pPr>
            <a:r>
              <a:rPr lang="en-US" dirty="0"/>
              <a:t>Limited ads to yellow pages</a:t>
            </a:r>
          </a:p>
          <a:p>
            <a:pPr marL="0" indent="0">
              <a:buFontTx/>
              <a:buNone/>
            </a:pPr>
            <a:endParaRPr lang="en-US" dirty="0"/>
          </a:p>
          <a:p>
            <a:endParaRPr lang="en-US" dirty="0"/>
          </a:p>
        </p:txBody>
      </p:sp>
      <p:sp>
        <p:nvSpPr>
          <p:cNvPr id="4" name="Slide Number Placeholder 3"/>
          <p:cNvSpPr>
            <a:spLocks noGrp="1"/>
          </p:cNvSpPr>
          <p:nvPr>
            <p:ph type="sldNum" sz="quarter" idx="10"/>
          </p:nvPr>
        </p:nvSpPr>
        <p:spPr/>
        <p:txBody>
          <a:bodyPr/>
          <a:lstStyle/>
          <a:p>
            <a:fld id="{1A032F50-0B60-B34B-8422-4E195A5AE2C1}" type="slidenum">
              <a:rPr lang="en-US" smtClean="0"/>
              <a:t>59</a:t>
            </a:fld>
            <a:endParaRPr lang="en-US"/>
          </a:p>
        </p:txBody>
      </p:sp>
    </p:spTree>
    <p:extLst>
      <p:ext uri="{BB962C8B-B14F-4D97-AF65-F5344CB8AC3E}">
        <p14:creationId xmlns:p14="http://schemas.microsoft.com/office/powerpoint/2010/main" val="136263974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A032F50-0B60-B34B-8422-4E195A5AE2C1}" type="slidenum">
              <a:rPr lang="en-US" smtClean="0"/>
              <a:t>61</a:t>
            </a:fld>
            <a:endParaRPr lang="en-US"/>
          </a:p>
        </p:txBody>
      </p:sp>
    </p:spTree>
    <p:extLst>
      <p:ext uri="{BB962C8B-B14F-4D97-AF65-F5344CB8AC3E}">
        <p14:creationId xmlns:p14="http://schemas.microsoft.com/office/powerpoint/2010/main" val="293866532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A032F50-0B60-B34B-8422-4E195A5AE2C1}" type="slidenum">
              <a:rPr lang="en-US" smtClean="0"/>
              <a:t>62</a:t>
            </a:fld>
            <a:endParaRPr lang="en-US"/>
          </a:p>
        </p:txBody>
      </p:sp>
    </p:spTree>
    <p:extLst>
      <p:ext uri="{BB962C8B-B14F-4D97-AF65-F5344CB8AC3E}">
        <p14:creationId xmlns:p14="http://schemas.microsoft.com/office/powerpoint/2010/main" val="197941539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80"/>
              </a:spcAft>
            </a:pPr>
            <a:r>
              <a:rPr lang="en-US" altLang="en-US" sz="1813" b="1" dirty="0"/>
              <a:t>Where Good Ideas Come From:</a:t>
            </a:r>
          </a:p>
          <a:p>
            <a:pPr lvl="1">
              <a:spcBef>
                <a:spcPts val="680"/>
              </a:spcBef>
              <a:spcAft>
                <a:spcPts val="680"/>
              </a:spcAft>
              <a:buFont typeface="Arial" charset="0"/>
              <a:buChar char="•"/>
            </a:pPr>
            <a:r>
              <a:rPr lang="en-US" altLang="en-US" sz="1813" dirty="0"/>
              <a:t>What is a “slow hunch”?</a:t>
            </a:r>
          </a:p>
          <a:p>
            <a:pPr lvl="2">
              <a:spcAft>
                <a:spcPts val="680"/>
              </a:spcAft>
              <a:buFont typeface="Wingdings" charset="2"/>
              <a:buChar char="§"/>
            </a:pPr>
            <a:r>
              <a:rPr lang="en-US" altLang="en-US" sz="1813" dirty="0"/>
              <a:t>What ideas, products, or services can you think of that are good examples of a “slow hunch”?</a:t>
            </a:r>
          </a:p>
          <a:p>
            <a:pPr lvl="1">
              <a:spcAft>
                <a:spcPts val="680"/>
              </a:spcAft>
              <a:buFont typeface="Arial" charset="0"/>
              <a:buChar char="•"/>
            </a:pPr>
            <a:r>
              <a:rPr lang="en-US" altLang="en-US" sz="1813" dirty="0"/>
              <a:t>What is a “liquid network”?</a:t>
            </a:r>
          </a:p>
          <a:p>
            <a:pPr lvl="2">
              <a:spcAft>
                <a:spcPts val="680"/>
              </a:spcAft>
              <a:buFont typeface="Wingdings" charset="2"/>
              <a:buChar char="§"/>
            </a:pPr>
            <a:r>
              <a:rPr lang="en-US" altLang="en-US" sz="1813" dirty="0"/>
              <a:t>What ideas, products, or services can you think of that resulted from a “liquid network”?</a:t>
            </a:r>
          </a:p>
          <a:p>
            <a:pPr lvl="1">
              <a:spcAft>
                <a:spcPts val="680"/>
              </a:spcAft>
              <a:buFont typeface="Arial" charset="0"/>
              <a:buChar char="•"/>
            </a:pPr>
            <a:r>
              <a:rPr lang="en-US" altLang="en-US" sz="1813" dirty="0"/>
              <a:t>What does your company do well to promote “creating good ideas”? </a:t>
            </a:r>
          </a:p>
          <a:p>
            <a:pPr lvl="2">
              <a:spcAft>
                <a:spcPts val="680"/>
              </a:spcAft>
              <a:buFont typeface="Wingdings" charset="2"/>
              <a:buChar char="§"/>
            </a:pPr>
            <a:r>
              <a:rPr lang="en-US" altLang="en-US" sz="1813" dirty="0"/>
              <a:t>What could they do better?</a:t>
            </a:r>
          </a:p>
          <a:p>
            <a:pPr lvl="1">
              <a:spcAft>
                <a:spcPts val="680"/>
              </a:spcAft>
              <a:buFont typeface="Arial" charset="0"/>
              <a:buChar char="•"/>
            </a:pPr>
            <a:r>
              <a:rPr lang="en-US" altLang="en-US" sz="1813" dirty="0"/>
              <a:t>What do you do well to “create good ideas”? </a:t>
            </a:r>
          </a:p>
          <a:p>
            <a:pPr lvl="2">
              <a:spcAft>
                <a:spcPts val="680"/>
              </a:spcAft>
              <a:buFont typeface="Wingdings" charset="2"/>
              <a:buChar char="§"/>
            </a:pPr>
            <a:r>
              <a:rPr lang="en-US" altLang="en-US" sz="1813" dirty="0"/>
              <a:t>What could you do better?</a:t>
            </a:r>
          </a:p>
          <a:p>
            <a:pPr lvl="1">
              <a:spcAft>
                <a:spcPts val="680"/>
              </a:spcAft>
              <a:buFont typeface="Arial" charset="0"/>
              <a:buChar char="•"/>
            </a:pPr>
            <a:r>
              <a:rPr lang="en-US" altLang="en-US" sz="1813" dirty="0"/>
              <a:t>Do you participate in “liquid networks”? </a:t>
            </a:r>
          </a:p>
          <a:p>
            <a:pPr lvl="2">
              <a:spcAft>
                <a:spcPts val="680"/>
              </a:spcAft>
              <a:buFont typeface="Wingdings" charset="2"/>
              <a:buChar char="§"/>
            </a:pPr>
            <a:r>
              <a:rPr lang="en-US" altLang="en-US" sz="1813" dirty="0"/>
              <a:t>Where? </a:t>
            </a:r>
          </a:p>
          <a:p>
            <a:pPr lvl="2">
              <a:spcAft>
                <a:spcPts val="680"/>
              </a:spcAft>
              <a:buFont typeface="Wingdings" charset="2"/>
              <a:buChar char="§"/>
            </a:pPr>
            <a:r>
              <a:rPr lang="en-US" altLang="en-US" sz="1813" dirty="0"/>
              <a:t>With whom?</a:t>
            </a:r>
          </a:p>
          <a:p>
            <a:pPr lvl="1">
              <a:spcAft>
                <a:spcPts val="680"/>
              </a:spcAft>
              <a:buFont typeface="Arial" charset="0"/>
              <a:buChar char="•"/>
            </a:pPr>
            <a:r>
              <a:rPr lang="en-US" altLang="en-US" sz="1813" dirty="0"/>
              <a:t>Do you seek diversity of thought? </a:t>
            </a:r>
          </a:p>
          <a:p>
            <a:pPr lvl="2">
              <a:spcAft>
                <a:spcPts val="680"/>
              </a:spcAft>
              <a:buFont typeface="Wingdings" charset="2"/>
              <a:buChar char="§"/>
            </a:pPr>
            <a:r>
              <a:rPr lang="en-US" altLang="en-US" sz="1813" dirty="0"/>
              <a:t>Or do you spend most of your time with people who look, act, and think like you?</a:t>
            </a:r>
          </a:p>
          <a:p>
            <a:endParaRPr lang="en-US" dirty="0"/>
          </a:p>
        </p:txBody>
      </p:sp>
      <p:sp>
        <p:nvSpPr>
          <p:cNvPr id="4" name="Slide Number Placeholder 3"/>
          <p:cNvSpPr>
            <a:spLocks noGrp="1"/>
          </p:cNvSpPr>
          <p:nvPr>
            <p:ph type="sldNum" sz="quarter" idx="10"/>
          </p:nvPr>
        </p:nvSpPr>
        <p:spPr/>
        <p:txBody>
          <a:bodyPr/>
          <a:lstStyle/>
          <a:p>
            <a:fld id="{1A032F50-0B60-B34B-8422-4E195A5AE2C1}" type="slidenum">
              <a:rPr lang="en-US" smtClean="0"/>
              <a:t>63</a:t>
            </a:fld>
            <a:endParaRPr lang="en-US"/>
          </a:p>
        </p:txBody>
      </p:sp>
    </p:spTree>
    <p:extLst>
      <p:ext uri="{BB962C8B-B14F-4D97-AF65-F5344CB8AC3E}">
        <p14:creationId xmlns:p14="http://schemas.microsoft.com/office/powerpoint/2010/main" val="7800267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A032F50-0B60-B34B-8422-4E195A5AE2C1}" type="slidenum">
              <a:rPr lang="en-US" smtClean="0"/>
              <a:t>64</a:t>
            </a:fld>
            <a:endParaRPr lang="en-US"/>
          </a:p>
        </p:txBody>
      </p:sp>
    </p:spTree>
    <p:extLst>
      <p:ext uri="{BB962C8B-B14F-4D97-AF65-F5344CB8AC3E}">
        <p14:creationId xmlns:p14="http://schemas.microsoft.com/office/powerpoint/2010/main" val="2415959511"/>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1.bin"/><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2.bin"/><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1.bin"/><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Green Dots UnitID">
    <p:bg>
      <p:bgPr>
        <a:solidFill>
          <a:schemeClr val="tx2"/>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BEBA8EAE-BF5A-486C-A8C5-ECC9F3942E4B}">
                <a14:imgProps xmlns:a14="http://schemas.microsoft.com/office/drawing/2010/main">
                  <a14:imgLayer r:embed="rId3">
                    <a14:imgEffect>
                      <a14:colorTemperature colorTemp="9139"/>
                    </a14:imgEffect>
                    <a14:imgEffect>
                      <a14:saturation sat="60000"/>
                    </a14:imgEffect>
                    <a14:imgEffect>
                      <a14:brightnessContrast bright="15000"/>
                    </a14:imgEffect>
                  </a14:imgLayer>
                </a14:imgProps>
              </a:ext>
              <a:ext uri="{28A0092B-C50C-407E-A947-70E740481C1C}">
                <a14:useLocalDpi xmlns:a14="http://schemas.microsoft.com/office/drawing/2010/main" val="0"/>
              </a:ext>
            </a:extLst>
          </a:blip>
          <a:stretch>
            <a:fillRect/>
          </a:stretch>
        </p:blipFill>
        <p:spPr>
          <a:xfrm>
            <a:off x="0" y="0"/>
            <a:ext cx="13817600" cy="7782326"/>
          </a:xfrm>
          <a:prstGeom prst="rect">
            <a:avLst/>
          </a:prstGeom>
        </p:spPr>
      </p:pic>
      <p:sp>
        <p:nvSpPr>
          <p:cNvPr id="4" name="Text Placeholder 8"/>
          <p:cNvSpPr>
            <a:spLocks noGrp="1"/>
          </p:cNvSpPr>
          <p:nvPr>
            <p:ph type="body" sz="quarter" idx="11" hasCustomPrompt="1"/>
          </p:nvPr>
        </p:nvSpPr>
        <p:spPr>
          <a:xfrm>
            <a:off x="628075" y="2695562"/>
            <a:ext cx="12561453" cy="1949512"/>
          </a:xfrm>
        </p:spPr>
        <p:txBody>
          <a:bodyPr anchor="t" anchorCtr="0">
            <a:spAutoFit/>
          </a:bodyPr>
          <a:lstStyle>
            <a:lvl1pPr marL="0" indent="0">
              <a:lnSpc>
                <a:spcPct val="100000"/>
              </a:lnSpc>
              <a:spcBef>
                <a:spcPts val="0"/>
              </a:spcBef>
              <a:spcAft>
                <a:spcPts val="0"/>
              </a:spcAft>
              <a:buNone/>
              <a:defRPr sz="6000">
                <a:solidFill>
                  <a:schemeClr val="bg1"/>
                </a:solidFill>
                <a:latin typeface="+mj-lt"/>
              </a:defRPr>
            </a:lvl1pPr>
            <a:lvl2pPr marL="699614" indent="0">
              <a:buNone/>
              <a:defRPr sz="5495">
                <a:solidFill>
                  <a:schemeClr val="bg1"/>
                </a:solidFill>
                <a:latin typeface="+mj-lt"/>
              </a:defRPr>
            </a:lvl2pPr>
            <a:lvl3pPr marL="1399233" indent="0">
              <a:buNone/>
              <a:defRPr sz="5495">
                <a:solidFill>
                  <a:schemeClr val="bg1"/>
                </a:solidFill>
                <a:latin typeface="+mj-lt"/>
              </a:defRPr>
            </a:lvl3pPr>
            <a:lvl4pPr marL="2098847" indent="0">
              <a:buNone/>
              <a:defRPr sz="5495">
                <a:solidFill>
                  <a:schemeClr val="bg1"/>
                </a:solidFill>
                <a:latin typeface="+mj-lt"/>
              </a:defRPr>
            </a:lvl4pPr>
            <a:lvl5pPr marL="2798465" indent="0">
              <a:buNone/>
              <a:defRPr sz="5495">
                <a:solidFill>
                  <a:schemeClr val="bg1"/>
                </a:solidFill>
                <a:latin typeface="+mj-lt"/>
              </a:defRPr>
            </a:lvl5pPr>
          </a:lstStyle>
          <a:p>
            <a:pPr lvl="0"/>
            <a:r>
              <a:rPr lang="en-US" dirty="0"/>
              <a:t>Title of Presentation </a:t>
            </a:r>
            <a:br>
              <a:rPr lang="en-US" dirty="0"/>
            </a:br>
            <a:r>
              <a:rPr lang="en-US" dirty="0"/>
              <a:t>Goes Here</a:t>
            </a:r>
          </a:p>
        </p:txBody>
      </p:sp>
      <p:sp>
        <p:nvSpPr>
          <p:cNvPr id="10" name="Text Placeholder 10"/>
          <p:cNvSpPr>
            <a:spLocks noGrp="1"/>
          </p:cNvSpPr>
          <p:nvPr>
            <p:ph type="body" sz="quarter" idx="12" hasCustomPrompt="1"/>
          </p:nvPr>
        </p:nvSpPr>
        <p:spPr>
          <a:xfrm>
            <a:off x="628074" y="5369311"/>
            <a:ext cx="12561452" cy="472185"/>
          </a:xfrm>
        </p:spPr>
        <p:txBody>
          <a:bodyPr>
            <a:spAutoFit/>
          </a:bodyPr>
          <a:lstStyle>
            <a:lvl1pPr marL="0" indent="0">
              <a:buNone/>
              <a:defRPr sz="1600">
                <a:solidFill>
                  <a:schemeClr val="bg1"/>
                </a:solidFill>
              </a:defRPr>
            </a:lvl1pPr>
            <a:lvl2pPr marL="699614" indent="0">
              <a:buNone/>
              <a:defRPr/>
            </a:lvl2pPr>
            <a:lvl3pPr marL="1399233" indent="0">
              <a:buNone/>
              <a:defRPr/>
            </a:lvl3pPr>
            <a:lvl4pPr marL="2098847" indent="0">
              <a:buNone/>
              <a:defRPr/>
            </a:lvl4pPr>
            <a:lvl5pPr marL="2798465" indent="0">
              <a:buNone/>
              <a:defRPr/>
            </a:lvl5pPr>
          </a:lstStyle>
          <a:p>
            <a:pPr lvl="0"/>
            <a:r>
              <a:rPr lang="en-US" dirty="0" err="1"/>
              <a:t>Subheadline</a:t>
            </a:r>
            <a:r>
              <a:rPr lang="en-US" dirty="0"/>
              <a:t>, name or date goes here</a:t>
            </a:r>
          </a:p>
        </p:txBody>
      </p:sp>
      <p:cxnSp>
        <p:nvCxnSpPr>
          <p:cNvPr id="3" name="Straight Connector 2"/>
          <p:cNvCxnSpPr/>
          <p:nvPr userDrawn="1"/>
        </p:nvCxnSpPr>
        <p:spPr>
          <a:xfrm>
            <a:off x="729343" y="5122227"/>
            <a:ext cx="911198" cy="0"/>
          </a:xfrm>
          <a:prstGeom prst="line">
            <a:avLst/>
          </a:prstGeom>
          <a:ln w="28575">
            <a:solidFill>
              <a:schemeClr val="bg2"/>
            </a:solidFill>
          </a:ln>
          <a:effectLst/>
        </p:spPr>
        <p:style>
          <a:lnRef idx="2">
            <a:schemeClr val="accent1"/>
          </a:lnRef>
          <a:fillRef idx="0">
            <a:schemeClr val="accent1"/>
          </a:fillRef>
          <a:effectRef idx="1">
            <a:schemeClr val="accent1"/>
          </a:effectRef>
          <a:fontRef idx="minor">
            <a:schemeClr val="tx1"/>
          </a:fontRef>
        </p:style>
      </p:cxnSp>
      <p:pic>
        <p:nvPicPr>
          <p:cNvPr id="9" name="Picture 8"/>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24448" y="6574799"/>
            <a:ext cx="3934977" cy="964069"/>
          </a:xfrm>
          <a:prstGeom prst="rect">
            <a:avLst/>
          </a:prstGeom>
        </p:spPr>
      </p:pic>
    </p:spTree>
    <p:extLst>
      <p:ext uri="{BB962C8B-B14F-4D97-AF65-F5344CB8AC3E}">
        <p14:creationId xmlns:p14="http://schemas.microsoft.com/office/powerpoint/2010/main" val="1657861534"/>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Green Ram UnitID">
    <p:bg>
      <p:bgPr>
        <a:solidFill>
          <a:schemeClr val="tx2"/>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hqprint">
            <a:alphaModFix amt="8000"/>
            <a:extLst>
              <a:ext uri="{28A0092B-C50C-407E-A947-70E740481C1C}">
                <a14:useLocalDpi xmlns:a14="http://schemas.microsoft.com/office/drawing/2010/main"/>
              </a:ext>
            </a:extLst>
          </a:blip>
          <a:srcRect t="14710" r="30639" b="6933"/>
          <a:stretch/>
        </p:blipFill>
        <p:spPr>
          <a:xfrm>
            <a:off x="6937515" y="-1"/>
            <a:ext cx="6880085" cy="7772401"/>
          </a:xfrm>
          <a:prstGeom prst="rect">
            <a:avLst/>
          </a:prstGeom>
        </p:spPr>
      </p:pic>
      <p:sp>
        <p:nvSpPr>
          <p:cNvPr id="4" name="Text Placeholder 8"/>
          <p:cNvSpPr>
            <a:spLocks noGrp="1"/>
          </p:cNvSpPr>
          <p:nvPr>
            <p:ph type="body" sz="quarter" idx="11" hasCustomPrompt="1"/>
          </p:nvPr>
        </p:nvSpPr>
        <p:spPr>
          <a:xfrm>
            <a:off x="628075" y="2695562"/>
            <a:ext cx="12561453" cy="1949512"/>
          </a:xfrm>
        </p:spPr>
        <p:txBody>
          <a:bodyPr anchor="t" anchorCtr="0">
            <a:spAutoFit/>
          </a:bodyPr>
          <a:lstStyle>
            <a:lvl1pPr marL="0" indent="0">
              <a:lnSpc>
                <a:spcPct val="100000"/>
              </a:lnSpc>
              <a:spcBef>
                <a:spcPts val="0"/>
              </a:spcBef>
              <a:spcAft>
                <a:spcPts val="0"/>
              </a:spcAft>
              <a:buNone/>
              <a:defRPr sz="6000">
                <a:solidFill>
                  <a:schemeClr val="bg1"/>
                </a:solidFill>
                <a:latin typeface="+mj-lt"/>
              </a:defRPr>
            </a:lvl1pPr>
            <a:lvl2pPr marL="699614" indent="0">
              <a:buNone/>
              <a:defRPr sz="5495">
                <a:solidFill>
                  <a:schemeClr val="bg1"/>
                </a:solidFill>
                <a:latin typeface="+mj-lt"/>
              </a:defRPr>
            </a:lvl2pPr>
            <a:lvl3pPr marL="1399233" indent="0">
              <a:buNone/>
              <a:defRPr sz="5495">
                <a:solidFill>
                  <a:schemeClr val="bg1"/>
                </a:solidFill>
                <a:latin typeface="+mj-lt"/>
              </a:defRPr>
            </a:lvl3pPr>
            <a:lvl4pPr marL="2098847" indent="0">
              <a:buNone/>
              <a:defRPr sz="5495">
                <a:solidFill>
                  <a:schemeClr val="bg1"/>
                </a:solidFill>
                <a:latin typeface="+mj-lt"/>
              </a:defRPr>
            </a:lvl4pPr>
            <a:lvl5pPr marL="2798465" indent="0">
              <a:buNone/>
              <a:defRPr sz="5495">
                <a:solidFill>
                  <a:schemeClr val="bg1"/>
                </a:solidFill>
                <a:latin typeface="+mj-lt"/>
              </a:defRPr>
            </a:lvl5pPr>
          </a:lstStyle>
          <a:p>
            <a:pPr lvl="0"/>
            <a:r>
              <a:rPr lang="en-US" dirty="0"/>
              <a:t>Title of Presentation </a:t>
            </a:r>
            <a:br>
              <a:rPr lang="en-US" dirty="0"/>
            </a:br>
            <a:r>
              <a:rPr lang="en-US" dirty="0"/>
              <a:t>Goes Here</a:t>
            </a:r>
          </a:p>
        </p:txBody>
      </p:sp>
      <p:sp>
        <p:nvSpPr>
          <p:cNvPr id="10" name="Text Placeholder 10"/>
          <p:cNvSpPr>
            <a:spLocks noGrp="1"/>
          </p:cNvSpPr>
          <p:nvPr>
            <p:ph type="body" sz="quarter" idx="12" hasCustomPrompt="1"/>
          </p:nvPr>
        </p:nvSpPr>
        <p:spPr>
          <a:xfrm>
            <a:off x="628074" y="5369311"/>
            <a:ext cx="12561452" cy="472185"/>
          </a:xfrm>
        </p:spPr>
        <p:txBody>
          <a:bodyPr>
            <a:spAutoFit/>
          </a:bodyPr>
          <a:lstStyle>
            <a:lvl1pPr marL="0" indent="0">
              <a:buNone/>
              <a:defRPr sz="1600">
                <a:solidFill>
                  <a:schemeClr val="bg1"/>
                </a:solidFill>
              </a:defRPr>
            </a:lvl1pPr>
            <a:lvl2pPr marL="699614" indent="0">
              <a:buNone/>
              <a:defRPr/>
            </a:lvl2pPr>
            <a:lvl3pPr marL="1399233" indent="0">
              <a:buNone/>
              <a:defRPr/>
            </a:lvl3pPr>
            <a:lvl4pPr marL="2098847" indent="0">
              <a:buNone/>
              <a:defRPr/>
            </a:lvl4pPr>
            <a:lvl5pPr marL="2798465" indent="0">
              <a:buNone/>
              <a:defRPr/>
            </a:lvl5pPr>
          </a:lstStyle>
          <a:p>
            <a:pPr lvl="0"/>
            <a:r>
              <a:rPr lang="en-US" dirty="0" err="1"/>
              <a:t>Subheadline</a:t>
            </a:r>
            <a:r>
              <a:rPr lang="en-US" dirty="0"/>
              <a:t>, name or date goes here</a:t>
            </a:r>
          </a:p>
        </p:txBody>
      </p:sp>
      <p:cxnSp>
        <p:nvCxnSpPr>
          <p:cNvPr id="3" name="Straight Connector 2"/>
          <p:cNvCxnSpPr/>
          <p:nvPr userDrawn="1"/>
        </p:nvCxnSpPr>
        <p:spPr>
          <a:xfrm>
            <a:off x="729343" y="5122227"/>
            <a:ext cx="911198" cy="0"/>
          </a:xfrm>
          <a:prstGeom prst="line">
            <a:avLst/>
          </a:prstGeom>
          <a:ln w="28575">
            <a:solidFill>
              <a:schemeClr val="bg2"/>
            </a:solidFill>
          </a:ln>
          <a:effectLst/>
        </p:spPr>
        <p:style>
          <a:lnRef idx="2">
            <a:schemeClr val="accent1"/>
          </a:lnRef>
          <a:fillRef idx="0">
            <a:schemeClr val="accent1"/>
          </a:fillRef>
          <a:effectRef idx="1">
            <a:schemeClr val="accent1"/>
          </a:effectRef>
          <a:fontRef idx="minor">
            <a:schemeClr val="tx1"/>
          </a:fontRef>
        </p:style>
      </p:cxn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516196" y="6655957"/>
            <a:ext cx="3934977" cy="964069"/>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hite CSU">
    <p:spTree>
      <p:nvGrpSpPr>
        <p:cNvPr id="1" name=""/>
        <p:cNvGrpSpPr/>
        <p:nvPr/>
      </p:nvGrpSpPr>
      <p:grpSpPr>
        <a:xfrm>
          <a:off x="0" y="0"/>
          <a:ext cx="0" cy="0"/>
          <a:chOff x="0" y="0"/>
          <a:chExt cx="0" cy="0"/>
        </a:xfrm>
      </p:grpSpPr>
      <p:sp>
        <p:nvSpPr>
          <p:cNvPr id="2" name="TextBox 1"/>
          <p:cNvSpPr txBox="1"/>
          <p:nvPr userDrawn="1"/>
        </p:nvSpPr>
        <p:spPr>
          <a:xfrm>
            <a:off x="-1349192" y="1236134"/>
            <a:ext cx="184731" cy="515077"/>
          </a:xfrm>
          <a:prstGeom prst="rect">
            <a:avLst/>
          </a:prstGeom>
          <a:noFill/>
        </p:spPr>
        <p:txBody>
          <a:bodyPr wrap="none" rtlCol="0">
            <a:spAutoFit/>
          </a:bodyPr>
          <a:lstStyle/>
          <a:p>
            <a:endParaRPr lang="en-US" sz="2747" dirty="0"/>
          </a:p>
        </p:txBody>
      </p:sp>
      <p:sp>
        <p:nvSpPr>
          <p:cNvPr id="3" name="TextBox 2"/>
          <p:cNvSpPr txBox="1"/>
          <p:nvPr userDrawn="1"/>
        </p:nvSpPr>
        <p:spPr>
          <a:xfrm>
            <a:off x="-2093575" y="-474133"/>
            <a:ext cx="184731" cy="515077"/>
          </a:xfrm>
          <a:prstGeom prst="rect">
            <a:avLst/>
          </a:prstGeom>
          <a:noFill/>
        </p:spPr>
        <p:txBody>
          <a:bodyPr wrap="none" rtlCol="0">
            <a:spAutoFit/>
          </a:bodyPr>
          <a:lstStyle/>
          <a:p>
            <a:endParaRPr lang="en-US" sz="2747" dirty="0"/>
          </a:p>
        </p:txBody>
      </p:sp>
      <p:sp>
        <p:nvSpPr>
          <p:cNvPr id="5" name="TextBox 4"/>
          <p:cNvSpPr txBox="1"/>
          <p:nvPr userDrawn="1"/>
        </p:nvSpPr>
        <p:spPr>
          <a:xfrm>
            <a:off x="-2186621" y="-795867"/>
            <a:ext cx="184731" cy="515077"/>
          </a:xfrm>
          <a:prstGeom prst="rect">
            <a:avLst/>
          </a:prstGeom>
          <a:noFill/>
        </p:spPr>
        <p:txBody>
          <a:bodyPr wrap="none" rtlCol="0">
            <a:spAutoFit/>
          </a:bodyPr>
          <a:lstStyle/>
          <a:p>
            <a:endParaRPr lang="en-US" sz="2747" dirty="0"/>
          </a:p>
        </p:txBody>
      </p:sp>
      <p:sp>
        <p:nvSpPr>
          <p:cNvPr id="10" name="Text Placeholder 8"/>
          <p:cNvSpPr>
            <a:spLocks noGrp="1"/>
          </p:cNvSpPr>
          <p:nvPr>
            <p:ph type="body" sz="quarter" idx="13" hasCustomPrompt="1"/>
          </p:nvPr>
        </p:nvSpPr>
        <p:spPr>
          <a:xfrm>
            <a:off x="628075" y="2695562"/>
            <a:ext cx="12561453" cy="2031325"/>
          </a:xfrm>
        </p:spPr>
        <p:txBody>
          <a:bodyPr anchor="t" anchorCtr="0">
            <a:spAutoFit/>
          </a:bodyPr>
          <a:lstStyle>
            <a:lvl1pPr marL="0" indent="0">
              <a:lnSpc>
                <a:spcPct val="100000"/>
              </a:lnSpc>
              <a:spcBef>
                <a:spcPts val="0"/>
              </a:spcBef>
              <a:spcAft>
                <a:spcPts val="0"/>
              </a:spcAft>
              <a:buNone/>
              <a:defRPr sz="6000">
                <a:solidFill>
                  <a:schemeClr val="tx2"/>
                </a:solidFill>
                <a:latin typeface="+mj-lt"/>
              </a:defRPr>
            </a:lvl1pPr>
            <a:lvl2pPr marL="699614" indent="0">
              <a:buNone/>
              <a:defRPr sz="5495">
                <a:solidFill>
                  <a:schemeClr val="bg1"/>
                </a:solidFill>
                <a:latin typeface="+mj-lt"/>
              </a:defRPr>
            </a:lvl2pPr>
            <a:lvl3pPr marL="1399233" indent="0">
              <a:buNone/>
              <a:defRPr sz="5495">
                <a:solidFill>
                  <a:schemeClr val="bg1"/>
                </a:solidFill>
                <a:latin typeface="+mj-lt"/>
              </a:defRPr>
            </a:lvl3pPr>
            <a:lvl4pPr marL="2098847" indent="0">
              <a:buNone/>
              <a:defRPr sz="5495">
                <a:solidFill>
                  <a:schemeClr val="bg1"/>
                </a:solidFill>
                <a:latin typeface="+mj-lt"/>
              </a:defRPr>
            </a:lvl4pPr>
            <a:lvl5pPr marL="2798465" indent="0">
              <a:buNone/>
              <a:defRPr sz="5495">
                <a:solidFill>
                  <a:schemeClr val="bg1"/>
                </a:solidFill>
                <a:latin typeface="+mj-lt"/>
              </a:defRPr>
            </a:lvl5pPr>
          </a:lstStyle>
          <a:p>
            <a:pPr lvl="0"/>
            <a:r>
              <a:rPr lang="en-US" dirty="0"/>
              <a:t>Title of Presentation </a:t>
            </a:r>
            <a:br>
              <a:rPr lang="en-US" dirty="0"/>
            </a:br>
            <a:r>
              <a:rPr lang="en-US" dirty="0"/>
              <a:t>Goes Here</a:t>
            </a:r>
          </a:p>
        </p:txBody>
      </p:sp>
      <p:sp>
        <p:nvSpPr>
          <p:cNvPr id="12" name="Text Placeholder 10"/>
          <p:cNvSpPr>
            <a:spLocks noGrp="1"/>
          </p:cNvSpPr>
          <p:nvPr>
            <p:ph type="body" sz="quarter" idx="14" hasCustomPrompt="1"/>
          </p:nvPr>
        </p:nvSpPr>
        <p:spPr>
          <a:xfrm>
            <a:off x="628074" y="5369311"/>
            <a:ext cx="12561452" cy="480131"/>
          </a:xfrm>
        </p:spPr>
        <p:txBody>
          <a:bodyPr>
            <a:spAutoFit/>
          </a:bodyPr>
          <a:lstStyle>
            <a:lvl1pPr marL="0" indent="0">
              <a:buNone/>
              <a:defRPr sz="1600">
                <a:solidFill>
                  <a:schemeClr val="tx2"/>
                </a:solidFill>
              </a:defRPr>
            </a:lvl1pPr>
            <a:lvl2pPr marL="699614" indent="0">
              <a:buNone/>
              <a:defRPr/>
            </a:lvl2pPr>
            <a:lvl3pPr marL="1399233" indent="0">
              <a:buNone/>
              <a:defRPr/>
            </a:lvl3pPr>
            <a:lvl4pPr marL="2098847" indent="0">
              <a:buNone/>
              <a:defRPr/>
            </a:lvl4pPr>
            <a:lvl5pPr marL="2798465" indent="0">
              <a:buNone/>
              <a:defRPr/>
            </a:lvl5pPr>
          </a:lstStyle>
          <a:p>
            <a:pPr lvl="0"/>
            <a:r>
              <a:rPr lang="en-US" dirty="0" err="1"/>
              <a:t>Subheadline</a:t>
            </a:r>
            <a:r>
              <a:rPr lang="en-US" dirty="0"/>
              <a:t>, name or date goes here</a:t>
            </a:r>
          </a:p>
        </p:txBody>
      </p:sp>
      <p:cxnSp>
        <p:nvCxnSpPr>
          <p:cNvPr id="15" name="Straight Connector 14"/>
          <p:cNvCxnSpPr/>
          <p:nvPr userDrawn="1"/>
        </p:nvCxnSpPr>
        <p:spPr>
          <a:xfrm>
            <a:off x="729343" y="5122227"/>
            <a:ext cx="911198" cy="0"/>
          </a:xfrm>
          <a:prstGeom prst="line">
            <a:avLst/>
          </a:prstGeom>
          <a:ln w="28575">
            <a:solidFill>
              <a:schemeClr val="bg2"/>
            </a:solidFill>
          </a:ln>
          <a:effectLst/>
        </p:spPr>
        <p:style>
          <a:lnRef idx="2">
            <a:schemeClr val="accent1"/>
          </a:lnRef>
          <a:fillRef idx="0">
            <a:schemeClr val="accent1"/>
          </a:fillRef>
          <a:effectRef idx="1">
            <a:schemeClr val="accent1"/>
          </a:effectRef>
          <a:fontRef idx="minor">
            <a:schemeClr val="tx1"/>
          </a:fontRef>
        </p:style>
      </p:cxnSp>
      <p:pic>
        <p:nvPicPr>
          <p:cNvPr id="13" name="Picture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27882" y="6733969"/>
            <a:ext cx="3520440" cy="787423"/>
          </a:xfrm>
          <a:prstGeom prst="rect">
            <a:avLst/>
          </a:prstGeom>
        </p:spPr>
      </p:pic>
    </p:spTree>
    <p:extLst>
      <p:ext uri="{BB962C8B-B14F-4D97-AF65-F5344CB8AC3E}">
        <p14:creationId xmlns:p14="http://schemas.microsoft.com/office/powerpoint/2010/main" val="935655864"/>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hite UnitID">
    <p:spTree>
      <p:nvGrpSpPr>
        <p:cNvPr id="1" name=""/>
        <p:cNvGrpSpPr/>
        <p:nvPr/>
      </p:nvGrpSpPr>
      <p:grpSpPr>
        <a:xfrm>
          <a:off x="0" y="0"/>
          <a:ext cx="0" cy="0"/>
          <a:chOff x="0" y="0"/>
          <a:chExt cx="0" cy="0"/>
        </a:xfrm>
      </p:grpSpPr>
      <p:graphicFrame>
        <p:nvGraphicFramePr>
          <p:cNvPr id="13" name="Object 12"/>
          <p:cNvGraphicFramePr>
            <a:graphicFrameLocks noChangeAspect="1"/>
          </p:cNvGraphicFramePr>
          <p:nvPr userDrawn="1">
            <p:extLst>
              <p:ext uri="{D42A27DB-BD31-4B8C-83A1-F6EECF244321}">
                <p14:modId xmlns:p14="http://schemas.microsoft.com/office/powerpoint/2010/main" val="2125662436"/>
              </p:ext>
            </p:extLst>
          </p:nvPr>
        </p:nvGraphicFramePr>
        <p:xfrm>
          <a:off x="-25401" y="0"/>
          <a:ext cx="13958149" cy="7772400"/>
        </p:xfrm>
        <a:graphic>
          <a:graphicData uri="http://schemas.openxmlformats.org/presentationml/2006/ole">
            <mc:AlternateContent xmlns:mc="http://schemas.openxmlformats.org/markup-compatibility/2006">
              <mc:Choice xmlns:v="urn:schemas-microsoft-com:vml" Requires="v">
                <p:oleObj name="Image" r:id="rId2" imgW="16507800" imgH="9193320" progId="Photoshop.Image.17">
                  <p:embed/>
                </p:oleObj>
              </mc:Choice>
              <mc:Fallback>
                <p:oleObj name="Image" r:id="rId2" imgW="16507800" imgH="9193320" progId="Photoshop.Image.17">
                  <p:embed/>
                  <p:pic>
                    <p:nvPicPr>
                      <p:cNvPr id="11" name="Object 10"/>
                      <p:cNvPicPr/>
                      <p:nvPr/>
                    </p:nvPicPr>
                    <p:blipFill>
                      <a:blip r:embed="rId3"/>
                      <a:stretch>
                        <a:fillRect/>
                      </a:stretch>
                    </p:blipFill>
                    <p:spPr>
                      <a:xfrm>
                        <a:off x="-25401" y="0"/>
                        <a:ext cx="13958149" cy="7772400"/>
                      </a:xfrm>
                      <a:prstGeom prst="rect">
                        <a:avLst/>
                      </a:prstGeom>
                    </p:spPr>
                  </p:pic>
                </p:oleObj>
              </mc:Fallback>
            </mc:AlternateContent>
          </a:graphicData>
        </a:graphic>
      </p:graphicFrame>
      <p:sp>
        <p:nvSpPr>
          <p:cNvPr id="2" name="TextBox 1"/>
          <p:cNvSpPr txBox="1"/>
          <p:nvPr userDrawn="1"/>
        </p:nvSpPr>
        <p:spPr>
          <a:xfrm>
            <a:off x="-1349192" y="1236134"/>
            <a:ext cx="184731" cy="515077"/>
          </a:xfrm>
          <a:prstGeom prst="rect">
            <a:avLst/>
          </a:prstGeom>
          <a:noFill/>
        </p:spPr>
        <p:txBody>
          <a:bodyPr wrap="none" rtlCol="0">
            <a:spAutoFit/>
          </a:bodyPr>
          <a:lstStyle/>
          <a:p>
            <a:endParaRPr lang="en-US" sz="2747" dirty="0"/>
          </a:p>
        </p:txBody>
      </p:sp>
      <p:sp>
        <p:nvSpPr>
          <p:cNvPr id="3" name="TextBox 2"/>
          <p:cNvSpPr txBox="1"/>
          <p:nvPr userDrawn="1"/>
        </p:nvSpPr>
        <p:spPr>
          <a:xfrm>
            <a:off x="-2093575" y="-474133"/>
            <a:ext cx="184731" cy="515077"/>
          </a:xfrm>
          <a:prstGeom prst="rect">
            <a:avLst/>
          </a:prstGeom>
          <a:noFill/>
        </p:spPr>
        <p:txBody>
          <a:bodyPr wrap="none" rtlCol="0">
            <a:spAutoFit/>
          </a:bodyPr>
          <a:lstStyle/>
          <a:p>
            <a:endParaRPr lang="en-US" sz="2747" dirty="0"/>
          </a:p>
        </p:txBody>
      </p:sp>
      <p:sp>
        <p:nvSpPr>
          <p:cNvPr id="5" name="TextBox 4"/>
          <p:cNvSpPr txBox="1"/>
          <p:nvPr userDrawn="1"/>
        </p:nvSpPr>
        <p:spPr>
          <a:xfrm>
            <a:off x="-2186621" y="-795867"/>
            <a:ext cx="184731" cy="515077"/>
          </a:xfrm>
          <a:prstGeom prst="rect">
            <a:avLst/>
          </a:prstGeom>
          <a:noFill/>
        </p:spPr>
        <p:txBody>
          <a:bodyPr wrap="none" rtlCol="0">
            <a:spAutoFit/>
          </a:bodyPr>
          <a:lstStyle/>
          <a:p>
            <a:endParaRPr lang="en-US" sz="2747" dirty="0"/>
          </a:p>
        </p:txBody>
      </p:sp>
      <p:sp>
        <p:nvSpPr>
          <p:cNvPr id="10" name="Text Placeholder 8"/>
          <p:cNvSpPr>
            <a:spLocks noGrp="1"/>
          </p:cNvSpPr>
          <p:nvPr>
            <p:ph type="body" sz="quarter" idx="13" hasCustomPrompt="1"/>
          </p:nvPr>
        </p:nvSpPr>
        <p:spPr>
          <a:xfrm>
            <a:off x="628075" y="2695562"/>
            <a:ext cx="12561453" cy="2031325"/>
          </a:xfrm>
        </p:spPr>
        <p:txBody>
          <a:bodyPr anchor="t" anchorCtr="0">
            <a:spAutoFit/>
          </a:bodyPr>
          <a:lstStyle>
            <a:lvl1pPr marL="0" indent="0">
              <a:lnSpc>
                <a:spcPct val="100000"/>
              </a:lnSpc>
              <a:spcBef>
                <a:spcPts val="0"/>
              </a:spcBef>
              <a:spcAft>
                <a:spcPts val="0"/>
              </a:spcAft>
              <a:buNone/>
              <a:defRPr sz="6000">
                <a:solidFill>
                  <a:schemeClr val="tx2"/>
                </a:solidFill>
                <a:latin typeface="+mj-lt"/>
              </a:defRPr>
            </a:lvl1pPr>
            <a:lvl2pPr marL="699614" indent="0">
              <a:buNone/>
              <a:defRPr sz="5495">
                <a:solidFill>
                  <a:schemeClr val="bg1"/>
                </a:solidFill>
                <a:latin typeface="+mj-lt"/>
              </a:defRPr>
            </a:lvl2pPr>
            <a:lvl3pPr marL="1399233" indent="0">
              <a:buNone/>
              <a:defRPr sz="5495">
                <a:solidFill>
                  <a:schemeClr val="bg1"/>
                </a:solidFill>
                <a:latin typeface="+mj-lt"/>
              </a:defRPr>
            </a:lvl3pPr>
            <a:lvl4pPr marL="2098847" indent="0">
              <a:buNone/>
              <a:defRPr sz="5495">
                <a:solidFill>
                  <a:schemeClr val="bg1"/>
                </a:solidFill>
                <a:latin typeface="+mj-lt"/>
              </a:defRPr>
            </a:lvl4pPr>
            <a:lvl5pPr marL="2798465" indent="0">
              <a:buNone/>
              <a:defRPr sz="5495">
                <a:solidFill>
                  <a:schemeClr val="bg1"/>
                </a:solidFill>
                <a:latin typeface="+mj-lt"/>
              </a:defRPr>
            </a:lvl5pPr>
          </a:lstStyle>
          <a:p>
            <a:pPr lvl="0"/>
            <a:r>
              <a:rPr lang="en-US" dirty="0"/>
              <a:t>Title of Presentation </a:t>
            </a:r>
            <a:br>
              <a:rPr lang="en-US" dirty="0"/>
            </a:br>
            <a:r>
              <a:rPr lang="en-US" dirty="0"/>
              <a:t>Goes Here</a:t>
            </a:r>
          </a:p>
        </p:txBody>
      </p:sp>
      <p:sp>
        <p:nvSpPr>
          <p:cNvPr id="12" name="Text Placeholder 10"/>
          <p:cNvSpPr>
            <a:spLocks noGrp="1"/>
          </p:cNvSpPr>
          <p:nvPr>
            <p:ph type="body" sz="quarter" idx="14" hasCustomPrompt="1"/>
          </p:nvPr>
        </p:nvSpPr>
        <p:spPr>
          <a:xfrm>
            <a:off x="628074" y="5369311"/>
            <a:ext cx="12561452" cy="480131"/>
          </a:xfrm>
        </p:spPr>
        <p:txBody>
          <a:bodyPr>
            <a:spAutoFit/>
          </a:bodyPr>
          <a:lstStyle>
            <a:lvl1pPr marL="0" indent="0">
              <a:buNone/>
              <a:defRPr sz="1600">
                <a:solidFill>
                  <a:schemeClr val="tx2"/>
                </a:solidFill>
              </a:defRPr>
            </a:lvl1pPr>
            <a:lvl2pPr marL="699614" indent="0">
              <a:buNone/>
              <a:defRPr/>
            </a:lvl2pPr>
            <a:lvl3pPr marL="1399233" indent="0">
              <a:buNone/>
              <a:defRPr/>
            </a:lvl3pPr>
            <a:lvl4pPr marL="2098847" indent="0">
              <a:buNone/>
              <a:defRPr/>
            </a:lvl4pPr>
            <a:lvl5pPr marL="2798465" indent="0">
              <a:buNone/>
              <a:defRPr/>
            </a:lvl5pPr>
          </a:lstStyle>
          <a:p>
            <a:pPr lvl="0"/>
            <a:r>
              <a:rPr lang="en-US" dirty="0" err="1"/>
              <a:t>Subheadline</a:t>
            </a:r>
            <a:r>
              <a:rPr lang="en-US" dirty="0"/>
              <a:t>, name or date goes here</a:t>
            </a:r>
          </a:p>
        </p:txBody>
      </p:sp>
      <p:cxnSp>
        <p:nvCxnSpPr>
          <p:cNvPr id="15" name="Straight Connector 14"/>
          <p:cNvCxnSpPr/>
          <p:nvPr userDrawn="1"/>
        </p:nvCxnSpPr>
        <p:spPr>
          <a:xfrm>
            <a:off x="729343" y="5122227"/>
            <a:ext cx="911198" cy="0"/>
          </a:xfrm>
          <a:prstGeom prst="line">
            <a:avLst/>
          </a:prstGeom>
          <a:ln w="28575">
            <a:solidFill>
              <a:schemeClr val="bg2"/>
            </a:solidFill>
          </a:ln>
          <a:effectLst/>
        </p:spPr>
        <p:style>
          <a:lnRef idx="2">
            <a:schemeClr val="accent1"/>
          </a:lnRef>
          <a:fillRef idx="0">
            <a:schemeClr val="accent1"/>
          </a:fillRef>
          <a:effectRef idx="1">
            <a:schemeClr val="accent1"/>
          </a:effectRef>
          <a:fontRef idx="minor">
            <a:schemeClr val="tx1"/>
          </a:fontRef>
        </p:style>
      </p:cxnSp>
      <p:pic>
        <p:nvPicPr>
          <p:cNvPr id="11" name="Picture 10"/>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28074" y="6681853"/>
            <a:ext cx="3489678" cy="854971"/>
          </a:xfrm>
          <a:prstGeom prst="rect">
            <a:avLst/>
          </a:prstGeom>
        </p:spPr>
      </p:pic>
    </p:spTree>
    <p:extLst>
      <p:ext uri="{BB962C8B-B14F-4D97-AF65-F5344CB8AC3E}">
        <p14:creationId xmlns:p14="http://schemas.microsoft.com/office/powerpoint/2010/main" val="807305569"/>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Rectangle 9"/>
          <p:cNvSpPr/>
          <p:nvPr userDrawn="1"/>
        </p:nvSpPr>
        <p:spPr>
          <a:xfrm>
            <a:off x="1" y="7180456"/>
            <a:ext cx="13817600" cy="627018"/>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Title Placeholder 1"/>
          <p:cNvSpPr>
            <a:spLocks noGrp="1"/>
          </p:cNvSpPr>
          <p:nvPr>
            <p:ph type="title" hasCustomPrompt="1"/>
          </p:nvPr>
        </p:nvSpPr>
        <p:spPr>
          <a:xfrm>
            <a:off x="628075" y="905259"/>
            <a:ext cx="12561453" cy="1015663"/>
          </a:xfrm>
          <a:prstGeom prst="rect">
            <a:avLst/>
          </a:prstGeom>
        </p:spPr>
        <p:txBody>
          <a:bodyPr vert="horz" lIns="91440" tIns="91440" rIns="91440" bIns="91440" rtlCol="0" anchor="b" anchorCtr="0">
            <a:spAutoFit/>
          </a:bodyPr>
          <a:lstStyle/>
          <a:p>
            <a:r>
              <a:rPr lang="en-US" dirty="0"/>
              <a:t>Headline Copy Goes Here</a:t>
            </a:r>
          </a:p>
        </p:txBody>
      </p:sp>
      <p:sp>
        <p:nvSpPr>
          <p:cNvPr id="25" name="Text Placeholder 24"/>
          <p:cNvSpPr>
            <a:spLocks noGrp="1"/>
          </p:cNvSpPr>
          <p:nvPr>
            <p:ph type="body" sz="quarter" idx="10"/>
          </p:nvPr>
        </p:nvSpPr>
        <p:spPr>
          <a:xfrm>
            <a:off x="628075" y="2487883"/>
            <a:ext cx="12561453" cy="2015552"/>
          </a:xfrm>
        </p:spPr>
        <p:txBody>
          <a:bodyPr>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126" y="7189405"/>
            <a:ext cx="2272937" cy="556869"/>
          </a:xfrm>
          <a:prstGeom prst="rect">
            <a:avLst/>
          </a:prstGeom>
        </p:spPr>
      </p:pic>
    </p:spTree>
    <p:extLst>
      <p:ext uri="{BB962C8B-B14F-4D97-AF65-F5344CB8AC3E}">
        <p14:creationId xmlns:p14="http://schemas.microsoft.com/office/powerpoint/2010/main" val="592410544"/>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0" name="Title Placeholder 1"/>
          <p:cNvSpPr>
            <a:spLocks noGrp="1"/>
          </p:cNvSpPr>
          <p:nvPr>
            <p:ph type="title"/>
          </p:nvPr>
        </p:nvSpPr>
        <p:spPr>
          <a:xfrm>
            <a:off x="628075" y="905259"/>
            <a:ext cx="12561453" cy="1015663"/>
          </a:xfrm>
          <a:prstGeom prst="rect">
            <a:avLst/>
          </a:prstGeom>
        </p:spPr>
        <p:txBody>
          <a:bodyPr vert="horz" lIns="91440" tIns="91440" rIns="91440" bIns="91440" rtlCol="0" anchor="b" anchorCtr="0">
            <a:spAutoFit/>
          </a:bodyPr>
          <a:lstStyle/>
          <a:p>
            <a:r>
              <a:rPr lang="en-US" dirty="0"/>
              <a:t>Headline Copy Goes Here</a:t>
            </a:r>
          </a:p>
        </p:txBody>
      </p:sp>
      <p:sp>
        <p:nvSpPr>
          <p:cNvPr id="12" name="Rectangle 11"/>
          <p:cNvSpPr/>
          <p:nvPr userDrawn="1"/>
        </p:nvSpPr>
        <p:spPr>
          <a:xfrm>
            <a:off x="1" y="7180456"/>
            <a:ext cx="13817600" cy="627018"/>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3" name="Picture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126" y="7189405"/>
            <a:ext cx="2272937" cy="556869"/>
          </a:xfrm>
          <a:prstGeom prst="rect">
            <a:avLst/>
          </a:prstGeom>
        </p:spPr>
      </p:pic>
    </p:spTree>
    <p:extLst>
      <p:ext uri="{BB962C8B-B14F-4D97-AF65-F5344CB8AC3E}">
        <p14:creationId xmlns:p14="http://schemas.microsoft.com/office/powerpoint/2010/main" val="685938302"/>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Green">
    <p:bg>
      <p:bgRef idx="1001">
        <a:schemeClr val="bg2"/>
      </p:bgRef>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BEBA8EAE-BF5A-486C-A8C5-ECC9F3942E4B}">
                <a14:imgProps xmlns:a14="http://schemas.microsoft.com/office/drawing/2010/main">
                  <a14:imgLayer r:embed="rId3">
                    <a14:imgEffect>
                      <a14:colorTemperature colorTemp="9139"/>
                    </a14:imgEffect>
                    <a14:imgEffect>
                      <a14:saturation sat="60000"/>
                    </a14:imgEffect>
                    <a14:imgEffect>
                      <a14:brightnessContrast bright="15000"/>
                    </a14:imgEffect>
                  </a14:imgLayer>
                </a14:imgProps>
              </a:ext>
              <a:ext uri="{28A0092B-C50C-407E-A947-70E740481C1C}">
                <a14:useLocalDpi xmlns:a14="http://schemas.microsoft.com/office/drawing/2010/main" val="0"/>
              </a:ext>
            </a:extLst>
          </a:blip>
          <a:stretch>
            <a:fillRect/>
          </a:stretch>
        </p:blipFill>
        <p:spPr>
          <a:xfrm flipH="1">
            <a:off x="0" y="0"/>
            <a:ext cx="13817600" cy="7782326"/>
          </a:xfrm>
          <a:prstGeom prst="rect">
            <a:avLst/>
          </a:prstGeom>
        </p:spPr>
      </p:pic>
      <p:sp>
        <p:nvSpPr>
          <p:cNvPr id="20" name="Title Placeholder 1"/>
          <p:cNvSpPr>
            <a:spLocks noGrp="1"/>
          </p:cNvSpPr>
          <p:nvPr>
            <p:ph type="title" hasCustomPrompt="1"/>
          </p:nvPr>
        </p:nvSpPr>
        <p:spPr>
          <a:xfrm>
            <a:off x="3445328" y="2799373"/>
            <a:ext cx="9744199" cy="1015663"/>
          </a:xfrm>
          <a:prstGeom prst="rect">
            <a:avLst/>
          </a:prstGeom>
        </p:spPr>
        <p:txBody>
          <a:bodyPr vert="horz" wrap="square" lIns="91440" tIns="91440" rIns="91440" bIns="91440" rtlCol="0" anchor="b" anchorCtr="0">
            <a:spAutoFit/>
          </a:bodyPr>
          <a:lstStyle>
            <a:lvl1pPr>
              <a:defRPr>
                <a:solidFill>
                  <a:schemeClr val="tx1"/>
                </a:solidFill>
              </a:defRPr>
            </a:lvl1pPr>
          </a:lstStyle>
          <a:p>
            <a:r>
              <a:rPr lang="en-US" dirty="0"/>
              <a:t>Section Header Goes Here</a:t>
            </a:r>
          </a:p>
        </p:txBody>
      </p:sp>
      <p:sp>
        <p:nvSpPr>
          <p:cNvPr id="7" name="Text Placeholder 24"/>
          <p:cNvSpPr>
            <a:spLocks noGrp="1"/>
          </p:cNvSpPr>
          <p:nvPr>
            <p:ph type="body" sz="quarter" idx="10" hasCustomPrompt="1"/>
          </p:nvPr>
        </p:nvSpPr>
        <p:spPr>
          <a:xfrm>
            <a:off x="3445328" y="4381997"/>
            <a:ext cx="9744199" cy="517065"/>
          </a:xfrm>
        </p:spPr>
        <p:txBody>
          <a:bodyPr wrap="square">
            <a:spAutoFit/>
          </a:bodyPr>
          <a:lstStyle>
            <a:lvl1pPr marL="0" indent="0">
              <a:buNone/>
              <a:defRPr baseline="0">
                <a:solidFill>
                  <a:schemeClr val="tx1"/>
                </a:solidFill>
              </a:defRPr>
            </a:lvl1pPr>
          </a:lstStyle>
          <a:p>
            <a:pPr lvl="0"/>
            <a:r>
              <a:rPr lang="en-US" dirty="0"/>
              <a:t>Section subhead goes here</a:t>
            </a:r>
          </a:p>
        </p:txBody>
      </p:sp>
      <p:pic>
        <p:nvPicPr>
          <p:cNvPr id="6" name="Picture 5"/>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516196" y="6655957"/>
            <a:ext cx="3934977" cy="964069"/>
          </a:xfrm>
          <a:prstGeom prst="rect">
            <a:avLst/>
          </a:prstGeom>
        </p:spPr>
      </p:pic>
    </p:spTree>
    <p:extLst>
      <p:ext uri="{BB962C8B-B14F-4D97-AF65-F5344CB8AC3E}">
        <p14:creationId xmlns:p14="http://schemas.microsoft.com/office/powerpoint/2010/main" val="157132137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White">
    <p:spTree>
      <p:nvGrpSpPr>
        <p:cNvPr id="1" name=""/>
        <p:cNvGrpSpPr/>
        <p:nvPr/>
      </p:nvGrpSpPr>
      <p:grpSpPr>
        <a:xfrm>
          <a:off x="0" y="0"/>
          <a:ext cx="0" cy="0"/>
          <a:chOff x="0" y="0"/>
          <a:chExt cx="0" cy="0"/>
        </a:xfrm>
      </p:grpSpPr>
      <p:graphicFrame>
        <p:nvGraphicFramePr>
          <p:cNvPr id="7" name="Object 6"/>
          <p:cNvGraphicFramePr>
            <a:graphicFrameLocks noChangeAspect="1"/>
          </p:cNvGraphicFramePr>
          <p:nvPr userDrawn="1">
            <p:extLst>
              <p:ext uri="{D42A27DB-BD31-4B8C-83A1-F6EECF244321}">
                <p14:modId xmlns:p14="http://schemas.microsoft.com/office/powerpoint/2010/main" val="2069567459"/>
              </p:ext>
            </p:extLst>
          </p:nvPr>
        </p:nvGraphicFramePr>
        <p:xfrm>
          <a:off x="-25401" y="0"/>
          <a:ext cx="13958149" cy="7772400"/>
        </p:xfrm>
        <a:graphic>
          <a:graphicData uri="http://schemas.openxmlformats.org/presentationml/2006/ole">
            <mc:AlternateContent xmlns:mc="http://schemas.openxmlformats.org/markup-compatibility/2006">
              <mc:Choice xmlns:v="urn:schemas-microsoft-com:vml" Requires="v">
                <p:oleObj name="Image" r:id="rId2" imgW="16507800" imgH="9193320" progId="Photoshop.Image.17">
                  <p:embed/>
                </p:oleObj>
              </mc:Choice>
              <mc:Fallback>
                <p:oleObj name="Image" r:id="rId2" imgW="16507800" imgH="9193320" progId="Photoshop.Image.17">
                  <p:embed/>
                  <p:pic>
                    <p:nvPicPr>
                      <p:cNvPr id="4" name="Object 3"/>
                      <p:cNvPicPr/>
                      <p:nvPr/>
                    </p:nvPicPr>
                    <p:blipFill>
                      <a:blip r:embed="rId3"/>
                      <a:stretch>
                        <a:fillRect/>
                      </a:stretch>
                    </p:blipFill>
                    <p:spPr>
                      <a:xfrm>
                        <a:off x="-25401" y="0"/>
                        <a:ext cx="13958149" cy="7772400"/>
                      </a:xfrm>
                      <a:prstGeom prst="rect">
                        <a:avLst/>
                      </a:prstGeom>
                    </p:spPr>
                  </p:pic>
                </p:oleObj>
              </mc:Fallback>
            </mc:AlternateContent>
          </a:graphicData>
        </a:graphic>
      </p:graphicFrame>
      <p:sp>
        <p:nvSpPr>
          <p:cNvPr id="3" name="Title Placeholder 1"/>
          <p:cNvSpPr>
            <a:spLocks noGrp="1"/>
          </p:cNvSpPr>
          <p:nvPr>
            <p:ph type="title" hasCustomPrompt="1"/>
          </p:nvPr>
        </p:nvSpPr>
        <p:spPr>
          <a:xfrm>
            <a:off x="3445328" y="2799373"/>
            <a:ext cx="9744199" cy="1015663"/>
          </a:xfrm>
          <a:prstGeom prst="rect">
            <a:avLst/>
          </a:prstGeom>
        </p:spPr>
        <p:txBody>
          <a:bodyPr vert="horz" wrap="square" lIns="91440" tIns="91440" rIns="91440" bIns="91440" rtlCol="0" anchor="b" anchorCtr="0">
            <a:spAutoFit/>
          </a:bodyPr>
          <a:lstStyle/>
          <a:p>
            <a:r>
              <a:rPr lang="en-US" dirty="0"/>
              <a:t>Section Header Goes Here</a:t>
            </a:r>
          </a:p>
        </p:txBody>
      </p:sp>
      <p:sp>
        <p:nvSpPr>
          <p:cNvPr id="4" name="Text Placeholder 24"/>
          <p:cNvSpPr>
            <a:spLocks noGrp="1"/>
          </p:cNvSpPr>
          <p:nvPr>
            <p:ph type="body" sz="quarter" idx="10" hasCustomPrompt="1"/>
          </p:nvPr>
        </p:nvSpPr>
        <p:spPr>
          <a:xfrm>
            <a:off x="3445328" y="4381997"/>
            <a:ext cx="9744199" cy="486543"/>
          </a:xfrm>
        </p:spPr>
        <p:txBody>
          <a:bodyPr wrap="square">
            <a:spAutoFit/>
          </a:bodyPr>
          <a:lstStyle>
            <a:lvl1pPr marL="0" indent="0">
              <a:buNone/>
              <a:defRPr baseline="0"/>
            </a:lvl1pPr>
          </a:lstStyle>
          <a:p>
            <a:pPr lvl="0"/>
            <a:r>
              <a:rPr lang="en-US" dirty="0"/>
              <a:t>Section subhead goes here</a:t>
            </a:r>
          </a:p>
        </p:txBody>
      </p:sp>
    </p:spTree>
    <p:extLst>
      <p:ext uri="{BB962C8B-B14F-4D97-AF65-F5344CB8AC3E}">
        <p14:creationId xmlns:p14="http://schemas.microsoft.com/office/powerpoint/2010/main" val="931004788"/>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Quote">
    <p:bg>
      <p:bgRef idx="1001">
        <a:schemeClr val="bg2"/>
      </p:bgRef>
    </p:bg>
    <p:spTree>
      <p:nvGrpSpPr>
        <p:cNvPr id="1" name=""/>
        <p:cNvGrpSpPr/>
        <p:nvPr/>
      </p:nvGrpSpPr>
      <p:grpSpPr>
        <a:xfrm>
          <a:off x="0" y="0"/>
          <a:ext cx="0" cy="0"/>
          <a:chOff x="0" y="0"/>
          <a:chExt cx="0" cy="0"/>
        </a:xfrm>
      </p:grpSpPr>
      <p:sp>
        <p:nvSpPr>
          <p:cNvPr id="20" name="Title Placeholder 1"/>
          <p:cNvSpPr>
            <a:spLocks noGrp="1"/>
          </p:cNvSpPr>
          <p:nvPr>
            <p:ph type="title" hasCustomPrompt="1"/>
          </p:nvPr>
        </p:nvSpPr>
        <p:spPr>
          <a:xfrm>
            <a:off x="2036701" y="2797385"/>
            <a:ext cx="9744199" cy="1015663"/>
          </a:xfrm>
          <a:prstGeom prst="rect">
            <a:avLst/>
          </a:prstGeom>
        </p:spPr>
        <p:txBody>
          <a:bodyPr vert="horz" wrap="square" lIns="91440" tIns="91440" rIns="91440" bIns="91440" rtlCol="0" anchor="ctr" anchorCtr="0">
            <a:spAutoFit/>
          </a:bodyPr>
          <a:lstStyle>
            <a:lvl1pPr algn="ctr">
              <a:defRPr>
                <a:solidFill>
                  <a:schemeClr val="tx1"/>
                </a:solidFill>
              </a:defRPr>
            </a:lvl1pPr>
          </a:lstStyle>
          <a:p>
            <a:r>
              <a:rPr lang="en-US" dirty="0"/>
              <a:t>“Quote </a:t>
            </a:r>
            <a:r>
              <a:rPr lang="en-US"/>
              <a:t>Goes Here.”</a:t>
            </a:r>
            <a:endParaRPr lang="en-US" dirty="0"/>
          </a:p>
        </p:txBody>
      </p:sp>
      <p:pic>
        <p:nvPicPr>
          <p:cNvPr id="8" name="Picture 7"/>
          <p:cNvPicPr>
            <a:picLocks noChangeAspect="1"/>
          </p:cNvPicPr>
          <p:nvPr userDrawn="1"/>
        </p:nvPicPr>
        <p:blipFill rotWithShape="1">
          <a:blip r:embed="rId2">
            <a:extLst>
              <a:ext uri="{28A0092B-C50C-407E-A947-70E740481C1C}">
                <a14:useLocalDpi xmlns:a14="http://schemas.microsoft.com/office/drawing/2010/main" val="0"/>
              </a:ext>
            </a:extLst>
          </a:blip>
          <a:srcRect l="-221" t="28562" r="1" b="57447"/>
          <a:stretch/>
        </p:blipFill>
        <p:spPr>
          <a:xfrm>
            <a:off x="246888" y="6034881"/>
            <a:ext cx="13267944" cy="1883823"/>
          </a:xfrm>
          <a:prstGeom prst="rect">
            <a:avLst/>
          </a:prstGeom>
        </p:spPr>
      </p:pic>
      <p:pic>
        <p:nvPicPr>
          <p:cNvPr id="4" name="Picture 3"/>
          <p:cNvPicPr>
            <a:picLocks noChangeAspect="1"/>
          </p:cNvPicPr>
          <p:nvPr userDrawn="1"/>
        </p:nvPicPr>
        <p:blipFill rotWithShape="1">
          <a:blip r:embed="rId3">
            <a:extLst>
              <a:ext uri="{BEBA8EAE-BF5A-486C-A8C5-ECC9F3942E4B}">
                <a14:imgProps xmlns:a14="http://schemas.microsoft.com/office/drawing/2010/main">
                  <a14:imgLayer r:embed="rId4">
                    <a14:imgEffect>
                      <a14:colorTemperature colorTemp="9139"/>
                    </a14:imgEffect>
                    <a14:imgEffect>
                      <a14:saturation sat="60000"/>
                    </a14:imgEffect>
                    <a14:imgEffect>
                      <a14:brightnessContrast bright="15000"/>
                    </a14:imgEffect>
                  </a14:imgLayer>
                </a14:imgProps>
              </a:ext>
              <a:ext uri="{28A0092B-C50C-407E-A947-70E740481C1C}">
                <a14:useLocalDpi xmlns:a14="http://schemas.microsoft.com/office/drawing/2010/main" val="0"/>
              </a:ext>
            </a:extLst>
          </a:blip>
          <a:srcRect l="43372"/>
          <a:stretch/>
        </p:blipFill>
        <p:spPr>
          <a:xfrm rot="16200000" flipH="1">
            <a:off x="174725" y="-226977"/>
            <a:ext cx="7824651" cy="8174104"/>
          </a:xfrm>
          <a:prstGeom prst="rect">
            <a:avLst/>
          </a:prstGeom>
          <a:ln>
            <a:noFill/>
          </a:ln>
        </p:spPr>
      </p:pic>
      <p:pic>
        <p:nvPicPr>
          <p:cNvPr id="5" name="Picture 4"/>
          <p:cNvPicPr>
            <a:picLocks noChangeAspect="1"/>
          </p:cNvPicPr>
          <p:nvPr userDrawn="1"/>
        </p:nvPicPr>
        <p:blipFill rotWithShape="1">
          <a:blip r:embed="rId3">
            <a:extLst>
              <a:ext uri="{BEBA8EAE-BF5A-486C-A8C5-ECC9F3942E4B}">
                <a14:imgProps xmlns:a14="http://schemas.microsoft.com/office/drawing/2010/main">
                  <a14:imgLayer r:embed="rId4">
                    <a14:imgEffect>
                      <a14:colorTemperature colorTemp="9139"/>
                    </a14:imgEffect>
                    <a14:imgEffect>
                      <a14:saturation sat="60000"/>
                    </a14:imgEffect>
                    <a14:imgEffect>
                      <a14:brightnessContrast bright="15000"/>
                    </a14:imgEffect>
                  </a14:imgLayer>
                </a14:imgProps>
              </a:ext>
              <a:ext uri="{28A0092B-C50C-407E-A947-70E740481C1C}">
                <a14:useLocalDpi xmlns:a14="http://schemas.microsoft.com/office/drawing/2010/main" val="0"/>
              </a:ext>
            </a:extLst>
          </a:blip>
          <a:srcRect l="43182" t="7155" b="2944"/>
          <a:stretch/>
        </p:blipFill>
        <p:spPr>
          <a:xfrm rot="5400000">
            <a:off x="7032026" y="172716"/>
            <a:ext cx="7850776" cy="7348591"/>
          </a:xfrm>
          <a:prstGeom prst="rect">
            <a:avLst/>
          </a:prstGeom>
          <a:ln>
            <a:noFill/>
          </a:ln>
        </p:spPr>
      </p:pic>
    </p:spTree>
    <p:extLst>
      <p:ext uri="{BB962C8B-B14F-4D97-AF65-F5344CB8AC3E}">
        <p14:creationId xmlns:p14="http://schemas.microsoft.com/office/powerpoint/2010/main" val="52740492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ison">
    <p:bg>
      <p:bgRef idx="1001">
        <a:schemeClr val="bg2"/>
      </p:bgRef>
    </p:bg>
    <p:spTree>
      <p:nvGrpSpPr>
        <p:cNvPr id="1" name=""/>
        <p:cNvGrpSpPr/>
        <p:nvPr/>
      </p:nvGrpSpPr>
      <p:grpSpPr>
        <a:xfrm>
          <a:off x="0" y="0"/>
          <a:ext cx="0" cy="0"/>
          <a:chOff x="0" y="0"/>
          <a:chExt cx="0" cy="0"/>
        </a:xfrm>
      </p:grpSpPr>
      <p:sp>
        <p:nvSpPr>
          <p:cNvPr id="12" name="Text Placeholder 24"/>
          <p:cNvSpPr>
            <a:spLocks noGrp="1"/>
          </p:cNvSpPr>
          <p:nvPr>
            <p:ph type="body" sz="quarter" idx="10" hasCustomPrompt="1"/>
          </p:nvPr>
        </p:nvSpPr>
        <p:spPr>
          <a:xfrm>
            <a:off x="742950" y="2728873"/>
            <a:ext cx="3604654" cy="627864"/>
          </a:xfrm>
        </p:spPr>
        <p:txBody>
          <a:bodyPr wrap="square" numCol="1" anchor="ctr" anchorCtr="0">
            <a:spAutoFit/>
          </a:bodyPr>
          <a:lstStyle>
            <a:lvl1pPr marL="0" indent="0" algn="ctr">
              <a:buNone/>
              <a:defRPr sz="2400" baseline="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Text Goes Here</a:t>
            </a:r>
          </a:p>
        </p:txBody>
      </p:sp>
      <p:grpSp>
        <p:nvGrpSpPr>
          <p:cNvPr id="6" name="Group 5"/>
          <p:cNvGrpSpPr/>
          <p:nvPr userDrawn="1"/>
        </p:nvGrpSpPr>
        <p:grpSpPr>
          <a:xfrm>
            <a:off x="0" y="6796748"/>
            <a:ext cx="13817600" cy="617143"/>
            <a:chOff x="0" y="6739600"/>
            <a:chExt cx="13817600" cy="617143"/>
          </a:xfrm>
        </p:grpSpPr>
        <p:pic>
          <p:nvPicPr>
            <p:cNvPr id="5" name="Picture 4"/>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0" y="6778192"/>
              <a:ext cx="6449921" cy="539962"/>
            </a:xfrm>
            <a:prstGeom prst="rect">
              <a:avLst/>
            </a:prstGeom>
          </p:spPr>
        </p:pic>
        <p:pic>
          <p:nvPicPr>
            <p:cNvPr id="11" name="Picture 10"/>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rot="10800000">
              <a:off x="7367679" y="6778192"/>
              <a:ext cx="6449921" cy="539962"/>
            </a:xfrm>
            <a:prstGeom prst="rect">
              <a:avLst/>
            </a:prstGeom>
          </p:spPr>
        </p:pic>
        <p:pic>
          <p:nvPicPr>
            <p:cNvPr id="13" name="Picture 1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00229" y="6739600"/>
              <a:ext cx="617143" cy="617143"/>
            </a:xfrm>
            <a:prstGeom prst="rect">
              <a:avLst/>
            </a:prstGeom>
          </p:spPr>
        </p:pic>
      </p:grpSp>
      <p:sp>
        <p:nvSpPr>
          <p:cNvPr id="14" name="Text Placeholder 24"/>
          <p:cNvSpPr>
            <a:spLocks noGrp="1"/>
          </p:cNvSpPr>
          <p:nvPr>
            <p:ph type="body" sz="quarter" idx="11" hasCustomPrompt="1"/>
          </p:nvPr>
        </p:nvSpPr>
        <p:spPr>
          <a:xfrm>
            <a:off x="5106473" y="2728873"/>
            <a:ext cx="3604654" cy="627864"/>
          </a:xfrm>
        </p:spPr>
        <p:txBody>
          <a:bodyPr wrap="square" numCol="1" anchor="ctr" anchorCtr="0">
            <a:spAutoFit/>
          </a:bodyPr>
          <a:lstStyle>
            <a:lvl1pPr marL="0" indent="0" algn="ctr">
              <a:buNone/>
              <a:defRPr sz="2400" baseline="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Text Goes Here</a:t>
            </a:r>
          </a:p>
        </p:txBody>
      </p:sp>
      <p:sp>
        <p:nvSpPr>
          <p:cNvPr id="15" name="Text Placeholder 24"/>
          <p:cNvSpPr>
            <a:spLocks noGrp="1"/>
          </p:cNvSpPr>
          <p:nvPr>
            <p:ph type="body" sz="quarter" idx="12" hasCustomPrompt="1"/>
          </p:nvPr>
        </p:nvSpPr>
        <p:spPr>
          <a:xfrm>
            <a:off x="9469996" y="2728873"/>
            <a:ext cx="3604654" cy="627864"/>
          </a:xfrm>
        </p:spPr>
        <p:txBody>
          <a:bodyPr wrap="square" numCol="1" anchor="ctr" anchorCtr="0">
            <a:spAutoFit/>
          </a:bodyPr>
          <a:lstStyle>
            <a:lvl1pPr marL="0" indent="0" algn="ctr">
              <a:buNone/>
              <a:defRPr sz="2400" baseline="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Text Goes Here</a:t>
            </a:r>
          </a:p>
        </p:txBody>
      </p: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hoto and Green Bar">
    <p:spTree>
      <p:nvGrpSpPr>
        <p:cNvPr id="1" name=""/>
        <p:cNvGrpSpPr/>
        <p:nvPr/>
      </p:nvGrpSpPr>
      <p:grpSpPr>
        <a:xfrm>
          <a:off x="0" y="0"/>
          <a:ext cx="0" cy="0"/>
          <a:chOff x="0" y="0"/>
          <a:chExt cx="0" cy="0"/>
        </a:xfrm>
      </p:grpSpPr>
      <p:sp>
        <p:nvSpPr>
          <p:cNvPr id="3" name="Picture Placeholder 2"/>
          <p:cNvSpPr>
            <a:spLocks noGrp="1"/>
          </p:cNvSpPr>
          <p:nvPr>
            <p:ph type="pic" sz="quarter" idx="10" hasCustomPrompt="1"/>
          </p:nvPr>
        </p:nvSpPr>
        <p:spPr>
          <a:xfrm>
            <a:off x="0" y="0"/>
            <a:ext cx="9144000" cy="6769290"/>
          </a:xfrm>
        </p:spPr>
        <p:txBody>
          <a:bodyPr anchor="ctr" anchorCtr="0">
            <a:noAutofit/>
          </a:bodyPr>
          <a:lstStyle>
            <a:lvl1pPr marL="0" indent="0" algn="ctr">
              <a:buNone/>
              <a:defRPr baseline="0"/>
            </a:lvl1pPr>
          </a:lstStyle>
          <a:p>
            <a:r>
              <a:rPr lang="en-US" dirty="0"/>
              <a:t>Click to insert photo</a:t>
            </a:r>
          </a:p>
        </p:txBody>
      </p:sp>
      <p:sp>
        <p:nvSpPr>
          <p:cNvPr id="2" name="Rectangle 1"/>
          <p:cNvSpPr/>
          <p:nvPr userDrawn="1"/>
        </p:nvSpPr>
        <p:spPr>
          <a:xfrm>
            <a:off x="9144000" y="0"/>
            <a:ext cx="4673600" cy="77724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itle Placeholder 1"/>
          <p:cNvSpPr>
            <a:spLocks noGrp="1"/>
          </p:cNvSpPr>
          <p:nvPr>
            <p:ph type="title" hasCustomPrompt="1"/>
          </p:nvPr>
        </p:nvSpPr>
        <p:spPr>
          <a:xfrm>
            <a:off x="9560560" y="2842090"/>
            <a:ext cx="3840480" cy="533740"/>
          </a:xfrm>
          <a:prstGeom prst="rect">
            <a:avLst/>
          </a:prstGeom>
        </p:spPr>
        <p:txBody>
          <a:bodyPr vert="horz" wrap="square" lIns="101858" tIns="50929" rIns="101858" bIns="50929" rtlCol="0" anchor="b" anchorCtr="0">
            <a:spAutoFit/>
          </a:bodyPr>
          <a:lstStyle>
            <a:lvl1pPr algn="ctr">
              <a:defRPr sz="2800" b="0">
                <a:solidFill>
                  <a:schemeClr val="bg1"/>
                </a:solidFill>
              </a:defRPr>
            </a:lvl1pPr>
          </a:lstStyle>
          <a:p>
            <a:r>
              <a:rPr lang="en-US" dirty="0"/>
              <a:t>Copy Goes Here</a:t>
            </a:r>
          </a:p>
        </p:txBody>
      </p:sp>
      <p:sp>
        <p:nvSpPr>
          <p:cNvPr id="4" name="Text Placeholder 3"/>
          <p:cNvSpPr>
            <a:spLocks noGrp="1"/>
          </p:cNvSpPr>
          <p:nvPr>
            <p:ph type="body" sz="quarter" idx="11" hasCustomPrompt="1"/>
          </p:nvPr>
        </p:nvSpPr>
        <p:spPr>
          <a:xfrm>
            <a:off x="9560560" y="3886200"/>
            <a:ext cx="3840480" cy="500458"/>
          </a:xfrm>
        </p:spPr>
        <p:txBody>
          <a:bodyPr wrap="square">
            <a:spAutoFit/>
          </a:bodyPr>
          <a:lstStyle>
            <a:lvl1pPr marL="0" indent="0" algn="ctr">
              <a:lnSpc>
                <a:spcPct val="114000"/>
              </a:lnSpc>
              <a:buNone/>
              <a:defRPr baseline="0">
                <a:solidFill>
                  <a:schemeClr val="bg1"/>
                </a:solidFill>
              </a:defRPr>
            </a:lvl1pPr>
          </a:lstStyle>
          <a:p>
            <a:pPr lvl="0"/>
            <a:r>
              <a:rPr lang="en-US" dirty="0"/>
              <a:t>Supporting text goes here</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876424"/>
            <a:ext cx="3489678" cy="854971"/>
          </a:xfrm>
          <a:prstGeom prst="rect">
            <a:avLst/>
          </a:prstGeom>
        </p:spPr>
      </p:pic>
    </p:spTree>
    <p:extLst>
      <p:ext uri="{BB962C8B-B14F-4D97-AF65-F5344CB8AC3E}">
        <p14:creationId xmlns:p14="http://schemas.microsoft.com/office/powerpoint/2010/main" val="455993969"/>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Photo and Green Bar">
    <p:spTree>
      <p:nvGrpSpPr>
        <p:cNvPr id="1" name=""/>
        <p:cNvGrpSpPr/>
        <p:nvPr/>
      </p:nvGrpSpPr>
      <p:grpSpPr>
        <a:xfrm>
          <a:off x="0" y="0"/>
          <a:ext cx="0" cy="0"/>
          <a:chOff x="0" y="0"/>
          <a:chExt cx="0" cy="0"/>
        </a:xfrm>
      </p:grpSpPr>
      <p:sp>
        <p:nvSpPr>
          <p:cNvPr id="3" name="Picture Placeholder 2"/>
          <p:cNvSpPr>
            <a:spLocks noGrp="1"/>
          </p:cNvSpPr>
          <p:nvPr>
            <p:ph type="pic" sz="quarter" idx="10" hasCustomPrompt="1"/>
          </p:nvPr>
        </p:nvSpPr>
        <p:spPr>
          <a:xfrm>
            <a:off x="0" y="0"/>
            <a:ext cx="9144000" cy="7772400"/>
          </a:xfrm>
        </p:spPr>
        <p:txBody>
          <a:bodyPr anchor="ctr" anchorCtr="0">
            <a:noAutofit/>
          </a:bodyPr>
          <a:lstStyle>
            <a:lvl1pPr marL="0" indent="0" algn="ctr">
              <a:buNone/>
              <a:defRPr baseline="0"/>
            </a:lvl1pPr>
          </a:lstStyle>
          <a:p>
            <a:r>
              <a:rPr lang="en-US" dirty="0"/>
              <a:t>Click to insert photo</a:t>
            </a:r>
          </a:p>
        </p:txBody>
      </p:sp>
      <p:sp>
        <p:nvSpPr>
          <p:cNvPr id="2" name="Rectangle 1"/>
          <p:cNvSpPr/>
          <p:nvPr userDrawn="1"/>
        </p:nvSpPr>
        <p:spPr>
          <a:xfrm>
            <a:off x="9144000" y="0"/>
            <a:ext cx="4673600" cy="77724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itle Placeholder 1"/>
          <p:cNvSpPr>
            <a:spLocks noGrp="1"/>
          </p:cNvSpPr>
          <p:nvPr>
            <p:ph type="title" hasCustomPrompt="1"/>
          </p:nvPr>
        </p:nvSpPr>
        <p:spPr>
          <a:xfrm>
            <a:off x="9560560" y="2842090"/>
            <a:ext cx="3840480" cy="533740"/>
          </a:xfrm>
          <a:prstGeom prst="rect">
            <a:avLst/>
          </a:prstGeom>
        </p:spPr>
        <p:txBody>
          <a:bodyPr vert="horz" wrap="square" lIns="101858" tIns="50929" rIns="101858" bIns="50929" rtlCol="0" anchor="b" anchorCtr="0">
            <a:spAutoFit/>
          </a:bodyPr>
          <a:lstStyle>
            <a:lvl1pPr algn="ctr">
              <a:defRPr sz="2800" b="0">
                <a:solidFill>
                  <a:schemeClr val="bg1"/>
                </a:solidFill>
              </a:defRPr>
            </a:lvl1pPr>
          </a:lstStyle>
          <a:p>
            <a:r>
              <a:rPr lang="en-US" dirty="0"/>
              <a:t>Copy Goes Here</a:t>
            </a:r>
          </a:p>
        </p:txBody>
      </p:sp>
      <p:sp>
        <p:nvSpPr>
          <p:cNvPr id="4" name="Text Placeholder 3"/>
          <p:cNvSpPr>
            <a:spLocks noGrp="1"/>
          </p:cNvSpPr>
          <p:nvPr>
            <p:ph type="body" sz="quarter" idx="11" hasCustomPrompt="1"/>
          </p:nvPr>
        </p:nvSpPr>
        <p:spPr>
          <a:xfrm>
            <a:off x="9560560" y="3886200"/>
            <a:ext cx="3840480" cy="500458"/>
          </a:xfrm>
        </p:spPr>
        <p:txBody>
          <a:bodyPr wrap="square">
            <a:spAutoFit/>
          </a:bodyPr>
          <a:lstStyle>
            <a:lvl1pPr marL="0" indent="0" algn="ctr">
              <a:lnSpc>
                <a:spcPct val="114000"/>
              </a:lnSpc>
              <a:buNone/>
              <a:defRPr baseline="0">
                <a:solidFill>
                  <a:schemeClr val="bg1"/>
                </a:solidFill>
              </a:defRPr>
            </a:lvl1pPr>
          </a:lstStyle>
          <a:p>
            <a:pPr lvl="0"/>
            <a:r>
              <a:rPr lang="en-US" dirty="0"/>
              <a:t>Supporting text goes here</a:t>
            </a: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16196" y="6655957"/>
            <a:ext cx="3934977" cy="964069"/>
          </a:xfrm>
          <a:prstGeom prst="rect">
            <a:avLst/>
          </a:prstGeom>
        </p:spPr>
      </p:pic>
    </p:spTree>
    <p:extLst>
      <p:ext uri="{BB962C8B-B14F-4D97-AF65-F5344CB8AC3E}">
        <p14:creationId xmlns:p14="http://schemas.microsoft.com/office/powerpoint/2010/main" val="3637550887"/>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Photo and Green Bar">
    <p:spTree>
      <p:nvGrpSpPr>
        <p:cNvPr id="1" name=""/>
        <p:cNvGrpSpPr/>
        <p:nvPr/>
      </p:nvGrpSpPr>
      <p:grpSpPr>
        <a:xfrm>
          <a:off x="0" y="0"/>
          <a:ext cx="0" cy="0"/>
          <a:chOff x="0" y="0"/>
          <a:chExt cx="0" cy="0"/>
        </a:xfrm>
      </p:grpSpPr>
      <p:sp>
        <p:nvSpPr>
          <p:cNvPr id="3" name="Picture Placeholder 2"/>
          <p:cNvSpPr>
            <a:spLocks noGrp="1"/>
          </p:cNvSpPr>
          <p:nvPr>
            <p:ph type="pic" sz="quarter" idx="10" hasCustomPrompt="1"/>
          </p:nvPr>
        </p:nvSpPr>
        <p:spPr>
          <a:xfrm>
            <a:off x="4673600" y="0"/>
            <a:ext cx="9144000" cy="7772400"/>
          </a:xfrm>
        </p:spPr>
        <p:txBody>
          <a:bodyPr anchor="ctr" anchorCtr="0">
            <a:noAutofit/>
          </a:bodyPr>
          <a:lstStyle>
            <a:lvl1pPr marL="0" indent="0" algn="ctr">
              <a:buNone/>
              <a:defRPr baseline="0"/>
            </a:lvl1pPr>
          </a:lstStyle>
          <a:p>
            <a:r>
              <a:rPr lang="en-US" dirty="0"/>
              <a:t>Click to insert photo</a:t>
            </a:r>
          </a:p>
        </p:txBody>
      </p:sp>
      <p:sp>
        <p:nvSpPr>
          <p:cNvPr id="2" name="Rectangle 1"/>
          <p:cNvSpPr/>
          <p:nvPr userDrawn="1"/>
        </p:nvSpPr>
        <p:spPr>
          <a:xfrm>
            <a:off x="0" y="0"/>
            <a:ext cx="4673600" cy="77724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itle Placeholder 1"/>
          <p:cNvSpPr>
            <a:spLocks noGrp="1"/>
          </p:cNvSpPr>
          <p:nvPr>
            <p:ph type="title" hasCustomPrompt="1"/>
          </p:nvPr>
        </p:nvSpPr>
        <p:spPr>
          <a:xfrm>
            <a:off x="416560" y="2842090"/>
            <a:ext cx="3840480" cy="533740"/>
          </a:xfrm>
          <a:prstGeom prst="rect">
            <a:avLst/>
          </a:prstGeom>
        </p:spPr>
        <p:txBody>
          <a:bodyPr vert="horz" wrap="square" lIns="101858" tIns="50929" rIns="101858" bIns="50929" rtlCol="0" anchor="b" anchorCtr="0">
            <a:spAutoFit/>
          </a:bodyPr>
          <a:lstStyle>
            <a:lvl1pPr algn="ctr">
              <a:defRPr sz="2800" b="0">
                <a:solidFill>
                  <a:schemeClr val="bg1"/>
                </a:solidFill>
              </a:defRPr>
            </a:lvl1pPr>
          </a:lstStyle>
          <a:p>
            <a:r>
              <a:rPr lang="en-US" dirty="0"/>
              <a:t>Copy Goes Here</a:t>
            </a:r>
          </a:p>
        </p:txBody>
      </p:sp>
      <p:sp>
        <p:nvSpPr>
          <p:cNvPr id="4" name="Text Placeholder 3"/>
          <p:cNvSpPr>
            <a:spLocks noGrp="1"/>
          </p:cNvSpPr>
          <p:nvPr>
            <p:ph type="body" sz="quarter" idx="11" hasCustomPrompt="1"/>
          </p:nvPr>
        </p:nvSpPr>
        <p:spPr>
          <a:xfrm>
            <a:off x="416560" y="3886200"/>
            <a:ext cx="3840480" cy="500458"/>
          </a:xfrm>
        </p:spPr>
        <p:txBody>
          <a:bodyPr wrap="square">
            <a:spAutoFit/>
          </a:bodyPr>
          <a:lstStyle>
            <a:lvl1pPr marL="0" indent="0" algn="ctr">
              <a:lnSpc>
                <a:spcPct val="114000"/>
              </a:lnSpc>
              <a:buNone/>
              <a:defRPr baseline="0">
                <a:solidFill>
                  <a:schemeClr val="bg1"/>
                </a:solidFill>
              </a:defRPr>
            </a:lvl1pPr>
          </a:lstStyle>
          <a:p>
            <a:pPr lvl="0"/>
            <a:r>
              <a:rPr lang="en-US" dirty="0"/>
              <a:t>Supporting text goes here</a:t>
            </a: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94775" y="6642521"/>
            <a:ext cx="3934977" cy="964069"/>
          </a:xfrm>
          <a:prstGeom prst="rect">
            <a:avLst/>
          </a:prstGeom>
        </p:spPr>
      </p:pic>
    </p:spTree>
    <p:extLst>
      <p:ext uri="{BB962C8B-B14F-4D97-AF65-F5344CB8AC3E}">
        <p14:creationId xmlns:p14="http://schemas.microsoft.com/office/powerpoint/2010/main" val="3873889377"/>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and Photo Right">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621745" y="982462"/>
            <a:ext cx="4862405" cy="1794085"/>
          </a:xfrm>
        </p:spPr>
        <p:txBody>
          <a:bodyPr anchor="t" anchorCtr="0"/>
          <a:lstStyle/>
          <a:p>
            <a:r>
              <a:rPr lang="en-US" dirty="0"/>
              <a:t>Headline Copy Goes Here</a:t>
            </a:r>
          </a:p>
        </p:txBody>
      </p:sp>
      <p:sp>
        <p:nvSpPr>
          <p:cNvPr id="7" name="Content Placeholder 2"/>
          <p:cNvSpPr>
            <a:spLocks noGrp="1"/>
          </p:cNvSpPr>
          <p:nvPr>
            <p:ph idx="1"/>
          </p:nvPr>
        </p:nvSpPr>
        <p:spPr>
          <a:xfrm>
            <a:off x="621745" y="3052261"/>
            <a:ext cx="4862404" cy="197592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0"/>
            <a:r>
              <a:rPr lang="en-US" dirty="0"/>
              <a:t>Click to edit Master text styles</a:t>
            </a:r>
          </a:p>
          <a:p>
            <a:pPr lvl="0"/>
            <a:r>
              <a:rPr lang="en-US" dirty="0"/>
              <a:t>Click to edit Master text styles</a:t>
            </a:r>
          </a:p>
          <a:p>
            <a:pPr lvl="0"/>
            <a:r>
              <a:rPr lang="en-US" dirty="0"/>
              <a:t>Click to edit Master text styles</a:t>
            </a:r>
          </a:p>
        </p:txBody>
      </p:sp>
      <p:sp>
        <p:nvSpPr>
          <p:cNvPr id="8" name="Picture Placeholder 9"/>
          <p:cNvSpPr>
            <a:spLocks noGrp="1"/>
          </p:cNvSpPr>
          <p:nvPr>
            <p:ph type="pic" sz="quarter" idx="13" hasCustomPrompt="1"/>
          </p:nvPr>
        </p:nvSpPr>
        <p:spPr>
          <a:xfrm>
            <a:off x="6105893" y="0"/>
            <a:ext cx="7711707" cy="7772400"/>
          </a:xfrm>
        </p:spPr>
        <p:txBody>
          <a:bodyPr anchor="ctr" anchorCtr="0">
            <a:noAutofit/>
          </a:bodyPr>
          <a:lstStyle>
            <a:lvl1pPr marL="0" indent="0" algn="ctr">
              <a:buNone/>
              <a:defRPr>
                <a:solidFill>
                  <a:schemeClr val="tx1"/>
                </a:solidFill>
              </a:defRPr>
            </a:lvl1pPr>
          </a:lstStyle>
          <a:p>
            <a:r>
              <a:rPr lang="en-US" dirty="0"/>
              <a:t>Click to insert photo</a:t>
            </a:r>
          </a:p>
        </p:txBody>
      </p: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876424"/>
            <a:ext cx="3489678" cy="854971"/>
          </a:xfrm>
          <a:prstGeom prst="rect">
            <a:avLst/>
          </a:prstGeom>
        </p:spPr>
      </p:pic>
    </p:spTree>
    <p:extLst>
      <p:ext uri="{BB962C8B-B14F-4D97-AF65-F5344CB8AC3E}">
        <p14:creationId xmlns:p14="http://schemas.microsoft.com/office/powerpoint/2010/main" val="912799024"/>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and Photo Lef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33452" y="982462"/>
            <a:ext cx="4862405" cy="1794085"/>
          </a:xfrm>
        </p:spPr>
        <p:txBody>
          <a:bodyPr anchor="t" anchorCtr="0"/>
          <a:lstStyle/>
          <a:p>
            <a:r>
              <a:rPr lang="en-US" dirty="0"/>
              <a:t>Headline Copy Goes Here</a:t>
            </a:r>
          </a:p>
        </p:txBody>
      </p:sp>
      <p:sp>
        <p:nvSpPr>
          <p:cNvPr id="3" name="Content Placeholder 2"/>
          <p:cNvSpPr>
            <a:spLocks noGrp="1"/>
          </p:cNvSpPr>
          <p:nvPr>
            <p:ph idx="1"/>
          </p:nvPr>
        </p:nvSpPr>
        <p:spPr>
          <a:xfrm>
            <a:off x="8333452" y="3052261"/>
            <a:ext cx="4862404" cy="197592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0"/>
            <a:r>
              <a:rPr lang="en-US" dirty="0"/>
              <a:t>Click to edit Master text styles</a:t>
            </a:r>
          </a:p>
          <a:p>
            <a:pPr lvl="0"/>
            <a:r>
              <a:rPr lang="en-US" dirty="0"/>
              <a:t>Click to edit Master text styles</a:t>
            </a:r>
          </a:p>
          <a:p>
            <a:pPr lvl="0"/>
            <a:r>
              <a:rPr lang="en-US" dirty="0"/>
              <a:t>Click to edit Master text styles</a:t>
            </a:r>
          </a:p>
        </p:txBody>
      </p:sp>
      <p:sp>
        <p:nvSpPr>
          <p:cNvPr id="10" name="Picture Placeholder 9"/>
          <p:cNvSpPr>
            <a:spLocks noGrp="1"/>
          </p:cNvSpPr>
          <p:nvPr>
            <p:ph type="pic" sz="quarter" idx="13" hasCustomPrompt="1"/>
          </p:nvPr>
        </p:nvSpPr>
        <p:spPr>
          <a:xfrm>
            <a:off x="2" y="0"/>
            <a:ext cx="7711707" cy="7772400"/>
          </a:xfrm>
        </p:spPr>
        <p:txBody>
          <a:bodyPr anchor="ctr" anchorCtr="0">
            <a:noAutofit/>
          </a:bodyPr>
          <a:lstStyle>
            <a:lvl1pPr marL="0" indent="0" algn="ctr">
              <a:buNone/>
              <a:defRPr>
                <a:solidFill>
                  <a:schemeClr val="tx1"/>
                </a:solidFill>
              </a:defRPr>
            </a:lvl1pPr>
          </a:lstStyle>
          <a:p>
            <a:r>
              <a:rPr lang="en-US" dirty="0"/>
              <a:t>Click to insert photo</a:t>
            </a:r>
          </a:p>
        </p:txBody>
      </p: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72047" y="6753594"/>
            <a:ext cx="3489678" cy="854971"/>
          </a:xfrm>
          <a:prstGeom prst="rect">
            <a:avLst/>
          </a:prstGeom>
        </p:spPr>
      </p:pic>
    </p:spTree>
    <p:extLst>
      <p:ext uri="{BB962C8B-B14F-4D97-AF65-F5344CB8AC3E}">
        <p14:creationId xmlns:p14="http://schemas.microsoft.com/office/powerpoint/2010/main" val="1944078498"/>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hoto and Header">
    <p:spTree>
      <p:nvGrpSpPr>
        <p:cNvPr id="1" name=""/>
        <p:cNvGrpSpPr/>
        <p:nvPr/>
      </p:nvGrpSpPr>
      <p:grpSpPr>
        <a:xfrm>
          <a:off x="0" y="0"/>
          <a:ext cx="0" cy="0"/>
          <a:chOff x="0" y="0"/>
          <a:chExt cx="0" cy="0"/>
        </a:xfrm>
      </p:grpSpPr>
      <p:sp>
        <p:nvSpPr>
          <p:cNvPr id="3" name="Picture Placeholder 2"/>
          <p:cNvSpPr>
            <a:spLocks noGrp="1"/>
          </p:cNvSpPr>
          <p:nvPr>
            <p:ph type="pic" sz="quarter" idx="10" hasCustomPrompt="1"/>
          </p:nvPr>
        </p:nvSpPr>
        <p:spPr>
          <a:xfrm>
            <a:off x="0" y="0"/>
            <a:ext cx="13817600" cy="6400800"/>
          </a:xfrm>
        </p:spPr>
        <p:txBody>
          <a:bodyPr anchor="ctr" anchorCtr="0">
            <a:noAutofit/>
          </a:bodyPr>
          <a:lstStyle>
            <a:lvl1pPr marL="0" indent="0" algn="ctr">
              <a:buNone/>
              <a:defRPr baseline="0"/>
            </a:lvl1pPr>
          </a:lstStyle>
          <a:p>
            <a:r>
              <a:rPr lang="en-US" dirty="0"/>
              <a:t>Click to insert photo</a:t>
            </a:r>
          </a:p>
        </p:txBody>
      </p:sp>
      <p:sp>
        <p:nvSpPr>
          <p:cNvPr id="11" name="Title Placeholder 1"/>
          <p:cNvSpPr>
            <a:spLocks noGrp="1"/>
          </p:cNvSpPr>
          <p:nvPr>
            <p:ph type="title" hasCustomPrompt="1"/>
          </p:nvPr>
        </p:nvSpPr>
        <p:spPr>
          <a:xfrm>
            <a:off x="400424" y="6654703"/>
            <a:ext cx="13016751" cy="779320"/>
          </a:xfrm>
          <a:prstGeom prst="rect">
            <a:avLst/>
          </a:prstGeom>
        </p:spPr>
        <p:txBody>
          <a:bodyPr vert="horz" wrap="square" lIns="101858" tIns="50929" rIns="101858" bIns="50929" rtlCol="0" anchor="t" anchorCtr="0">
            <a:spAutoFit/>
          </a:bodyPr>
          <a:lstStyle>
            <a:lvl1pPr>
              <a:defRPr sz="4396"/>
            </a:lvl1pPr>
          </a:lstStyle>
          <a:p>
            <a:r>
              <a:rPr lang="en-US" dirty="0"/>
              <a:t>Headline Copy Here</a:t>
            </a:r>
          </a:p>
        </p:txBody>
      </p:sp>
    </p:spTree>
    <p:extLst>
      <p:ext uri="{BB962C8B-B14F-4D97-AF65-F5344CB8AC3E}">
        <p14:creationId xmlns:p14="http://schemas.microsoft.com/office/powerpoint/2010/main" val="275459398"/>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Full Photo">
    <p:spTree>
      <p:nvGrpSpPr>
        <p:cNvPr id="1" name=""/>
        <p:cNvGrpSpPr/>
        <p:nvPr/>
      </p:nvGrpSpPr>
      <p:grpSpPr>
        <a:xfrm>
          <a:off x="0" y="0"/>
          <a:ext cx="0" cy="0"/>
          <a:chOff x="0" y="0"/>
          <a:chExt cx="0" cy="0"/>
        </a:xfrm>
      </p:grpSpPr>
      <p:sp>
        <p:nvSpPr>
          <p:cNvPr id="4" name="Picture Placeholder 3"/>
          <p:cNvSpPr>
            <a:spLocks noGrp="1"/>
          </p:cNvSpPr>
          <p:nvPr>
            <p:ph type="pic" sz="quarter" idx="10" hasCustomPrompt="1"/>
          </p:nvPr>
        </p:nvSpPr>
        <p:spPr>
          <a:xfrm>
            <a:off x="0" y="0"/>
            <a:ext cx="13817600" cy="7772400"/>
          </a:xfrm>
        </p:spPr>
        <p:txBody>
          <a:bodyPr anchor="ctr" anchorCtr="0">
            <a:noAutofit/>
          </a:bodyPr>
          <a:lstStyle>
            <a:lvl1pPr marL="0" indent="0" algn="ctr">
              <a:buNone/>
              <a:defRPr baseline="0"/>
            </a:lvl1pPr>
          </a:lstStyle>
          <a:p>
            <a:r>
              <a:rPr lang="en-US" dirty="0"/>
              <a:t>Click to insert photo</a:t>
            </a:r>
          </a:p>
        </p:txBody>
      </p:sp>
    </p:spTree>
    <p:extLst>
      <p:ext uri="{BB962C8B-B14F-4D97-AF65-F5344CB8AC3E}">
        <p14:creationId xmlns:p14="http://schemas.microsoft.com/office/powerpoint/2010/main" val="643642321"/>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hart and Content">
    <p:spTree>
      <p:nvGrpSpPr>
        <p:cNvPr id="1" name=""/>
        <p:cNvGrpSpPr/>
        <p:nvPr/>
      </p:nvGrpSpPr>
      <p:grpSpPr>
        <a:xfrm>
          <a:off x="0" y="0"/>
          <a:ext cx="0" cy="0"/>
          <a:chOff x="0" y="0"/>
          <a:chExt cx="0" cy="0"/>
        </a:xfrm>
      </p:grpSpPr>
      <p:sp>
        <p:nvSpPr>
          <p:cNvPr id="20" name="Title Placeholder 1"/>
          <p:cNvSpPr>
            <a:spLocks noGrp="1"/>
          </p:cNvSpPr>
          <p:nvPr>
            <p:ph type="title"/>
          </p:nvPr>
        </p:nvSpPr>
        <p:spPr>
          <a:xfrm>
            <a:off x="9150030" y="2317590"/>
            <a:ext cx="4039498" cy="1286510"/>
          </a:xfrm>
          <a:prstGeom prst="rect">
            <a:avLst/>
          </a:prstGeom>
        </p:spPr>
        <p:txBody>
          <a:bodyPr vert="horz" wrap="square" lIns="101858" tIns="50929" rIns="101858" bIns="50929" rtlCol="0" anchor="t" anchorCtr="0">
            <a:spAutoFit/>
          </a:bodyPr>
          <a:lstStyle>
            <a:lvl1pPr>
              <a:defRPr sz="3846"/>
            </a:lvl1pPr>
          </a:lstStyle>
          <a:p>
            <a:r>
              <a:rPr lang="en-US" dirty="0"/>
              <a:t>Headline Copy Goes Here</a:t>
            </a:r>
          </a:p>
        </p:txBody>
      </p:sp>
      <p:sp>
        <p:nvSpPr>
          <p:cNvPr id="4" name="Text Placeholder 3"/>
          <p:cNvSpPr>
            <a:spLocks noGrp="1"/>
          </p:cNvSpPr>
          <p:nvPr>
            <p:ph type="body" sz="quarter" idx="11"/>
          </p:nvPr>
        </p:nvSpPr>
        <p:spPr>
          <a:xfrm>
            <a:off x="9150030" y="3729514"/>
            <a:ext cx="4039498" cy="970526"/>
          </a:xfrm>
        </p:spPr>
        <p:txBody>
          <a:bodyPr wrap="square">
            <a:spAutoFit/>
          </a:bodyPr>
          <a:lstStyle>
            <a:lvl1pPr marL="0" indent="0" algn="l">
              <a:lnSpc>
                <a:spcPct val="114000"/>
              </a:lnSpc>
              <a:buNone/>
              <a:defRPr/>
            </a:lvl1pPr>
          </a:lstStyle>
          <a:p>
            <a:pPr lvl="0"/>
            <a:r>
              <a:rPr lang="en-US" dirty="0"/>
              <a:t>Click to edit Master text styles</a:t>
            </a:r>
          </a:p>
        </p:txBody>
      </p:sp>
      <p:sp>
        <p:nvSpPr>
          <p:cNvPr id="3" name="Chart Placeholder 2"/>
          <p:cNvSpPr>
            <a:spLocks noGrp="1"/>
          </p:cNvSpPr>
          <p:nvPr>
            <p:ph type="chart" sz="quarter" idx="12" hasCustomPrompt="1"/>
          </p:nvPr>
        </p:nvSpPr>
        <p:spPr>
          <a:xfrm>
            <a:off x="1269232" y="1443039"/>
            <a:ext cx="6863004" cy="4996263"/>
          </a:xfrm>
        </p:spPr>
        <p:txBody>
          <a:bodyPr anchor="ctr" anchorCtr="0">
            <a:normAutofit/>
          </a:bodyPr>
          <a:lstStyle>
            <a:lvl1pPr marL="0" indent="0" algn="ctr">
              <a:buNone/>
              <a:defRPr/>
            </a:lvl1pPr>
          </a:lstStyle>
          <a:p>
            <a:r>
              <a:rPr lang="en-US" dirty="0"/>
              <a:t>Click to add chart</a:t>
            </a:r>
          </a:p>
        </p:txBody>
      </p:sp>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876424"/>
            <a:ext cx="3489678" cy="854971"/>
          </a:xfrm>
          <a:prstGeom prst="rect">
            <a:avLst/>
          </a:prstGeom>
        </p:spPr>
      </p:pic>
    </p:spTree>
    <p:extLst>
      <p:ext uri="{BB962C8B-B14F-4D97-AF65-F5344CB8AC3E}">
        <p14:creationId xmlns:p14="http://schemas.microsoft.com/office/powerpoint/2010/main" val="187024565"/>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lank Whit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876424"/>
            <a:ext cx="3489678" cy="854971"/>
          </a:xfrm>
          <a:prstGeom prst="rect">
            <a:avLst/>
          </a:prstGeom>
        </p:spPr>
      </p:pic>
    </p:spTree>
    <p:extLst>
      <p:ext uri="{BB962C8B-B14F-4D97-AF65-F5344CB8AC3E}">
        <p14:creationId xmlns:p14="http://schemas.microsoft.com/office/powerpoint/2010/main" val="1191935215"/>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nk Green">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7976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losing Green Dots">
    <p:bg>
      <p:bgPr>
        <a:solidFill>
          <a:schemeClr val="tx2"/>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a:extLst>
              <a:ext uri="{BEBA8EAE-BF5A-486C-A8C5-ECC9F3942E4B}">
                <a14:imgProps xmlns:a14="http://schemas.microsoft.com/office/drawing/2010/main">
                  <a14:imgLayer r:embed="rId3">
                    <a14:imgEffect>
                      <a14:colorTemperature colorTemp="9139"/>
                    </a14:imgEffect>
                    <a14:imgEffect>
                      <a14:saturation sat="60000"/>
                    </a14:imgEffect>
                    <a14:imgEffect>
                      <a14:brightnessContrast bright="15000"/>
                    </a14:imgEffect>
                  </a14:imgLayer>
                </a14:imgProps>
              </a:ext>
              <a:ext uri="{28A0092B-C50C-407E-A947-70E740481C1C}">
                <a14:useLocalDpi xmlns:a14="http://schemas.microsoft.com/office/drawing/2010/main" val="0"/>
              </a:ext>
            </a:extLst>
          </a:blip>
          <a:stretch>
            <a:fillRect/>
          </a:stretch>
        </p:blipFill>
        <p:spPr>
          <a:xfrm>
            <a:off x="0" y="0"/>
            <a:ext cx="13817600" cy="7782326"/>
          </a:xfrm>
          <a:prstGeom prst="rect">
            <a:avLst/>
          </a:prstGeom>
        </p:spPr>
      </p:pic>
      <p:sp>
        <p:nvSpPr>
          <p:cNvPr id="11" name="Title 1"/>
          <p:cNvSpPr txBox="1">
            <a:spLocks/>
          </p:cNvSpPr>
          <p:nvPr userDrawn="1"/>
        </p:nvSpPr>
        <p:spPr>
          <a:xfrm>
            <a:off x="729343" y="4199229"/>
            <a:ext cx="12561453" cy="1107996"/>
          </a:xfrm>
          <a:prstGeom prst="rect">
            <a:avLst/>
          </a:prstGeom>
        </p:spPr>
        <p:txBody>
          <a:bodyPr vert="horz" lIns="91440" tIns="91440" rIns="91440" bIns="91440" rtlCol="0" anchor="b" anchorCtr="0">
            <a:spAutoFit/>
          </a:bodyPr>
          <a:lstStyle>
            <a:lvl1pPr algn="l" defTabSz="509292" rtl="0" eaLnBrk="1" latinLnBrk="0" hangingPunct="1">
              <a:spcBef>
                <a:spcPct val="0"/>
              </a:spcBef>
              <a:buNone/>
              <a:defRPr sz="4000" kern="1200">
                <a:solidFill>
                  <a:schemeClr val="tx1"/>
                </a:solidFill>
                <a:latin typeface="Century Gothic" charset="0"/>
                <a:ea typeface="Century Gothic" charset="0"/>
                <a:cs typeface="Century Gothic" charset="0"/>
              </a:defRPr>
            </a:lvl1pPr>
          </a:lstStyle>
          <a:p>
            <a:r>
              <a:rPr lang="en-US" sz="6000" dirty="0">
                <a:solidFill>
                  <a:schemeClr val="bg1"/>
                </a:solidFill>
                <a:latin typeface="+mj-lt"/>
              </a:rPr>
              <a:t>Thank you</a:t>
            </a:r>
          </a:p>
        </p:txBody>
      </p:sp>
      <p:cxnSp>
        <p:nvCxnSpPr>
          <p:cNvPr id="13" name="Straight Connector 12"/>
          <p:cNvCxnSpPr/>
          <p:nvPr userDrawn="1"/>
        </p:nvCxnSpPr>
        <p:spPr>
          <a:xfrm>
            <a:off x="881743" y="5936778"/>
            <a:ext cx="911198" cy="0"/>
          </a:xfrm>
          <a:prstGeom prst="line">
            <a:avLst/>
          </a:prstGeom>
          <a:ln w="28575">
            <a:solidFill>
              <a:schemeClr val="bg2"/>
            </a:solidFill>
          </a:ln>
          <a:effectLst/>
        </p:spPr>
        <p:style>
          <a:lnRef idx="2">
            <a:schemeClr val="accent1"/>
          </a:lnRef>
          <a:fillRef idx="0">
            <a:schemeClr val="accent1"/>
          </a:fillRef>
          <a:effectRef idx="1">
            <a:schemeClr val="accent1"/>
          </a:effectRef>
          <a:fontRef idx="minor">
            <a:schemeClr val="tx1"/>
          </a:fontRef>
        </p:style>
      </p:cxnSp>
      <p:pic>
        <p:nvPicPr>
          <p:cNvPr id="8" name="Picture 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29343" y="6173922"/>
            <a:ext cx="3934977" cy="964069"/>
          </a:xfrm>
          <a:prstGeom prst="rect">
            <a:avLst/>
          </a:prstGeom>
        </p:spPr>
      </p:pic>
    </p:spTree>
    <p:extLst>
      <p:ext uri="{BB962C8B-B14F-4D97-AF65-F5344CB8AC3E}">
        <p14:creationId xmlns:p14="http://schemas.microsoft.com/office/powerpoint/2010/main" val="674827561"/>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Green Ram">
    <p:bg>
      <p:bgPr>
        <a:solidFill>
          <a:schemeClr val="tx2"/>
        </a:solidFill>
        <a:effectLst/>
      </p:bgPr>
    </p:bg>
    <p:spTree>
      <p:nvGrpSpPr>
        <p:cNvPr id="1" name=""/>
        <p:cNvGrpSpPr/>
        <p:nvPr/>
      </p:nvGrpSpPr>
      <p:grpSpPr>
        <a:xfrm>
          <a:off x="0" y="0"/>
          <a:ext cx="0" cy="0"/>
          <a:chOff x="0" y="0"/>
          <a:chExt cx="0" cy="0"/>
        </a:xfrm>
      </p:grpSpPr>
      <p:sp>
        <p:nvSpPr>
          <p:cNvPr id="11" name="Title 1"/>
          <p:cNvSpPr txBox="1">
            <a:spLocks/>
          </p:cNvSpPr>
          <p:nvPr userDrawn="1"/>
        </p:nvSpPr>
        <p:spPr>
          <a:xfrm>
            <a:off x="729343" y="4199229"/>
            <a:ext cx="12561453" cy="1107996"/>
          </a:xfrm>
          <a:prstGeom prst="rect">
            <a:avLst/>
          </a:prstGeom>
        </p:spPr>
        <p:txBody>
          <a:bodyPr vert="horz" lIns="91440" tIns="91440" rIns="91440" bIns="91440" rtlCol="0" anchor="b" anchorCtr="0">
            <a:spAutoFit/>
          </a:bodyPr>
          <a:lstStyle>
            <a:lvl1pPr algn="l" defTabSz="509292" rtl="0" eaLnBrk="1" latinLnBrk="0" hangingPunct="1">
              <a:spcBef>
                <a:spcPct val="0"/>
              </a:spcBef>
              <a:buNone/>
              <a:defRPr sz="4000" kern="1200">
                <a:solidFill>
                  <a:schemeClr val="tx1"/>
                </a:solidFill>
                <a:latin typeface="Century Gothic" charset="0"/>
                <a:ea typeface="Century Gothic" charset="0"/>
                <a:cs typeface="Century Gothic" charset="0"/>
              </a:defRPr>
            </a:lvl1pPr>
          </a:lstStyle>
          <a:p>
            <a:r>
              <a:rPr lang="en-US" sz="6000" dirty="0">
                <a:solidFill>
                  <a:schemeClr val="bg1"/>
                </a:solidFill>
                <a:latin typeface="+mj-lt"/>
              </a:rPr>
              <a:t>Thank you</a:t>
            </a:r>
          </a:p>
        </p:txBody>
      </p:sp>
      <p:cxnSp>
        <p:nvCxnSpPr>
          <p:cNvPr id="13" name="Straight Connector 12"/>
          <p:cNvCxnSpPr/>
          <p:nvPr userDrawn="1"/>
        </p:nvCxnSpPr>
        <p:spPr>
          <a:xfrm>
            <a:off x="881743" y="5936778"/>
            <a:ext cx="911198" cy="0"/>
          </a:xfrm>
          <a:prstGeom prst="line">
            <a:avLst/>
          </a:prstGeom>
          <a:ln w="28575">
            <a:solidFill>
              <a:schemeClr val="bg2"/>
            </a:solidFill>
          </a:ln>
          <a:effectLst/>
        </p:spPr>
        <p:style>
          <a:lnRef idx="2">
            <a:schemeClr val="accent1"/>
          </a:lnRef>
          <a:fillRef idx="0">
            <a:schemeClr val="accent1"/>
          </a:fillRef>
          <a:effectRef idx="1">
            <a:schemeClr val="accent1"/>
          </a:effectRef>
          <a:fontRef idx="minor">
            <a:schemeClr val="tx1"/>
          </a:fontRef>
        </p:style>
      </p:cxnSp>
      <p:pic>
        <p:nvPicPr>
          <p:cNvPr id="8" name="Picture 7"/>
          <p:cNvPicPr>
            <a:picLocks noChangeAspect="1"/>
          </p:cNvPicPr>
          <p:nvPr userDrawn="1"/>
        </p:nvPicPr>
        <p:blipFill rotWithShape="1">
          <a:blip r:embed="rId2" cstate="hqprint">
            <a:alphaModFix amt="8000"/>
            <a:extLst>
              <a:ext uri="{28A0092B-C50C-407E-A947-70E740481C1C}">
                <a14:useLocalDpi xmlns:a14="http://schemas.microsoft.com/office/drawing/2010/main"/>
              </a:ext>
            </a:extLst>
          </a:blip>
          <a:srcRect t="14710" r="30639" b="6933"/>
          <a:stretch/>
        </p:blipFill>
        <p:spPr>
          <a:xfrm>
            <a:off x="6937515" y="-1"/>
            <a:ext cx="6880085" cy="7772401"/>
          </a:xfrm>
          <a:prstGeom prst="rect">
            <a:avLst/>
          </a:prstGeom>
        </p:spPr>
      </p:pic>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29343" y="6173922"/>
            <a:ext cx="3934977" cy="964069"/>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White">
    <p:spTree>
      <p:nvGrpSpPr>
        <p:cNvPr id="1" name=""/>
        <p:cNvGrpSpPr/>
        <p:nvPr/>
      </p:nvGrpSpPr>
      <p:grpSpPr>
        <a:xfrm>
          <a:off x="0" y="0"/>
          <a:ext cx="0" cy="0"/>
          <a:chOff x="0" y="0"/>
          <a:chExt cx="0" cy="0"/>
        </a:xfrm>
      </p:grpSpPr>
      <p:graphicFrame>
        <p:nvGraphicFramePr>
          <p:cNvPr id="8" name="Object 7"/>
          <p:cNvGraphicFramePr>
            <a:graphicFrameLocks noChangeAspect="1"/>
          </p:cNvGraphicFramePr>
          <p:nvPr userDrawn="1">
            <p:extLst>
              <p:ext uri="{D42A27DB-BD31-4B8C-83A1-F6EECF244321}">
                <p14:modId xmlns:p14="http://schemas.microsoft.com/office/powerpoint/2010/main" val="2672059480"/>
              </p:ext>
            </p:extLst>
          </p:nvPr>
        </p:nvGraphicFramePr>
        <p:xfrm>
          <a:off x="-25401" y="0"/>
          <a:ext cx="13958149" cy="7772400"/>
        </p:xfrm>
        <a:graphic>
          <a:graphicData uri="http://schemas.openxmlformats.org/presentationml/2006/ole">
            <mc:AlternateContent xmlns:mc="http://schemas.openxmlformats.org/markup-compatibility/2006">
              <mc:Choice xmlns:v="urn:schemas-microsoft-com:vml" Requires="v">
                <p:oleObj name="Image" r:id="rId2" imgW="16507800" imgH="9193320" progId="Photoshop.Image.17">
                  <p:embed/>
                </p:oleObj>
              </mc:Choice>
              <mc:Fallback>
                <p:oleObj name="Image" r:id="rId2" imgW="16507800" imgH="9193320" progId="Photoshop.Image.17">
                  <p:embed/>
                  <p:pic>
                    <p:nvPicPr>
                      <p:cNvPr id="13" name="Object 12"/>
                      <p:cNvPicPr/>
                      <p:nvPr/>
                    </p:nvPicPr>
                    <p:blipFill>
                      <a:blip r:embed="rId3"/>
                      <a:stretch>
                        <a:fillRect/>
                      </a:stretch>
                    </p:blipFill>
                    <p:spPr>
                      <a:xfrm>
                        <a:off x="-25401" y="0"/>
                        <a:ext cx="13958149" cy="7772400"/>
                      </a:xfrm>
                      <a:prstGeom prst="rect">
                        <a:avLst/>
                      </a:prstGeom>
                    </p:spPr>
                  </p:pic>
                </p:oleObj>
              </mc:Fallback>
            </mc:AlternateContent>
          </a:graphicData>
        </a:graphic>
      </p:graphicFrame>
      <p:sp>
        <p:nvSpPr>
          <p:cNvPr id="5" name="Title 1"/>
          <p:cNvSpPr txBox="1">
            <a:spLocks/>
          </p:cNvSpPr>
          <p:nvPr userDrawn="1"/>
        </p:nvSpPr>
        <p:spPr>
          <a:xfrm>
            <a:off x="729343" y="4198802"/>
            <a:ext cx="12561453" cy="1107996"/>
          </a:xfrm>
          <a:prstGeom prst="rect">
            <a:avLst/>
          </a:prstGeom>
        </p:spPr>
        <p:txBody>
          <a:bodyPr vert="horz" lIns="91440" tIns="91440" rIns="91440" bIns="91440" rtlCol="0" anchor="b" anchorCtr="0">
            <a:spAutoFit/>
          </a:bodyPr>
          <a:lstStyle>
            <a:lvl1pPr algn="l" defTabSz="509292" rtl="0" eaLnBrk="1" latinLnBrk="0" hangingPunct="1">
              <a:spcBef>
                <a:spcPct val="0"/>
              </a:spcBef>
              <a:buNone/>
              <a:defRPr sz="4000" kern="1200">
                <a:solidFill>
                  <a:schemeClr val="tx1"/>
                </a:solidFill>
                <a:latin typeface="Century Gothic" charset="0"/>
                <a:ea typeface="Century Gothic" charset="0"/>
                <a:cs typeface="Century Gothic" charset="0"/>
              </a:defRPr>
            </a:lvl1pPr>
          </a:lstStyle>
          <a:p>
            <a:r>
              <a:rPr lang="en-US" sz="6000" dirty="0">
                <a:solidFill>
                  <a:schemeClr val="tx2"/>
                </a:solidFill>
                <a:latin typeface="+mj-lt"/>
              </a:rPr>
              <a:t>Thank you</a:t>
            </a:r>
          </a:p>
        </p:txBody>
      </p:sp>
      <p:cxnSp>
        <p:nvCxnSpPr>
          <p:cNvPr id="6" name="Straight Connector 5"/>
          <p:cNvCxnSpPr/>
          <p:nvPr userDrawn="1"/>
        </p:nvCxnSpPr>
        <p:spPr>
          <a:xfrm>
            <a:off x="881743" y="5936351"/>
            <a:ext cx="911198" cy="0"/>
          </a:xfrm>
          <a:prstGeom prst="line">
            <a:avLst/>
          </a:prstGeom>
          <a:ln w="28575">
            <a:solidFill>
              <a:schemeClr val="bg2"/>
            </a:solidFill>
          </a:ln>
          <a:effectLst/>
        </p:spPr>
        <p:style>
          <a:lnRef idx="2">
            <a:schemeClr val="accent1"/>
          </a:lnRef>
          <a:fillRef idx="0">
            <a:schemeClr val="accent1"/>
          </a:fillRef>
          <a:effectRef idx="1">
            <a:schemeClr val="accent1"/>
          </a:effectRef>
          <a:fontRef idx="minor">
            <a:schemeClr val="tx1"/>
          </a:fontRef>
        </p:style>
      </p:cxn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29343" y="6241424"/>
            <a:ext cx="3489678" cy="854971"/>
          </a:xfrm>
          <a:prstGeom prst="rect">
            <a:avLst/>
          </a:prstGeom>
        </p:spPr>
      </p:pic>
    </p:spTree>
    <p:extLst>
      <p:ext uri="{BB962C8B-B14F-4D97-AF65-F5344CB8AC3E}">
        <p14:creationId xmlns:p14="http://schemas.microsoft.com/office/powerpoint/2010/main" val="1303660368"/>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Blank 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904647733"/>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xfrm>
            <a:off x="4721014" y="7081520"/>
            <a:ext cx="4375573" cy="518160"/>
          </a:xfrm>
          <a:prstGeom prst="rect">
            <a:avLst/>
          </a:prstGeom>
          <a:ln/>
        </p:spPr>
        <p:txBody>
          <a:bodyPr/>
          <a:lstStyle>
            <a:lvl1pPr>
              <a:defRPr/>
            </a:lvl1pPr>
          </a:lstStyle>
          <a:p>
            <a:pPr>
              <a:defRPr/>
            </a:pPr>
            <a:r>
              <a:rPr lang="en-US"/>
              <a:t>www.ClimateChangeStrategies.com</a:t>
            </a:r>
          </a:p>
        </p:txBody>
      </p:sp>
      <p:sp>
        <p:nvSpPr>
          <p:cNvPr id="3" name="Rectangle 6"/>
          <p:cNvSpPr>
            <a:spLocks noGrp="1" noChangeArrowheads="1"/>
          </p:cNvSpPr>
          <p:nvPr>
            <p:ph type="sldNum" sz="quarter" idx="11"/>
          </p:nvPr>
        </p:nvSpPr>
        <p:spPr>
          <a:xfrm>
            <a:off x="690880" y="7081520"/>
            <a:ext cx="3224107" cy="518160"/>
          </a:xfrm>
          <a:prstGeom prst="rect">
            <a:avLst/>
          </a:prstGeom>
          <a:ln/>
        </p:spPr>
        <p:txBody>
          <a:bodyPr/>
          <a:lstStyle>
            <a:lvl1pPr>
              <a:defRPr/>
            </a:lvl1pPr>
          </a:lstStyle>
          <a:p>
            <a:pPr>
              <a:defRPr/>
            </a:pPr>
            <a:r>
              <a:rPr lang="en-US" altLang="en-US"/>
              <a:t>Slide </a:t>
            </a:r>
            <a:fld id="{A8D18D0A-BA7E-8E45-AE3A-9FC82A209747}" type="slidenum">
              <a:rPr lang="en-US" altLang="en-US"/>
              <a:pPr>
                <a:defRPr/>
              </a:pPr>
              <a:t>‹#›</a:t>
            </a:fld>
            <a:r>
              <a:rPr lang="en-US" altLang="en-US"/>
              <a:t> of XX</a:t>
            </a:r>
          </a:p>
        </p:txBody>
      </p:sp>
    </p:spTree>
    <p:extLst>
      <p:ext uri="{BB962C8B-B14F-4D97-AF65-F5344CB8AC3E}">
        <p14:creationId xmlns:p14="http://schemas.microsoft.com/office/powerpoint/2010/main" val="142829678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0" name="Title Placeholder 1"/>
          <p:cNvSpPr>
            <a:spLocks noGrp="1"/>
          </p:cNvSpPr>
          <p:nvPr>
            <p:ph type="title" hasCustomPrompt="1"/>
          </p:nvPr>
        </p:nvSpPr>
        <p:spPr>
          <a:xfrm>
            <a:off x="628076" y="905260"/>
            <a:ext cx="12561453" cy="1015663"/>
          </a:xfrm>
          <a:prstGeom prst="rect">
            <a:avLst/>
          </a:prstGeom>
        </p:spPr>
        <p:txBody>
          <a:bodyPr vert="horz" lIns="91440" tIns="91440" rIns="91440" bIns="91440" rtlCol="0" anchor="b" anchorCtr="0">
            <a:spAutoFit/>
          </a:bodyPr>
          <a:lstStyle/>
          <a:p>
            <a:r>
              <a:rPr lang="en-US" dirty="0"/>
              <a:t>Headline Copy Goes Here</a:t>
            </a:r>
          </a:p>
        </p:txBody>
      </p:sp>
      <p:sp>
        <p:nvSpPr>
          <p:cNvPr id="25" name="Text Placeholder 24"/>
          <p:cNvSpPr>
            <a:spLocks noGrp="1"/>
          </p:cNvSpPr>
          <p:nvPr>
            <p:ph type="body" sz="quarter" idx="10"/>
          </p:nvPr>
        </p:nvSpPr>
        <p:spPr>
          <a:xfrm>
            <a:off x="628076" y="2487883"/>
            <a:ext cx="12561453" cy="2090556"/>
          </a:xfrm>
        </p:spPr>
        <p:txBody>
          <a:bodyPr>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4" name="Group 3"/>
          <p:cNvGrpSpPr/>
          <p:nvPr userDrawn="1"/>
        </p:nvGrpSpPr>
        <p:grpSpPr>
          <a:xfrm>
            <a:off x="0" y="7372351"/>
            <a:ext cx="13817600" cy="400052"/>
            <a:chOff x="0" y="7372350"/>
            <a:chExt cx="13817600" cy="400052"/>
          </a:xfrm>
        </p:grpSpPr>
        <p:sp>
          <p:nvSpPr>
            <p:cNvPr id="2" name="Rectangle 1"/>
            <p:cNvSpPr/>
            <p:nvPr userDrawn="1"/>
          </p:nvSpPr>
          <p:spPr>
            <a:xfrm>
              <a:off x="0" y="7372350"/>
              <a:ext cx="13817600" cy="400049"/>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257" y="7372351"/>
              <a:ext cx="1788557" cy="400050"/>
            </a:xfrm>
            <a:prstGeom prst="rect">
              <a:avLst/>
            </a:prstGeom>
          </p:spPr>
        </p:pic>
        <p:sp>
          <p:nvSpPr>
            <p:cNvPr id="7" name="Rectangle 6"/>
            <p:cNvSpPr/>
            <p:nvPr userDrawn="1"/>
          </p:nvSpPr>
          <p:spPr>
            <a:xfrm>
              <a:off x="0" y="7372351"/>
              <a:ext cx="13817600" cy="400049"/>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257" y="7372352"/>
              <a:ext cx="1788557" cy="400050"/>
            </a:xfrm>
            <a:prstGeom prst="rect">
              <a:avLst/>
            </a:prstGeom>
          </p:spPr>
        </p:pic>
      </p:grpSp>
    </p:spTree>
    <p:extLst>
      <p:ext uri="{BB962C8B-B14F-4D97-AF65-F5344CB8AC3E}">
        <p14:creationId xmlns:p14="http://schemas.microsoft.com/office/powerpoint/2010/main" val="3268347934"/>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075" y="905259"/>
            <a:ext cx="12561453" cy="1015663"/>
          </a:xfrm>
          <a:prstGeom prst="rect">
            <a:avLst/>
          </a:prstGeom>
        </p:spPr>
        <p:txBody>
          <a:bodyPr vert="horz" lIns="91440" tIns="91440" rIns="91440" bIns="91440" rtlCol="0" anchor="b" anchorCtr="0">
            <a:spAutoFit/>
          </a:bodyPr>
          <a:lstStyle/>
          <a:p>
            <a:r>
              <a:rPr lang="en-US" dirty="0"/>
              <a:t>Headline Copy Goes Here</a:t>
            </a:r>
          </a:p>
        </p:txBody>
      </p:sp>
      <p:sp>
        <p:nvSpPr>
          <p:cNvPr id="3" name="Text Placeholder 2"/>
          <p:cNvSpPr>
            <a:spLocks noGrp="1"/>
          </p:cNvSpPr>
          <p:nvPr>
            <p:ph type="body" idx="1"/>
          </p:nvPr>
        </p:nvSpPr>
        <p:spPr>
          <a:xfrm>
            <a:off x="628074" y="2487883"/>
            <a:ext cx="12561453" cy="3093154"/>
          </a:xfrm>
          <a:prstGeom prst="rect">
            <a:avLst/>
          </a:prstGeom>
        </p:spPr>
        <p:txBody>
          <a:bodyPr vert="horz" lIns="91440" tIns="91440" rIns="91440" bIns="9144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0"/>
            <a:r>
              <a:rPr lang="en-US" dirty="0"/>
              <a:t>Click to edit Master text styles</a:t>
            </a:r>
          </a:p>
          <a:p>
            <a:pPr lvl="0"/>
            <a:r>
              <a:rPr lang="en-US" dirty="0"/>
              <a:t>Click to edit Master text styles</a:t>
            </a:r>
          </a:p>
          <a:p>
            <a:pPr lvl="0"/>
            <a:r>
              <a:rPr lang="en-US" dirty="0"/>
              <a:t>Click to edit Master text styles</a:t>
            </a:r>
          </a:p>
        </p:txBody>
      </p:sp>
    </p:spTree>
    <p:extLst>
      <p:ext uri="{BB962C8B-B14F-4D97-AF65-F5344CB8AC3E}">
        <p14:creationId xmlns:p14="http://schemas.microsoft.com/office/powerpoint/2010/main" val="3965733437"/>
      </p:ext>
    </p:extLst>
  </p:cSld>
  <p:clrMap bg1="lt1" tx1="dk1" bg2="lt2" tx2="dk2" accent1="accent1" accent2="accent2" accent3="accent3" accent4="accent4" accent5="accent5" accent6="accent6" hlink="hlink" folHlink="folHlink"/>
  <p:sldLayoutIdLst>
    <p:sldLayoutId id="2147483678" r:id="rId1"/>
    <p:sldLayoutId id="2147483690" r:id="rId2"/>
    <p:sldLayoutId id="2147483665" r:id="rId3"/>
    <p:sldLayoutId id="2147483679" r:id="rId4"/>
    <p:sldLayoutId id="2147483649" r:id="rId5"/>
    <p:sldLayoutId id="2147483666" r:id="rId6"/>
    <p:sldLayoutId id="2147483668" r:id="rId7"/>
    <p:sldLayoutId id="2147483683" r:id="rId8"/>
    <p:sldLayoutId id="2147483687" r:id="rId9"/>
    <p:sldLayoutId id="2147483688" r:id="rId10"/>
    <p:sldLayoutId id="2147483669" r:id="rId11"/>
    <p:sldLayoutId id="2147483693" r:id="rId12"/>
    <p:sldLayoutId id="2147483696" r:id="rId13"/>
    <p:sldLayoutId id="2147483650" r:id="rId14"/>
    <p:sldLayoutId id="2147483686" r:id="rId15"/>
    <p:sldLayoutId id="2147483661" r:id="rId16"/>
    <p:sldLayoutId id="2147483680" r:id="rId17"/>
    <p:sldLayoutId id="2147483670" r:id="rId18"/>
    <p:sldLayoutId id="2147483681" r:id="rId19"/>
    <p:sldLayoutId id="2147483682" r:id="rId20"/>
    <p:sldLayoutId id="2147483677" r:id="rId21"/>
    <p:sldLayoutId id="2147483692" r:id="rId22"/>
    <p:sldLayoutId id="2147483672" r:id="rId23"/>
    <p:sldLayoutId id="2147483695" r:id="rId24"/>
    <p:sldLayoutId id="2147483699" r:id="rId25"/>
    <p:sldLayoutId id="2147483703" r:id="rId26"/>
  </p:sldLayoutIdLst>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txStyles>
    <p:titleStyle>
      <a:lvl1pPr algn="l" defTabSz="699614" rtl="0" eaLnBrk="1" latinLnBrk="0" hangingPunct="1">
        <a:spcBef>
          <a:spcPct val="0"/>
        </a:spcBef>
        <a:buNone/>
        <a:defRPr sz="5400" kern="1200">
          <a:solidFill>
            <a:schemeClr val="tx2"/>
          </a:solidFill>
          <a:latin typeface="+mj-lt"/>
          <a:ea typeface="Century Gothic" charset="0"/>
          <a:cs typeface="Century Gothic" charset="0"/>
        </a:defRPr>
      </a:lvl1pPr>
    </p:titleStyle>
    <p:bodyStyle>
      <a:lvl1pPr marL="524712" indent="-524712" algn="l" defTabSz="699614" rtl="0" eaLnBrk="1" latinLnBrk="0" hangingPunct="1">
        <a:lnSpc>
          <a:spcPct val="120000"/>
        </a:lnSpc>
        <a:spcBef>
          <a:spcPts val="600"/>
        </a:spcBef>
        <a:spcAft>
          <a:spcPts val="600"/>
        </a:spcAft>
        <a:buFont typeface="Arial"/>
        <a:buChar char="•"/>
        <a:defRPr sz="1800" b="0" kern="1200">
          <a:solidFill>
            <a:schemeClr val="tx1"/>
          </a:solidFill>
          <a:latin typeface="+mn-lt"/>
          <a:ea typeface="Franklin Gothic Book" charset="0"/>
          <a:cs typeface="Franklin Gothic Book" charset="0"/>
        </a:defRPr>
      </a:lvl1pPr>
      <a:lvl2pPr marL="1136875" indent="-437261" algn="l" defTabSz="699614" rtl="0" eaLnBrk="1" latinLnBrk="0" hangingPunct="1">
        <a:lnSpc>
          <a:spcPct val="120000"/>
        </a:lnSpc>
        <a:spcBef>
          <a:spcPts val="0"/>
        </a:spcBef>
        <a:spcAft>
          <a:spcPts val="600"/>
        </a:spcAft>
        <a:buFont typeface="Arial"/>
        <a:buChar char="–"/>
        <a:defRPr sz="1600" b="0" kern="1200">
          <a:solidFill>
            <a:schemeClr val="tx1"/>
          </a:solidFill>
          <a:latin typeface="+mn-lt"/>
          <a:ea typeface="Franklin Gothic Book" charset="0"/>
          <a:cs typeface="Franklin Gothic Book" charset="0"/>
        </a:defRPr>
      </a:lvl2pPr>
      <a:lvl3pPr marL="1749040" indent="-349807" algn="l" defTabSz="699614" rtl="0" eaLnBrk="1" latinLnBrk="0" hangingPunct="1">
        <a:lnSpc>
          <a:spcPct val="120000"/>
        </a:lnSpc>
        <a:spcBef>
          <a:spcPts val="0"/>
        </a:spcBef>
        <a:spcAft>
          <a:spcPts val="600"/>
        </a:spcAft>
        <a:buFont typeface="Arial"/>
        <a:buChar char="•"/>
        <a:defRPr sz="1600" b="0" kern="1200">
          <a:solidFill>
            <a:schemeClr val="tx1"/>
          </a:solidFill>
          <a:latin typeface="+mn-lt"/>
          <a:ea typeface="Franklin Gothic Book" charset="0"/>
          <a:cs typeface="Franklin Gothic Book" charset="0"/>
        </a:defRPr>
      </a:lvl3pPr>
      <a:lvl4pPr marL="2448655" indent="-349807" algn="l" defTabSz="699614" rtl="0" eaLnBrk="1" latinLnBrk="0" hangingPunct="1">
        <a:lnSpc>
          <a:spcPct val="120000"/>
        </a:lnSpc>
        <a:spcBef>
          <a:spcPts val="0"/>
        </a:spcBef>
        <a:spcAft>
          <a:spcPts val="600"/>
        </a:spcAft>
        <a:buFont typeface="Arial"/>
        <a:buChar char="–"/>
        <a:defRPr sz="1600" b="0" kern="1200">
          <a:solidFill>
            <a:schemeClr val="tx1"/>
          </a:solidFill>
          <a:latin typeface="+mn-lt"/>
          <a:ea typeface="Franklin Gothic Book" charset="0"/>
          <a:cs typeface="Franklin Gothic Book" charset="0"/>
        </a:defRPr>
      </a:lvl4pPr>
      <a:lvl5pPr marL="3148272" indent="-349807" algn="l" defTabSz="699614" rtl="0" eaLnBrk="1" latinLnBrk="0" hangingPunct="1">
        <a:spcBef>
          <a:spcPct val="20000"/>
        </a:spcBef>
        <a:buFont typeface="Arial"/>
        <a:buChar char="»"/>
        <a:defRPr sz="1648" b="0" kern="1200">
          <a:solidFill>
            <a:schemeClr val="accent6">
              <a:lumMod val="75000"/>
            </a:schemeClr>
          </a:solidFill>
          <a:latin typeface="Franklin Gothic Book" charset="0"/>
          <a:ea typeface="Franklin Gothic Book" charset="0"/>
          <a:cs typeface="Franklin Gothic Book" charset="0"/>
        </a:defRPr>
      </a:lvl5pPr>
      <a:lvl6pPr marL="3847888" indent="-349807" algn="l" defTabSz="699614" rtl="0" eaLnBrk="1" latinLnBrk="0" hangingPunct="1">
        <a:spcBef>
          <a:spcPct val="20000"/>
        </a:spcBef>
        <a:buFont typeface="Arial"/>
        <a:buChar char="•"/>
        <a:defRPr sz="3022" kern="1200">
          <a:solidFill>
            <a:schemeClr val="tx1"/>
          </a:solidFill>
          <a:latin typeface="+mn-lt"/>
          <a:ea typeface="+mn-ea"/>
          <a:cs typeface="+mn-cs"/>
        </a:defRPr>
      </a:lvl6pPr>
      <a:lvl7pPr marL="4547505" indent="-349807" algn="l" defTabSz="699614" rtl="0" eaLnBrk="1" latinLnBrk="0" hangingPunct="1">
        <a:spcBef>
          <a:spcPct val="20000"/>
        </a:spcBef>
        <a:buFont typeface="Arial"/>
        <a:buChar char="•"/>
        <a:defRPr sz="3022" kern="1200">
          <a:solidFill>
            <a:schemeClr val="tx1"/>
          </a:solidFill>
          <a:latin typeface="+mn-lt"/>
          <a:ea typeface="+mn-ea"/>
          <a:cs typeface="+mn-cs"/>
        </a:defRPr>
      </a:lvl7pPr>
      <a:lvl8pPr marL="5247119" indent="-349807" algn="l" defTabSz="699614" rtl="0" eaLnBrk="1" latinLnBrk="0" hangingPunct="1">
        <a:spcBef>
          <a:spcPct val="20000"/>
        </a:spcBef>
        <a:buFont typeface="Arial"/>
        <a:buChar char="•"/>
        <a:defRPr sz="3022" kern="1200">
          <a:solidFill>
            <a:schemeClr val="tx1"/>
          </a:solidFill>
          <a:latin typeface="+mn-lt"/>
          <a:ea typeface="+mn-ea"/>
          <a:cs typeface="+mn-cs"/>
        </a:defRPr>
      </a:lvl8pPr>
      <a:lvl9pPr marL="5946736" indent="-349807" algn="l" defTabSz="699614" rtl="0" eaLnBrk="1" latinLnBrk="0" hangingPunct="1">
        <a:spcBef>
          <a:spcPct val="20000"/>
        </a:spcBef>
        <a:buFont typeface="Arial"/>
        <a:buChar char="•"/>
        <a:defRPr sz="3022" kern="1200">
          <a:solidFill>
            <a:schemeClr val="tx1"/>
          </a:solidFill>
          <a:latin typeface="+mn-lt"/>
          <a:ea typeface="+mn-ea"/>
          <a:cs typeface="+mn-cs"/>
        </a:defRPr>
      </a:lvl9pPr>
    </p:bodyStyle>
    <p:otherStyle>
      <a:defPPr>
        <a:defRPr lang="en-US"/>
      </a:defPPr>
      <a:lvl1pPr marL="0" algn="l" defTabSz="699614" rtl="0" eaLnBrk="1" latinLnBrk="0" hangingPunct="1">
        <a:defRPr sz="2747" kern="1200">
          <a:solidFill>
            <a:schemeClr val="tx1"/>
          </a:solidFill>
          <a:latin typeface="+mn-lt"/>
          <a:ea typeface="+mn-ea"/>
          <a:cs typeface="+mn-cs"/>
        </a:defRPr>
      </a:lvl1pPr>
      <a:lvl2pPr marL="699614" algn="l" defTabSz="699614" rtl="0" eaLnBrk="1" latinLnBrk="0" hangingPunct="1">
        <a:defRPr sz="2747" kern="1200">
          <a:solidFill>
            <a:schemeClr val="tx1"/>
          </a:solidFill>
          <a:latin typeface="+mn-lt"/>
          <a:ea typeface="+mn-ea"/>
          <a:cs typeface="+mn-cs"/>
        </a:defRPr>
      </a:lvl2pPr>
      <a:lvl3pPr marL="1399232" algn="l" defTabSz="699614" rtl="0" eaLnBrk="1" latinLnBrk="0" hangingPunct="1">
        <a:defRPr sz="2747" kern="1200">
          <a:solidFill>
            <a:schemeClr val="tx1"/>
          </a:solidFill>
          <a:latin typeface="+mn-lt"/>
          <a:ea typeface="+mn-ea"/>
          <a:cs typeface="+mn-cs"/>
        </a:defRPr>
      </a:lvl3pPr>
      <a:lvl4pPr marL="2098847" algn="l" defTabSz="699614" rtl="0" eaLnBrk="1" latinLnBrk="0" hangingPunct="1">
        <a:defRPr sz="2747" kern="1200">
          <a:solidFill>
            <a:schemeClr val="tx1"/>
          </a:solidFill>
          <a:latin typeface="+mn-lt"/>
          <a:ea typeface="+mn-ea"/>
          <a:cs typeface="+mn-cs"/>
        </a:defRPr>
      </a:lvl4pPr>
      <a:lvl5pPr marL="2798465" algn="l" defTabSz="699614" rtl="0" eaLnBrk="1" latinLnBrk="0" hangingPunct="1">
        <a:defRPr sz="2747" kern="1200">
          <a:solidFill>
            <a:schemeClr val="tx1"/>
          </a:solidFill>
          <a:latin typeface="+mn-lt"/>
          <a:ea typeface="+mn-ea"/>
          <a:cs typeface="+mn-cs"/>
        </a:defRPr>
      </a:lvl5pPr>
      <a:lvl6pPr marL="3498080" algn="l" defTabSz="699614" rtl="0" eaLnBrk="1" latinLnBrk="0" hangingPunct="1">
        <a:defRPr sz="2747" kern="1200">
          <a:solidFill>
            <a:schemeClr val="tx1"/>
          </a:solidFill>
          <a:latin typeface="+mn-lt"/>
          <a:ea typeface="+mn-ea"/>
          <a:cs typeface="+mn-cs"/>
        </a:defRPr>
      </a:lvl6pPr>
      <a:lvl7pPr marL="4197695" algn="l" defTabSz="699614" rtl="0" eaLnBrk="1" latinLnBrk="0" hangingPunct="1">
        <a:defRPr sz="2747" kern="1200">
          <a:solidFill>
            <a:schemeClr val="tx1"/>
          </a:solidFill>
          <a:latin typeface="+mn-lt"/>
          <a:ea typeface="+mn-ea"/>
          <a:cs typeface="+mn-cs"/>
        </a:defRPr>
      </a:lvl7pPr>
      <a:lvl8pPr marL="4897312" algn="l" defTabSz="699614" rtl="0" eaLnBrk="1" latinLnBrk="0" hangingPunct="1">
        <a:defRPr sz="2747" kern="1200">
          <a:solidFill>
            <a:schemeClr val="tx1"/>
          </a:solidFill>
          <a:latin typeface="+mn-lt"/>
          <a:ea typeface="+mn-ea"/>
          <a:cs typeface="+mn-cs"/>
        </a:defRPr>
      </a:lvl8pPr>
      <a:lvl9pPr marL="5596926" algn="l" defTabSz="699614" rtl="0" eaLnBrk="1" latinLnBrk="0" hangingPunct="1">
        <a:defRPr sz="274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hyperlink" Target="https://youtu.be/RWsx1X8PV_A" TargetMode="External"/><Relationship Id="rId2" Type="http://schemas.openxmlformats.org/officeDocument/2006/relationships/notesSlide" Target="../notesSlides/notesSlide7.xml"/><Relationship Id="rId1" Type="http://schemas.openxmlformats.org/officeDocument/2006/relationships/slideLayout" Target="../slideLayouts/slideLayout25.xml"/><Relationship Id="rId5" Type="http://schemas.openxmlformats.org/officeDocument/2006/relationships/hyperlink" Target="https://www.goodreads.com/author/show/5001.Milton_Friedman" TargetMode="External"/><Relationship Id="rId4" Type="http://schemas.openxmlformats.org/officeDocument/2006/relationships/hyperlink" Target="https://youtu.be/bIRUaLcvPe8"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5.xml"/><Relationship Id="rId5" Type="http://schemas.openxmlformats.org/officeDocument/2006/relationships/image" Target="../media/image16.png"/><Relationship Id="rId4" Type="http://schemas.openxmlformats.org/officeDocument/2006/relationships/image" Target="../media/image15.tiff"/></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5.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hbr.org/video/3590615226001/the-explainer-porters-five-forces" TargetMode="External"/><Relationship Id="rId1" Type="http://schemas.openxmlformats.org/officeDocument/2006/relationships/slideLayout" Target="../slideLayouts/slideLayout2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0.xml"/><Relationship Id="rId1" Type="http://schemas.openxmlformats.org/officeDocument/2006/relationships/slideLayout" Target="../slideLayouts/slideLayout5.xml"/><Relationship Id="rId4" Type="http://schemas.openxmlformats.org/officeDocument/2006/relationships/hyperlink" Target="https://www.youtube.com/watch?v=ErwS24cBZPc" TargetMode="Externa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3" Type="http://schemas.openxmlformats.org/officeDocument/2006/relationships/hyperlink" Target="https://www.youtube.com/watch?v=8DDMHwqIn3s" TargetMode="External"/><Relationship Id="rId2" Type="http://schemas.openxmlformats.org/officeDocument/2006/relationships/hyperlink" Target="https://www.youtube.com/watch?v=pWgyy_rlmag" TargetMode="External"/><Relationship Id="rId1" Type="http://schemas.openxmlformats.org/officeDocument/2006/relationships/slideLayout" Target="../slideLayouts/slideLayout26.xml"/><Relationship Id="rId4" Type="http://schemas.openxmlformats.org/officeDocument/2006/relationships/hyperlink" Target="https://www.youtube.com/watch?v=PlKDQqKh03Y" TargetMode="External"/></Relationships>
</file>

<file path=ppt/slides/_rels/slide5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51.xml"/><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3" Type="http://schemas.openxmlformats.org/officeDocument/2006/relationships/hyperlink" Target="https://www.youtube.com/watch?v=oC-yWrC0P_E" TargetMode="External"/><Relationship Id="rId2" Type="http://schemas.openxmlformats.org/officeDocument/2006/relationships/hyperlink" Target="https://entrepreneurshiptheories.blogspot.com/2017/08/sarasvathy-effectuation-theory.html" TargetMode="External"/><Relationship Id="rId1" Type="http://schemas.openxmlformats.org/officeDocument/2006/relationships/slideLayout" Target="../slideLayouts/slideLayout5.xml"/><Relationship Id="rId4" Type="http://schemas.openxmlformats.org/officeDocument/2006/relationships/hyperlink" Target="https://www.youtube.com/watch?v=G8gRkJ9cnzo&amp;t=92s" TargetMode="External"/></Relationships>
</file>

<file path=ppt/slides/_rels/slide61.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52.xml"/><Relationship Id="rId1" Type="http://schemas.openxmlformats.org/officeDocument/2006/relationships/slideLayout" Target="../slideLayouts/slideLayout5.xml"/><Relationship Id="rId4" Type="http://schemas.openxmlformats.org/officeDocument/2006/relationships/image" Target="../media/image25.emf"/></Relationships>
</file>

<file path=ppt/slides/_rels/slide62.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3" Type="http://schemas.openxmlformats.org/officeDocument/2006/relationships/hyperlink" Target="http://www.ted.com/talks/steven_johnson_where_good_ideas_come_from" TargetMode="External"/><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345442" y="1132769"/>
            <a:ext cx="12561453" cy="2893100"/>
          </a:xfrm>
        </p:spPr>
        <p:txBody>
          <a:bodyPr/>
          <a:lstStyle/>
          <a:p>
            <a:r>
              <a:rPr lang="en-US" sz="4400" b="1" dirty="0">
                <a:latin typeface="Garamond" panose="02020404030301010803" pitchFamily="18" charset="0"/>
              </a:rPr>
              <a:t>Fundamentals of Business Strategy and Entrepreneurial Opportunity</a:t>
            </a:r>
          </a:p>
          <a:p>
            <a:endParaRPr lang="en-US" sz="4400" b="1" dirty="0">
              <a:latin typeface="Garamond" panose="02020404030301010803" pitchFamily="18" charset="0"/>
            </a:endParaRPr>
          </a:p>
          <a:p>
            <a:r>
              <a:rPr lang="en-US" sz="4400" b="1" dirty="0">
                <a:latin typeface="Garamond" panose="02020404030301010803" pitchFamily="18" charset="0"/>
              </a:rPr>
              <a:t>Mgt 663</a:t>
            </a:r>
          </a:p>
        </p:txBody>
      </p:sp>
      <p:sp>
        <p:nvSpPr>
          <p:cNvPr id="3" name="Text Placeholder 2"/>
          <p:cNvSpPr>
            <a:spLocks noGrp="1"/>
          </p:cNvSpPr>
          <p:nvPr>
            <p:ph type="body" sz="quarter" idx="14"/>
          </p:nvPr>
        </p:nvSpPr>
        <p:spPr>
          <a:xfrm>
            <a:off x="628074" y="5337226"/>
            <a:ext cx="12561452" cy="673198"/>
          </a:xfrm>
        </p:spPr>
        <p:txBody>
          <a:bodyPr/>
          <a:lstStyle/>
          <a:p>
            <a:r>
              <a:rPr lang="en-US" sz="2800" b="1" dirty="0">
                <a:latin typeface="Garamond" panose="02020404030301010803" pitchFamily="18" charset="0"/>
              </a:rPr>
              <a:t>Professor Tom Dean, Ph.D., MBA</a:t>
            </a:r>
          </a:p>
        </p:txBody>
      </p:sp>
    </p:spTree>
    <p:extLst>
      <p:ext uri="{BB962C8B-B14F-4D97-AF65-F5344CB8AC3E}">
        <p14:creationId xmlns:p14="http://schemas.microsoft.com/office/powerpoint/2010/main" val="1035943344"/>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1026"/>
          <p:cNvSpPr>
            <a:spLocks noGrp="1" noChangeArrowheads="1"/>
          </p:cNvSpPr>
          <p:nvPr>
            <p:ph type="title"/>
          </p:nvPr>
        </p:nvSpPr>
        <p:spPr bwMode="auto">
          <a:xfrm>
            <a:off x="365760" y="271578"/>
            <a:ext cx="13451840" cy="121264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103632" tIns="51816" rIns="103632" bIns="51816" numCol="1" rtlCol="0" anchor="t" anchorCtr="0" compatLnSpc="1">
            <a:prstTxWarp prst="textNoShape">
              <a:avLst/>
            </a:prstTxWarp>
            <a:spAutoFit/>
          </a:bodyPr>
          <a:lstStyle/>
          <a:p>
            <a:r>
              <a:rPr lang="en-US" sz="3600" b="1" dirty="0">
                <a:latin typeface="Garamond" panose="02020404030301010803" pitchFamily="18" charset="0"/>
              </a:rPr>
              <a:t>AGENDA - Fundamentals of Business Strategy and</a:t>
            </a:r>
            <a:br>
              <a:rPr lang="en-US" sz="3600" b="1" dirty="0">
                <a:latin typeface="Garamond" panose="02020404030301010803" pitchFamily="18" charset="0"/>
              </a:rPr>
            </a:br>
            <a:r>
              <a:rPr lang="en-US" sz="3600" b="1" dirty="0">
                <a:latin typeface="Garamond" panose="02020404030301010803" pitchFamily="18" charset="0"/>
              </a:rPr>
              <a:t>Entrepreneurial Opportunity</a:t>
            </a:r>
          </a:p>
        </p:txBody>
      </p:sp>
      <p:sp>
        <p:nvSpPr>
          <p:cNvPr id="179203" name="Rectangle 1027"/>
          <p:cNvSpPr>
            <a:spLocks noGrp="1" noChangeArrowheads="1"/>
          </p:cNvSpPr>
          <p:nvPr>
            <p:ph type="body" idx="4294967295"/>
          </p:nvPr>
        </p:nvSpPr>
        <p:spPr bwMode="auto">
          <a:xfrm>
            <a:off x="772820" y="1669956"/>
            <a:ext cx="12271959" cy="4411721"/>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103632" tIns="51816" rIns="103632" bIns="51816" numCol="1" anchor="t" anchorCtr="0" compatLnSpc="1">
            <a:prstTxWarp prst="textNoShape">
              <a:avLst/>
            </a:prstTxWarp>
          </a:bodyPr>
          <a:lstStyle/>
          <a:p>
            <a:pPr>
              <a:lnSpc>
                <a:spcPct val="90000"/>
              </a:lnSpc>
              <a:buFontTx/>
              <a:buNone/>
            </a:pPr>
            <a:r>
              <a:rPr lang="en-US" altLang="en-US" sz="3600" i="1" dirty="0">
                <a:solidFill>
                  <a:srgbClr val="092529"/>
                </a:solidFill>
                <a:latin typeface="Garamond" panose="02020404030301010803" pitchFamily="18" charset="0"/>
                <a:ea typeface="+mn-ea"/>
                <a:cs typeface="+mn-cs"/>
              </a:rPr>
              <a:t>1.  Purpose and Role of Firms</a:t>
            </a:r>
          </a:p>
          <a:p>
            <a:pPr>
              <a:lnSpc>
                <a:spcPct val="90000"/>
              </a:lnSpc>
              <a:buFontTx/>
              <a:buNone/>
            </a:pPr>
            <a:r>
              <a:rPr lang="en-US" altLang="en-US" sz="3600" i="1" dirty="0">
                <a:solidFill>
                  <a:srgbClr val="092529"/>
                </a:solidFill>
                <a:latin typeface="Garamond" panose="02020404030301010803" pitchFamily="18" charset="0"/>
                <a:ea typeface="+mn-ea"/>
                <a:cs typeface="+mn-cs"/>
              </a:rPr>
              <a:t>2.  Strategic Management Content</a:t>
            </a:r>
          </a:p>
          <a:p>
            <a:pPr>
              <a:lnSpc>
                <a:spcPct val="90000"/>
              </a:lnSpc>
              <a:buFontTx/>
              <a:buNone/>
            </a:pPr>
            <a:r>
              <a:rPr lang="en-US" altLang="en-US" sz="3600" i="1" dirty="0">
                <a:solidFill>
                  <a:srgbClr val="092529"/>
                </a:solidFill>
                <a:latin typeface="Garamond" panose="02020404030301010803" pitchFamily="18" charset="0"/>
                <a:ea typeface="+mn-ea"/>
                <a:cs typeface="+mn-cs"/>
              </a:rPr>
              <a:t>	</a:t>
            </a:r>
            <a:r>
              <a:rPr lang="en-US" altLang="en-US" sz="3200" i="1" dirty="0">
                <a:solidFill>
                  <a:srgbClr val="092529"/>
                </a:solidFill>
                <a:latin typeface="Garamond" panose="02020404030301010803" pitchFamily="18" charset="0"/>
                <a:ea typeface="+mn-ea"/>
                <a:cs typeface="+mn-cs"/>
              </a:rPr>
              <a:t>Industry Effects and Analysis</a:t>
            </a:r>
          </a:p>
          <a:p>
            <a:pPr>
              <a:lnSpc>
                <a:spcPct val="90000"/>
              </a:lnSpc>
              <a:buFontTx/>
              <a:buNone/>
            </a:pPr>
            <a:r>
              <a:rPr lang="en-US" sz="3200" i="1" dirty="0">
                <a:solidFill>
                  <a:srgbClr val="092529"/>
                </a:solidFill>
                <a:latin typeface="Garamond" panose="02020404030301010803" pitchFamily="18" charset="0"/>
                <a:ea typeface="+mn-ea"/>
                <a:cs typeface="+mn-cs"/>
              </a:rPr>
              <a:t>	Firm Effects and Business-Level Strategy</a:t>
            </a:r>
          </a:p>
          <a:p>
            <a:pPr>
              <a:lnSpc>
                <a:spcPct val="90000"/>
              </a:lnSpc>
              <a:buFontTx/>
              <a:buNone/>
            </a:pPr>
            <a:r>
              <a:rPr lang="en-US" altLang="en-US" sz="3600" i="1" dirty="0">
                <a:solidFill>
                  <a:srgbClr val="092529"/>
                </a:solidFill>
                <a:latin typeface="Garamond" panose="02020404030301010803" pitchFamily="18" charset="0"/>
                <a:ea typeface="+mn-ea"/>
                <a:cs typeface="+mn-cs"/>
              </a:rPr>
              <a:t>3.  Economic Opportunity</a:t>
            </a:r>
          </a:p>
          <a:p>
            <a:pPr>
              <a:lnSpc>
                <a:spcPct val="90000"/>
              </a:lnSpc>
              <a:buFontTx/>
              <a:buNone/>
            </a:pPr>
            <a:r>
              <a:rPr lang="en-US" altLang="en-US" sz="3600" i="1" dirty="0">
                <a:solidFill>
                  <a:srgbClr val="092529"/>
                </a:solidFill>
                <a:latin typeface="Garamond" panose="02020404030301010803" pitchFamily="18" charset="0"/>
                <a:ea typeface="+mn-ea"/>
                <a:cs typeface="+mn-cs"/>
              </a:rPr>
              <a:t>	</a:t>
            </a:r>
            <a:r>
              <a:rPr lang="en-US" altLang="en-US" sz="3200" i="1" dirty="0">
                <a:solidFill>
                  <a:srgbClr val="092529"/>
                </a:solidFill>
                <a:latin typeface="Garamond" panose="02020404030301010803" pitchFamily="18" charset="0"/>
                <a:ea typeface="+mn-ea"/>
                <a:cs typeface="+mn-cs"/>
              </a:rPr>
              <a:t>Opportunity Discovery</a:t>
            </a:r>
          </a:p>
          <a:p>
            <a:pPr>
              <a:lnSpc>
                <a:spcPct val="90000"/>
              </a:lnSpc>
              <a:buFontTx/>
              <a:buNone/>
            </a:pPr>
            <a:r>
              <a:rPr lang="en-US" altLang="en-US" sz="3200" i="1" dirty="0">
                <a:solidFill>
                  <a:srgbClr val="092529"/>
                </a:solidFill>
                <a:latin typeface="Garamond" panose="02020404030301010803" pitchFamily="18" charset="0"/>
                <a:ea typeface="+mn-ea"/>
                <a:cs typeface="+mn-cs"/>
              </a:rPr>
              <a:t>	Opportunity Creation</a:t>
            </a:r>
          </a:p>
        </p:txBody>
      </p:sp>
    </p:spTree>
    <p:extLst>
      <p:ext uri="{BB962C8B-B14F-4D97-AF65-F5344CB8AC3E}">
        <p14:creationId xmlns:p14="http://schemas.microsoft.com/office/powerpoint/2010/main" val="888535855"/>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1026"/>
          <p:cNvSpPr>
            <a:spLocks noGrp="1" noChangeArrowheads="1"/>
          </p:cNvSpPr>
          <p:nvPr>
            <p:ph type="title"/>
          </p:nvPr>
        </p:nvSpPr>
        <p:spPr bwMode="auto">
          <a:xfrm>
            <a:off x="371934" y="2187647"/>
            <a:ext cx="12751723" cy="3428631"/>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103632" tIns="51816" rIns="103632" bIns="51816" numCol="1" rtlCol="0" anchor="t" anchorCtr="0" compatLnSpc="1">
            <a:prstTxWarp prst="textNoShape">
              <a:avLst/>
            </a:prstTxWarp>
            <a:spAutoFit/>
          </a:bodyPr>
          <a:lstStyle/>
          <a:p>
            <a:pPr algn="ctr"/>
            <a:r>
              <a:rPr lang="en-US" altLang="en-US" i="1" dirty="0"/>
              <a:t>What is the Role of “Firms”</a:t>
            </a:r>
            <a:br>
              <a:rPr lang="en-US" altLang="en-US" i="1" dirty="0"/>
            </a:br>
            <a:r>
              <a:rPr lang="en-US" altLang="en-US" i="1" dirty="0"/>
              <a:t>in Market-Based Economies?</a:t>
            </a:r>
            <a:br>
              <a:rPr lang="en-US" altLang="en-US" i="1" dirty="0"/>
            </a:br>
            <a:br>
              <a:rPr lang="en-US" altLang="en-US" i="1" dirty="0"/>
            </a:br>
            <a:r>
              <a:rPr lang="en-US" altLang="en-US" i="1" dirty="0"/>
              <a:t>In other words, why do we have them?</a:t>
            </a:r>
          </a:p>
        </p:txBody>
      </p:sp>
    </p:spTree>
    <p:extLst>
      <p:ext uri="{BB962C8B-B14F-4D97-AF65-F5344CB8AC3E}">
        <p14:creationId xmlns:p14="http://schemas.microsoft.com/office/powerpoint/2010/main" val="4122117319"/>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1026"/>
          <p:cNvSpPr>
            <a:spLocks noGrp="1" noChangeArrowheads="1"/>
          </p:cNvSpPr>
          <p:nvPr>
            <p:ph type="title"/>
          </p:nvPr>
        </p:nvSpPr>
        <p:spPr bwMode="auto">
          <a:xfrm>
            <a:off x="365760" y="271578"/>
            <a:ext cx="13451840" cy="843308"/>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103632" tIns="51816" rIns="103632" bIns="51816" numCol="1" rtlCol="0" anchor="t" anchorCtr="0" compatLnSpc="1">
            <a:prstTxWarp prst="textNoShape">
              <a:avLst/>
            </a:prstTxWarp>
            <a:spAutoFit/>
          </a:bodyPr>
          <a:lstStyle/>
          <a:p>
            <a:r>
              <a:rPr lang="en-US" altLang="en-US" sz="4800" b="1" i="1" dirty="0">
                <a:latin typeface="Garamond" panose="02020404030301010803" pitchFamily="18" charset="0"/>
              </a:rPr>
              <a:t>The Role of Firms in Market-Based Economies</a:t>
            </a:r>
            <a:endParaRPr lang="en-US" altLang="en-US" sz="4533" b="1" i="1" dirty="0">
              <a:effectLst>
                <a:outerShdw blurRad="38100" dist="38100" dir="2700000" algn="tl">
                  <a:srgbClr val="000000"/>
                </a:outerShdw>
              </a:effectLst>
              <a:latin typeface="Garamond" panose="02020404030301010803" pitchFamily="18" charset="0"/>
            </a:endParaRPr>
          </a:p>
        </p:txBody>
      </p:sp>
      <p:sp>
        <p:nvSpPr>
          <p:cNvPr id="179203" name="Rectangle 1027"/>
          <p:cNvSpPr>
            <a:spLocks noGrp="1" noChangeArrowheads="1"/>
          </p:cNvSpPr>
          <p:nvPr>
            <p:ph type="body" idx="4294967295"/>
          </p:nvPr>
        </p:nvSpPr>
        <p:spPr bwMode="auto">
          <a:xfrm>
            <a:off x="772820" y="1261475"/>
            <a:ext cx="12271959" cy="524945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103632" tIns="51816" rIns="103632" bIns="51816" numCol="1" anchor="t" anchorCtr="0" compatLnSpc="1">
            <a:prstTxWarp prst="textNoShape">
              <a:avLst/>
            </a:prstTxWarp>
          </a:bodyPr>
          <a:lstStyle/>
          <a:p>
            <a:pPr>
              <a:lnSpc>
                <a:spcPct val="90000"/>
              </a:lnSpc>
              <a:buFontTx/>
              <a:buNone/>
            </a:pPr>
            <a:r>
              <a:rPr lang="en-US" altLang="en-US" sz="3600" dirty="0">
                <a:solidFill>
                  <a:srgbClr val="092529"/>
                </a:solidFill>
                <a:latin typeface="Garamond" panose="02020404030301010803" pitchFamily="18" charset="0"/>
                <a:ea typeface="+mn-ea"/>
                <a:cs typeface="+mn-cs"/>
              </a:rPr>
              <a:t>Firms exist to create value for consumers</a:t>
            </a:r>
          </a:p>
          <a:p>
            <a:pPr>
              <a:lnSpc>
                <a:spcPct val="90000"/>
              </a:lnSpc>
              <a:buFontTx/>
              <a:buNone/>
            </a:pPr>
            <a:r>
              <a:rPr lang="en-US" altLang="en-US" sz="3600" dirty="0">
                <a:solidFill>
                  <a:srgbClr val="092529"/>
                </a:solidFill>
                <a:latin typeface="Garamond" panose="02020404030301010803" pitchFamily="18" charset="0"/>
                <a:ea typeface="+mn-ea"/>
                <a:cs typeface="+mn-cs"/>
              </a:rPr>
              <a:t>	“Satisfy needs and wants”</a:t>
            </a:r>
          </a:p>
          <a:p>
            <a:pPr lvl="1">
              <a:lnSpc>
                <a:spcPct val="90000"/>
              </a:lnSpc>
              <a:buFont typeface="Arial Narrow Special G2" charset="0"/>
              <a:buNone/>
            </a:pPr>
            <a:endParaRPr lang="en-US" altLang="en-US" sz="1100" dirty="0">
              <a:solidFill>
                <a:srgbClr val="092529"/>
              </a:solidFill>
              <a:latin typeface="Garamond" panose="02020404030301010803" pitchFamily="18" charset="0"/>
              <a:ea typeface="+mn-ea"/>
              <a:cs typeface="+mn-cs"/>
            </a:endParaRPr>
          </a:p>
          <a:p>
            <a:pPr>
              <a:lnSpc>
                <a:spcPct val="90000"/>
              </a:lnSpc>
              <a:buFontTx/>
              <a:buNone/>
            </a:pPr>
            <a:r>
              <a:rPr lang="en-US" altLang="en-US" sz="3600" dirty="0">
                <a:solidFill>
                  <a:srgbClr val="092529"/>
                </a:solidFill>
                <a:latin typeface="Garamond" panose="02020404030301010803" pitchFamily="18" charset="0"/>
                <a:ea typeface="+mn-ea"/>
                <a:cs typeface="+mn-cs"/>
              </a:rPr>
              <a:t>Firms take activities out of the hands of market</a:t>
            </a:r>
          </a:p>
          <a:p>
            <a:pPr>
              <a:lnSpc>
                <a:spcPct val="90000"/>
              </a:lnSpc>
              <a:buFontTx/>
              <a:buNone/>
            </a:pPr>
            <a:r>
              <a:rPr lang="en-US" altLang="en-US" sz="3600" dirty="0">
                <a:solidFill>
                  <a:srgbClr val="092529"/>
                </a:solidFill>
                <a:latin typeface="Garamond" panose="02020404030301010803" pitchFamily="18" charset="0"/>
                <a:ea typeface="+mn-ea"/>
                <a:cs typeface="+mn-cs"/>
              </a:rPr>
              <a:t>	Into a hierarchical structure – “Markets vs. Hierarchies”</a:t>
            </a:r>
          </a:p>
          <a:p>
            <a:pPr lvl="1">
              <a:lnSpc>
                <a:spcPct val="90000"/>
              </a:lnSpc>
              <a:buFont typeface="Arial Narrow Special G2" charset="0"/>
              <a:buNone/>
            </a:pPr>
            <a:endParaRPr lang="en-US" altLang="en-US" sz="1100" dirty="0">
              <a:solidFill>
                <a:srgbClr val="092529"/>
              </a:solidFill>
              <a:latin typeface="Garamond" panose="02020404030301010803" pitchFamily="18" charset="0"/>
              <a:ea typeface="+mn-ea"/>
              <a:cs typeface="+mn-cs"/>
            </a:endParaRPr>
          </a:p>
          <a:p>
            <a:pPr>
              <a:lnSpc>
                <a:spcPct val="90000"/>
              </a:lnSpc>
              <a:buFontTx/>
              <a:buNone/>
            </a:pPr>
            <a:r>
              <a:rPr lang="en-US" altLang="en-US" sz="3600" dirty="0">
                <a:solidFill>
                  <a:srgbClr val="092529"/>
                </a:solidFill>
                <a:latin typeface="Garamond" panose="02020404030301010803" pitchFamily="18" charset="0"/>
                <a:ea typeface="+mn-ea"/>
                <a:cs typeface="+mn-cs"/>
              </a:rPr>
              <a:t>Markets exist at the boundaries of the firm	(for customers, suppliers, and capital)</a:t>
            </a:r>
          </a:p>
          <a:p>
            <a:pPr lvl="1">
              <a:lnSpc>
                <a:spcPct val="90000"/>
              </a:lnSpc>
              <a:buFontTx/>
              <a:buNone/>
            </a:pPr>
            <a:r>
              <a:rPr lang="en-US" altLang="en-US" sz="3600" dirty="0">
                <a:solidFill>
                  <a:srgbClr val="092529"/>
                </a:solidFill>
                <a:latin typeface="Garamond" panose="02020404030301010803" pitchFamily="18" charset="0"/>
                <a:ea typeface="+mn-ea"/>
                <a:cs typeface="+mn-cs"/>
              </a:rPr>
              <a:t>Markets discipline firms to create value, price competitively, and maximize profits.  To be efficient and effective…</a:t>
            </a:r>
          </a:p>
        </p:txBody>
      </p:sp>
    </p:spTree>
    <p:extLst>
      <p:ext uri="{BB962C8B-B14F-4D97-AF65-F5344CB8AC3E}">
        <p14:creationId xmlns:p14="http://schemas.microsoft.com/office/powerpoint/2010/main" val="2967612049"/>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6E287-EDF2-C2B9-3AE2-1A0D0A47BE00}"/>
            </a:ext>
          </a:extLst>
        </p:cNvPr>
        <p:cNvGrpSpPr/>
        <p:nvPr/>
      </p:nvGrpSpPr>
      <p:grpSpPr>
        <a:xfrm>
          <a:off x="0" y="0"/>
          <a:ext cx="0" cy="0"/>
          <a:chOff x="0" y="0"/>
          <a:chExt cx="0" cy="0"/>
        </a:xfrm>
      </p:grpSpPr>
      <p:sp>
        <p:nvSpPr>
          <p:cNvPr id="182274" name="Rectangle 2">
            <a:extLst>
              <a:ext uri="{FF2B5EF4-FFF2-40B4-BE49-F238E27FC236}">
                <a16:creationId xmlns:a16="http://schemas.microsoft.com/office/drawing/2014/main" id="{7DE7D46B-F5DA-02AE-7955-CBA1F669F161}"/>
              </a:ext>
            </a:extLst>
          </p:cNvPr>
          <p:cNvSpPr>
            <a:spLocks noGrp="1" noChangeArrowheads="1"/>
          </p:cNvSpPr>
          <p:nvPr>
            <p:ph type="title"/>
          </p:nvPr>
        </p:nvSpPr>
        <p:spPr bwMode="auto">
          <a:xfrm>
            <a:off x="1422400" y="559316"/>
            <a:ext cx="10972800" cy="1766637"/>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103632" tIns="51816" rIns="103632" bIns="51816" numCol="1" rtlCol="0" anchor="t" anchorCtr="0" compatLnSpc="1">
            <a:prstTxWarp prst="textNoShape">
              <a:avLst/>
            </a:prstTxWarp>
            <a:spAutoFit/>
          </a:bodyPr>
          <a:lstStyle/>
          <a:p>
            <a:pPr algn="ctr"/>
            <a:r>
              <a:rPr lang="en-US" altLang="en-US" i="1" dirty="0">
                <a:latin typeface="Garamond" panose="02020404030301010803" pitchFamily="18" charset="0"/>
              </a:rPr>
              <a:t>Top Management is ultimately responsible for the firm’s “performance”</a:t>
            </a:r>
          </a:p>
        </p:txBody>
      </p:sp>
    </p:spTree>
    <p:extLst>
      <p:ext uri="{BB962C8B-B14F-4D97-AF65-F5344CB8AC3E}">
        <p14:creationId xmlns:p14="http://schemas.microsoft.com/office/powerpoint/2010/main" val="4005603817"/>
      </p:ext>
    </p:extLst>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p:cNvSpPr>
            <a:spLocks noGrp="1" noChangeArrowheads="1"/>
          </p:cNvSpPr>
          <p:nvPr>
            <p:ph type="title"/>
          </p:nvPr>
        </p:nvSpPr>
        <p:spPr bwMode="auto">
          <a:xfrm>
            <a:off x="1417175" y="307068"/>
            <a:ext cx="10972800" cy="1766637"/>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103632" tIns="51816" rIns="103632" bIns="51816" numCol="1" rtlCol="0" anchor="t" anchorCtr="0" compatLnSpc="1">
            <a:prstTxWarp prst="textNoShape">
              <a:avLst/>
            </a:prstTxWarp>
            <a:spAutoFit/>
          </a:bodyPr>
          <a:lstStyle/>
          <a:p>
            <a:pPr algn="ctr"/>
            <a:r>
              <a:rPr lang="en-US" altLang="en-US" i="1" dirty="0">
                <a:latin typeface="Garamond" panose="02020404030301010803" pitchFamily="18" charset="0"/>
              </a:rPr>
              <a:t>Top Management is ultimately responsible for the firm’s “performance”</a:t>
            </a:r>
          </a:p>
        </p:txBody>
      </p:sp>
      <p:sp>
        <p:nvSpPr>
          <p:cNvPr id="182275" name="Rectangle 3"/>
          <p:cNvSpPr>
            <a:spLocks noGrp="1" noChangeArrowheads="1"/>
          </p:cNvSpPr>
          <p:nvPr>
            <p:ph type="body" idx="4294967295"/>
          </p:nvPr>
        </p:nvSpPr>
        <p:spPr bwMode="auto">
          <a:xfrm>
            <a:off x="1131674" y="2200667"/>
            <a:ext cx="11543802" cy="4435381"/>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103632" tIns="51816" rIns="103632" bIns="51816" numCol="1" anchor="t" anchorCtr="0" compatLnSpc="1">
            <a:prstTxWarp prst="textNoShape">
              <a:avLst/>
            </a:prstTxWarp>
          </a:bodyPr>
          <a:lstStyle/>
          <a:p>
            <a:pPr marL="690860" indent="-690860">
              <a:buNone/>
            </a:pPr>
            <a:r>
              <a:rPr lang="en-US" altLang="en-US" sz="4000" i="1" dirty="0">
                <a:solidFill>
                  <a:srgbClr val="092529"/>
                </a:solidFill>
                <a:latin typeface="Garamond" panose="02020404030301010803" pitchFamily="18" charset="0"/>
              </a:rPr>
              <a:t>Maximize profit?</a:t>
            </a:r>
            <a:endParaRPr lang="en-US" altLang="en-US" sz="4000" i="1" dirty="0">
              <a:solidFill>
                <a:srgbClr val="092529"/>
              </a:solidFill>
              <a:latin typeface="Garamond" panose="02020404030301010803" pitchFamily="18" charset="0"/>
              <a:ea typeface="+mn-ea"/>
              <a:cs typeface="+mn-cs"/>
            </a:endParaRPr>
          </a:p>
          <a:p>
            <a:pPr marL="690860" indent="-690860">
              <a:spcAft>
                <a:spcPts val="0"/>
              </a:spcAft>
              <a:buNone/>
            </a:pPr>
            <a:r>
              <a:rPr lang="en-US" altLang="en-US" sz="4000" i="1" dirty="0">
                <a:solidFill>
                  <a:srgbClr val="092529"/>
                </a:solidFill>
                <a:latin typeface="Garamond" panose="02020404030301010803" pitchFamily="18" charset="0"/>
                <a:ea typeface="+mn-ea"/>
                <a:cs typeface="+mn-cs"/>
              </a:rPr>
              <a:t>	</a:t>
            </a:r>
            <a:r>
              <a:rPr lang="en-US" altLang="en-US" sz="3600" i="1" dirty="0">
                <a:solidFill>
                  <a:srgbClr val="092529"/>
                </a:solidFill>
                <a:latin typeface="Garamond" panose="02020404030301010803" pitchFamily="18" charset="0"/>
                <a:ea typeface="+mn-ea"/>
                <a:cs typeface="+mn-cs"/>
              </a:rPr>
              <a:t>Subject to constraints of</a:t>
            </a:r>
          </a:p>
          <a:p>
            <a:pPr marL="1122647" lvl="1" indent="-604502">
              <a:spcAft>
                <a:spcPts val="0"/>
              </a:spcAft>
              <a:buNone/>
            </a:pPr>
            <a:r>
              <a:rPr lang="en-US" altLang="en-US" sz="3600" dirty="0">
                <a:solidFill>
                  <a:srgbClr val="092529"/>
                </a:solidFill>
                <a:latin typeface="Garamond" panose="02020404030301010803" pitchFamily="18" charset="0"/>
                <a:ea typeface="+mn-ea"/>
                <a:cs typeface="+mn-cs"/>
              </a:rPr>
              <a:t>		1. Legal system</a:t>
            </a:r>
          </a:p>
          <a:p>
            <a:pPr marL="1122647" lvl="1" indent="-604502">
              <a:spcAft>
                <a:spcPts val="0"/>
              </a:spcAft>
              <a:buNone/>
            </a:pPr>
            <a:r>
              <a:rPr lang="en-US" altLang="en-US" sz="3600" dirty="0">
                <a:solidFill>
                  <a:srgbClr val="092529"/>
                </a:solidFill>
                <a:latin typeface="Garamond" panose="02020404030301010803" pitchFamily="18" charset="0"/>
                <a:ea typeface="+mn-ea"/>
                <a:cs typeface="+mn-cs"/>
              </a:rPr>
              <a:t>		2. Pressures from constituencies</a:t>
            </a:r>
          </a:p>
          <a:p>
            <a:pPr marL="1122647" lvl="1" indent="-604502">
              <a:buNone/>
            </a:pPr>
            <a:endParaRPr lang="en-US" altLang="en-US" sz="3600" dirty="0">
              <a:solidFill>
                <a:srgbClr val="092529"/>
              </a:solidFill>
              <a:latin typeface="Garamond" panose="02020404030301010803" pitchFamily="18" charset="0"/>
              <a:ea typeface="+mn-ea"/>
              <a:cs typeface="+mn-cs"/>
            </a:endParaRPr>
          </a:p>
          <a:p>
            <a:pPr marL="1122647" lvl="1" indent="-604502">
              <a:buNone/>
            </a:pPr>
            <a:r>
              <a:rPr lang="en-US" altLang="en-US" sz="3600" i="1" dirty="0">
                <a:solidFill>
                  <a:srgbClr val="092529"/>
                </a:solidFill>
                <a:latin typeface="Garamond" panose="02020404030301010803" pitchFamily="18" charset="0"/>
                <a:ea typeface="+mn-ea"/>
                <a:cs typeface="+mn-cs"/>
              </a:rPr>
              <a:t>Determined by the goals/mission of the organization, but…</a:t>
            </a:r>
          </a:p>
        </p:txBody>
      </p:sp>
    </p:spTree>
    <p:extLst>
      <p:ext uri="{BB962C8B-B14F-4D97-AF65-F5344CB8AC3E}">
        <p14:creationId xmlns:p14="http://schemas.microsoft.com/office/powerpoint/2010/main" val="990742383"/>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D45562-8462-3A4C-81D7-F4C82A1CE2C1}"/>
              </a:ext>
            </a:extLst>
          </p:cNvPr>
          <p:cNvSpPr txBox="1"/>
          <p:nvPr/>
        </p:nvSpPr>
        <p:spPr>
          <a:xfrm>
            <a:off x="763930" y="1469986"/>
            <a:ext cx="11875624" cy="4031873"/>
          </a:xfrm>
          <a:prstGeom prst="rect">
            <a:avLst/>
          </a:prstGeom>
          <a:noFill/>
        </p:spPr>
        <p:txBody>
          <a:bodyPr wrap="square" rtlCol="0">
            <a:spAutoFit/>
          </a:bodyPr>
          <a:lstStyle/>
          <a:p>
            <a:r>
              <a:rPr lang="en-US" sz="2800" dirty="0">
                <a:solidFill>
                  <a:schemeClr val="tx1">
                    <a:lumMod val="50000"/>
                  </a:schemeClr>
                </a:solidFill>
                <a:hlinkClick r:id="rId3"/>
              </a:rPr>
              <a:t>Friedman on Donahue Discussing Free Market/Capitalism </a:t>
            </a:r>
            <a:r>
              <a:rPr lang="en-US" sz="2800" dirty="0">
                <a:solidFill>
                  <a:schemeClr val="tx1">
                    <a:lumMod val="50000"/>
                  </a:schemeClr>
                </a:solidFill>
              </a:rPr>
              <a:t>(3 minutes)</a:t>
            </a:r>
            <a:br>
              <a:rPr lang="en-US" dirty="0"/>
            </a:br>
            <a:endParaRPr lang="en-US" dirty="0"/>
          </a:p>
          <a:p>
            <a:endParaRPr lang="en-US" dirty="0"/>
          </a:p>
          <a:p>
            <a:r>
              <a:rPr lang="en-US" sz="2800" dirty="0">
                <a:solidFill>
                  <a:schemeClr val="tx1">
                    <a:lumMod val="50000"/>
                  </a:schemeClr>
                </a:solidFill>
                <a:hlinkClick r:id="rId4"/>
              </a:rPr>
              <a:t>Freeman summarizing Stakeholder Theory </a:t>
            </a:r>
            <a:r>
              <a:rPr lang="en-US" sz="2800" dirty="0">
                <a:solidFill>
                  <a:schemeClr val="tx1">
                    <a:lumMod val="50000"/>
                  </a:schemeClr>
                </a:solidFill>
              </a:rPr>
              <a:t>(3 minutes)</a:t>
            </a:r>
            <a:br>
              <a:rPr lang="en-US" dirty="0"/>
            </a:br>
            <a:endParaRPr lang="en-US" dirty="0"/>
          </a:p>
          <a:p>
            <a:endParaRPr lang="en-US" dirty="0"/>
          </a:p>
          <a:p>
            <a:endParaRPr lang="en-US" dirty="0"/>
          </a:p>
          <a:p>
            <a:endParaRPr lang="en-US" dirty="0"/>
          </a:p>
          <a:p>
            <a:endParaRPr lang="en-US" dirty="0"/>
          </a:p>
          <a:p>
            <a:br>
              <a:rPr lang="en-US" dirty="0"/>
            </a:br>
            <a:br>
              <a:rPr lang="en-US" dirty="0"/>
            </a:br>
            <a:endParaRPr lang="en-US" dirty="0"/>
          </a:p>
        </p:txBody>
      </p:sp>
      <p:sp>
        <p:nvSpPr>
          <p:cNvPr id="4" name="Rectangle 3">
            <a:extLst>
              <a:ext uri="{FF2B5EF4-FFF2-40B4-BE49-F238E27FC236}">
                <a16:creationId xmlns:a16="http://schemas.microsoft.com/office/drawing/2014/main" id="{8823AD1B-4CDC-A84B-AA31-B705B902CDDA}"/>
              </a:ext>
            </a:extLst>
          </p:cNvPr>
          <p:cNvSpPr/>
          <p:nvPr/>
        </p:nvSpPr>
        <p:spPr>
          <a:xfrm>
            <a:off x="1536218" y="4267522"/>
            <a:ext cx="9876420" cy="2923877"/>
          </a:xfrm>
          <a:prstGeom prst="rect">
            <a:avLst/>
          </a:prstGeom>
        </p:spPr>
        <p:txBody>
          <a:bodyPr wrap="square">
            <a:spAutoFit/>
          </a:bodyPr>
          <a:lstStyle/>
          <a:p>
            <a:pPr algn="ctr"/>
            <a:r>
              <a:rPr lang="en-US" sz="3200" i="1" dirty="0">
                <a:solidFill>
                  <a:schemeClr val="tx1">
                    <a:lumMod val="50000"/>
                  </a:schemeClr>
                </a:solidFill>
                <a:latin typeface="Garamond" panose="02020404030301010803" pitchFamily="18" charset="0"/>
              </a:rPr>
              <a:t>“There is one and only one social responsibility of business–to use it resources and engage in activities designed to increase its profits so long as it stays within the rules of the game, which is to say, engages in open and free competition without deception or fraud”</a:t>
            </a:r>
          </a:p>
          <a:p>
            <a:br>
              <a:rPr lang="en-US" sz="2800" dirty="0">
                <a:solidFill>
                  <a:schemeClr val="tx1">
                    <a:lumMod val="50000"/>
                  </a:schemeClr>
                </a:solidFill>
                <a:latin typeface="Garamond" panose="02020404030301010803" pitchFamily="18" charset="0"/>
              </a:rPr>
            </a:br>
            <a:r>
              <a:rPr lang="en-US" sz="2800" dirty="0">
                <a:solidFill>
                  <a:schemeClr val="tx1">
                    <a:lumMod val="50000"/>
                  </a:schemeClr>
                </a:solidFill>
                <a:latin typeface="Garamond" panose="02020404030301010803" pitchFamily="18" charset="0"/>
              </a:rPr>
              <a:t>				 							</a:t>
            </a:r>
            <a:r>
              <a:rPr lang="en-US" sz="2800" b="1" u="sng" dirty="0">
                <a:solidFill>
                  <a:schemeClr val="tx1">
                    <a:lumMod val="50000"/>
                  </a:schemeClr>
                </a:solidFill>
                <a:latin typeface="Garamond" panose="02020404030301010803" pitchFamily="18" charset="0"/>
                <a:hlinkClick r:id="rId5">
                  <a:extLst>
                    <a:ext uri="{A12FA001-AC4F-418D-AE19-62706E023703}">
                      <ahyp:hlinkClr xmlns:ahyp="http://schemas.microsoft.com/office/drawing/2018/hyperlinkcolor" val="tx"/>
                    </a:ext>
                  </a:extLst>
                </a:hlinkClick>
              </a:rPr>
              <a:t>Milton Friedman</a:t>
            </a:r>
            <a:endParaRPr lang="en-US" sz="2800" u="sng" dirty="0">
              <a:solidFill>
                <a:schemeClr val="tx1">
                  <a:lumMod val="50000"/>
                </a:schemeClr>
              </a:solidFill>
              <a:latin typeface="Garamond" panose="02020404030301010803" pitchFamily="18" charset="0"/>
            </a:endParaRPr>
          </a:p>
        </p:txBody>
      </p:sp>
    </p:spTree>
    <p:extLst>
      <p:ext uri="{BB962C8B-B14F-4D97-AF65-F5344CB8AC3E}">
        <p14:creationId xmlns:p14="http://schemas.microsoft.com/office/powerpoint/2010/main" val="23538854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5" name="Rectangle 5"/>
          <p:cNvSpPr>
            <a:spLocks noChangeArrowheads="1"/>
          </p:cNvSpPr>
          <p:nvPr/>
        </p:nvSpPr>
        <p:spPr bwMode="auto">
          <a:xfrm>
            <a:off x="1553827" y="464185"/>
            <a:ext cx="3831244" cy="782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17961" dir="2700000" algn="ctr" rotWithShape="0">
                    <a:schemeClr val="bg2">
                      <a:alpha val="74998"/>
                    </a:schemeClr>
                  </a:outerShdw>
                </a:effectLst>
              </a14:hiddenEffects>
            </a:ext>
          </a:extLst>
        </p:spPr>
        <p:txBody>
          <a:bodyPr lIns="102553" tIns="50377" rIns="102553" bIns="50377" anchor="ctr"/>
          <a:lstStyle/>
          <a:p>
            <a:r>
              <a:rPr lang="en-US" altLang="en-US" sz="3627" b="1" dirty="0">
                <a:solidFill>
                  <a:schemeClr val="tx2"/>
                </a:solidFill>
                <a:effectLst>
                  <a:outerShdw blurRad="38100" dist="38100" dir="2700000" algn="tl">
                    <a:srgbClr val="000000"/>
                  </a:outerShdw>
                </a:effectLst>
              </a:rPr>
              <a:t>Stakeholders:</a:t>
            </a:r>
          </a:p>
        </p:txBody>
      </p:sp>
      <p:sp>
        <p:nvSpPr>
          <p:cNvPr id="122888" name="Rectangle 8"/>
          <p:cNvSpPr>
            <a:spLocks noChangeArrowheads="1"/>
          </p:cNvSpPr>
          <p:nvPr/>
        </p:nvSpPr>
        <p:spPr bwMode="auto">
          <a:xfrm>
            <a:off x="5286608" y="422804"/>
            <a:ext cx="6683905" cy="10437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17961" dir="2700000" algn="ctr" rotWithShape="0">
                    <a:schemeClr val="bg2">
                      <a:alpha val="74998"/>
                    </a:schemeClr>
                  </a:outerShdw>
                </a:effectLst>
              </a14:hiddenEffects>
            </a:ext>
          </a:extLst>
        </p:spPr>
        <p:txBody>
          <a:bodyPr lIns="102553" tIns="50377" rIns="102553" bIns="50377">
            <a:spAutoFit/>
          </a:bodyPr>
          <a:lstStyle/>
          <a:p>
            <a:pPr>
              <a:lnSpc>
                <a:spcPct val="90000"/>
              </a:lnSpc>
            </a:pPr>
            <a:r>
              <a:rPr lang="en-US" altLang="en-US" sz="2267" b="1" dirty="0">
                <a:effectLst>
                  <a:outerShdw blurRad="38100" dist="38100" dir="2700000" algn="tl">
                    <a:srgbClr val="000000"/>
                  </a:outerShdw>
                </a:effectLst>
              </a:rPr>
              <a:t>Groups who are affected by a firm’s performance and who have claims on its wealth</a:t>
            </a:r>
          </a:p>
        </p:txBody>
      </p:sp>
      <p:sp>
        <p:nvSpPr>
          <p:cNvPr id="122901" name="Rectangle 21"/>
          <p:cNvSpPr>
            <a:spLocks noChangeArrowheads="1"/>
          </p:cNvSpPr>
          <p:nvPr/>
        </p:nvSpPr>
        <p:spPr bwMode="auto">
          <a:xfrm>
            <a:off x="1464063" y="1494657"/>
            <a:ext cx="10506449" cy="729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2553" tIns="50377" rIns="102553" bIns="50377">
            <a:spAutoFit/>
          </a:bodyPr>
          <a:lstStyle/>
          <a:p>
            <a:pPr algn="ctr">
              <a:lnSpc>
                <a:spcPct val="90000"/>
              </a:lnSpc>
            </a:pPr>
            <a:r>
              <a:rPr lang="en-US" altLang="en-US" sz="2267" dirty="0">
                <a:effectLst>
                  <a:outerShdw blurRad="38100" dist="38100" dir="2700000" algn="tl">
                    <a:srgbClr val="000000"/>
                  </a:outerShdw>
                </a:effectLst>
              </a:rPr>
              <a:t>The firm must maintain performance at an adequate level in order to</a:t>
            </a:r>
          </a:p>
          <a:p>
            <a:pPr algn="ctr">
              <a:lnSpc>
                <a:spcPct val="90000"/>
              </a:lnSpc>
            </a:pPr>
            <a:r>
              <a:rPr lang="en-US" altLang="en-US" sz="2267" dirty="0">
                <a:effectLst>
                  <a:outerShdw blurRad="38100" dist="38100" dir="2700000" algn="tl">
                    <a:srgbClr val="000000"/>
                  </a:outerShdw>
                </a:effectLst>
              </a:rPr>
              <a:t>maintain the participation of key stakeholders</a:t>
            </a:r>
          </a:p>
        </p:txBody>
      </p:sp>
      <p:grpSp>
        <p:nvGrpSpPr>
          <p:cNvPr id="122911" name="Group 31"/>
          <p:cNvGrpSpPr>
            <a:grpSpLocks/>
          </p:cNvGrpSpPr>
          <p:nvPr/>
        </p:nvGrpSpPr>
        <p:grpSpPr bwMode="auto">
          <a:xfrm>
            <a:off x="7647115" y="4992370"/>
            <a:ext cx="3720677" cy="2536825"/>
            <a:chOff x="3453" y="2566"/>
            <a:chExt cx="2068" cy="1410"/>
          </a:xfrm>
        </p:grpSpPr>
        <p:sp>
          <p:nvSpPr>
            <p:cNvPr id="122891" name="Oval 11"/>
            <p:cNvSpPr>
              <a:spLocks noChangeArrowheads="1"/>
            </p:cNvSpPr>
            <p:nvPr/>
          </p:nvSpPr>
          <p:spPr bwMode="auto">
            <a:xfrm>
              <a:off x="3705" y="2767"/>
              <a:ext cx="1816" cy="472"/>
            </a:xfrm>
            <a:prstGeom prst="ellipse">
              <a:avLst/>
            </a:prstGeom>
            <a:solidFill>
              <a:schemeClr val="accent2"/>
            </a:solidFill>
            <a:ln>
              <a:noFill/>
            </a:ln>
            <a:effectLst>
              <a:outerShdw blurRad="63500" dist="53882" dir="2700000" algn="ctr" rotWithShape="0">
                <a:schemeClr val="bg2">
                  <a:alpha val="74998"/>
                </a:schemeClr>
              </a:outerShdw>
            </a:effectLst>
            <a:extLst>
              <a:ext uri="{91240B29-F687-4F45-9708-019B960494DF}">
                <a14:hiddenLine xmlns:a14="http://schemas.microsoft.com/office/drawing/2010/main" w="12700">
                  <a:solidFill>
                    <a:schemeClr val="tx1"/>
                  </a:solidFill>
                  <a:round/>
                  <a:headEnd/>
                  <a:tailEnd/>
                </a14:hiddenLine>
              </a:ext>
            </a:extLst>
          </p:spPr>
          <p:txBody>
            <a:bodyPr wrap="none" anchor="ctr"/>
            <a:lstStyle/>
            <a:p>
              <a:endParaRPr lang="en-US" sz="2267"/>
            </a:p>
          </p:txBody>
        </p:sp>
        <p:sp>
          <p:nvSpPr>
            <p:cNvPr id="122892" name="Rectangle 12"/>
            <p:cNvSpPr>
              <a:spLocks noChangeArrowheads="1"/>
            </p:cNvSpPr>
            <p:nvPr/>
          </p:nvSpPr>
          <p:spPr bwMode="auto">
            <a:xfrm>
              <a:off x="3959" y="2880"/>
              <a:ext cx="1294" cy="262"/>
            </a:xfrm>
            <a:prstGeom prst="rect">
              <a:avLst/>
            </a:prstGeom>
            <a:noFill/>
            <a:ln>
              <a:noFill/>
            </a:ln>
            <a:effectLst>
              <a:outerShdw blurRad="63500" dist="17961"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102553" tIns="50377" rIns="102553" bIns="50377">
              <a:spAutoFit/>
            </a:bodyPr>
            <a:lstStyle/>
            <a:p>
              <a:r>
                <a:rPr lang="en-US" altLang="en-US" sz="2400" b="1" dirty="0">
                  <a:solidFill>
                    <a:srgbClr val="59595B"/>
                  </a:solidFill>
                  <a:latin typeface="Book Antiqua" panose="02040602050305030304" pitchFamily="18" charset="0"/>
                </a:rPr>
                <a:t>Organizational</a:t>
              </a:r>
            </a:p>
          </p:txBody>
        </p:sp>
        <p:sp>
          <p:nvSpPr>
            <p:cNvPr id="122899" name="Rectangle 19"/>
            <p:cNvSpPr>
              <a:spLocks noChangeArrowheads="1"/>
            </p:cNvSpPr>
            <p:nvPr/>
          </p:nvSpPr>
          <p:spPr bwMode="auto">
            <a:xfrm>
              <a:off x="4061" y="3338"/>
              <a:ext cx="1220" cy="638"/>
            </a:xfrm>
            <a:prstGeom prst="rect">
              <a:avLst/>
            </a:prstGeom>
            <a:noFill/>
            <a:ln>
              <a:noFill/>
            </a:ln>
            <a:effectLst>
              <a:outerShdw blurRad="63500" dist="17961"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102553" tIns="50377" rIns="102553" bIns="50377">
              <a:spAutoFit/>
            </a:bodyPr>
            <a:lstStyle/>
            <a:p>
              <a:r>
                <a:rPr lang="en-US" altLang="en-US" sz="2267" b="1">
                  <a:effectLst>
                    <a:outerShdw blurRad="38100" dist="38100" dir="2700000" algn="tl">
                      <a:srgbClr val="000000"/>
                    </a:outerShdw>
                  </a:effectLst>
                  <a:latin typeface="Book Antiqua" charset="0"/>
                </a:rPr>
                <a:t>Employees</a:t>
              </a:r>
            </a:p>
            <a:p>
              <a:r>
                <a:rPr lang="en-US" altLang="en-US" sz="2267" b="1">
                  <a:effectLst>
                    <a:outerShdw blurRad="38100" dist="38100" dir="2700000" algn="tl">
                      <a:srgbClr val="000000"/>
                    </a:outerShdw>
                  </a:effectLst>
                  <a:latin typeface="Book Antiqua" charset="0"/>
                </a:rPr>
                <a:t>Managers</a:t>
              </a:r>
            </a:p>
            <a:p>
              <a:r>
                <a:rPr lang="en-US" altLang="en-US" sz="2267" b="1">
                  <a:effectLst>
                    <a:outerShdw blurRad="38100" dist="38100" dir="2700000" algn="tl">
                      <a:srgbClr val="000000"/>
                    </a:outerShdw>
                  </a:effectLst>
                  <a:latin typeface="Book Antiqua" charset="0"/>
                </a:rPr>
                <a:t>Non-Managers</a:t>
              </a:r>
            </a:p>
          </p:txBody>
        </p:sp>
        <p:sp>
          <p:nvSpPr>
            <p:cNvPr id="122902" name="AutoShape 22"/>
            <p:cNvSpPr>
              <a:spLocks noChangeArrowheads="1"/>
            </p:cNvSpPr>
            <p:nvPr/>
          </p:nvSpPr>
          <p:spPr bwMode="auto">
            <a:xfrm rot="2220000" flipH="1">
              <a:off x="3453" y="2566"/>
              <a:ext cx="280" cy="232"/>
            </a:xfrm>
            <a:prstGeom prst="rightArrow">
              <a:avLst>
                <a:gd name="adj1" fmla="val 50000"/>
                <a:gd name="adj2" fmla="val 60384"/>
              </a:avLst>
            </a:prstGeom>
            <a:solidFill>
              <a:schemeClr val="hlink"/>
            </a:solidFill>
            <a:ln>
              <a:noFill/>
            </a:ln>
            <a:effectLst>
              <a:outerShdw blurRad="63500" dist="53882" dir="2700000" algn="ctr" rotWithShape="0">
                <a:schemeClr val="bg2">
                  <a:alpha val="74998"/>
                </a:schemeClr>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endParaRPr lang="en-US" sz="2267"/>
            </a:p>
          </p:txBody>
        </p:sp>
      </p:grpSp>
      <p:grpSp>
        <p:nvGrpSpPr>
          <p:cNvPr id="122914" name="Group 34"/>
          <p:cNvGrpSpPr>
            <a:grpSpLocks/>
          </p:cNvGrpSpPr>
          <p:nvPr/>
        </p:nvGrpSpPr>
        <p:grpSpPr bwMode="auto">
          <a:xfrm>
            <a:off x="5792175" y="3529648"/>
            <a:ext cx="1817159" cy="1540087"/>
            <a:chOff x="2422" y="1753"/>
            <a:chExt cx="1010" cy="856"/>
          </a:xfrm>
        </p:grpSpPr>
        <p:sp>
          <p:nvSpPr>
            <p:cNvPr id="122886" name="Oval 6"/>
            <p:cNvSpPr>
              <a:spLocks noChangeArrowheads="1"/>
            </p:cNvSpPr>
            <p:nvPr/>
          </p:nvSpPr>
          <p:spPr bwMode="auto">
            <a:xfrm>
              <a:off x="2422" y="1753"/>
              <a:ext cx="1010" cy="856"/>
            </a:xfrm>
            <a:prstGeom prst="ellipse">
              <a:avLst/>
            </a:prstGeom>
            <a:solidFill>
              <a:schemeClr val="accent2"/>
            </a:solidFill>
            <a:ln>
              <a:noFill/>
            </a:ln>
            <a:effectLst>
              <a:outerShdw blurRad="63500" dist="53882" dir="2700000" algn="ctr" rotWithShape="0">
                <a:schemeClr val="bg2">
                  <a:alpha val="74998"/>
                </a:schemeClr>
              </a:outerShdw>
            </a:effectLst>
            <a:extLst>
              <a:ext uri="{91240B29-F687-4F45-9708-019B960494DF}">
                <a14:hiddenLine xmlns:a14="http://schemas.microsoft.com/office/drawing/2010/main" w="12700">
                  <a:solidFill>
                    <a:schemeClr val="tx1"/>
                  </a:solidFill>
                  <a:round/>
                  <a:headEnd/>
                  <a:tailEnd/>
                </a14:hiddenLine>
              </a:ext>
            </a:extLst>
          </p:spPr>
          <p:txBody>
            <a:bodyPr wrap="none" anchor="ctr"/>
            <a:lstStyle/>
            <a:p>
              <a:endParaRPr lang="en-US" sz="2267"/>
            </a:p>
          </p:txBody>
        </p:sp>
        <p:sp>
          <p:nvSpPr>
            <p:cNvPr id="122887" name="Rectangle 7"/>
            <p:cNvSpPr>
              <a:spLocks noChangeArrowheads="1"/>
            </p:cNvSpPr>
            <p:nvPr/>
          </p:nvSpPr>
          <p:spPr bwMode="auto">
            <a:xfrm>
              <a:off x="2530" y="1961"/>
              <a:ext cx="815" cy="444"/>
            </a:xfrm>
            <a:prstGeom prst="rect">
              <a:avLst/>
            </a:prstGeom>
            <a:noFill/>
            <a:ln>
              <a:noFill/>
            </a:ln>
            <a:effectLst>
              <a:outerShdw blurRad="63500" dist="17961"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102553" tIns="50377" rIns="102553" bIns="50377">
              <a:spAutoFit/>
            </a:bodyPr>
            <a:lstStyle/>
            <a:p>
              <a:r>
                <a:rPr lang="en-US" altLang="en-US" sz="4533" b="1">
                  <a:effectLst>
                    <a:outerShdw blurRad="38100" dist="38100" dir="2700000" algn="tl">
                      <a:srgbClr val="000000"/>
                    </a:outerShdw>
                  </a:effectLst>
                  <a:latin typeface="Book Antiqua" charset="0"/>
                </a:rPr>
                <a:t>Firm</a:t>
              </a:r>
            </a:p>
          </p:txBody>
        </p:sp>
      </p:grpSp>
      <p:sp>
        <p:nvSpPr>
          <p:cNvPr id="122893" name="Oval 13"/>
          <p:cNvSpPr>
            <a:spLocks noChangeArrowheads="1"/>
          </p:cNvSpPr>
          <p:nvPr/>
        </p:nvSpPr>
        <p:spPr bwMode="auto">
          <a:xfrm>
            <a:off x="8345192" y="2725420"/>
            <a:ext cx="3267287" cy="849207"/>
          </a:xfrm>
          <a:prstGeom prst="ellipse">
            <a:avLst/>
          </a:prstGeom>
          <a:solidFill>
            <a:schemeClr val="accent2"/>
          </a:solidFill>
          <a:ln>
            <a:noFill/>
          </a:ln>
          <a:effectLst>
            <a:outerShdw blurRad="63500" dist="53882" dir="2700000" algn="ctr" rotWithShape="0">
              <a:schemeClr val="bg2">
                <a:alpha val="74998"/>
              </a:schemeClr>
            </a:outerShdw>
          </a:effectLst>
          <a:extLst>
            <a:ext uri="{91240B29-F687-4F45-9708-019B960494DF}">
              <a14:hiddenLine xmlns:a14="http://schemas.microsoft.com/office/drawing/2010/main" w="12700">
                <a:solidFill>
                  <a:schemeClr val="tx1"/>
                </a:solidFill>
                <a:round/>
                <a:headEnd/>
                <a:tailEnd/>
              </a14:hiddenLine>
            </a:ext>
          </a:extLst>
        </p:spPr>
        <p:txBody>
          <a:bodyPr wrap="none" anchor="ctr"/>
          <a:lstStyle/>
          <a:p>
            <a:endParaRPr lang="en-US" sz="2267"/>
          </a:p>
        </p:txBody>
      </p:sp>
      <p:sp>
        <p:nvSpPr>
          <p:cNvPr id="122894" name="Rectangle 14"/>
          <p:cNvSpPr>
            <a:spLocks noChangeArrowheads="1"/>
          </p:cNvSpPr>
          <p:nvPr/>
        </p:nvSpPr>
        <p:spPr bwMode="auto">
          <a:xfrm>
            <a:off x="8823999" y="2928802"/>
            <a:ext cx="2335897" cy="471070"/>
          </a:xfrm>
          <a:prstGeom prst="rect">
            <a:avLst/>
          </a:prstGeom>
          <a:noFill/>
          <a:ln>
            <a:noFill/>
          </a:ln>
          <a:effectLst>
            <a:outerShdw blurRad="63500" dist="17961"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102553" tIns="50377" rIns="102553" bIns="50377">
            <a:spAutoFit/>
          </a:bodyPr>
          <a:lstStyle/>
          <a:p>
            <a:r>
              <a:rPr lang="en-US" altLang="en-US" sz="2400" b="1" dirty="0">
                <a:solidFill>
                  <a:srgbClr val="59595B"/>
                </a:solidFill>
                <a:latin typeface="Book Antiqua" panose="02040602050305030304" pitchFamily="18" charset="0"/>
              </a:rPr>
              <a:t>Capital Market</a:t>
            </a:r>
          </a:p>
        </p:txBody>
      </p:sp>
      <p:grpSp>
        <p:nvGrpSpPr>
          <p:cNvPr id="122897" name="Group 17"/>
          <p:cNvGrpSpPr>
            <a:grpSpLocks/>
          </p:cNvGrpSpPr>
          <p:nvPr/>
        </p:nvGrpSpPr>
        <p:grpSpPr bwMode="auto">
          <a:xfrm>
            <a:off x="8516113" y="3938059"/>
            <a:ext cx="3274484" cy="879793"/>
            <a:chOff x="3936" y="1980"/>
            <a:chExt cx="1820" cy="489"/>
          </a:xfrm>
        </p:grpSpPr>
        <p:sp>
          <p:nvSpPr>
            <p:cNvPr id="122895" name="Rectangle 15"/>
            <p:cNvSpPr>
              <a:spLocks noChangeArrowheads="1"/>
            </p:cNvSpPr>
            <p:nvPr/>
          </p:nvSpPr>
          <p:spPr bwMode="auto">
            <a:xfrm>
              <a:off x="3936" y="1980"/>
              <a:ext cx="1820" cy="250"/>
            </a:xfrm>
            <a:prstGeom prst="rect">
              <a:avLst/>
            </a:prstGeom>
            <a:noFill/>
            <a:ln>
              <a:noFill/>
            </a:ln>
            <a:effectLst>
              <a:outerShdw blurRad="63500" dist="17961"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102553" tIns="50377" rIns="102553" bIns="50377">
              <a:spAutoFit/>
            </a:bodyPr>
            <a:lstStyle/>
            <a:p>
              <a:r>
                <a:rPr lang="en-US" altLang="en-US" sz="2267" b="1">
                  <a:effectLst>
                    <a:outerShdw blurRad="38100" dist="38100" dir="2700000" algn="tl">
                      <a:srgbClr val="000000"/>
                    </a:outerShdw>
                  </a:effectLst>
                  <a:latin typeface="Book Antiqua" charset="0"/>
                </a:rPr>
                <a:t>Stock market/Investors</a:t>
              </a:r>
            </a:p>
          </p:txBody>
        </p:sp>
        <p:sp>
          <p:nvSpPr>
            <p:cNvPr id="122896" name="Rectangle 16"/>
            <p:cNvSpPr>
              <a:spLocks noChangeArrowheads="1"/>
            </p:cNvSpPr>
            <p:nvPr/>
          </p:nvSpPr>
          <p:spPr bwMode="auto">
            <a:xfrm>
              <a:off x="3936" y="2219"/>
              <a:ext cx="1720" cy="250"/>
            </a:xfrm>
            <a:prstGeom prst="rect">
              <a:avLst/>
            </a:prstGeom>
            <a:noFill/>
            <a:ln>
              <a:noFill/>
            </a:ln>
            <a:effectLst>
              <a:outerShdw blurRad="63500" dist="17961"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102553" tIns="50377" rIns="102553" bIns="50377">
              <a:spAutoFit/>
            </a:bodyPr>
            <a:lstStyle/>
            <a:p>
              <a:r>
                <a:rPr lang="en-US" altLang="en-US" sz="2267" b="1">
                  <a:effectLst>
                    <a:outerShdw blurRad="38100" dist="38100" dir="2700000" algn="tl">
                      <a:srgbClr val="000000"/>
                    </a:outerShdw>
                  </a:effectLst>
                  <a:latin typeface="Book Antiqua" charset="0"/>
                </a:rPr>
                <a:t>Debt suppliers/Banks</a:t>
              </a:r>
            </a:p>
          </p:txBody>
        </p:sp>
      </p:grpSp>
      <p:sp>
        <p:nvSpPr>
          <p:cNvPr id="122903" name="AutoShape 23"/>
          <p:cNvSpPr>
            <a:spLocks noChangeArrowheads="1"/>
          </p:cNvSpPr>
          <p:nvPr/>
        </p:nvSpPr>
        <p:spPr bwMode="auto">
          <a:xfrm rot="9240000">
            <a:off x="7771258" y="3529648"/>
            <a:ext cx="503767" cy="417407"/>
          </a:xfrm>
          <a:prstGeom prst="rightArrow">
            <a:avLst>
              <a:gd name="adj1" fmla="val 50000"/>
              <a:gd name="adj2" fmla="val 60384"/>
            </a:avLst>
          </a:prstGeom>
          <a:solidFill>
            <a:schemeClr val="hlink"/>
          </a:solidFill>
          <a:ln>
            <a:noFill/>
          </a:ln>
          <a:effectLst>
            <a:outerShdw blurRad="63500" dist="53882" dir="2700000" algn="ctr" rotWithShape="0">
              <a:schemeClr val="bg2">
                <a:alpha val="74998"/>
              </a:schemeClr>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endParaRPr lang="en-US" sz="2267"/>
          </a:p>
        </p:txBody>
      </p:sp>
      <p:grpSp>
        <p:nvGrpSpPr>
          <p:cNvPr id="122912" name="Group 32"/>
          <p:cNvGrpSpPr>
            <a:grpSpLocks/>
          </p:cNvGrpSpPr>
          <p:nvPr/>
        </p:nvGrpSpPr>
        <p:grpSpPr bwMode="auto">
          <a:xfrm>
            <a:off x="1717062" y="4771072"/>
            <a:ext cx="3945572" cy="2279543"/>
            <a:chOff x="157" y="2443"/>
            <a:chExt cx="2193" cy="1267"/>
          </a:xfrm>
        </p:grpSpPr>
        <p:sp>
          <p:nvSpPr>
            <p:cNvPr id="122889" name="Oval 9"/>
            <p:cNvSpPr>
              <a:spLocks noChangeArrowheads="1"/>
            </p:cNvSpPr>
            <p:nvPr/>
          </p:nvSpPr>
          <p:spPr bwMode="auto">
            <a:xfrm>
              <a:off x="157" y="2608"/>
              <a:ext cx="1816" cy="472"/>
            </a:xfrm>
            <a:prstGeom prst="ellipse">
              <a:avLst/>
            </a:prstGeom>
            <a:solidFill>
              <a:schemeClr val="accent2"/>
            </a:solidFill>
            <a:ln>
              <a:noFill/>
            </a:ln>
            <a:effectLst>
              <a:outerShdw blurRad="63500" dist="53882" dir="2700000" algn="ctr" rotWithShape="0">
                <a:schemeClr val="bg2">
                  <a:alpha val="74998"/>
                </a:schemeClr>
              </a:outerShdw>
            </a:effectLst>
            <a:extLst>
              <a:ext uri="{91240B29-F687-4F45-9708-019B960494DF}">
                <a14:hiddenLine xmlns:a14="http://schemas.microsoft.com/office/drawing/2010/main" w="12700">
                  <a:solidFill>
                    <a:schemeClr val="tx1"/>
                  </a:solidFill>
                  <a:round/>
                  <a:headEnd/>
                  <a:tailEnd/>
                </a14:hiddenLine>
              </a:ext>
            </a:extLst>
          </p:spPr>
          <p:txBody>
            <a:bodyPr wrap="none" anchor="ctr"/>
            <a:lstStyle/>
            <a:p>
              <a:endParaRPr lang="en-US" sz="2267"/>
            </a:p>
          </p:txBody>
        </p:sp>
        <p:sp>
          <p:nvSpPr>
            <p:cNvPr id="122890" name="Rectangle 10"/>
            <p:cNvSpPr>
              <a:spLocks noChangeArrowheads="1"/>
            </p:cNvSpPr>
            <p:nvPr/>
          </p:nvSpPr>
          <p:spPr bwMode="auto">
            <a:xfrm>
              <a:off x="412" y="2721"/>
              <a:ext cx="1336" cy="262"/>
            </a:xfrm>
            <a:prstGeom prst="rect">
              <a:avLst/>
            </a:prstGeom>
            <a:noFill/>
            <a:ln>
              <a:noFill/>
            </a:ln>
            <a:effectLst>
              <a:outerShdw blurRad="63500" dist="17961"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102553" tIns="50377" rIns="102553" bIns="50377">
              <a:spAutoFit/>
            </a:bodyPr>
            <a:lstStyle/>
            <a:p>
              <a:r>
                <a:rPr lang="en-US" altLang="en-US" sz="2400" b="1" dirty="0">
                  <a:solidFill>
                    <a:srgbClr val="59595B"/>
                  </a:solidFill>
                  <a:latin typeface="Book Antiqua" panose="02040602050305030304" pitchFamily="18" charset="0"/>
                </a:rPr>
                <a:t>Product Market</a:t>
              </a:r>
            </a:p>
          </p:txBody>
        </p:sp>
        <p:sp>
          <p:nvSpPr>
            <p:cNvPr id="122898" name="AutoShape 18"/>
            <p:cNvSpPr>
              <a:spLocks noChangeArrowheads="1"/>
            </p:cNvSpPr>
            <p:nvPr/>
          </p:nvSpPr>
          <p:spPr bwMode="auto">
            <a:xfrm rot="20040000">
              <a:off x="2070" y="2443"/>
              <a:ext cx="280" cy="232"/>
            </a:xfrm>
            <a:prstGeom prst="rightArrow">
              <a:avLst>
                <a:gd name="adj1" fmla="val 50000"/>
                <a:gd name="adj2" fmla="val 60384"/>
              </a:avLst>
            </a:prstGeom>
            <a:solidFill>
              <a:schemeClr val="hlink"/>
            </a:solidFill>
            <a:ln>
              <a:noFill/>
            </a:ln>
            <a:effectLst>
              <a:outerShdw blurRad="63500" dist="53882" dir="2700000" algn="ctr" rotWithShape="0">
                <a:schemeClr val="bg2">
                  <a:alpha val="74998"/>
                </a:schemeClr>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endParaRPr lang="en-US" sz="2267"/>
            </a:p>
          </p:txBody>
        </p:sp>
        <p:grpSp>
          <p:nvGrpSpPr>
            <p:cNvPr id="122906" name="Group 26"/>
            <p:cNvGrpSpPr>
              <a:grpSpLocks/>
            </p:cNvGrpSpPr>
            <p:nvPr/>
          </p:nvGrpSpPr>
          <p:grpSpPr bwMode="auto">
            <a:xfrm>
              <a:off x="340" y="3221"/>
              <a:ext cx="1580" cy="489"/>
              <a:chOff x="340" y="3221"/>
              <a:chExt cx="1580" cy="489"/>
            </a:xfrm>
          </p:grpSpPr>
          <p:sp>
            <p:nvSpPr>
              <p:cNvPr id="122904" name="Rectangle 24"/>
              <p:cNvSpPr>
                <a:spLocks noChangeArrowheads="1"/>
              </p:cNvSpPr>
              <p:nvPr/>
            </p:nvSpPr>
            <p:spPr bwMode="auto">
              <a:xfrm>
                <a:off x="342" y="3221"/>
                <a:ext cx="1578" cy="444"/>
              </a:xfrm>
              <a:prstGeom prst="rect">
                <a:avLst/>
              </a:prstGeom>
              <a:noFill/>
              <a:ln>
                <a:noFill/>
              </a:ln>
              <a:effectLst>
                <a:outerShdw blurRad="63500" dist="17961"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102553" tIns="50377" rIns="102553" bIns="50377">
                <a:spAutoFit/>
              </a:bodyPr>
              <a:lstStyle/>
              <a:p>
                <a:r>
                  <a:rPr lang="en-US" altLang="en-US" sz="2267" b="1">
                    <a:effectLst>
                      <a:outerShdw blurRad="38100" dist="38100" dir="2700000" algn="tl">
                        <a:srgbClr val="000000"/>
                      </a:outerShdw>
                    </a:effectLst>
                    <a:latin typeface="Book Antiqua" charset="0"/>
                  </a:rPr>
                  <a:t>Primary Customers </a:t>
                </a:r>
              </a:p>
              <a:p>
                <a:r>
                  <a:rPr lang="en-US" altLang="en-US" sz="2267" b="1">
                    <a:effectLst>
                      <a:outerShdw blurRad="38100" dist="38100" dir="2700000" algn="tl">
                        <a:srgbClr val="000000"/>
                      </a:outerShdw>
                    </a:effectLst>
                    <a:latin typeface="Book Antiqua" charset="0"/>
                  </a:rPr>
                  <a:t>Suppliers</a:t>
                </a:r>
              </a:p>
            </p:txBody>
          </p:sp>
          <p:sp>
            <p:nvSpPr>
              <p:cNvPr id="122905" name="Rectangle 25"/>
              <p:cNvSpPr>
                <a:spLocks noChangeArrowheads="1"/>
              </p:cNvSpPr>
              <p:nvPr/>
            </p:nvSpPr>
            <p:spPr bwMode="auto">
              <a:xfrm>
                <a:off x="340" y="3460"/>
                <a:ext cx="882" cy="250"/>
              </a:xfrm>
              <a:prstGeom prst="rect">
                <a:avLst/>
              </a:prstGeom>
              <a:noFill/>
              <a:ln>
                <a:noFill/>
              </a:ln>
              <a:effectLst>
                <a:outerShdw blurRad="63500" dist="17961"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txBody>
              <a:bodyPr wrap="none" anchor="ctr"/>
              <a:lstStyle/>
              <a:p>
                <a:endParaRPr lang="en-US" sz="2267"/>
              </a:p>
            </p:txBody>
          </p:sp>
        </p:grpSp>
      </p:grpSp>
      <p:sp>
        <p:nvSpPr>
          <p:cNvPr id="27" name="Oval 9"/>
          <p:cNvSpPr>
            <a:spLocks noChangeArrowheads="1"/>
          </p:cNvSpPr>
          <p:nvPr/>
        </p:nvSpPr>
        <p:spPr bwMode="auto">
          <a:xfrm>
            <a:off x="1790691" y="2829422"/>
            <a:ext cx="3419780" cy="944869"/>
          </a:xfrm>
          <a:prstGeom prst="ellipse">
            <a:avLst/>
          </a:prstGeom>
          <a:solidFill>
            <a:schemeClr val="accent2"/>
          </a:solidFill>
          <a:ln>
            <a:noFill/>
          </a:ln>
          <a:effectLst>
            <a:outerShdw blurRad="63500" dist="53882" dir="2700000" algn="ctr" rotWithShape="0">
              <a:schemeClr val="bg2">
                <a:alpha val="74998"/>
              </a:schemeClr>
            </a:outerShdw>
          </a:effectLst>
          <a:extLst>
            <a:ext uri="{91240B29-F687-4F45-9708-019B960494DF}">
              <a14:hiddenLine xmlns:a14="http://schemas.microsoft.com/office/drawing/2010/main" w="12700">
                <a:solidFill>
                  <a:schemeClr val="tx1"/>
                </a:solidFill>
                <a:round/>
                <a:headEnd/>
                <a:tailEnd/>
              </a14:hiddenLine>
            </a:ext>
          </a:extLst>
        </p:spPr>
        <p:txBody>
          <a:bodyPr wrap="none" anchor="ctr"/>
          <a:lstStyle/>
          <a:p>
            <a:endParaRPr lang="en-US" sz="2267"/>
          </a:p>
        </p:txBody>
      </p:sp>
      <p:sp>
        <p:nvSpPr>
          <p:cNvPr id="28" name="Rectangle 10" descr="Graphic of the Stakeholder Theory of the Firm"/>
          <p:cNvSpPr>
            <a:spLocks noChangeArrowheads="1"/>
          </p:cNvSpPr>
          <p:nvPr/>
        </p:nvSpPr>
        <p:spPr bwMode="auto">
          <a:xfrm>
            <a:off x="1840317" y="3079428"/>
            <a:ext cx="3478838" cy="471070"/>
          </a:xfrm>
          <a:prstGeom prst="rect">
            <a:avLst/>
          </a:prstGeom>
          <a:noFill/>
          <a:ln>
            <a:noFill/>
          </a:ln>
          <a:effectLst>
            <a:outerShdw blurRad="63500" dist="17961"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102553" tIns="50377" rIns="102553" bIns="50377">
            <a:spAutoFit/>
          </a:bodyPr>
          <a:lstStyle/>
          <a:p>
            <a:r>
              <a:rPr lang="en-US" altLang="en-US" sz="2400" b="1" dirty="0">
                <a:solidFill>
                  <a:srgbClr val="59595B"/>
                </a:solidFill>
                <a:latin typeface="Book Antiqua" panose="02040602050305030304" pitchFamily="18" charset="0"/>
              </a:rPr>
              <a:t>Societal Constituencies</a:t>
            </a:r>
          </a:p>
        </p:txBody>
      </p:sp>
      <p:sp>
        <p:nvSpPr>
          <p:cNvPr id="30" name="AutoShape 23"/>
          <p:cNvSpPr>
            <a:spLocks noChangeArrowheads="1"/>
          </p:cNvSpPr>
          <p:nvPr/>
        </p:nvSpPr>
        <p:spPr bwMode="auto">
          <a:xfrm rot="2613276">
            <a:off x="5266338" y="3617719"/>
            <a:ext cx="527232" cy="472747"/>
          </a:xfrm>
          <a:prstGeom prst="rightArrow">
            <a:avLst>
              <a:gd name="adj1" fmla="val 50000"/>
              <a:gd name="adj2" fmla="val 60384"/>
            </a:avLst>
          </a:prstGeom>
          <a:solidFill>
            <a:schemeClr val="hlink"/>
          </a:solidFill>
          <a:ln>
            <a:noFill/>
          </a:ln>
          <a:effectLst>
            <a:outerShdw blurRad="63500" dist="53882" dir="2700000" algn="ctr" rotWithShape="0">
              <a:schemeClr val="bg2">
                <a:alpha val="74998"/>
              </a:schemeClr>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endParaRPr lang="en-US" sz="2267"/>
          </a:p>
        </p:txBody>
      </p:sp>
    </p:spTree>
    <p:extLst>
      <p:ext uri="{BB962C8B-B14F-4D97-AF65-F5344CB8AC3E}">
        <p14:creationId xmlns:p14="http://schemas.microsoft.com/office/powerpoint/2010/main" val="811876136"/>
      </p:ext>
    </p:extLst>
  </p:cSld>
  <p:clrMapOvr>
    <a:masterClrMapping/>
  </p:clrMapOvr>
  <p:transition spd="slow">
    <p:dissolv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F3902FD-9DAB-C049-8BE6-81CADABE5191}"/>
              </a:ext>
            </a:extLst>
          </p:cNvPr>
          <p:cNvSpPr/>
          <p:nvPr/>
        </p:nvSpPr>
        <p:spPr>
          <a:xfrm>
            <a:off x="159027" y="-75902"/>
            <a:ext cx="14014173" cy="7848302"/>
          </a:xfrm>
          <a:prstGeom prst="rect">
            <a:avLst/>
          </a:prstGeom>
        </p:spPr>
        <p:txBody>
          <a:bodyPr wrap="square">
            <a:spAutoFit/>
          </a:bodyPr>
          <a:lstStyle/>
          <a:p>
            <a:pPr algn="ctr" fontAlgn="base"/>
            <a:r>
              <a:rPr lang="en-US" sz="2800" b="1" dirty="0">
                <a:solidFill>
                  <a:schemeClr val="tx1">
                    <a:lumMod val="50000"/>
                  </a:schemeClr>
                </a:solidFill>
                <a:latin typeface="Museo Sans"/>
              </a:rPr>
              <a:t>Business Roundtable Statement on the Purpose of a Corporation</a:t>
            </a:r>
          </a:p>
          <a:p>
            <a:pPr algn="ctr" fontAlgn="base"/>
            <a:endParaRPr lang="en-US" sz="2800" b="1" dirty="0">
              <a:solidFill>
                <a:schemeClr val="tx1">
                  <a:lumMod val="50000"/>
                </a:schemeClr>
              </a:solidFill>
              <a:latin typeface="Museo Sans"/>
            </a:endParaRPr>
          </a:p>
          <a:p>
            <a:pPr fontAlgn="base"/>
            <a:r>
              <a:rPr lang="en-US" sz="2800" dirty="0">
                <a:solidFill>
                  <a:schemeClr val="tx1">
                    <a:lumMod val="50000"/>
                  </a:schemeClr>
                </a:solidFill>
                <a:latin typeface="inherit"/>
              </a:rPr>
              <a:t>While each of our individual companies serves its own corporate purpose, we share a fundamental commitment to all of our stakeholders. We commit to:</a:t>
            </a:r>
          </a:p>
          <a:p>
            <a:pPr fontAlgn="base">
              <a:buFont typeface="Arial" panose="020B0604020202020204" pitchFamily="34" charset="0"/>
              <a:buChar char="•"/>
            </a:pPr>
            <a:r>
              <a:rPr lang="en-US" sz="2800" dirty="0">
                <a:solidFill>
                  <a:schemeClr val="tx1">
                    <a:lumMod val="50000"/>
                  </a:schemeClr>
                </a:solidFill>
                <a:latin typeface="inherit"/>
              </a:rPr>
              <a:t>Delivering value to our customers. We will further the tradition of American companies leading the way in meeting or exceeding customer expectations.</a:t>
            </a:r>
          </a:p>
          <a:p>
            <a:pPr fontAlgn="base">
              <a:buFont typeface="Arial" panose="020B0604020202020204" pitchFamily="34" charset="0"/>
              <a:buChar char="•"/>
            </a:pPr>
            <a:r>
              <a:rPr lang="en-US" sz="2800" dirty="0">
                <a:solidFill>
                  <a:schemeClr val="tx1">
                    <a:lumMod val="50000"/>
                  </a:schemeClr>
                </a:solidFill>
                <a:latin typeface="inherit"/>
              </a:rPr>
              <a:t>Investing in our employees. This starts with compensating them fairly and providing important benefits. It also includes supporting them through training and education that help develop new skills for a rapidly changing world. We foster diversity and inclusion, dignity and respect.</a:t>
            </a:r>
          </a:p>
          <a:p>
            <a:pPr fontAlgn="base">
              <a:buFont typeface="Arial" panose="020B0604020202020204" pitchFamily="34" charset="0"/>
              <a:buChar char="•"/>
            </a:pPr>
            <a:r>
              <a:rPr lang="en-US" sz="2800" dirty="0">
                <a:solidFill>
                  <a:schemeClr val="tx1">
                    <a:lumMod val="50000"/>
                  </a:schemeClr>
                </a:solidFill>
                <a:latin typeface="inherit"/>
              </a:rPr>
              <a:t>Dealing fairly and ethically with our suppliers. We are dedicated to serving as good partners to the other companies, large and small, that help us meet our missions.</a:t>
            </a:r>
          </a:p>
          <a:p>
            <a:pPr fontAlgn="base">
              <a:buFont typeface="Arial" panose="020B0604020202020204" pitchFamily="34" charset="0"/>
              <a:buChar char="•"/>
            </a:pPr>
            <a:r>
              <a:rPr lang="en-US" sz="2800" dirty="0">
                <a:solidFill>
                  <a:schemeClr val="tx1">
                    <a:lumMod val="50000"/>
                  </a:schemeClr>
                </a:solidFill>
                <a:latin typeface="inherit"/>
              </a:rPr>
              <a:t>Supporting the communities in which we work. We respect the people in our communities and protect the environment by embracing sustainable practices across our businesses.</a:t>
            </a:r>
          </a:p>
          <a:p>
            <a:pPr fontAlgn="base">
              <a:buFont typeface="Arial" panose="020B0604020202020204" pitchFamily="34" charset="0"/>
              <a:buChar char="•"/>
            </a:pPr>
            <a:r>
              <a:rPr lang="en-US" sz="2800" dirty="0">
                <a:solidFill>
                  <a:schemeClr val="tx1">
                    <a:lumMod val="50000"/>
                  </a:schemeClr>
                </a:solidFill>
                <a:latin typeface="inherit"/>
              </a:rPr>
              <a:t>Generating long-term value for shareholders, who provide the capital that allows companies to invest, grow and innovate. We are committed to transparency and effective engagement with shareholders.</a:t>
            </a:r>
          </a:p>
          <a:p>
            <a:pPr fontAlgn="base"/>
            <a:r>
              <a:rPr lang="en-US" sz="2800" dirty="0">
                <a:solidFill>
                  <a:schemeClr val="tx1">
                    <a:lumMod val="50000"/>
                  </a:schemeClr>
                </a:solidFill>
                <a:latin typeface="inherit"/>
              </a:rPr>
              <a:t>Each of our stakeholders is essential. We commit to deliver value to all of them, for the future success of our companies, our communities and our country.</a:t>
            </a:r>
            <a:endParaRPr lang="en-US" sz="2800" b="0" i="0" u="none" strike="noStrike" dirty="0">
              <a:solidFill>
                <a:schemeClr val="tx1">
                  <a:lumMod val="50000"/>
                </a:schemeClr>
              </a:solidFill>
              <a:effectLst/>
              <a:latin typeface="inherit"/>
            </a:endParaRPr>
          </a:p>
        </p:txBody>
      </p:sp>
    </p:spTree>
    <p:extLst>
      <p:ext uri="{BB962C8B-B14F-4D97-AF65-F5344CB8AC3E}">
        <p14:creationId xmlns:p14="http://schemas.microsoft.com/office/powerpoint/2010/main" val="36227775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6707" y="581168"/>
            <a:ext cx="12561453" cy="1015663"/>
          </a:xfrm>
        </p:spPr>
        <p:txBody>
          <a:bodyPr/>
          <a:lstStyle/>
          <a:p>
            <a:r>
              <a:rPr lang="en-US" dirty="0">
                <a:latin typeface="Garamond" panose="02020404030301010803" pitchFamily="18" charset="0"/>
              </a:rPr>
              <a:t>“Strategic Management”</a:t>
            </a:r>
          </a:p>
        </p:txBody>
      </p:sp>
      <p:sp>
        <p:nvSpPr>
          <p:cNvPr id="3" name="Text Placeholder 2"/>
          <p:cNvSpPr>
            <a:spLocks noGrp="1"/>
          </p:cNvSpPr>
          <p:nvPr>
            <p:ph type="body" sz="quarter" idx="10"/>
          </p:nvPr>
        </p:nvSpPr>
        <p:spPr>
          <a:xfrm>
            <a:off x="1264680" y="1793402"/>
            <a:ext cx="11915292" cy="4327338"/>
          </a:xfrm>
        </p:spPr>
        <p:txBody>
          <a:bodyPr/>
          <a:lstStyle/>
          <a:p>
            <a:r>
              <a:rPr lang="en-US" sz="4400" dirty="0">
                <a:solidFill>
                  <a:schemeClr val="tx1">
                    <a:lumMod val="50000"/>
                  </a:schemeClr>
                </a:solidFill>
                <a:latin typeface="Garamond" panose="02020404030301010803" pitchFamily="18" charset="0"/>
              </a:rPr>
              <a:t>Fundamentally concerned with how to maximize organizational “performance”</a:t>
            </a:r>
          </a:p>
          <a:p>
            <a:pPr>
              <a:lnSpc>
                <a:spcPct val="100000"/>
              </a:lnSpc>
            </a:pPr>
            <a:endParaRPr lang="en-US" sz="2800" dirty="0">
              <a:solidFill>
                <a:schemeClr val="tx1">
                  <a:lumMod val="50000"/>
                </a:schemeClr>
              </a:solidFill>
              <a:latin typeface="Garamond" panose="02020404030301010803" pitchFamily="18" charset="0"/>
            </a:endParaRPr>
          </a:p>
          <a:p>
            <a:r>
              <a:rPr lang="en-US" sz="4400" dirty="0">
                <a:solidFill>
                  <a:schemeClr val="tx1">
                    <a:lumMod val="50000"/>
                  </a:schemeClr>
                </a:solidFill>
                <a:latin typeface="Garamond" panose="02020404030301010803" pitchFamily="18" charset="0"/>
              </a:rPr>
              <a:t>Strategy Content</a:t>
            </a:r>
          </a:p>
          <a:p>
            <a:r>
              <a:rPr lang="en-US" sz="4400" dirty="0">
                <a:solidFill>
                  <a:schemeClr val="tx1">
                    <a:lumMod val="50000"/>
                  </a:schemeClr>
                </a:solidFill>
                <a:latin typeface="Garamond" panose="02020404030301010803" pitchFamily="18" charset="0"/>
              </a:rPr>
              <a:t>Strategy Process</a:t>
            </a:r>
          </a:p>
        </p:txBody>
      </p:sp>
    </p:spTree>
    <p:extLst>
      <p:ext uri="{BB962C8B-B14F-4D97-AF65-F5344CB8AC3E}">
        <p14:creationId xmlns:p14="http://schemas.microsoft.com/office/powerpoint/2010/main" val="1843833063"/>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6707" y="581168"/>
            <a:ext cx="12561453" cy="1015663"/>
          </a:xfrm>
        </p:spPr>
        <p:txBody>
          <a:bodyPr/>
          <a:lstStyle/>
          <a:p>
            <a:r>
              <a:rPr lang="en-US" dirty="0">
                <a:latin typeface="Garamond" panose="02020404030301010803" pitchFamily="18" charset="0"/>
              </a:rPr>
              <a:t>“Strategic Management”</a:t>
            </a:r>
          </a:p>
        </p:txBody>
      </p:sp>
      <p:sp>
        <p:nvSpPr>
          <p:cNvPr id="3" name="Text Placeholder 2"/>
          <p:cNvSpPr>
            <a:spLocks noGrp="1"/>
          </p:cNvSpPr>
          <p:nvPr>
            <p:ph type="body" sz="quarter" idx="10"/>
          </p:nvPr>
        </p:nvSpPr>
        <p:spPr>
          <a:xfrm>
            <a:off x="1264680" y="1793402"/>
            <a:ext cx="11085505" cy="952505"/>
          </a:xfrm>
        </p:spPr>
        <p:txBody>
          <a:bodyPr/>
          <a:lstStyle/>
          <a:p>
            <a:r>
              <a:rPr lang="en-US" sz="4400" dirty="0">
                <a:solidFill>
                  <a:schemeClr val="tx1">
                    <a:lumMod val="50000"/>
                  </a:schemeClr>
                </a:solidFill>
                <a:latin typeface="Garamond" panose="02020404030301010803" pitchFamily="18" charset="0"/>
              </a:rPr>
              <a:t>Strategy Content</a:t>
            </a:r>
          </a:p>
        </p:txBody>
      </p:sp>
    </p:spTree>
    <p:extLst>
      <p:ext uri="{BB962C8B-B14F-4D97-AF65-F5344CB8AC3E}">
        <p14:creationId xmlns:p14="http://schemas.microsoft.com/office/powerpoint/2010/main" val="1653377214"/>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Grp="1" noChangeArrowheads="1"/>
          </p:cNvSpPr>
          <p:nvPr>
            <p:ph type="title"/>
          </p:nvPr>
        </p:nvSpPr>
        <p:spPr bwMode="auto">
          <a:xfrm>
            <a:off x="1416420" y="656156"/>
            <a:ext cx="8808720" cy="935641"/>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103632" tIns="51816" rIns="103632" bIns="51816" numCol="1" rtlCol="0" anchor="t" anchorCtr="0" compatLnSpc="1">
            <a:prstTxWarp prst="textNoShape">
              <a:avLst/>
            </a:prstTxWarp>
            <a:spAutoFit/>
          </a:bodyPr>
          <a:lstStyle/>
          <a:p>
            <a:r>
              <a:rPr lang="en-US" altLang="en-US" b="1" dirty="0">
                <a:latin typeface="Garamond" panose="02020404030301010803" pitchFamily="18" charset="0"/>
              </a:rPr>
              <a:t>Reflect</a:t>
            </a:r>
            <a:r>
              <a:rPr lang="mr-IN" altLang="en-US" b="1" dirty="0">
                <a:latin typeface="Garamond" panose="02020404030301010803" pitchFamily="18" charset="0"/>
              </a:rPr>
              <a:t>…</a:t>
            </a:r>
            <a:endParaRPr lang="en-US" altLang="en-US" sz="4080" b="1" dirty="0">
              <a:latin typeface="Garamond" panose="02020404030301010803" pitchFamily="18" charset="0"/>
            </a:endParaRPr>
          </a:p>
        </p:txBody>
      </p:sp>
      <p:sp>
        <p:nvSpPr>
          <p:cNvPr id="187395" name="Rectangle 3"/>
          <p:cNvSpPr>
            <a:spLocks noGrp="1" noChangeArrowheads="1"/>
          </p:cNvSpPr>
          <p:nvPr>
            <p:ph type="body" idx="4294967295"/>
          </p:nvPr>
        </p:nvSpPr>
        <p:spPr bwMode="auto">
          <a:xfrm>
            <a:off x="1289098" y="2550739"/>
            <a:ext cx="8808720" cy="466344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103632" tIns="51816" rIns="103632" bIns="51816" numCol="1" anchor="t" anchorCtr="0" compatLnSpc="1">
            <a:prstTxWarp prst="textNoShape">
              <a:avLst/>
            </a:prstTxWarp>
          </a:bodyPr>
          <a:lstStyle/>
          <a:p>
            <a:pPr marL="0" indent="0" defTabSz="1036290">
              <a:lnSpc>
                <a:spcPct val="90000"/>
              </a:lnSpc>
              <a:spcBef>
                <a:spcPts val="0"/>
              </a:spcBef>
              <a:spcAft>
                <a:spcPts val="0"/>
              </a:spcAft>
              <a:buNone/>
              <a:defRPr/>
            </a:pPr>
            <a:r>
              <a:rPr lang="en-US" altLang="en-US" sz="7480" dirty="0">
                <a:effectLst>
                  <a:outerShdw blurRad="38100" dist="38100" dir="2700000" algn="tl">
                    <a:srgbClr val="000000"/>
                  </a:outerShdw>
                </a:effectLst>
                <a:latin typeface="+mj-lt"/>
              </a:rPr>
              <a:t>		</a:t>
            </a:r>
            <a:r>
              <a:rPr lang="en-US" altLang="en-US" sz="9066" dirty="0">
                <a:effectLst>
                  <a:outerShdw blurRad="38100" dist="38100" dir="2700000" algn="tl">
                    <a:srgbClr val="000000"/>
                  </a:outerShdw>
                </a:effectLst>
                <a:latin typeface="+mj-lt"/>
              </a:rPr>
              <a:t>Competition</a:t>
            </a:r>
          </a:p>
        </p:txBody>
      </p:sp>
    </p:spTree>
    <p:extLst>
      <p:ext uri="{BB962C8B-B14F-4D97-AF65-F5344CB8AC3E}">
        <p14:creationId xmlns:p14="http://schemas.microsoft.com/office/powerpoint/2010/main" val="1399573339"/>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739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395"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Grp="1" noChangeArrowheads="1"/>
          </p:cNvSpPr>
          <p:nvPr>
            <p:ph type="title"/>
          </p:nvPr>
        </p:nvSpPr>
        <p:spPr bwMode="auto">
          <a:xfrm>
            <a:off x="1416420" y="656156"/>
            <a:ext cx="8808720" cy="935641"/>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103632" tIns="51816" rIns="103632" bIns="51816" numCol="1" rtlCol="0" anchor="t" anchorCtr="0" compatLnSpc="1">
            <a:prstTxWarp prst="textNoShape">
              <a:avLst/>
            </a:prstTxWarp>
            <a:spAutoFit/>
          </a:bodyPr>
          <a:lstStyle/>
          <a:p>
            <a:r>
              <a:rPr lang="en-US" altLang="en-US" b="1" dirty="0">
                <a:latin typeface="Garamond" panose="02020404030301010803" pitchFamily="18" charset="0"/>
              </a:rPr>
              <a:t>Reflect</a:t>
            </a:r>
            <a:r>
              <a:rPr lang="mr-IN" altLang="en-US" b="1" dirty="0">
                <a:latin typeface="Garamond" panose="02020404030301010803" pitchFamily="18" charset="0"/>
              </a:rPr>
              <a:t>…</a:t>
            </a:r>
            <a:endParaRPr lang="en-US" altLang="en-US" sz="4080" b="1" dirty="0">
              <a:latin typeface="Garamond" panose="02020404030301010803" pitchFamily="18" charset="0"/>
            </a:endParaRPr>
          </a:p>
        </p:txBody>
      </p:sp>
      <p:sp>
        <p:nvSpPr>
          <p:cNvPr id="187395" name="Rectangle 3"/>
          <p:cNvSpPr>
            <a:spLocks noGrp="1" noChangeArrowheads="1"/>
          </p:cNvSpPr>
          <p:nvPr>
            <p:ph type="body" idx="4294967295"/>
          </p:nvPr>
        </p:nvSpPr>
        <p:spPr bwMode="auto">
          <a:xfrm>
            <a:off x="2504440" y="2679326"/>
            <a:ext cx="8808720" cy="1360244"/>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103632" tIns="51816" rIns="103632" bIns="51816" numCol="1" anchor="t" anchorCtr="0" compatLnSpc="1">
            <a:prstTxWarp prst="textNoShape">
              <a:avLst/>
            </a:prstTxWarp>
          </a:bodyPr>
          <a:lstStyle/>
          <a:p>
            <a:pPr marL="0" indent="0" defTabSz="1036290">
              <a:lnSpc>
                <a:spcPct val="90000"/>
              </a:lnSpc>
              <a:spcBef>
                <a:spcPts val="0"/>
              </a:spcBef>
              <a:spcAft>
                <a:spcPts val="0"/>
              </a:spcAft>
              <a:buNone/>
              <a:defRPr/>
            </a:pPr>
            <a:r>
              <a:rPr lang="en-US" altLang="en-US" sz="7480" dirty="0">
                <a:effectLst>
                  <a:outerShdw blurRad="38100" dist="38100" dir="2700000" algn="tl">
                    <a:srgbClr val="000000"/>
                  </a:outerShdw>
                </a:effectLst>
                <a:latin typeface="+mj-lt"/>
              </a:rPr>
              <a:t>		</a:t>
            </a:r>
            <a:r>
              <a:rPr lang="en-US" altLang="en-US" sz="9066" dirty="0">
                <a:effectLst>
                  <a:outerShdw blurRad="38100" dist="38100" dir="2700000" algn="tl">
                    <a:srgbClr val="000000"/>
                  </a:outerShdw>
                </a:effectLst>
                <a:latin typeface="+mj-lt"/>
              </a:rPr>
              <a:t>Profit</a:t>
            </a:r>
          </a:p>
        </p:txBody>
      </p:sp>
    </p:spTree>
    <p:extLst>
      <p:ext uri="{BB962C8B-B14F-4D97-AF65-F5344CB8AC3E}">
        <p14:creationId xmlns:p14="http://schemas.microsoft.com/office/powerpoint/2010/main" val="844372308"/>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739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395"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1" name="Rectangle 2"/>
          <p:cNvSpPr>
            <a:spLocks noGrp="1" noChangeArrowheads="1"/>
          </p:cNvSpPr>
          <p:nvPr>
            <p:ph type="title"/>
          </p:nvPr>
        </p:nvSpPr>
        <p:spPr>
          <a:xfrm>
            <a:off x="197658" y="109295"/>
            <a:ext cx="6131560" cy="923330"/>
          </a:xfrm>
        </p:spPr>
        <p:txBody>
          <a:bodyPr/>
          <a:lstStyle/>
          <a:p>
            <a:pPr eaLnBrk="1" hangingPunct="1"/>
            <a:r>
              <a:rPr lang="ja-JP" altLang="en-US" sz="4800" b="1" dirty="0">
                <a:latin typeface="Garamond" panose="02020404030301010803" pitchFamily="18" charset="0"/>
                <a:ea typeface="ＭＳ Ｐゴシック" charset="-128"/>
              </a:rPr>
              <a:t>“</a:t>
            </a:r>
            <a:r>
              <a:rPr lang="en-US" altLang="ja-JP" sz="4800" b="1" dirty="0">
                <a:latin typeface="Garamond" panose="02020404030301010803" pitchFamily="18" charset="0"/>
                <a:ea typeface="ＭＳ Ｐゴシック" charset="-128"/>
              </a:rPr>
              <a:t>Economic Profit</a:t>
            </a:r>
            <a:r>
              <a:rPr lang="ja-JP" altLang="en-US" sz="4800" b="1" dirty="0">
                <a:latin typeface="Garamond" panose="02020404030301010803" pitchFamily="18" charset="0"/>
                <a:ea typeface="ＭＳ Ｐゴシック" charset="-128"/>
              </a:rPr>
              <a:t>”</a:t>
            </a:r>
            <a:endParaRPr lang="en-US" altLang="en-US" sz="4800" b="1" dirty="0">
              <a:latin typeface="Garamond" panose="02020404030301010803" pitchFamily="18" charset="0"/>
              <a:ea typeface="ＭＳ Ｐゴシック" charset="-128"/>
            </a:endParaRPr>
          </a:p>
        </p:txBody>
      </p:sp>
      <p:sp>
        <p:nvSpPr>
          <p:cNvPr id="1236995" name="Rectangle 3"/>
          <p:cNvSpPr>
            <a:spLocks noGrp="1" noChangeArrowheads="1"/>
          </p:cNvSpPr>
          <p:nvPr>
            <p:ph type="body" idx="4294967295"/>
          </p:nvPr>
        </p:nvSpPr>
        <p:spPr>
          <a:xfrm>
            <a:off x="481263" y="982750"/>
            <a:ext cx="12885601" cy="6238887"/>
          </a:xfrm>
          <a:prstGeom prst="rect">
            <a:avLst/>
          </a:prstGeom>
        </p:spPr>
        <p:txBody>
          <a:bodyPr/>
          <a:lstStyle/>
          <a:p>
            <a:pPr algn="ctr" eaLnBrk="1" hangingPunct="1">
              <a:spcAft>
                <a:spcPts val="1200"/>
              </a:spcAft>
              <a:buFont typeface="Wingdings" charset="2"/>
              <a:buNone/>
            </a:pPr>
            <a:r>
              <a:rPr lang="en-US" altLang="en-US" sz="2720" b="1" dirty="0">
                <a:solidFill>
                  <a:schemeClr val="tx1">
                    <a:lumMod val="50000"/>
                  </a:schemeClr>
                </a:solidFill>
                <a:latin typeface="Garamond" panose="02020404030301010803" pitchFamily="18" charset="0"/>
                <a:ea typeface="Arial" charset="0"/>
                <a:cs typeface="Arial" charset="0"/>
              </a:rPr>
              <a:t>Profit above all costs including a risk-adjusted return to capital</a:t>
            </a:r>
          </a:p>
          <a:p>
            <a:pPr eaLnBrk="1" hangingPunct="1"/>
            <a:r>
              <a:rPr lang="en-US" altLang="en-US" sz="2720" dirty="0">
                <a:solidFill>
                  <a:schemeClr val="tx1">
                    <a:lumMod val="50000"/>
                  </a:schemeClr>
                </a:solidFill>
                <a:latin typeface="Garamond" panose="02020404030301010803" pitchFamily="18" charset="0"/>
                <a:ea typeface="Arial" charset="0"/>
                <a:cs typeface="Arial" charset="0"/>
              </a:rPr>
              <a:t>Greater than investor’s opportunity cost</a:t>
            </a:r>
          </a:p>
          <a:p>
            <a:pPr eaLnBrk="1" hangingPunct="1"/>
            <a:r>
              <a:rPr lang="en-US" altLang="en-US" sz="2720" dirty="0">
                <a:solidFill>
                  <a:schemeClr val="tx1">
                    <a:lumMod val="50000"/>
                  </a:schemeClr>
                </a:solidFill>
                <a:latin typeface="Garamond" panose="02020404030301010803" pitchFamily="18" charset="0"/>
                <a:ea typeface="Arial" charset="0"/>
                <a:cs typeface="Arial" charset="0"/>
              </a:rPr>
              <a:t>Economic profit is sometimes referred to as supernormal profit or economic rent</a:t>
            </a:r>
          </a:p>
          <a:p>
            <a:pPr eaLnBrk="1" hangingPunct="1"/>
            <a:r>
              <a:rPr lang="en-US" altLang="en-US" sz="2720" dirty="0">
                <a:solidFill>
                  <a:schemeClr val="tx1">
                    <a:lumMod val="50000"/>
                  </a:schemeClr>
                </a:solidFill>
                <a:latin typeface="Garamond" panose="02020404030301010803" pitchFamily="18" charset="0"/>
                <a:ea typeface="Arial" charset="0"/>
                <a:cs typeface="Arial" charset="0"/>
              </a:rPr>
              <a:t>Economic profit does not occur in perfect competition. </a:t>
            </a:r>
          </a:p>
          <a:p>
            <a:pPr eaLnBrk="1" hangingPunct="1"/>
            <a:r>
              <a:rPr lang="en-US" altLang="en-US" sz="2720" dirty="0">
                <a:solidFill>
                  <a:schemeClr val="tx1">
                    <a:lumMod val="50000"/>
                  </a:schemeClr>
                </a:solidFill>
                <a:latin typeface="Garamond" panose="02020404030301010803" pitchFamily="18" charset="0"/>
                <a:ea typeface="Arial" charset="0"/>
                <a:cs typeface="Arial" charset="0"/>
              </a:rPr>
              <a:t>Economic Profit is good: </a:t>
            </a:r>
          </a:p>
          <a:p>
            <a:pPr lvl="1" eaLnBrk="1" hangingPunct="1"/>
            <a:r>
              <a:rPr lang="en-US" altLang="en-US" sz="2720" dirty="0">
                <a:solidFill>
                  <a:schemeClr val="tx1">
                    <a:lumMod val="50000"/>
                  </a:schemeClr>
                </a:solidFill>
                <a:latin typeface="Garamond" panose="02020404030301010803" pitchFamily="18" charset="0"/>
                <a:ea typeface="Arial" charset="0"/>
                <a:cs typeface="Arial" charset="0"/>
              </a:rPr>
              <a:t>If you are a business benefitting from it.</a:t>
            </a:r>
          </a:p>
          <a:p>
            <a:pPr eaLnBrk="1" hangingPunct="1"/>
            <a:r>
              <a:rPr lang="en-US" altLang="en-US" sz="2720" dirty="0">
                <a:solidFill>
                  <a:schemeClr val="tx1">
                    <a:lumMod val="50000"/>
                  </a:schemeClr>
                </a:solidFill>
                <a:latin typeface="Garamond" panose="02020404030301010803" pitchFamily="18" charset="0"/>
                <a:ea typeface="Arial" charset="0"/>
                <a:cs typeface="Arial" charset="0"/>
              </a:rPr>
              <a:t>Economic Profit is bad:  </a:t>
            </a:r>
          </a:p>
          <a:p>
            <a:pPr lvl="1" eaLnBrk="1" hangingPunct="1"/>
            <a:r>
              <a:rPr lang="en-US" altLang="en-US" sz="2720" dirty="0">
                <a:solidFill>
                  <a:schemeClr val="tx1">
                    <a:lumMod val="50000"/>
                  </a:schemeClr>
                </a:solidFill>
                <a:latin typeface="Garamond" panose="02020404030301010803" pitchFamily="18" charset="0"/>
                <a:ea typeface="Arial" charset="0"/>
                <a:cs typeface="Arial" charset="0"/>
              </a:rPr>
              <a:t>Once risk is accounted for, long-lasting economic profit may be viewed as an inefficiency caused by monopolies or some form of market failure.</a:t>
            </a:r>
          </a:p>
          <a:p>
            <a:pPr lvl="1" eaLnBrk="1" hangingPunct="1"/>
            <a:r>
              <a:rPr lang="en-US" altLang="en-US" sz="2720" dirty="0">
                <a:solidFill>
                  <a:schemeClr val="tx1">
                    <a:lumMod val="50000"/>
                  </a:schemeClr>
                </a:solidFill>
                <a:latin typeface="Garamond" panose="02020404030301010803" pitchFamily="18" charset="0"/>
                <a:ea typeface="Arial" charset="0"/>
                <a:cs typeface="Arial" charset="0"/>
              </a:rPr>
              <a:t>Unless accruing to superior assets or resource </a:t>
            </a:r>
            <a:r>
              <a:rPr lang="en-US" altLang="en-US" sz="2720" dirty="0" err="1">
                <a:solidFill>
                  <a:schemeClr val="tx1">
                    <a:lumMod val="50000"/>
                  </a:schemeClr>
                </a:solidFill>
                <a:latin typeface="Garamond" panose="02020404030301010803" pitchFamily="18" charset="0"/>
                <a:ea typeface="Arial" charset="0"/>
                <a:cs typeface="Arial" charset="0"/>
              </a:rPr>
              <a:t>idiosyncracies</a:t>
            </a:r>
            <a:endParaRPr lang="en-US" altLang="en-US" sz="2720" dirty="0">
              <a:solidFill>
                <a:schemeClr val="tx1">
                  <a:lumMod val="50000"/>
                </a:schemeClr>
              </a:solidFill>
              <a:latin typeface="Garamond" panose="02020404030301010803" pitchFamily="18" charset="0"/>
              <a:ea typeface="Arial" charset="0"/>
              <a:cs typeface="Arial" charset="0"/>
            </a:endParaRPr>
          </a:p>
        </p:txBody>
      </p:sp>
    </p:spTree>
    <p:extLst>
      <p:ext uri="{BB962C8B-B14F-4D97-AF65-F5344CB8AC3E}">
        <p14:creationId xmlns:p14="http://schemas.microsoft.com/office/powerpoint/2010/main" val="2277612840"/>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369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36995">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36995">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36995">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36995">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36995">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36995">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36995">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3699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6995"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bwMode="auto">
          <a:xfrm>
            <a:off x="245582" y="786965"/>
            <a:ext cx="13002768" cy="2320635"/>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103632" tIns="51816" rIns="103632" bIns="51816" numCol="1" rtlCol="0" anchor="t" anchorCtr="0" compatLnSpc="1">
            <a:prstTxWarp prst="textNoShape">
              <a:avLst/>
            </a:prstTxWarp>
            <a:spAutoFit/>
          </a:bodyPr>
          <a:lstStyle/>
          <a:p>
            <a:pPr algn="ctr"/>
            <a:r>
              <a:rPr lang="en-US" altLang="en-US" sz="4800" dirty="0"/>
              <a:t>Value Creation</a:t>
            </a:r>
            <a:br>
              <a:rPr lang="en-US" altLang="en-US" sz="4800" dirty="0"/>
            </a:br>
            <a:r>
              <a:rPr lang="en-US" altLang="en-US" sz="4800" dirty="0"/>
              <a:t>vs.</a:t>
            </a:r>
            <a:br>
              <a:rPr lang="en-US" altLang="en-US" sz="4800" dirty="0"/>
            </a:br>
            <a:r>
              <a:rPr lang="en-US" altLang="en-US" sz="4800" dirty="0"/>
              <a:t>Value Capture</a:t>
            </a:r>
          </a:p>
        </p:txBody>
      </p:sp>
      <p:sp>
        <p:nvSpPr>
          <p:cNvPr id="190467" name="Rectangle 3"/>
          <p:cNvSpPr>
            <a:spLocks noGrp="1" noChangeArrowheads="1"/>
          </p:cNvSpPr>
          <p:nvPr>
            <p:ph type="body" idx="4294967295"/>
          </p:nvPr>
        </p:nvSpPr>
        <p:spPr bwMode="auto">
          <a:xfrm>
            <a:off x="904042" y="3483863"/>
            <a:ext cx="11685847" cy="3086999"/>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103632" tIns="51816" rIns="103632" bIns="51816" numCol="1" anchor="t" anchorCtr="0" compatLnSpc="1">
            <a:prstTxWarp prst="textNoShape">
              <a:avLst/>
            </a:prstTxWarp>
          </a:bodyPr>
          <a:lstStyle/>
          <a:p>
            <a:pPr algn="ctr">
              <a:lnSpc>
                <a:spcPct val="30000"/>
              </a:lnSpc>
            </a:pPr>
            <a:endParaRPr lang="en-US" altLang="en-US" sz="6600" dirty="0">
              <a:solidFill>
                <a:schemeClr val="tx1">
                  <a:lumMod val="50000"/>
                </a:schemeClr>
              </a:solidFill>
            </a:endParaRPr>
          </a:p>
          <a:p>
            <a:pPr marL="0" indent="0" algn="ctr">
              <a:lnSpc>
                <a:spcPct val="90000"/>
              </a:lnSpc>
              <a:buNone/>
            </a:pPr>
            <a:r>
              <a:rPr lang="en-US" altLang="en-US" sz="4000" dirty="0">
                <a:solidFill>
                  <a:schemeClr val="tx1">
                    <a:lumMod val="50000"/>
                  </a:schemeClr>
                </a:solidFill>
              </a:rPr>
              <a:t>You must create value, </a:t>
            </a:r>
          </a:p>
          <a:p>
            <a:pPr marL="0" indent="0" algn="ctr">
              <a:lnSpc>
                <a:spcPct val="90000"/>
              </a:lnSpc>
              <a:buNone/>
            </a:pPr>
            <a:r>
              <a:rPr lang="en-US" altLang="en-US" sz="4000" dirty="0">
                <a:solidFill>
                  <a:schemeClr val="tx1">
                    <a:lumMod val="50000"/>
                  </a:schemeClr>
                </a:solidFill>
              </a:rPr>
              <a:t>as well as protect it from “</a:t>
            </a:r>
            <a:r>
              <a:rPr lang="en-US" altLang="en-US" sz="4000" i="1" dirty="0">
                <a:solidFill>
                  <a:schemeClr val="tx1">
                    <a:lumMod val="50000"/>
                  </a:schemeClr>
                </a:solidFill>
              </a:rPr>
              <a:t>appropriation”</a:t>
            </a:r>
          </a:p>
          <a:p>
            <a:pPr marL="0" indent="0" algn="ctr">
              <a:lnSpc>
                <a:spcPct val="90000"/>
              </a:lnSpc>
              <a:buNone/>
            </a:pPr>
            <a:r>
              <a:rPr lang="en-US" altLang="en-US" sz="4000" dirty="0">
                <a:solidFill>
                  <a:schemeClr val="tx1">
                    <a:lumMod val="50000"/>
                  </a:schemeClr>
                </a:solidFill>
              </a:rPr>
              <a:t>by customers, suppliers, competitors, and governments</a:t>
            </a:r>
          </a:p>
        </p:txBody>
      </p:sp>
    </p:spTree>
    <p:extLst>
      <p:ext uri="{BB962C8B-B14F-4D97-AF65-F5344CB8AC3E}">
        <p14:creationId xmlns:p14="http://schemas.microsoft.com/office/powerpoint/2010/main" val="2835456226"/>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073" y="190364"/>
            <a:ext cx="12561453" cy="1015663"/>
          </a:xfrm>
        </p:spPr>
        <p:txBody>
          <a:bodyPr/>
          <a:lstStyle/>
          <a:p>
            <a:r>
              <a:rPr lang="en-US" dirty="0">
                <a:latin typeface="Garamond" panose="02020404030301010803" pitchFamily="18" charset="0"/>
              </a:rPr>
              <a:t>Levels of Strategy</a:t>
            </a:r>
          </a:p>
        </p:txBody>
      </p:sp>
      <p:sp>
        <p:nvSpPr>
          <p:cNvPr id="3" name="Text Placeholder 2"/>
          <p:cNvSpPr>
            <a:spLocks noGrp="1"/>
          </p:cNvSpPr>
          <p:nvPr>
            <p:ph type="body" sz="quarter" idx="10"/>
          </p:nvPr>
        </p:nvSpPr>
        <p:spPr>
          <a:xfrm>
            <a:off x="628073" y="1206027"/>
            <a:ext cx="12561453" cy="5716758"/>
          </a:xfrm>
        </p:spPr>
        <p:txBody>
          <a:bodyPr/>
          <a:lstStyle/>
          <a:p>
            <a:r>
              <a:rPr lang="en-US" altLang="en-US" sz="3600" b="1" dirty="0">
                <a:solidFill>
                  <a:srgbClr val="092529"/>
                </a:solidFill>
                <a:latin typeface="Garamond" panose="02020404030301010803" pitchFamily="18" charset="0"/>
                <a:ea typeface="ヒラギノ角ゴ Pro W3" charset="-128"/>
              </a:rPr>
              <a:t>Business strategy: </a:t>
            </a:r>
          </a:p>
          <a:p>
            <a:pPr lvl="1"/>
            <a:r>
              <a:rPr lang="en-US" altLang="en-US" sz="3200" dirty="0">
                <a:solidFill>
                  <a:srgbClr val="092529"/>
                </a:solidFill>
                <a:latin typeface="Garamond" panose="02020404030301010803" pitchFamily="18" charset="0"/>
                <a:ea typeface="Arial" charset="0"/>
                <a:cs typeface="Arial" charset="0"/>
              </a:rPr>
              <a:t>How should the firm compete in a given business unit </a:t>
            </a:r>
          </a:p>
          <a:p>
            <a:pPr lvl="2"/>
            <a:r>
              <a:rPr lang="en-US" altLang="en-US" sz="3200" dirty="0">
                <a:solidFill>
                  <a:srgbClr val="092529"/>
                </a:solidFill>
                <a:latin typeface="Garamond" panose="02020404030301010803" pitchFamily="18" charset="0"/>
                <a:ea typeface="Arial" charset="0"/>
                <a:cs typeface="Arial" charset="0"/>
              </a:rPr>
              <a:t>Cost leadership, differentiation, vertical integration</a:t>
            </a:r>
          </a:p>
          <a:p>
            <a:r>
              <a:rPr lang="en-US" altLang="en-US" sz="3600" b="1" dirty="0">
                <a:solidFill>
                  <a:srgbClr val="092529"/>
                </a:solidFill>
                <a:latin typeface="Garamond" panose="02020404030301010803" pitchFamily="18" charset="0"/>
                <a:ea typeface="ヒラギノ角ゴ Pro W3" charset="-128"/>
              </a:rPr>
              <a:t>Corporate strategy: </a:t>
            </a:r>
          </a:p>
          <a:p>
            <a:pPr lvl="1"/>
            <a:r>
              <a:rPr lang="en-US" altLang="en-US" sz="3200" dirty="0">
                <a:solidFill>
                  <a:srgbClr val="092529"/>
                </a:solidFill>
                <a:latin typeface="Garamond" panose="02020404030301010803" pitchFamily="18" charset="0"/>
                <a:ea typeface="Arial" charset="0"/>
                <a:cs typeface="Arial" charset="0"/>
              </a:rPr>
              <a:t>In which industries, sectors or business units should the firm compete? </a:t>
            </a:r>
          </a:p>
          <a:p>
            <a:r>
              <a:rPr lang="en-US" altLang="en-US" sz="3600" b="1" dirty="0">
                <a:solidFill>
                  <a:srgbClr val="092529"/>
                </a:solidFill>
                <a:latin typeface="Garamond" panose="02020404030301010803" pitchFamily="18" charset="0"/>
                <a:ea typeface="ヒラギノ角ゴ Pro W3" charset="-128"/>
              </a:rPr>
              <a:t>Global strategy: </a:t>
            </a:r>
          </a:p>
          <a:p>
            <a:pPr lvl="1"/>
            <a:r>
              <a:rPr lang="en-US" altLang="en-US" sz="3200" dirty="0">
                <a:solidFill>
                  <a:srgbClr val="092529"/>
                </a:solidFill>
                <a:latin typeface="Garamond" panose="02020404030301010803" pitchFamily="18" charset="0"/>
                <a:ea typeface="Arial" charset="0"/>
                <a:cs typeface="Arial" charset="0"/>
              </a:rPr>
              <a:t>Where should the firm compete: local, regional, national, or international? </a:t>
            </a:r>
            <a:endParaRPr lang="en-US" altLang="en-US" sz="3200" dirty="0">
              <a:solidFill>
                <a:srgbClr val="092529"/>
              </a:solidFill>
              <a:latin typeface="Garamond" panose="02020404030301010803" pitchFamily="18" charset="0"/>
              <a:ea typeface="ヒラギノ角ゴ Pro W3" charset="-128"/>
            </a:endParaRPr>
          </a:p>
        </p:txBody>
      </p:sp>
    </p:spTree>
    <p:extLst>
      <p:ext uri="{BB962C8B-B14F-4D97-AF65-F5344CB8AC3E}">
        <p14:creationId xmlns:p14="http://schemas.microsoft.com/office/powerpoint/2010/main" val="1240966741"/>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28073" y="0"/>
            <a:ext cx="12561453" cy="1292662"/>
          </a:xfrm>
        </p:spPr>
        <p:txBody>
          <a:bodyPr/>
          <a:lstStyle/>
          <a:p>
            <a:r>
              <a:rPr lang="en-US" altLang="en-US" sz="3600" dirty="0">
                <a:ea typeface="ヒラギノ角ゴ Pro W3" pitchFamily="122" charset="-128"/>
              </a:rPr>
              <a:t>Industry Effects vs. Firm Effects In</a:t>
            </a:r>
            <a:br>
              <a:rPr lang="en-US" altLang="en-US" sz="3600" dirty="0">
                <a:ea typeface="ヒラギノ角ゴ Pro W3" pitchFamily="122" charset="-128"/>
              </a:rPr>
            </a:br>
            <a:r>
              <a:rPr lang="en-US" altLang="en-US" sz="3600" dirty="0">
                <a:ea typeface="ヒラギノ角ゴ Pro W3" pitchFamily="122" charset="-128"/>
              </a:rPr>
              <a:t>Determining Firm Financial Performance </a:t>
            </a:r>
            <a:endParaRPr lang="en-US" sz="3600" dirty="0"/>
          </a:p>
        </p:txBody>
      </p:sp>
      <p:pic>
        <p:nvPicPr>
          <p:cNvPr id="4" name="Picture 10" descr="This image is of a pie chart, separated into three sections, each titled Firm Effects, Industry Effects, and Other Effects. Firm Effects account for the biggest slice of the pie, at 55%. Industry Effects represent 20% of the pie, and Other Effects (business cycle effects and unexplained variance) represent 25% of the pie.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379" y="1733118"/>
            <a:ext cx="9547498" cy="5710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1407575001"/>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6707" y="581168"/>
            <a:ext cx="12561453" cy="1015663"/>
          </a:xfrm>
        </p:spPr>
        <p:txBody>
          <a:bodyPr/>
          <a:lstStyle/>
          <a:p>
            <a:r>
              <a:rPr lang="en-US" dirty="0">
                <a:latin typeface="Garamond" panose="02020404030301010803" pitchFamily="18" charset="0"/>
              </a:rPr>
              <a:t>Strategic Management Content</a:t>
            </a:r>
          </a:p>
        </p:txBody>
      </p:sp>
      <p:sp>
        <p:nvSpPr>
          <p:cNvPr id="3" name="Text Placeholder 2"/>
          <p:cNvSpPr>
            <a:spLocks noGrp="1"/>
          </p:cNvSpPr>
          <p:nvPr>
            <p:ph type="body" sz="quarter" idx="10"/>
          </p:nvPr>
        </p:nvSpPr>
        <p:spPr>
          <a:xfrm>
            <a:off x="1264680" y="1505167"/>
            <a:ext cx="11085505" cy="952505"/>
          </a:xfrm>
        </p:spPr>
        <p:txBody>
          <a:bodyPr/>
          <a:lstStyle/>
          <a:p>
            <a:r>
              <a:rPr lang="en-US" sz="4400" dirty="0">
                <a:solidFill>
                  <a:schemeClr val="tx1">
                    <a:lumMod val="50000"/>
                  </a:schemeClr>
                </a:solidFill>
                <a:latin typeface="Garamond" panose="02020404030301010803" pitchFamily="18" charset="0"/>
              </a:rPr>
              <a:t>Industry Effects and Analysis</a:t>
            </a:r>
          </a:p>
        </p:txBody>
      </p:sp>
      <p:sp>
        <p:nvSpPr>
          <p:cNvPr id="4" name="Rectangle 3">
            <a:extLst>
              <a:ext uri="{FF2B5EF4-FFF2-40B4-BE49-F238E27FC236}">
                <a16:creationId xmlns:a16="http://schemas.microsoft.com/office/drawing/2014/main" id="{4931F7E3-31D4-2E9F-549E-E4C5C82BF720}"/>
              </a:ext>
            </a:extLst>
          </p:cNvPr>
          <p:cNvSpPr txBox="1">
            <a:spLocks noChangeArrowheads="1"/>
          </p:cNvSpPr>
          <p:nvPr/>
        </p:nvSpPr>
        <p:spPr>
          <a:xfrm>
            <a:off x="2285999" y="2655439"/>
            <a:ext cx="9727871" cy="3966022"/>
          </a:xfrm>
          <a:prstGeom prst="rect">
            <a:avLst/>
          </a:prstGeom>
        </p:spPr>
        <p:txBody>
          <a:bodyPr vert="horz" wrap="square" lIns="91440" tIns="91440" rIns="91440" bIns="91440" rtlCol="0">
            <a:spAutoFit/>
          </a:bodyPr>
          <a:lstStyle>
            <a:lvl1pPr marL="524712" indent="-524712" algn="l" defTabSz="699614" rtl="0" eaLnBrk="1" latinLnBrk="0" hangingPunct="1">
              <a:lnSpc>
                <a:spcPct val="120000"/>
              </a:lnSpc>
              <a:spcBef>
                <a:spcPts val="600"/>
              </a:spcBef>
              <a:spcAft>
                <a:spcPts val="600"/>
              </a:spcAft>
              <a:buFont typeface="Arial"/>
              <a:buChar char="•"/>
              <a:defRPr sz="1800" b="0" kern="1200">
                <a:solidFill>
                  <a:schemeClr val="tx1"/>
                </a:solidFill>
                <a:latin typeface="+mn-lt"/>
                <a:ea typeface="Franklin Gothic Book" charset="0"/>
                <a:cs typeface="Franklin Gothic Book" charset="0"/>
              </a:defRPr>
            </a:lvl1pPr>
            <a:lvl2pPr marL="1136875" indent="-437261" algn="l" defTabSz="699614" rtl="0" eaLnBrk="1" latinLnBrk="0" hangingPunct="1">
              <a:lnSpc>
                <a:spcPct val="120000"/>
              </a:lnSpc>
              <a:spcBef>
                <a:spcPts val="0"/>
              </a:spcBef>
              <a:spcAft>
                <a:spcPts val="600"/>
              </a:spcAft>
              <a:buFont typeface="Arial"/>
              <a:buChar char="–"/>
              <a:defRPr sz="1600" b="0" kern="1200">
                <a:solidFill>
                  <a:schemeClr val="tx1"/>
                </a:solidFill>
                <a:latin typeface="+mn-lt"/>
                <a:ea typeface="Franklin Gothic Book" charset="0"/>
                <a:cs typeface="Franklin Gothic Book" charset="0"/>
              </a:defRPr>
            </a:lvl2pPr>
            <a:lvl3pPr marL="1749040" indent="-349807" algn="l" defTabSz="699614" rtl="0" eaLnBrk="1" latinLnBrk="0" hangingPunct="1">
              <a:lnSpc>
                <a:spcPct val="120000"/>
              </a:lnSpc>
              <a:spcBef>
                <a:spcPts val="0"/>
              </a:spcBef>
              <a:spcAft>
                <a:spcPts val="600"/>
              </a:spcAft>
              <a:buFont typeface="Arial"/>
              <a:buChar char="•"/>
              <a:defRPr sz="1600" b="0" kern="1200">
                <a:solidFill>
                  <a:schemeClr val="tx1"/>
                </a:solidFill>
                <a:latin typeface="+mn-lt"/>
                <a:ea typeface="Franklin Gothic Book" charset="0"/>
                <a:cs typeface="Franklin Gothic Book" charset="0"/>
              </a:defRPr>
            </a:lvl3pPr>
            <a:lvl4pPr marL="2448655" indent="-349807" algn="l" defTabSz="699614" rtl="0" eaLnBrk="1" latinLnBrk="0" hangingPunct="1">
              <a:lnSpc>
                <a:spcPct val="120000"/>
              </a:lnSpc>
              <a:spcBef>
                <a:spcPts val="0"/>
              </a:spcBef>
              <a:spcAft>
                <a:spcPts val="600"/>
              </a:spcAft>
              <a:buFont typeface="Arial"/>
              <a:buChar char="–"/>
              <a:defRPr sz="1600" b="0" kern="1200">
                <a:solidFill>
                  <a:schemeClr val="tx1"/>
                </a:solidFill>
                <a:latin typeface="+mn-lt"/>
                <a:ea typeface="Franklin Gothic Book" charset="0"/>
                <a:cs typeface="Franklin Gothic Book" charset="0"/>
              </a:defRPr>
            </a:lvl4pPr>
            <a:lvl5pPr marL="3148272" indent="-349807" algn="l" defTabSz="699614" rtl="0" eaLnBrk="1" latinLnBrk="0" hangingPunct="1">
              <a:spcBef>
                <a:spcPct val="20000"/>
              </a:spcBef>
              <a:buFont typeface="Arial"/>
              <a:buChar char="»"/>
              <a:defRPr sz="1648" b="0" kern="1200">
                <a:solidFill>
                  <a:schemeClr val="accent6">
                    <a:lumMod val="75000"/>
                  </a:schemeClr>
                </a:solidFill>
                <a:latin typeface="Franklin Gothic Book" charset="0"/>
                <a:ea typeface="Franklin Gothic Book" charset="0"/>
                <a:cs typeface="Franklin Gothic Book" charset="0"/>
              </a:defRPr>
            </a:lvl5pPr>
            <a:lvl6pPr marL="3847888" indent="-349807" algn="l" defTabSz="699614" rtl="0" eaLnBrk="1" latinLnBrk="0" hangingPunct="1">
              <a:spcBef>
                <a:spcPct val="20000"/>
              </a:spcBef>
              <a:buFont typeface="Arial"/>
              <a:buChar char="•"/>
              <a:defRPr sz="3022" kern="1200">
                <a:solidFill>
                  <a:schemeClr val="tx1"/>
                </a:solidFill>
                <a:latin typeface="+mn-lt"/>
                <a:ea typeface="+mn-ea"/>
                <a:cs typeface="+mn-cs"/>
              </a:defRPr>
            </a:lvl6pPr>
            <a:lvl7pPr marL="4547505" indent="-349807" algn="l" defTabSz="699614" rtl="0" eaLnBrk="1" latinLnBrk="0" hangingPunct="1">
              <a:spcBef>
                <a:spcPct val="20000"/>
              </a:spcBef>
              <a:buFont typeface="Arial"/>
              <a:buChar char="•"/>
              <a:defRPr sz="3022" kern="1200">
                <a:solidFill>
                  <a:schemeClr val="tx1"/>
                </a:solidFill>
                <a:latin typeface="+mn-lt"/>
                <a:ea typeface="+mn-ea"/>
                <a:cs typeface="+mn-cs"/>
              </a:defRPr>
            </a:lvl7pPr>
            <a:lvl8pPr marL="5247119" indent="-349807" algn="l" defTabSz="699614" rtl="0" eaLnBrk="1" latinLnBrk="0" hangingPunct="1">
              <a:spcBef>
                <a:spcPct val="20000"/>
              </a:spcBef>
              <a:buFont typeface="Arial"/>
              <a:buChar char="•"/>
              <a:defRPr sz="3022" kern="1200">
                <a:solidFill>
                  <a:schemeClr val="tx1"/>
                </a:solidFill>
                <a:latin typeface="+mn-lt"/>
                <a:ea typeface="+mn-ea"/>
                <a:cs typeface="+mn-cs"/>
              </a:defRPr>
            </a:lvl8pPr>
            <a:lvl9pPr marL="5946736" indent="-349807" algn="l" defTabSz="699614" rtl="0" eaLnBrk="1" latinLnBrk="0" hangingPunct="1">
              <a:spcBef>
                <a:spcPct val="20000"/>
              </a:spcBef>
              <a:buFont typeface="Arial"/>
              <a:buChar char="•"/>
              <a:defRPr sz="3022" kern="1200">
                <a:solidFill>
                  <a:schemeClr val="tx1"/>
                </a:solidFill>
                <a:latin typeface="+mn-lt"/>
                <a:ea typeface="+mn-ea"/>
                <a:cs typeface="+mn-cs"/>
              </a:defRPr>
            </a:lvl9pPr>
          </a:lstStyle>
          <a:p>
            <a:pPr>
              <a:buFont typeface="Wingdings" charset="2"/>
              <a:buNone/>
            </a:pPr>
            <a:r>
              <a:rPr lang="en-US" altLang="en-US" sz="3173" dirty="0">
                <a:solidFill>
                  <a:schemeClr val="tx1">
                    <a:lumMod val="50000"/>
                  </a:schemeClr>
                </a:solidFill>
                <a:latin typeface="Garamond" panose="02020404030301010803" pitchFamily="18" charset="0"/>
                <a:ea typeface="ＭＳ Ｐゴシック" charset="-128"/>
              </a:rPr>
              <a:t>Market: </a:t>
            </a:r>
            <a:r>
              <a:rPr lang="ja-JP" altLang="en-US" sz="3173">
                <a:solidFill>
                  <a:schemeClr val="tx1">
                    <a:lumMod val="50000"/>
                  </a:schemeClr>
                </a:solidFill>
                <a:latin typeface="Garamond" panose="02020404030301010803" pitchFamily="18" charset="0"/>
                <a:ea typeface="ＭＳ Ｐゴシック" charset="-128"/>
              </a:rPr>
              <a:t>“</a:t>
            </a:r>
            <a:r>
              <a:rPr lang="en-US" altLang="ja-JP" sz="3173" dirty="0">
                <a:solidFill>
                  <a:schemeClr val="tx1">
                    <a:lumMod val="50000"/>
                  </a:schemeClr>
                </a:solidFill>
                <a:latin typeface="Garamond" panose="02020404030301010803" pitchFamily="18" charset="0"/>
                <a:ea typeface="ＭＳ Ｐゴシック" charset="-128"/>
              </a:rPr>
              <a:t>group of current and potential </a:t>
            </a:r>
            <a:r>
              <a:rPr lang="en-US" altLang="ja-JP" sz="3173" u="sng" dirty="0">
                <a:solidFill>
                  <a:schemeClr val="tx1">
                    <a:lumMod val="50000"/>
                  </a:schemeClr>
                </a:solidFill>
                <a:latin typeface="Garamond" panose="02020404030301010803" pitchFamily="18" charset="0"/>
                <a:ea typeface="ＭＳ Ｐゴシック" charset="-128"/>
              </a:rPr>
              <a:t>customers</a:t>
            </a:r>
            <a:r>
              <a:rPr lang="en-US" altLang="ja-JP" sz="3173" dirty="0">
                <a:solidFill>
                  <a:schemeClr val="tx1">
                    <a:lumMod val="50000"/>
                  </a:schemeClr>
                </a:solidFill>
                <a:latin typeface="Garamond" panose="02020404030301010803" pitchFamily="18" charset="0"/>
                <a:ea typeface="ＭＳ Ｐゴシック" charset="-128"/>
              </a:rPr>
              <a:t> having the willingness and ability to buy product/services to satisfy a need.</a:t>
            </a:r>
            <a:r>
              <a:rPr lang="ja-JP" altLang="en-US" sz="3173">
                <a:solidFill>
                  <a:schemeClr val="tx1">
                    <a:lumMod val="50000"/>
                  </a:schemeClr>
                </a:solidFill>
                <a:latin typeface="Garamond" panose="02020404030301010803" pitchFamily="18" charset="0"/>
                <a:ea typeface="ＭＳ Ｐゴシック" charset="-128"/>
              </a:rPr>
              <a:t>”</a:t>
            </a:r>
            <a:endParaRPr lang="en-US" altLang="ja-JP" sz="3173" dirty="0">
              <a:solidFill>
                <a:schemeClr val="tx1">
                  <a:lumMod val="50000"/>
                </a:schemeClr>
              </a:solidFill>
              <a:latin typeface="Garamond" panose="02020404030301010803" pitchFamily="18" charset="0"/>
              <a:ea typeface="ＭＳ Ｐゴシック" charset="-128"/>
            </a:endParaRPr>
          </a:p>
          <a:p>
            <a:pPr>
              <a:buFont typeface="Wingdings" charset="2"/>
              <a:buNone/>
            </a:pPr>
            <a:endParaRPr lang="en-US" altLang="en-US" sz="3173" dirty="0">
              <a:solidFill>
                <a:schemeClr val="tx1">
                  <a:lumMod val="50000"/>
                </a:schemeClr>
              </a:solidFill>
              <a:latin typeface="Garamond" panose="02020404030301010803" pitchFamily="18" charset="0"/>
              <a:ea typeface="ＭＳ Ｐゴシック" charset="-128"/>
            </a:endParaRPr>
          </a:p>
          <a:p>
            <a:pPr>
              <a:buFont typeface="Wingdings" charset="2"/>
              <a:buNone/>
            </a:pPr>
            <a:r>
              <a:rPr lang="en-US" altLang="en-US" sz="3173" dirty="0">
                <a:solidFill>
                  <a:schemeClr val="tx1">
                    <a:lumMod val="50000"/>
                  </a:schemeClr>
                </a:solidFill>
                <a:latin typeface="Garamond" panose="02020404030301010803" pitchFamily="18" charset="0"/>
                <a:ea typeface="ＭＳ Ｐゴシック" charset="-128"/>
              </a:rPr>
              <a:t>Industry: </a:t>
            </a:r>
            <a:r>
              <a:rPr lang="ja-JP" altLang="en-US" sz="3173">
                <a:solidFill>
                  <a:schemeClr val="tx1">
                    <a:lumMod val="50000"/>
                  </a:schemeClr>
                </a:solidFill>
                <a:latin typeface="Garamond" panose="02020404030301010803" pitchFamily="18" charset="0"/>
                <a:ea typeface="ＭＳ Ｐゴシック" charset="-128"/>
              </a:rPr>
              <a:t>“</a:t>
            </a:r>
            <a:r>
              <a:rPr lang="en-US" altLang="ja-JP" sz="3173" dirty="0">
                <a:solidFill>
                  <a:schemeClr val="tx1">
                    <a:lumMod val="50000"/>
                  </a:schemeClr>
                </a:solidFill>
                <a:latin typeface="Garamond" panose="02020404030301010803" pitchFamily="18" charset="0"/>
                <a:ea typeface="ＭＳ Ｐゴシック" charset="-128"/>
              </a:rPr>
              <a:t>group of </a:t>
            </a:r>
            <a:r>
              <a:rPr lang="en-US" altLang="ja-JP" sz="3173" u="sng" dirty="0">
                <a:solidFill>
                  <a:schemeClr val="tx1">
                    <a:lumMod val="50000"/>
                  </a:schemeClr>
                </a:solidFill>
                <a:latin typeface="Garamond" panose="02020404030301010803" pitchFamily="18" charset="0"/>
                <a:ea typeface="ＭＳ Ｐゴシック" charset="-128"/>
              </a:rPr>
              <a:t>sellers</a:t>
            </a:r>
            <a:r>
              <a:rPr lang="en-US" altLang="ja-JP" sz="3173" dirty="0">
                <a:solidFill>
                  <a:schemeClr val="tx1">
                    <a:lumMod val="50000"/>
                  </a:schemeClr>
                </a:solidFill>
                <a:latin typeface="Garamond" panose="02020404030301010803" pitchFamily="18" charset="0"/>
                <a:ea typeface="ＭＳ Ｐゴシック" charset="-128"/>
              </a:rPr>
              <a:t> that offer product/services that are similar and close substitutes for one another.</a:t>
            </a:r>
            <a:r>
              <a:rPr lang="ja-JP" altLang="en-US" sz="3173">
                <a:solidFill>
                  <a:schemeClr val="tx1">
                    <a:lumMod val="50000"/>
                  </a:schemeClr>
                </a:solidFill>
                <a:latin typeface="Garamond" panose="02020404030301010803" pitchFamily="18" charset="0"/>
                <a:ea typeface="ＭＳ Ｐゴシック" charset="-128"/>
              </a:rPr>
              <a:t>”</a:t>
            </a:r>
            <a:endParaRPr lang="en-US" altLang="en-US" sz="3173" dirty="0">
              <a:solidFill>
                <a:schemeClr val="tx1">
                  <a:lumMod val="50000"/>
                </a:schemeClr>
              </a:solidFill>
              <a:latin typeface="Garamond" panose="02020404030301010803" pitchFamily="18" charset="0"/>
              <a:ea typeface="ＭＳ Ｐゴシック" charset="-128"/>
            </a:endParaRPr>
          </a:p>
        </p:txBody>
      </p:sp>
    </p:spTree>
    <p:extLst>
      <p:ext uri="{BB962C8B-B14F-4D97-AF65-F5344CB8AC3E}">
        <p14:creationId xmlns:p14="http://schemas.microsoft.com/office/powerpoint/2010/main" val="3177962799"/>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bwMode="auto">
          <a:xfrm>
            <a:off x="586377" y="349046"/>
            <a:ext cx="12644846" cy="732508"/>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103632" tIns="51816" rIns="103632" bIns="51816" numCol="1" rtlCol="0" anchor="t" anchorCtr="0" compatLnSpc="1">
            <a:prstTxWarp prst="textNoShape">
              <a:avLst/>
            </a:prstTxWarp>
            <a:spAutoFit/>
          </a:bodyPr>
          <a:lstStyle/>
          <a:p>
            <a:r>
              <a:rPr lang="en-US" altLang="en-US" sz="4080"/>
              <a:t>Types of Competition, Rivalry, and Economic Profit</a:t>
            </a:r>
            <a:endParaRPr lang="en-US" altLang="en-US"/>
          </a:p>
        </p:txBody>
      </p:sp>
      <p:grpSp>
        <p:nvGrpSpPr>
          <p:cNvPr id="107548" name="Group 28" descr="Grpahic showing different types of competition and related levels of rivalry and expected economic profit, with highest profit from pure nonopoly and lowest from perfect comeptition"/>
          <p:cNvGrpSpPr>
            <a:grpSpLocks/>
          </p:cNvGrpSpPr>
          <p:nvPr/>
        </p:nvGrpSpPr>
        <p:grpSpPr bwMode="auto">
          <a:xfrm>
            <a:off x="2590800" y="2072640"/>
            <a:ext cx="8636000" cy="4404360"/>
            <a:chOff x="480" y="1152"/>
            <a:chExt cx="4800" cy="2448"/>
          </a:xfrm>
        </p:grpSpPr>
        <p:sp>
          <p:nvSpPr>
            <p:cNvPr id="107524" name="Line 4"/>
            <p:cNvSpPr>
              <a:spLocks noChangeShapeType="1"/>
            </p:cNvSpPr>
            <p:nvPr/>
          </p:nvSpPr>
          <p:spPr bwMode="auto">
            <a:xfrm>
              <a:off x="480" y="2544"/>
              <a:ext cx="4800" cy="0"/>
            </a:xfrm>
            <a:prstGeom prst="line">
              <a:avLst/>
            </a:prstGeom>
            <a:noFill/>
            <a:ln w="12699">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2267"/>
            </a:p>
          </p:txBody>
        </p:sp>
        <p:sp>
          <p:nvSpPr>
            <p:cNvPr id="107525" name="Line 5"/>
            <p:cNvSpPr>
              <a:spLocks noChangeShapeType="1"/>
            </p:cNvSpPr>
            <p:nvPr/>
          </p:nvSpPr>
          <p:spPr bwMode="auto">
            <a:xfrm flipV="1">
              <a:off x="480" y="1152"/>
              <a:ext cx="0" cy="2448"/>
            </a:xfrm>
            <a:prstGeom prst="line">
              <a:avLst/>
            </a:prstGeom>
            <a:noFill/>
            <a:ln w="12699">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2267"/>
            </a:p>
          </p:txBody>
        </p:sp>
        <p:sp>
          <p:nvSpPr>
            <p:cNvPr id="107526" name="Line 6"/>
            <p:cNvSpPr>
              <a:spLocks noChangeShapeType="1"/>
            </p:cNvSpPr>
            <p:nvPr/>
          </p:nvSpPr>
          <p:spPr bwMode="auto">
            <a:xfrm flipV="1">
              <a:off x="1680" y="1152"/>
              <a:ext cx="0" cy="2448"/>
            </a:xfrm>
            <a:prstGeom prst="line">
              <a:avLst/>
            </a:prstGeom>
            <a:noFill/>
            <a:ln w="12699">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2267"/>
            </a:p>
          </p:txBody>
        </p:sp>
        <p:sp>
          <p:nvSpPr>
            <p:cNvPr id="107527" name="Line 7"/>
            <p:cNvSpPr>
              <a:spLocks noChangeShapeType="1"/>
            </p:cNvSpPr>
            <p:nvPr/>
          </p:nvSpPr>
          <p:spPr bwMode="auto">
            <a:xfrm flipV="1">
              <a:off x="2880" y="1152"/>
              <a:ext cx="0" cy="2448"/>
            </a:xfrm>
            <a:prstGeom prst="line">
              <a:avLst/>
            </a:prstGeom>
            <a:noFill/>
            <a:ln w="12699">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2267"/>
            </a:p>
          </p:txBody>
        </p:sp>
        <p:sp>
          <p:nvSpPr>
            <p:cNvPr id="107528" name="Line 8"/>
            <p:cNvSpPr>
              <a:spLocks noChangeShapeType="1"/>
            </p:cNvSpPr>
            <p:nvPr/>
          </p:nvSpPr>
          <p:spPr bwMode="auto">
            <a:xfrm flipV="1">
              <a:off x="5280" y="1152"/>
              <a:ext cx="0" cy="2448"/>
            </a:xfrm>
            <a:prstGeom prst="line">
              <a:avLst/>
            </a:prstGeom>
            <a:noFill/>
            <a:ln w="12699">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2267"/>
            </a:p>
          </p:txBody>
        </p:sp>
        <p:sp>
          <p:nvSpPr>
            <p:cNvPr id="107529" name="Line 9"/>
            <p:cNvSpPr>
              <a:spLocks noChangeShapeType="1"/>
            </p:cNvSpPr>
            <p:nvPr/>
          </p:nvSpPr>
          <p:spPr bwMode="auto">
            <a:xfrm flipV="1">
              <a:off x="4080" y="1152"/>
              <a:ext cx="0" cy="2448"/>
            </a:xfrm>
            <a:prstGeom prst="line">
              <a:avLst/>
            </a:prstGeom>
            <a:noFill/>
            <a:ln w="12699">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2267"/>
            </a:p>
          </p:txBody>
        </p:sp>
        <p:sp>
          <p:nvSpPr>
            <p:cNvPr id="107538" name="Line 18"/>
            <p:cNvSpPr>
              <a:spLocks noChangeShapeType="1"/>
            </p:cNvSpPr>
            <p:nvPr/>
          </p:nvSpPr>
          <p:spPr bwMode="auto">
            <a:xfrm>
              <a:off x="480" y="3600"/>
              <a:ext cx="4800" cy="0"/>
            </a:xfrm>
            <a:prstGeom prst="line">
              <a:avLst/>
            </a:prstGeom>
            <a:noFill/>
            <a:ln w="12699">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2267"/>
            </a:p>
          </p:txBody>
        </p:sp>
        <p:sp>
          <p:nvSpPr>
            <p:cNvPr id="107547" name="Line 27"/>
            <p:cNvSpPr>
              <a:spLocks noChangeShapeType="1"/>
            </p:cNvSpPr>
            <p:nvPr/>
          </p:nvSpPr>
          <p:spPr bwMode="auto">
            <a:xfrm>
              <a:off x="480" y="3072"/>
              <a:ext cx="4800" cy="0"/>
            </a:xfrm>
            <a:prstGeom prst="line">
              <a:avLst/>
            </a:prstGeom>
            <a:noFill/>
            <a:ln w="12699">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2267"/>
            </a:p>
          </p:txBody>
        </p:sp>
      </p:grpSp>
      <p:sp>
        <p:nvSpPr>
          <p:cNvPr id="107549" name="Text Box 29"/>
          <p:cNvSpPr txBox="1">
            <a:spLocks noChangeArrowheads="1"/>
          </p:cNvSpPr>
          <p:nvPr/>
        </p:nvSpPr>
        <p:spPr bwMode="auto">
          <a:xfrm>
            <a:off x="3002960" y="4663440"/>
            <a:ext cx="1446229" cy="79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altLang="en-US" sz="2267"/>
              <a:t>Pure</a:t>
            </a:r>
          </a:p>
          <a:p>
            <a:pPr algn="ctr"/>
            <a:r>
              <a:rPr lang="en-US" altLang="en-US" sz="2267"/>
              <a:t>Monopoly</a:t>
            </a:r>
          </a:p>
        </p:txBody>
      </p:sp>
      <p:sp>
        <p:nvSpPr>
          <p:cNvPr id="107551" name="Text Box 31"/>
          <p:cNvSpPr txBox="1">
            <a:spLocks noChangeArrowheads="1"/>
          </p:cNvSpPr>
          <p:nvPr/>
        </p:nvSpPr>
        <p:spPr bwMode="auto">
          <a:xfrm>
            <a:off x="4963714" y="4663440"/>
            <a:ext cx="1734770" cy="79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altLang="en-US" sz="2267" dirty="0"/>
              <a:t>Avoided</a:t>
            </a:r>
          </a:p>
          <a:p>
            <a:pPr algn="ctr"/>
            <a:r>
              <a:rPr lang="en-US" altLang="en-US" sz="2267" dirty="0"/>
              <a:t>Competition</a:t>
            </a:r>
          </a:p>
        </p:txBody>
      </p:sp>
      <p:sp>
        <p:nvSpPr>
          <p:cNvPr id="107552" name="Text Box 32"/>
          <p:cNvSpPr txBox="1">
            <a:spLocks noChangeArrowheads="1"/>
          </p:cNvSpPr>
          <p:nvPr/>
        </p:nvSpPr>
        <p:spPr bwMode="auto">
          <a:xfrm>
            <a:off x="7122390" y="4663440"/>
            <a:ext cx="1670649" cy="79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altLang="en-US" sz="2267"/>
              <a:t>Hyper-</a:t>
            </a:r>
          </a:p>
          <a:p>
            <a:pPr algn="ctr"/>
            <a:r>
              <a:rPr lang="en-US" altLang="en-US" sz="2267"/>
              <a:t>competition</a:t>
            </a:r>
          </a:p>
        </p:txBody>
      </p:sp>
      <p:sp>
        <p:nvSpPr>
          <p:cNvPr id="107553" name="Text Box 33"/>
          <p:cNvSpPr txBox="1">
            <a:spLocks noChangeArrowheads="1"/>
          </p:cNvSpPr>
          <p:nvPr/>
        </p:nvSpPr>
        <p:spPr bwMode="auto">
          <a:xfrm>
            <a:off x="9281714" y="4663440"/>
            <a:ext cx="1734770" cy="79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altLang="en-US" sz="2267"/>
              <a:t>Perfect</a:t>
            </a:r>
          </a:p>
          <a:p>
            <a:pPr algn="ctr"/>
            <a:r>
              <a:rPr lang="en-US" altLang="en-US" sz="2267"/>
              <a:t>Competition</a:t>
            </a:r>
          </a:p>
        </p:txBody>
      </p:sp>
      <p:sp>
        <p:nvSpPr>
          <p:cNvPr id="107554" name="Text Box 34"/>
          <p:cNvSpPr txBox="1">
            <a:spLocks noChangeArrowheads="1"/>
          </p:cNvSpPr>
          <p:nvPr/>
        </p:nvSpPr>
        <p:spPr bwMode="auto">
          <a:xfrm>
            <a:off x="4930773" y="5613400"/>
            <a:ext cx="1784463" cy="79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altLang="en-US" sz="2267"/>
              <a:t>Professional</a:t>
            </a:r>
          </a:p>
          <a:p>
            <a:pPr algn="ctr"/>
            <a:r>
              <a:rPr lang="en-US" altLang="en-US" sz="2267"/>
              <a:t>Sports</a:t>
            </a:r>
          </a:p>
        </p:txBody>
      </p:sp>
      <p:sp>
        <p:nvSpPr>
          <p:cNvPr id="107555" name="Text Box 35"/>
          <p:cNvSpPr txBox="1">
            <a:spLocks noChangeArrowheads="1"/>
          </p:cNvSpPr>
          <p:nvPr/>
        </p:nvSpPr>
        <p:spPr bwMode="auto">
          <a:xfrm>
            <a:off x="2846869" y="5613400"/>
            <a:ext cx="1736822" cy="79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altLang="en-US" sz="2267"/>
              <a:t>Public</a:t>
            </a:r>
          </a:p>
          <a:p>
            <a:pPr algn="ctr"/>
            <a:r>
              <a:rPr lang="en-US" altLang="en-US" sz="2267"/>
              <a:t>Water Utility</a:t>
            </a:r>
          </a:p>
        </p:txBody>
      </p:sp>
      <p:sp>
        <p:nvSpPr>
          <p:cNvPr id="107556" name="Text Box 36"/>
          <p:cNvSpPr txBox="1">
            <a:spLocks noChangeArrowheads="1"/>
          </p:cNvSpPr>
          <p:nvPr/>
        </p:nvSpPr>
        <p:spPr bwMode="auto">
          <a:xfrm>
            <a:off x="7201228" y="5613400"/>
            <a:ext cx="1606530" cy="79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altLang="en-US" sz="2267"/>
              <a:t>Consumer</a:t>
            </a:r>
          </a:p>
          <a:p>
            <a:pPr algn="ctr"/>
            <a:r>
              <a:rPr lang="en-US" altLang="en-US" sz="2267"/>
              <a:t>Electronics</a:t>
            </a:r>
          </a:p>
        </p:txBody>
      </p:sp>
      <p:sp>
        <p:nvSpPr>
          <p:cNvPr id="107557" name="Text Box 37"/>
          <p:cNvSpPr txBox="1">
            <a:spLocks noChangeArrowheads="1"/>
          </p:cNvSpPr>
          <p:nvPr/>
        </p:nvSpPr>
        <p:spPr bwMode="auto">
          <a:xfrm>
            <a:off x="9499601" y="5755535"/>
            <a:ext cx="1250663" cy="441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en-US" sz="2267"/>
              <a:t>Farming</a:t>
            </a:r>
          </a:p>
        </p:txBody>
      </p:sp>
      <p:sp>
        <p:nvSpPr>
          <p:cNvPr id="107560" name="Freeform 40"/>
          <p:cNvSpPr>
            <a:spLocks/>
          </p:cNvSpPr>
          <p:nvPr/>
        </p:nvSpPr>
        <p:spPr bwMode="auto">
          <a:xfrm>
            <a:off x="3713480" y="2216573"/>
            <a:ext cx="6390640" cy="2015067"/>
          </a:xfrm>
          <a:custGeom>
            <a:avLst/>
            <a:gdLst>
              <a:gd name="T0" fmla="*/ 0 w 3552"/>
              <a:gd name="T1" fmla="*/ 1120 h 1120"/>
              <a:gd name="T2" fmla="*/ 960 w 3552"/>
              <a:gd name="T3" fmla="*/ 160 h 1120"/>
              <a:gd name="T4" fmla="*/ 2832 w 3552"/>
              <a:gd name="T5" fmla="*/ 160 h 1120"/>
              <a:gd name="T6" fmla="*/ 3552 w 3552"/>
              <a:gd name="T7" fmla="*/ 1120 h 1120"/>
            </a:gdLst>
            <a:ahLst/>
            <a:cxnLst>
              <a:cxn ang="0">
                <a:pos x="T0" y="T1"/>
              </a:cxn>
              <a:cxn ang="0">
                <a:pos x="T2" y="T3"/>
              </a:cxn>
              <a:cxn ang="0">
                <a:pos x="T4" y="T5"/>
              </a:cxn>
              <a:cxn ang="0">
                <a:pos x="T6" y="T7"/>
              </a:cxn>
            </a:cxnLst>
            <a:rect l="0" t="0" r="r" b="b"/>
            <a:pathLst>
              <a:path w="3552" h="1120">
                <a:moveTo>
                  <a:pt x="0" y="1120"/>
                </a:moveTo>
                <a:cubicBezTo>
                  <a:pt x="244" y="720"/>
                  <a:pt x="488" y="320"/>
                  <a:pt x="960" y="160"/>
                </a:cubicBezTo>
                <a:cubicBezTo>
                  <a:pt x="1432" y="0"/>
                  <a:pt x="2400" y="0"/>
                  <a:pt x="2832" y="160"/>
                </a:cubicBezTo>
                <a:cubicBezTo>
                  <a:pt x="3264" y="320"/>
                  <a:pt x="3408" y="720"/>
                  <a:pt x="3552" y="1120"/>
                </a:cubicBezTo>
              </a:path>
            </a:pathLst>
          </a:custGeom>
          <a:noFill/>
          <a:ln w="19050" cap="flat" cmpd="sng">
            <a:solidFill>
              <a:schemeClr val="hlink"/>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2267"/>
          </a:p>
        </p:txBody>
      </p:sp>
      <p:sp>
        <p:nvSpPr>
          <p:cNvPr id="107561" name="Text Box 41"/>
          <p:cNvSpPr txBox="1">
            <a:spLocks noChangeArrowheads="1"/>
          </p:cNvSpPr>
          <p:nvPr/>
        </p:nvSpPr>
        <p:spPr bwMode="auto">
          <a:xfrm>
            <a:off x="9222529" y="2261553"/>
            <a:ext cx="2560316" cy="79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en-US" sz="2267" dirty="0">
                <a:solidFill>
                  <a:schemeClr val="hlink"/>
                </a:solidFill>
              </a:rPr>
              <a:t>Relative emphasis</a:t>
            </a:r>
          </a:p>
          <a:p>
            <a:r>
              <a:rPr lang="en-US" altLang="en-US" sz="2267" dirty="0">
                <a:solidFill>
                  <a:schemeClr val="hlink"/>
                </a:solidFill>
              </a:rPr>
              <a:t>    on rivalry</a:t>
            </a:r>
          </a:p>
        </p:txBody>
      </p:sp>
      <p:sp>
        <p:nvSpPr>
          <p:cNvPr id="107562" name="Line 42"/>
          <p:cNvSpPr>
            <a:spLocks noChangeShapeType="1"/>
          </p:cNvSpPr>
          <p:nvPr/>
        </p:nvSpPr>
        <p:spPr bwMode="auto">
          <a:xfrm>
            <a:off x="3627120" y="2418080"/>
            <a:ext cx="6477000" cy="2072640"/>
          </a:xfrm>
          <a:prstGeom prst="line">
            <a:avLst/>
          </a:prstGeom>
          <a:noFill/>
          <a:ln w="19050">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2267"/>
          </a:p>
        </p:txBody>
      </p:sp>
      <p:sp>
        <p:nvSpPr>
          <p:cNvPr id="107563" name="Text Box 43"/>
          <p:cNvSpPr txBox="1">
            <a:spLocks noChangeArrowheads="1"/>
          </p:cNvSpPr>
          <p:nvPr/>
        </p:nvSpPr>
        <p:spPr bwMode="auto">
          <a:xfrm>
            <a:off x="2763520" y="1727201"/>
            <a:ext cx="1988045" cy="720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en-US" sz="2040">
                <a:solidFill>
                  <a:srgbClr val="0000CC"/>
                </a:solidFill>
              </a:rPr>
              <a:t>Expected </a:t>
            </a:r>
          </a:p>
          <a:p>
            <a:r>
              <a:rPr lang="en-US" altLang="en-US" sz="2040">
                <a:solidFill>
                  <a:srgbClr val="0000CC"/>
                </a:solidFill>
              </a:rPr>
              <a:t>Economic profit</a:t>
            </a:r>
          </a:p>
        </p:txBody>
      </p:sp>
    </p:spTree>
    <p:extLst>
      <p:ext uri="{BB962C8B-B14F-4D97-AF65-F5344CB8AC3E}">
        <p14:creationId xmlns:p14="http://schemas.microsoft.com/office/powerpoint/2010/main" val="3464591183"/>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2"/>
          <p:cNvSpPr>
            <a:spLocks noGrp="1" noChangeArrowheads="1"/>
          </p:cNvSpPr>
          <p:nvPr>
            <p:ph type="title"/>
          </p:nvPr>
        </p:nvSpPr>
        <p:spPr>
          <a:xfrm>
            <a:off x="316790" y="516153"/>
            <a:ext cx="12561453" cy="1015663"/>
          </a:xfrm>
        </p:spPr>
        <p:txBody>
          <a:bodyPr/>
          <a:lstStyle/>
          <a:p>
            <a:r>
              <a:rPr lang="en-US" altLang="en-US" dirty="0">
                <a:ea typeface="ＭＳ Ｐゴシック" charset="-128"/>
              </a:rPr>
              <a:t>Industry Structure</a:t>
            </a:r>
          </a:p>
        </p:txBody>
      </p:sp>
      <p:sp>
        <p:nvSpPr>
          <p:cNvPr id="106499" name="Rectangle 3"/>
          <p:cNvSpPr>
            <a:spLocks noGrp="1" noChangeArrowheads="1"/>
          </p:cNvSpPr>
          <p:nvPr>
            <p:ph type="body" idx="4294967295"/>
          </p:nvPr>
        </p:nvSpPr>
        <p:spPr>
          <a:xfrm>
            <a:off x="1059992" y="1610713"/>
            <a:ext cx="8970645" cy="6161687"/>
          </a:xfrm>
          <a:prstGeom prst="rect">
            <a:avLst/>
          </a:prstGeom>
        </p:spPr>
        <p:txBody>
          <a:bodyPr/>
          <a:lstStyle/>
          <a:p>
            <a:pPr>
              <a:lnSpc>
                <a:spcPct val="90000"/>
              </a:lnSpc>
              <a:buFont typeface="Wingdings" charset="0"/>
              <a:buChar char="n"/>
              <a:defRPr/>
            </a:pPr>
            <a:r>
              <a:rPr lang="en-US" sz="3200" dirty="0">
                <a:solidFill>
                  <a:srgbClr val="CCED07"/>
                </a:solidFill>
                <a:ea typeface="ＭＳ Ｐゴシック" charset="0"/>
                <a:cs typeface="ＭＳ Ｐゴシック" charset="0"/>
              </a:rPr>
              <a:t>Concentrated or fragmented</a:t>
            </a:r>
          </a:p>
          <a:p>
            <a:pPr lvl="1">
              <a:lnSpc>
                <a:spcPct val="90000"/>
              </a:lnSpc>
              <a:buFont typeface="Wingdings" charset="0"/>
              <a:buChar char="n"/>
              <a:defRPr/>
            </a:pPr>
            <a:r>
              <a:rPr lang="en-US" sz="2800" dirty="0">
                <a:ea typeface="ＭＳ Ｐゴシック" charset="0"/>
              </a:rPr>
              <a:t>Concentrated industries are dominated by a few large firms</a:t>
            </a:r>
          </a:p>
          <a:p>
            <a:pPr lvl="1">
              <a:lnSpc>
                <a:spcPct val="90000"/>
              </a:lnSpc>
              <a:buFont typeface="Wingdings" charset="0"/>
              <a:buChar char="n"/>
              <a:defRPr/>
            </a:pPr>
            <a:r>
              <a:rPr lang="en-US" sz="2800" dirty="0">
                <a:ea typeface="ＭＳ Ｐゴシック" charset="0"/>
              </a:rPr>
              <a:t>Fragmented industries include a large number of smaller companies</a:t>
            </a:r>
          </a:p>
          <a:p>
            <a:pPr>
              <a:lnSpc>
                <a:spcPct val="90000"/>
              </a:lnSpc>
              <a:buFont typeface="Wingdings" charset="0"/>
              <a:buChar char="n"/>
              <a:defRPr/>
            </a:pPr>
            <a:r>
              <a:rPr lang="en-US" sz="3200" dirty="0">
                <a:solidFill>
                  <a:srgbClr val="EA0A3A"/>
                </a:solidFill>
                <a:ea typeface="ＭＳ Ｐゴシック" charset="0"/>
                <a:cs typeface="ＭＳ Ｐゴシック" charset="0"/>
              </a:rPr>
              <a:t>General attractiveness</a:t>
            </a:r>
          </a:p>
          <a:p>
            <a:pPr lvl="1">
              <a:lnSpc>
                <a:spcPct val="90000"/>
              </a:lnSpc>
              <a:buFont typeface="Wingdings" charset="0"/>
              <a:buChar char="n"/>
              <a:defRPr/>
            </a:pPr>
            <a:r>
              <a:rPr lang="en-US" sz="2800" dirty="0">
                <a:ea typeface="ＭＳ Ｐゴシック" charset="0"/>
              </a:rPr>
              <a:t>A structurally attractive industry has high barriers to entry, no good substitutes for the product, limited power of supplier, and limited power  of buyers</a:t>
            </a:r>
          </a:p>
          <a:p>
            <a:pPr>
              <a:lnSpc>
                <a:spcPct val="90000"/>
              </a:lnSpc>
              <a:buFont typeface="Wingdings" charset="0"/>
              <a:buChar char="n"/>
              <a:defRPr/>
            </a:pPr>
            <a:r>
              <a:rPr lang="en-US" sz="3200" dirty="0">
                <a:solidFill>
                  <a:srgbClr val="1CE42F"/>
                </a:solidFill>
                <a:ea typeface="ＭＳ Ｐゴシック" charset="0"/>
              </a:rPr>
              <a:t>Subsectors and growth areas</a:t>
            </a:r>
          </a:p>
          <a:p>
            <a:pPr marL="0" indent="0">
              <a:lnSpc>
                <a:spcPct val="90000"/>
              </a:lnSpc>
              <a:buNone/>
              <a:defRPr/>
            </a:pPr>
            <a:endParaRPr lang="en-US" sz="3200" dirty="0">
              <a:ea typeface="ＭＳ Ｐゴシック" charset="0"/>
            </a:endParaRPr>
          </a:p>
          <a:p>
            <a:pPr lvl="1">
              <a:lnSpc>
                <a:spcPct val="90000"/>
              </a:lnSpc>
              <a:buFont typeface="Wingdings" charset="0"/>
              <a:buChar char="n"/>
              <a:defRPr/>
            </a:pPr>
            <a:endParaRPr lang="en-US" sz="2800" dirty="0">
              <a:ea typeface="ＭＳ Ｐゴシック" charset="0"/>
            </a:endParaRPr>
          </a:p>
        </p:txBody>
      </p:sp>
    </p:spTree>
    <p:extLst>
      <p:ext uri="{BB962C8B-B14F-4D97-AF65-F5344CB8AC3E}">
        <p14:creationId xmlns:p14="http://schemas.microsoft.com/office/powerpoint/2010/main" val="1611142718"/>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descr="Cover from The Economist September 17th, 2016">
            <a:extLst>
              <a:ext uri="{FF2B5EF4-FFF2-40B4-BE49-F238E27FC236}">
                <a16:creationId xmlns:a16="http://schemas.microsoft.com/office/drawing/2014/main" id="{0CDF429B-4F92-C241-ABAC-2DDEA412FD40}"/>
              </a:ext>
            </a:extLst>
          </p:cNvPr>
          <p:cNvPicPr>
            <a:picLocks noChangeAspect="1"/>
          </p:cNvPicPr>
          <p:nvPr/>
        </p:nvPicPr>
        <p:blipFill>
          <a:blip r:embed="rId2"/>
          <a:stretch>
            <a:fillRect/>
          </a:stretch>
        </p:blipFill>
        <p:spPr>
          <a:xfrm>
            <a:off x="6507943" y="0"/>
            <a:ext cx="6080296" cy="7772400"/>
          </a:xfrm>
          <a:prstGeom prst="rect">
            <a:avLst/>
          </a:prstGeom>
        </p:spPr>
      </p:pic>
      <p:sp>
        <p:nvSpPr>
          <p:cNvPr id="2" name="Rectangle 1">
            <a:extLst>
              <a:ext uri="{FF2B5EF4-FFF2-40B4-BE49-F238E27FC236}">
                <a16:creationId xmlns:a16="http://schemas.microsoft.com/office/drawing/2014/main" id="{E90D2D44-FD89-7E4F-9946-9FC4355D28C0}"/>
              </a:ext>
            </a:extLst>
          </p:cNvPr>
          <p:cNvSpPr/>
          <p:nvPr/>
        </p:nvSpPr>
        <p:spPr>
          <a:xfrm>
            <a:off x="1002145" y="2484750"/>
            <a:ext cx="4338782" cy="1938992"/>
          </a:xfrm>
          <a:prstGeom prst="rect">
            <a:avLst/>
          </a:prstGeom>
        </p:spPr>
        <p:txBody>
          <a:bodyPr wrap="square">
            <a:spAutoFit/>
          </a:bodyPr>
          <a:lstStyle/>
          <a:p>
            <a:r>
              <a:rPr lang="en-US" sz="2400" i="1" dirty="0">
                <a:solidFill>
                  <a:schemeClr val="tx1">
                    <a:lumMod val="50000"/>
                  </a:schemeClr>
                </a:solidFill>
              </a:rPr>
              <a:t>The Economist, 2016.  Special Report:  The Rise of the Superstars, Why Giants Thrive, and The New Methuselahs. September 17</a:t>
            </a:r>
            <a:r>
              <a:rPr lang="en-US" sz="2400" i="1" baseline="30000" dirty="0">
                <a:solidFill>
                  <a:schemeClr val="tx1">
                    <a:lumMod val="50000"/>
                  </a:schemeClr>
                </a:solidFill>
              </a:rPr>
              <a:t>th</a:t>
            </a:r>
            <a:endParaRPr lang="en-US" sz="2400" i="1" dirty="0">
              <a:solidFill>
                <a:schemeClr val="tx1">
                  <a:lumMod val="50000"/>
                </a:schemeClr>
              </a:solidFill>
            </a:endParaRPr>
          </a:p>
        </p:txBody>
      </p:sp>
    </p:spTree>
    <p:extLst>
      <p:ext uri="{BB962C8B-B14F-4D97-AF65-F5344CB8AC3E}">
        <p14:creationId xmlns:p14="http://schemas.microsoft.com/office/powerpoint/2010/main" val="3637019170"/>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DFDE1-DCF4-D944-A780-D16E3A271C0B}"/>
              </a:ext>
            </a:extLst>
          </p:cNvPr>
          <p:cNvSpPr>
            <a:spLocks noGrp="1"/>
          </p:cNvSpPr>
          <p:nvPr>
            <p:ph type="title"/>
          </p:nvPr>
        </p:nvSpPr>
        <p:spPr/>
        <p:txBody>
          <a:bodyPr/>
          <a:lstStyle/>
          <a:p>
            <a:endParaRPr lang="en-US" dirty="0"/>
          </a:p>
        </p:txBody>
      </p:sp>
      <p:pic>
        <p:nvPicPr>
          <p:cNvPr id="5" name="Picture 4" descr="Graphic showing declining entry and exit rates in the U.S. from 1980 to 2014&#10;&#10;Graphic showing increasing industry concentration (herfindahl Index) from 1985 to 2016">
            <a:extLst>
              <a:ext uri="{FF2B5EF4-FFF2-40B4-BE49-F238E27FC236}">
                <a16:creationId xmlns:a16="http://schemas.microsoft.com/office/drawing/2014/main" id="{4A713D54-5833-9D4E-9952-1FC10DCAAC47}"/>
              </a:ext>
            </a:extLst>
          </p:cNvPr>
          <p:cNvPicPr>
            <a:picLocks noChangeAspect="1"/>
          </p:cNvPicPr>
          <p:nvPr/>
        </p:nvPicPr>
        <p:blipFill>
          <a:blip r:embed="rId3"/>
          <a:stretch>
            <a:fillRect/>
          </a:stretch>
        </p:blipFill>
        <p:spPr>
          <a:xfrm>
            <a:off x="66537" y="116919"/>
            <a:ext cx="13751063" cy="7009940"/>
          </a:xfrm>
          <a:prstGeom prst="rect">
            <a:avLst/>
          </a:prstGeom>
        </p:spPr>
      </p:pic>
      <p:pic>
        <p:nvPicPr>
          <p:cNvPr id="4" name="Picture 3">
            <a:extLst>
              <a:ext uri="{FF2B5EF4-FFF2-40B4-BE49-F238E27FC236}">
                <a16:creationId xmlns:a16="http://schemas.microsoft.com/office/drawing/2014/main" id="{C2A02706-3C09-244E-99AD-CCF901CE3E45}"/>
              </a:ext>
            </a:extLst>
          </p:cNvPr>
          <p:cNvPicPr>
            <a:picLocks noChangeAspect="1"/>
          </p:cNvPicPr>
          <p:nvPr/>
        </p:nvPicPr>
        <p:blipFill>
          <a:blip r:embed="rId4"/>
          <a:stretch>
            <a:fillRect/>
          </a:stretch>
        </p:blipFill>
        <p:spPr>
          <a:xfrm>
            <a:off x="9684578" y="7034687"/>
            <a:ext cx="1765300" cy="774700"/>
          </a:xfrm>
          <a:prstGeom prst="rect">
            <a:avLst/>
          </a:prstGeom>
        </p:spPr>
      </p:pic>
      <p:pic>
        <p:nvPicPr>
          <p:cNvPr id="6" name="Picture 5">
            <a:extLst>
              <a:ext uri="{FF2B5EF4-FFF2-40B4-BE49-F238E27FC236}">
                <a16:creationId xmlns:a16="http://schemas.microsoft.com/office/drawing/2014/main" id="{8D6B593B-5788-5A4F-8E02-35C8616D42D4}"/>
              </a:ext>
            </a:extLst>
          </p:cNvPr>
          <p:cNvPicPr>
            <a:picLocks noChangeAspect="1"/>
          </p:cNvPicPr>
          <p:nvPr/>
        </p:nvPicPr>
        <p:blipFill>
          <a:blip r:embed="rId5"/>
          <a:stretch>
            <a:fillRect/>
          </a:stretch>
        </p:blipFill>
        <p:spPr>
          <a:xfrm>
            <a:off x="11449878" y="6983093"/>
            <a:ext cx="2367722" cy="826294"/>
          </a:xfrm>
          <a:prstGeom prst="rect">
            <a:avLst/>
          </a:prstGeom>
        </p:spPr>
      </p:pic>
    </p:spTree>
    <p:extLst>
      <p:ext uri="{BB962C8B-B14F-4D97-AF65-F5344CB8AC3E}">
        <p14:creationId xmlns:p14="http://schemas.microsoft.com/office/powerpoint/2010/main" val="4145805935"/>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Graph of Non-Financial companies price-earnings ratios by market value">
            <a:extLst>
              <a:ext uri="{FF2B5EF4-FFF2-40B4-BE49-F238E27FC236}">
                <a16:creationId xmlns:a16="http://schemas.microsoft.com/office/drawing/2014/main" id="{018B2C04-298F-BAAB-4043-656877CA389E}"/>
              </a:ext>
            </a:extLst>
          </p:cNvPr>
          <p:cNvPicPr>
            <a:picLocks noChangeAspect="1"/>
          </p:cNvPicPr>
          <p:nvPr/>
        </p:nvPicPr>
        <p:blipFill>
          <a:blip r:embed="rId2"/>
          <a:stretch>
            <a:fillRect/>
          </a:stretch>
        </p:blipFill>
        <p:spPr>
          <a:xfrm>
            <a:off x="2871557" y="0"/>
            <a:ext cx="6521622" cy="7171978"/>
          </a:xfrm>
          <a:prstGeom prst="rect">
            <a:avLst/>
          </a:prstGeom>
        </p:spPr>
      </p:pic>
      <p:sp>
        <p:nvSpPr>
          <p:cNvPr id="6" name="TextBox 5">
            <a:extLst>
              <a:ext uri="{FF2B5EF4-FFF2-40B4-BE49-F238E27FC236}">
                <a16:creationId xmlns:a16="http://schemas.microsoft.com/office/drawing/2014/main" id="{06A2C988-4485-E554-9176-D78C02FB7F1E}"/>
              </a:ext>
            </a:extLst>
          </p:cNvPr>
          <p:cNvSpPr txBox="1"/>
          <p:nvPr/>
        </p:nvSpPr>
        <p:spPr>
          <a:xfrm>
            <a:off x="9156744" y="6347009"/>
            <a:ext cx="4660856" cy="1077218"/>
          </a:xfrm>
          <a:prstGeom prst="rect">
            <a:avLst/>
          </a:prstGeom>
          <a:noFill/>
        </p:spPr>
        <p:txBody>
          <a:bodyPr wrap="square" rtlCol="0">
            <a:spAutoFit/>
          </a:bodyPr>
          <a:lstStyle/>
          <a:p>
            <a:pPr fontAlgn="base"/>
            <a:r>
              <a:rPr lang="en-US" sz="1600" b="1" dirty="0"/>
              <a:t>The Economist, July 6th 2026: Beware the top-heavy economy: Supersize capital flows are reshaping business—and building risk</a:t>
            </a:r>
          </a:p>
          <a:p>
            <a:endParaRPr lang="en-US" sz="1600" dirty="0"/>
          </a:p>
        </p:txBody>
      </p:sp>
    </p:spTree>
    <p:extLst>
      <p:ext uri="{BB962C8B-B14F-4D97-AF65-F5344CB8AC3E}">
        <p14:creationId xmlns:p14="http://schemas.microsoft.com/office/powerpoint/2010/main" val="543208572"/>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8E316-E929-4FED-DE21-442EA6B0E812}"/>
              </a:ext>
            </a:extLst>
          </p:cNvPr>
          <p:cNvSpPr>
            <a:spLocks noGrp="1"/>
          </p:cNvSpPr>
          <p:nvPr>
            <p:ph type="title"/>
          </p:nvPr>
        </p:nvSpPr>
        <p:spPr>
          <a:xfrm>
            <a:off x="628075" y="344575"/>
            <a:ext cx="12561453" cy="1107996"/>
          </a:xfrm>
        </p:spPr>
        <p:txBody>
          <a:bodyPr/>
          <a:lstStyle/>
          <a:p>
            <a:pPr algn="ctr"/>
            <a:r>
              <a:rPr lang="en-US" sz="6000" dirty="0">
                <a:latin typeface="Garamond" panose="02020404030301010803" pitchFamily="18" charset="0"/>
              </a:rPr>
              <a:t>Network Effects/Network Externalities</a:t>
            </a:r>
          </a:p>
        </p:txBody>
      </p:sp>
      <p:sp>
        <p:nvSpPr>
          <p:cNvPr id="3" name="Text Placeholder 2">
            <a:extLst>
              <a:ext uri="{FF2B5EF4-FFF2-40B4-BE49-F238E27FC236}">
                <a16:creationId xmlns:a16="http://schemas.microsoft.com/office/drawing/2014/main" id="{7AB58DEC-A25B-E2AA-17B4-83D63A16E01F}"/>
              </a:ext>
            </a:extLst>
          </p:cNvPr>
          <p:cNvSpPr>
            <a:spLocks noGrp="1"/>
          </p:cNvSpPr>
          <p:nvPr>
            <p:ph type="body" sz="quarter" idx="10"/>
          </p:nvPr>
        </p:nvSpPr>
        <p:spPr>
          <a:xfrm>
            <a:off x="405051" y="1452571"/>
            <a:ext cx="13132529" cy="6323975"/>
          </a:xfrm>
        </p:spPr>
        <p:txBody>
          <a:bodyPr/>
          <a:lstStyle/>
          <a:p>
            <a:r>
              <a:rPr lang="en-US" sz="2800" dirty="0">
                <a:latin typeface="Garamond" panose="02020404030301010803" pitchFamily="18" charset="0"/>
              </a:rPr>
              <a:t>“Network effects arise where a buyer’s willingness to pay for a company’s product increases with the number of other buyers who also patronize the company”. Porter, 2008</a:t>
            </a:r>
          </a:p>
          <a:p>
            <a:r>
              <a:rPr lang="en-US" sz="2800" dirty="0">
                <a:latin typeface="Garamond" panose="02020404030301010803" pitchFamily="18" charset="0"/>
              </a:rPr>
              <a:t>“Buyers value being in a network with a larger number of fellow customers.” Porter, 2008</a:t>
            </a:r>
          </a:p>
          <a:p>
            <a:r>
              <a:rPr lang="en-US" sz="2800" dirty="0">
                <a:latin typeface="Garamond" panose="02020404030301010803" pitchFamily="18" charset="0"/>
              </a:rPr>
              <a:t>Examples</a:t>
            </a:r>
          </a:p>
          <a:p>
            <a:pPr lvl="1"/>
            <a:r>
              <a:rPr lang="en-US" sz="2400" dirty="0">
                <a:latin typeface="Garamond" panose="02020404030301010803" pitchFamily="18" charset="0"/>
              </a:rPr>
              <a:t>Craigslist</a:t>
            </a:r>
          </a:p>
          <a:p>
            <a:pPr lvl="1"/>
            <a:r>
              <a:rPr lang="en-US" sz="2400" dirty="0" err="1">
                <a:latin typeface="Garamond" panose="02020404030301010803" pitchFamily="18" charset="0"/>
              </a:rPr>
              <a:t>Ebay</a:t>
            </a:r>
            <a:endParaRPr lang="en-US" sz="2400" dirty="0">
              <a:latin typeface="Garamond" panose="02020404030301010803" pitchFamily="18" charset="0"/>
            </a:endParaRPr>
          </a:p>
          <a:p>
            <a:pPr lvl="1"/>
            <a:r>
              <a:rPr lang="en-US" sz="2400" dirty="0">
                <a:latin typeface="Garamond" panose="02020404030301010803" pitchFamily="18" charset="0"/>
              </a:rPr>
              <a:t>TikTok</a:t>
            </a:r>
          </a:p>
          <a:p>
            <a:pPr lvl="1"/>
            <a:r>
              <a:rPr lang="en-US" sz="2400" dirty="0">
                <a:latin typeface="Garamond" panose="02020404030301010803" pitchFamily="18" charset="0"/>
              </a:rPr>
              <a:t>Facebook</a:t>
            </a:r>
          </a:p>
          <a:p>
            <a:pPr lvl="1"/>
            <a:r>
              <a:rPr lang="en-US" sz="2400" dirty="0">
                <a:latin typeface="Garamond" panose="02020404030301010803" pitchFamily="18" charset="0"/>
              </a:rPr>
              <a:t>LinkedIn</a:t>
            </a:r>
          </a:p>
          <a:p>
            <a:pPr lvl="1"/>
            <a:r>
              <a:rPr lang="en-US" sz="2400" dirty="0">
                <a:latin typeface="Garamond" panose="02020404030301010803" pitchFamily="18" charset="0"/>
              </a:rPr>
              <a:t>Computer Operating Systems and Applications (less so now than before)</a:t>
            </a:r>
          </a:p>
          <a:p>
            <a:endParaRPr lang="en-US" sz="2800" dirty="0">
              <a:latin typeface="Garamond" panose="02020404030301010803" pitchFamily="18" charset="0"/>
            </a:endParaRPr>
          </a:p>
        </p:txBody>
      </p:sp>
    </p:spTree>
    <p:extLst>
      <p:ext uri="{BB962C8B-B14F-4D97-AF65-F5344CB8AC3E}">
        <p14:creationId xmlns:p14="http://schemas.microsoft.com/office/powerpoint/2010/main" val="1218724127"/>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ChangeArrowheads="1"/>
          </p:cNvSpPr>
          <p:nvPr/>
        </p:nvSpPr>
        <p:spPr bwMode="auto">
          <a:xfrm>
            <a:off x="5267960" y="7081520"/>
            <a:ext cx="3281680" cy="518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2267"/>
          </a:p>
        </p:txBody>
      </p:sp>
      <p:sp>
        <p:nvSpPr>
          <p:cNvPr id="103427" name="AutoShape 3"/>
          <p:cNvSpPr>
            <a:spLocks noChangeArrowheads="1"/>
          </p:cNvSpPr>
          <p:nvPr/>
        </p:nvSpPr>
        <p:spPr bwMode="auto">
          <a:xfrm rot="16200000">
            <a:off x="5843693" y="5534237"/>
            <a:ext cx="2058247" cy="2058247"/>
          </a:xfrm>
          <a:prstGeom prst="homePlate">
            <a:avLst>
              <a:gd name="adj" fmla="val 33333"/>
            </a:avLst>
          </a:prstGeom>
          <a:solidFill>
            <a:srgbClr val="CECECE"/>
          </a:solidFill>
          <a:ln w="12699">
            <a:solidFill>
              <a:srgbClr val="143C2E"/>
            </a:solidFill>
            <a:miter lim="800000"/>
            <a:headEnd/>
            <a:tailEnd/>
          </a:ln>
          <a:effectLst>
            <a:outerShdw blurRad="63500" dist="38099" dir="2700000" algn="ctr" rotWithShape="0">
              <a:srgbClr val="919191">
                <a:alpha val="74998"/>
              </a:srgbClr>
            </a:outerShdw>
          </a:effectLst>
        </p:spPr>
        <p:txBody>
          <a:bodyPr wrap="none" anchor="ctr"/>
          <a:lstStyle/>
          <a:p>
            <a:endParaRPr lang="en-US" sz="2267"/>
          </a:p>
        </p:txBody>
      </p:sp>
      <p:sp>
        <p:nvSpPr>
          <p:cNvPr id="103428" name="Rectangle 4"/>
          <p:cNvSpPr>
            <a:spLocks noChangeArrowheads="1"/>
          </p:cNvSpPr>
          <p:nvPr/>
        </p:nvSpPr>
        <p:spPr bwMode="auto">
          <a:xfrm>
            <a:off x="5881477" y="6106372"/>
            <a:ext cx="1982682" cy="1148371"/>
          </a:xfrm>
          <a:prstGeom prst="rect">
            <a:avLst/>
          </a:prstGeom>
          <a:noFill/>
          <a:ln>
            <a:noFill/>
          </a:ln>
          <a:effectLst>
            <a:outerShdw blurRad="63500" dist="17961" dir="2700000" algn="ctr" rotWithShape="0">
              <a:schemeClr val="tx1">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Lst>
        </p:spPr>
        <p:txBody>
          <a:bodyPr lIns="102553" tIns="50377" rIns="102553" bIns="50377">
            <a:spAutoFit/>
          </a:bodyPr>
          <a:lstStyle/>
          <a:p>
            <a:pPr algn="ctr"/>
            <a:r>
              <a:rPr lang="en-US" altLang="en-US" sz="2267" b="1">
                <a:solidFill>
                  <a:srgbClr val="143C2E"/>
                </a:solidFill>
              </a:rPr>
              <a:t>Threat of Substitute Products</a:t>
            </a:r>
          </a:p>
        </p:txBody>
      </p:sp>
      <p:sp>
        <p:nvSpPr>
          <p:cNvPr id="103429" name="Rectangle 5"/>
          <p:cNvSpPr>
            <a:spLocks noChangeArrowheads="1"/>
          </p:cNvSpPr>
          <p:nvPr/>
        </p:nvSpPr>
        <p:spPr bwMode="auto">
          <a:xfrm>
            <a:off x="5881477" y="1536489"/>
            <a:ext cx="1637242" cy="11483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02553" tIns="50377" rIns="102553" bIns="50377">
            <a:spAutoFit/>
          </a:bodyPr>
          <a:lstStyle/>
          <a:p>
            <a:pPr algn="ctr"/>
            <a:r>
              <a:rPr lang="en-US" altLang="en-US" sz="2267"/>
              <a:t>Threat of New Entrants</a:t>
            </a:r>
          </a:p>
        </p:txBody>
      </p:sp>
      <p:sp>
        <p:nvSpPr>
          <p:cNvPr id="103430" name="AutoShape 6"/>
          <p:cNvSpPr>
            <a:spLocks noChangeArrowheads="1"/>
          </p:cNvSpPr>
          <p:nvPr/>
        </p:nvSpPr>
        <p:spPr bwMode="auto">
          <a:xfrm rot="16200000" flipH="1">
            <a:off x="5843693" y="1568873"/>
            <a:ext cx="2058247" cy="2058247"/>
          </a:xfrm>
          <a:prstGeom prst="homePlate">
            <a:avLst>
              <a:gd name="adj" fmla="val 33333"/>
            </a:avLst>
          </a:prstGeom>
          <a:solidFill>
            <a:srgbClr val="CECECE"/>
          </a:solidFill>
          <a:ln w="12699">
            <a:solidFill>
              <a:srgbClr val="143C2E"/>
            </a:solidFill>
            <a:miter lim="800000"/>
            <a:headEnd/>
            <a:tailEnd/>
          </a:ln>
          <a:effectLst>
            <a:outerShdw blurRad="63500" dist="38099" dir="2700000" algn="ctr" rotWithShape="0">
              <a:srgbClr val="919191">
                <a:alpha val="74998"/>
              </a:srgbClr>
            </a:outerShdw>
          </a:effectLst>
        </p:spPr>
        <p:txBody>
          <a:bodyPr wrap="none" anchor="ctr"/>
          <a:lstStyle/>
          <a:p>
            <a:endParaRPr lang="en-US" sz="2267"/>
          </a:p>
        </p:txBody>
      </p:sp>
      <p:sp>
        <p:nvSpPr>
          <p:cNvPr id="103431" name="Rectangle 7"/>
          <p:cNvSpPr>
            <a:spLocks noChangeArrowheads="1"/>
          </p:cNvSpPr>
          <p:nvPr/>
        </p:nvSpPr>
        <p:spPr bwMode="auto">
          <a:xfrm>
            <a:off x="5751937" y="1766782"/>
            <a:ext cx="2241762" cy="799493"/>
          </a:xfrm>
          <a:prstGeom prst="rect">
            <a:avLst/>
          </a:prstGeom>
          <a:noFill/>
          <a:ln>
            <a:noFill/>
          </a:ln>
          <a:effectLst>
            <a:outerShdw blurRad="63500" dist="17961" dir="2700000" algn="ctr" rotWithShape="0">
              <a:schemeClr val="tx1">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Lst>
        </p:spPr>
        <p:txBody>
          <a:bodyPr lIns="102553" tIns="50377" rIns="102553" bIns="50377">
            <a:spAutoFit/>
          </a:bodyPr>
          <a:lstStyle/>
          <a:p>
            <a:pPr algn="ctr"/>
            <a:r>
              <a:rPr lang="en-US" altLang="en-US" sz="2267" b="1">
                <a:solidFill>
                  <a:srgbClr val="143C2E"/>
                </a:solidFill>
              </a:rPr>
              <a:t>Threat of New Entrants</a:t>
            </a:r>
          </a:p>
        </p:txBody>
      </p:sp>
      <p:sp>
        <p:nvSpPr>
          <p:cNvPr id="103432" name="AutoShape 8"/>
          <p:cNvSpPr>
            <a:spLocks noChangeArrowheads="1"/>
          </p:cNvSpPr>
          <p:nvPr/>
        </p:nvSpPr>
        <p:spPr bwMode="auto">
          <a:xfrm flipH="1">
            <a:off x="8636000" y="3404023"/>
            <a:ext cx="2058247" cy="2058247"/>
          </a:xfrm>
          <a:prstGeom prst="homePlate">
            <a:avLst>
              <a:gd name="adj" fmla="val 33333"/>
            </a:avLst>
          </a:prstGeom>
          <a:solidFill>
            <a:srgbClr val="CECECE"/>
          </a:solidFill>
          <a:ln w="12699">
            <a:solidFill>
              <a:srgbClr val="143C2E"/>
            </a:solidFill>
            <a:miter lim="800000"/>
            <a:headEnd/>
            <a:tailEnd/>
          </a:ln>
          <a:effectLst>
            <a:outerShdw blurRad="63500" dist="38099" dir="2700000" algn="ctr" rotWithShape="0">
              <a:srgbClr val="919191">
                <a:alpha val="74998"/>
              </a:srgbClr>
            </a:outerShdw>
          </a:effectLst>
        </p:spPr>
        <p:txBody>
          <a:bodyPr wrap="none" anchor="ctr"/>
          <a:lstStyle/>
          <a:p>
            <a:endParaRPr lang="en-US" sz="2267"/>
          </a:p>
        </p:txBody>
      </p:sp>
      <p:sp>
        <p:nvSpPr>
          <p:cNvPr id="103433" name="AutoShape 9"/>
          <p:cNvSpPr>
            <a:spLocks noChangeArrowheads="1"/>
          </p:cNvSpPr>
          <p:nvPr/>
        </p:nvSpPr>
        <p:spPr bwMode="auto">
          <a:xfrm>
            <a:off x="3036993" y="3404023"/>
            <a:ext cx="2058247" cy="2058247"/>
          </a:xfrm>
          <a:prstGeom prst="homePlate">
            <a:avLst>
              <a:gd name="adj" fmla="val 33333"/>
            </a:avLst>
          </a:prstGeom>
          <a:solidFill>
            <a:srgbClr val="CECECE"/>
          </a:solidFill>
          <a:ln w="12699">
            <a:solidFill>
              <a:srgbClr val="143C2E"/>
            </a:solidFill>
            <a:miter lim="800000"/>
            <a:headEnd/>
            <a:tailEnd/>
          </a:ln>
          <a:effectLst>
            <a:outerShdw blurRad="63500" dist="38099" dir="2700000" algn="ctr" rotWithShape="0">
              <a:srgbClr val="919191">
                <a:alpha val="74998"/>
              </a:srgbClr>
            </a:outerShdw>
          </a:effectLst>
        </p:spPr>
        <p:txBody>
          <a:bodyPr wrap="none" anchor="ctr"/>
          <a:lstStyle/>
          <a:p>
            <a:endParaRPr lang="en-US" sz="2267"/>
          </a:p>
        </p:txBody>
      </p:sp>
      <p:grpSp>
        <p:nvGrpSpPr>
          <p:cNvPr id="103434" name="Group 10"/>
          <p:cNvGrpSpPr>
            <a:grpSpLocks/>
          </p:cNvGrpSpPr>
          <p:nvPr/>
        </p:nvGrpSpPr>
        <p:grpSpPr bwMode="auto">
          <a:xfrm>
            <a:off x="5325533" y="3799840"/>
            <a:ext cx="3094567" cy="1489710"/>
            <a:chOff x="2000" y="2160"/>
            <a:chExt cx="1720" cy="828"/>
          </a:xfrm>
        </p:grpSpPr>
        <p:sp>
          <p:nvSpPr>
            <p:cNvPr id="103435" name="AutoShape 11"/>
            <p:cNvSpPr>
              <a:spLocks noChangeArrowheads="1"/>
            </p:cNvSpPr>
            <p:nvPr/>
          </p:nvSpPr>
          <p:spPr bwMode="auto">
            <a:xfrm>
              <a:off x="2000" y="2160"/>
              <a:ext cx="1720" cy="828"/>
            </a:xfrm>
            <a:prstGeom prst="octagon">
              <a:avLst>
                <a:gd name="adj" fmla="val 29264"/>
              </a:avLst>
            </a:prstGeom>
            <a:solidFill>
              <a:schemeClr val="accent2"/>
            </a:solidFill>
            <a:ln>
              <a:noFill/>
            </a:ln>
            <a:effectLst>
              <a:outerShdw blurRad="63500" dist="53882" dir="2700000" algn="ctr" rotWithShape="0">
                <a:schemeClr val="bg2">
                  <a:alpha val="74998"/>
                </a:schemeClr>
              </a:outerShdw>
            </a:effectLst>
            <a:extLst>
              <a:ext uri="{91240B29-F687-4F45-9708-019B960494DF}">
                <a14:hiddenLine xmlns:a14="http://schemas.microsoft.com/office/drawing/2010/main" w="12699">
                  <a:solidFill>
                    <a:schemeClr val="tx1"/>
                  </a:solidFill>
                  <a:miter lim="800000"/>
                  <a:headEnd/>
                  <a:tailEnd/>
                </a14:hiddenLine>
              </a:ext>
            </a:extLst>
          </p:spPr>
          <p:txBody>
            <a:bodyPr wrap="none" anchor="ctr"/>
            <a:lstStyle/>
            <a:p>
              <a:endParaRPr lang="en-US" sz="2267"/>
            </a:p>
          </p:txBody>
        </p:sp>
        <p:sp>
          <p:nvSpPr>
            <p:cNvPr id="103436" name="Rectangle 12" descr="Figure of Michael Porter’s Five Forces model"/>
            <p:cNvSpPr>
              <a:spLocks noChangeArrowheads="1"/>
            </p:cNvSpPr>
            <p:nvPr/>
          </p:nvSpPr>
          <p:spPr bwMode="auto">
            <a:xfrm>
              <a:off x="2021" y="2208"/>
              <a:ext cx="1678" cy="638"/>
            </a:xfrm>
            <a:prstGeom prst="rect">
              <a:avLst/>
            </a:prstGeom>
            <a:noFill/>
            <a:ln>
              <a:noFill/>
            </a:ln>
            <a:effectLst>
              <a:outerShdw blurRad="63500" dist="17961"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Lst>
          </p:spPr>
          <p:txBody>
            <a:bodyPr lIns="102553" tIns="50377" rIns="102553" bIns="50377">
              <a:spAutoFit/>
            </a:bodyPr>
            <a:lstStyle/>
            <a:p>
              <a:pPr algn="ctr"/>
              <a:r>
                <a:rPr lang="en-US" altLang="en-US" sz="2267" b="1" dirty="0"/>
                <a:t>Rivalry Among Competing Firms in Industry</a:t>
              </a:r>
            </a:p>
          </p:txBody>
        </p:sp>
      </p:grpSp>
      <p:sp>
        <p:nvSpPr>
          <p:cNvPr id="103437" name="Rectangle 13"/>
          <p:cNvSpPr>
            <a:spLocks noChangeArrowheads="1"/>
          </p:cNvSpPr>
          <p:nvPr/>
        </p:nvSpPr>
        <p:spPr bwMode="auto">
          <a:xfrm>
            <a:off x="8846503" y="3787247"/>
            <a:ext cx="1982682" cy="1148371"/>
          </a:xfrm>
          <a:prstGeom prst="rect">
            <a:avLst/>
          </a:prstGeom>
          <a:noFill/>
          <a:ln>
            <a:noFill/>
          </a:ln>
          <a:effectLst>
            <a:outerShdw blurRad="63500" dist="17961" dir="2700000" algn="ctr" rotWithShape="0">
              <a:schemeClr val="tx1">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Lst>
        </p:spPr>
        <p:txBody>
          <a:bodyPr lIns="102553" tIns="50377" rIns="102553" bIns="50377">
            <a:spAutoFit/>
          </a:bodyPr>
          <a:lstStyle/>
          <a:p>
            <a:pPr algn="ctr"/>
            <a:r>
              <a:rPr lang="en-US" altLang="en-US" sz="2267" b="1">
                <a:solidFill>
                  <a:srgbClr val="143C2E"/>
                </a:solidFill>
              </a:rPr>
              <a:t>Bargaining Power of Buyers</a:t>
            </a:r>
          </a:p>
        </p:txBody>
      </p:sp>
      <p:sp>
        <p:nvSpPr>
          <p:cNvPr id="103438" name="Rectangle 14"/>
          <p:cNvSpPr>
            <a:spLocks noChangeArrowheads="1"/>
          </p:cNvSpPr>
          <p:nvPr/>
        </p:nvSpPr>
        <p:spPr bwMode="auto">
          <a:xfrm>
            <a:off x="2916450" y="3787247"/>
            <a:ext cx="1968288" cy="1148371"/>
          </a:xfrm>
          <a:prstGeom prst="rect">
            <a:avLst/>
          </a:prstGeom>
          <a:noFill/>
          <a:ln>
            <a:noFill/>
          </a:ln>
          <a:effectLst>
            <a:outerShdw blurRad="63500" dist="17961" dir="2700000" algn="ctr" rotWithShape="0">
              <a:schemeClr val="tx1">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Lst>
        </p:spPr>
        <p:txBody>
          <a:bodyPr lIns="102553" tIns="50377" rIns="102553" bIns="50377">
            <a:spAutoFit/>
          </a:bodyPr>
          <a:lstStyle/>
          <a:p>
            <a:pPr algn="ctr"/>
            <a:r>
              <a:rPr lang="en-US" altLang="en-US" sz="2267" b="1">
                <a:solidFill>
                  <a:srgbClr val="143C2E"/>
                </a:solidFill>
              </a:rPr>
              <a:t>Bargaining Power of Suppliers</a:t>
            </a:r>
          </a:p>
        </p:txBody>
      </p:sp>
      <p:sp>
        <p:nvSpPr>
          <p:cNvPr id="103439" name="Rectangle 15"/>
          <p:cNvSpPr>
            <a:spLocks noChangeArrowheads="1"/>
          </p:cNvSpPr>
          <p:nvPr/>
        </p:nvSpPr>
        <p:spPr bwMode="auto">
          <a:xfrm>
            <a:off x="1727200" y="0"/>
            <a:ext cx="10363200" cy="1496863"/>
          </a:xfrm>
          <a:prstGeom prst="rect">
            <a:avLst/>
          </a:prstGeom>
          <a:noFill/>
          <a:ln>
            <a:noFill/>
          </a:ln>
          <a:effectLst>
            <a:outerShdw blurRad="63500" dist="17961"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Lst>
        </p:spPr>
        <p:txBody>
          <a:bodyPr lIns="102553" tIns="50377" rIns="102553" bIns="50377">
            <a:spAutoFit/>
          </a:bodyPr>
          <a:lstStyle/>
          <a:p>
            <a:pPr algn="ctr"/>
            <a:r>
              <a:rPr lang="en-US" altLang="en-US" sz="4533" b="1">
                <a:solidFill>
                  <a:schemeClr val="tx2"/>
                </a:solidFill>
              </a:rPr>
              <a:t>Porter’s Five Forces </a:t>
            </a:r>
          </a:p>
          <a:p>
            <a:pPr algn="ctr"/>
            <a:r>
              <a:rPr lang="en-US" altLang="en-US" sz="4533" b="1">
                <a:solidFill>
                  <a:schemeClr val="tx2"/>
                </a:solidFill>
              </a:rPr>
              <a:t>Model of Competition</a:t>
            </a:r>
          </a:p>
        </p:txBody>
      </p:sp>
      <p:sp>
        <p:nvSpPr>
          <p:cNvPr id="103440" name="Rectangle 16"/>
          <p:cNvSpPr>
            <a:spLocks noGrp="1" noChangeArrowheads="1"/>
          </p:cNvSpPr>
          <p:nvPr>
            <p:ph type="title" idx="4294967295"/>
          </p:nvPr>
        </p:nvSpPr>
        <p:spPr bwMode="auto">
          <a:xfrm>
            <a:off x="2504440" y="970617"/>
            <a:ext cx="8808720" cy="10156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r>
              <a:rPr lang="en-US" altLang="en-US"/>
              <a:t> </a:t>
            </a:r>
          </a:p>
        </p:txBody>
      </p:sp>
    </p:spTree>
    <p:extLst>
      <p:ext uri="{BB962C8B-B14F-4D97-AF65-F5344CB8AC3E}">
        <p14:creationId xmlns:p14="http://schemas.microsoft.com/office/powerpoint/2010/main" val="2576474984"/>
      </p:ext>
    </p:extLst>
  </p:cSld>
  <p:clrMapOvr>
    <a:masterClrMapping/>
  </p:clrMapOvr>
  <p:transition spd="slow">
    <p:zoom dir="in"/>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103434"/>
                                        </p:tgtEl>
                                        <p:attrNameLst>
                                          <p:attrName>style.visibility</p:attrName>
                                        </p:attrNameLst>
                                      </p:cBhvr>
                                      <p:to>
                                        <p:strVal val="visible"/>
                                      </p:to>
                                    </p:set>
                                    <p:animEffect transition="in" filter="dissolve">
                                      <p:cBhvr>
                                        <p:cTn id="7" dur="500"/>
                                        <p:tgtEl>
                                          <p:spTgt spid="1034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C6A127D-CBB8-A145-A0EA-8484A591CB73}"/>
              </a:ext>
            </a:extLst>
          </p:cNvPr>
          <p:cNvSpPr txBox="1"/>
          <p:nvPr/>
        </p:nvSpPr>
        <p:spPr>
          <a:xfrm>
            <a:off x="1912522" y="3920389"/>
            <a:ext cx="8058873" cy="707886"/>
          </a:xfrm>
          <a:prstGeom prst="rect">
            <a:avLst/>
          </a:prstGeom>
          <a:noFill/>
        </p:spPr>
        <p:txBody>
          <a:bodyPr wrap="none" rtlCol="0">
            <a:spAutoFit/>
          </a:bodyPr>
          <a:lstStyle/>
          <a:p>
            <a:r>
              <a:rPr lang="en-US" dirty="0">
                <a:hlinkClick r:id="rId2"/>
              </a:rPr>
              <a:t>https://hbr.org/video/3590615226001/the-explainer-porters-five-forces</a:t>
            </a:r>
            <a:endParaRPr lang="en-US" dirty="0"/>
          </a:p>
          <a:p>
            <a:endParaRPr lang="en-US" dirty="0"/>
          </a:p>
        </p:txBody>
      </p:sp>
      <p:pic>
        <p:nvPicPr>
          <p:cNvPr id="3" name="Picture 2">
            <a:extLst>
              <a:ext uri="{FF2B5EF4-FFF2-40B4-BE49-F238E27FC236}">
                <a16:creationId xmlns:a16="http://schemas.microsoft.com/office/drawing/2014/main" id="{410EB29D-CD06-DA40-9BCA-B11CB2A25A66}"/>
              </a:ext>
            </a:extLst>
          </p:cNvPr>
          <p:cNvPicPr>
            <a:picLocks noChangeAspect="1"/>
          </p:cNvPicPr>
          <p:nvPr/>
        </p:nvPicPr>
        <p:blipFill>
          <a:blip r:embed="rId3"/>
          <a:stretch>
            <a:fillRect/>
          </a:stretch>
        </p:blipFill>
        <p:spPr>
          <a:xfrm>
            <a:off x="1912522" y="1395142"/>
            <a:ext cx="3489472" cy="2102927"/>
          </a:xfrm>
          <a:prstGeom prst="rect">
            <a:avLst/>
          </a:prstGeom>
        </p:spPr>
      </p:pic>
    </p:spTree>
    <p:extLst>
      <p:ext uri="{BB962C8B-B14F-4D97-AF65-F5344CB8AC3E}">
        <p14:creationId xmlns:p14="http://schemas.microsoft.com/office/powerpoint/2010/main" val="11192477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585" name="Group 9"/>
          <p:cNvGrpSpPr>
            <a:grpSpLocks/>
          </p:cNvGrpSpPr>
          <p:nvPr/>
        </p:nvGrpSpPr>
        <p:grpSpPr bwMode="auto">
          <a:xfrm>
            <a:off x="5751937" y="1529292"/>
            <a:ext cx="2241762" cy="2097828"/>
            <a:chOff x="2237" y="706"/>
            <a:chExt cx="1246" cy="1166"/>
          </a:xfrm>
        </p:grpSpPr>
        <p:sp>
          <p:nvSpPr>
            <p:cNvPr id="24580" name="Rectangle 4"/>
            <p:cNvSpPr>
              <a:spLocks noChangeArrowheads="1"/>
            </p:cNvSpPr>
            <p:nvPr/>
          </p:nvSpPr>
          <p:spPr bwMode="auto">
            <a:xfrm>
              <a:off x="2309" y="706"/>
              <a:ext cx="910" cy="638"/>
            </a:xfrm>
            <a:prstGeom prst="rect">
              <a:avLst/>
            </a:prstGeom>
            <a:noFill/>
            <a:ln>
              <a:noFill/>
            </a:ln>
            <a:effectLst>
              <a:outerShdw blurRad="63500" dist="38099"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Lst>
          </p:spPr>
          <p:txBody>
            <a:bodyPr lIns="102553" tIns="50377" rIns="102553" bIns="50377">
              <a:spAutoFit/>
            </a:bodyPr>
            <a:lstStyle/>
            <a:p>
              <a:pPr algn="ctr"/>
              <a:r>
                <a:rPr lang="en-US" altLang="en-US" sz="2267"/>
                <a:t>Threat of New Entrants</a:t>
              </a:r>
            </a:p>
          </p:txBody>
        </p:sp>
        <p:sp>
          <p:nvSpPr>
            <p:cNvPr id="24581" name="AutoShape 5"/>
            <p:cNvSpPr>
              <a:spLocks noChangeArrowheads="1"/>
            </p:cNvSpPr>
            <p:nvPr/>
          </p:nvSpPr>
          <p:spPr bwMode="auto">
            <a:xfrm rot="16200000" flipH="1">
              <a:off x="2284" y="720"/>
              <a:ext cx="1152" cy="1152"/>
            </a:xfrm>
            <a:prstGeom prst="homePlate">
              <a:avLst>
                <a:gd name="adj" fmla="val 33333"/>
              </a:avLst>
            </a:prstGeom>
            <a:solidFill>
              <a:schemeClr val="accent2"/>
            </a:solidFill>
            <a:ln>
              <a:noFill/>
            </a:ln>
            <a:effectLst>
              <a:outerShdw blurRad="63500" dist="53882" dir="2700000" algn="ctr" rotWithShape="0">
                <a:schemeClr val="bg2">
                  <a:alpha val="74998"/>
                </a:schemeClr>
              </a:outerShdw>
            </a:effectLst>
            <a:extLst>
              <a:ext uri="{91240B29-F687-4F45-9708-019B960494DF}">
                <a14:hiddenLine xmlns:a14="http://schemas.microsoft.com/office/drawing/2010/main" w="12699">
                  <a:solidFill>
                    <a:schemeClr val="tx1"/>
                  </a:solidFill>
                  <a:miter lim="800000"/>
                  <a:headEnd/>
                  <a:tailEnd/>
                </a14:hiddenLine>
              </a:ext>
            </a:extLst>
          </p:spPr>
          <p:txBody>
            <a:bodyPr wrap="none" anchor="ctr"/>
            <a:lstStyle/>
            <a:p>
              <a:endParaRPr lang="en-US" sz="2267"/>
            </a:p>
          </p:txBody>
        </p:sp>
        <p:sp>
          <p:nvSpPr>
            <p:cNvPr id="24582" name="Rectangle 6"/>
            <p:cNvSpPr>
              <a:spLocks noChangeArrowheads="1"/>
            </p:cNvSpPr>
            <p:nvPr/>
          </p:nvSpPr>
          <p:spPr bwMode="auto">
            <a:xfrm>
              <a:off x="2237" y="834"/>
              <a:ext cx="1246" cy="444"/>
            </a:xfrm>
            <a:prstGeom prst="rect">
              <a:avLst/>
            </a:prstGeom>
            <a:noFill/>
            <a:ln>
              <a:noFill/>
            </a:ln>
            <a:effectLst>
              <a:outerShdw blurRad="63500" dist="17961"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Lst>
          </p:spPr>
          <p:txBody>
            <a:bodyPr lIns="102553" tIns="50377" rIns="102553" bIns="50377">
              <a:spAutoFit/>
            </a:bodyPr>
            <a:lstStyle/>
            <a:p>
              <a:pPr algn="ctr"/>
              <a:r>
                <a:rPr lang="en-US" altLang="en-US" sz="2267" b="1" dirty="0"/>
                <a:t>Threat of New Entrants</a:t>
              </a:r>
            </a:p>
          </p:txBody>
        </p:sp>
      </p:grpSp>
      <p:sp>
        <p:nvSpPr>
          <p:cNvPr id="24584" name="Rectangle 8"/>
          <p:cNvSpPr>
            <a:spLocks noChangeArrowheads="1"/>
          </p:cNvSpPr>
          <p:nvPr/>
        </p:nvSpPr>
        <p:spPr bwMode="auto">
          <a:xfrm>
            <a:off x="1727200" y="0"/>
            <a:ext cx="10363200" cy="1496863"/>
          </a:xfrm>
          <a:prstGeom prst="rect">
            <a:avLst/>
          </a:prstGeom>
          <a:noFill/>
          <a:ln>
            <a:noFill/>
          </a:ln>
          <a:effectLst>
            <a:outerShdw blurRad="63500" dist="17961"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Lst>
        </p:spPr>
        <p:txBody>
          <a:bodyPr lIns="102553" tIns="50377" rIns="102553" bIns="50377">
            <a:spAutoFit/>
          </a:bodyPr>
          <a:lstStyle/>
          <a:p>
            <a:pPr algn="ctr"/>
            <a:r>
              <a:rPr lang="en-US" altLang="en-US" sz="4533" b="1" dirty="0">
                <a:solidFill>
                  <a:schemeClr val="tx2"/>
                </a:solidFill>
              </a:rPr>
              <a:t>Porter’s Five Forces </a:t>
            </a:r>
          </a:p>
          <a:p>
            <a:pPr algn="ctr"/>
            <a:r>
              <a:rPr lang="en-US" altLang="en-US" sz="4533" b="1" dirty="0">
                <a:solidFill>
                  <a:schemeClr val="tx2"/>
                </a:solidFill>
              </a:rPr>
              <a:t>Model of Competition</a:t>
            </a:r>
          </a:p>
        </p:txBody>
      </p:sp>
      <p:sp>
        <p:nvSpPr>
          <p:cNvPr id="24587" name="Rectangle 11"/>
          <p:cNvSpPr>
            <a:spLocks noGrp="1" noChangeArrowheads="1"/>
          </p:cNvSpPr>
          <p:nvPr>
            <p:ph type="body" idx="4294967295"/>
          </p:nvPr>
        </p:nvSpPr>
        <p:spPr bwMode="auto">
          <a:xfrm>
            <a:off x="680936" y="3799840"/>
            <a:ext cx="12393038" cy="4121128"/>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r>
              <a:rPr lang="en-US" altLang="en-US" sz="2800" dirty="0"/>
              <a:t>“Entrant” a firm that had not previously served a market begins operations therein</a:t>
            </a:r>
          </a:p>
          <a:p>
            <a:pPr lvl="1"/>
            <a:r>
              <a:rPr lang="en-US" altLang="en-US" sz="2400" dirty="0"/>
              <a:t>New-Firm vs. Diversifying Entrants</a:t>
            </a:r>
          </a:p>
          <a:p>
            <a:r>
              <a:rPr lang="en-US" altLang="en-US" sz="2800" dirty="0"/>
              <a:t>Entrants and “potential entrants” discipline markets</a:t>
            </a:r>
          </a:p>
          <a:p>
            <a:r>
              <a:rPr lang="en-US" altLang="en-US" sz="2800" dirty="0"/>
              <a:t>Threat of entry dependent is on</a:t>
            </a:r>
          </a:p>
          <a:p>
            <a:pPr lvl="1">
              <a:buFontTx/>
              <a:buNone/>
            </a:pPr>
            <a:r>
              <a:rPr lang="en-US" altLang="en-US" sz="2400" dirty="0"/>
              <a:t>1. Expected Retaliation</a:t>
            </a:r>
          </a:p>
          <a:p>
            <a:pPr lvl="1">
              <a:buFontTx/>
              <a:buNone/>
            </a:pPr>
            <a:r>
              <a:rPr lang="en-US" altLang="en-US" sz="2400" dirty="0"/>
              <a:t>2. Entry Barriers</a:t>
            </a:r>
          </a:p>
        </p:txBody>
      </p:sp>
    </p:spTree>
    <p:extLst>
      <p:ext uri="{BB962C8B-B14F-4D97-AF65-F5344CB8AC3E}">
        <p14:creationId xmlns:p14="http://schemas.microsoft.com/office/powerpoint/2010/main" val="4265355840"/>
      </p:ext>
    </p:extLst>
  </p:cSld>
  <p:clrMapOvr>
    <a:masterClrMapping/>
  </p:clrMapOvr>
  <p:transition spd="slow">
    <p:zoom dir="in"/>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2"/>
          <p:cNvSpPr>
            <a:spLocks noGrp="1" noChangeArrowheads="1"/>
          </p:cNvSpPr>
          <p:nvPr>
            <p:ph type="title"/>
          </p:nvPr>
        </p:nvSpPr>
        <p:spPr>
          <a:xfrm>
            <a:off x="1621033" y="355232"/>
            <a:ext cx="9797143" cy="800219"/>
          </a:xfrm>
        </p:spPr>
        <p:txBody>
          <a:bodyPr/>
          <a:lstStyle/>
          <a:p>
            <a:pPr algn="ctr"/>
            <a:r>
              <a:rPr lang="en-US" altLang="en-US" sz="4000" b="1" dirty="0"/>
              <a:t>Threat of New Entrants</a:t>
            </a:r>
          </a:p>
        </p:txBody>
      </p:sp>
      <p:sp>
        <p:nvSpPr>
          <p:cNvPr id="256003" name="Rectangle 3"/>
          <p:cNvSpPr>
            <a:spLocks noGrp="1" noChangeArrowheads="1"/>
          </p:cNvSpPr>
          <p:nvPr>
            <p:ph type="body" idx="4294967295"/>
          </p:nvPr>
        </p:nvSpPr>
        <p:spPr>
          <a:xfrm>
            <a:off x="4764206" y="1155451"/>
            <a:ext cx="9053394" cy="5059847"/>
          </a:xfrm>
          <a:prstGeom prst="rect">
            <a:avLst/>
          </a:prstGeom>
        </p:spPr>
        <p:txBody>
          <a:bodyPr/>
          <a:lstStyle/>
          <a:p>
            <a:pPr>
              <a:lnSpc>
                <a:spcPct val="90000"/>
              </a:lnSpc>
              <a:spcBef>
                <a:spcPts val="0"/>
              </a:spcBef>
              <a:spcAft>
                <a:spcPts val="0"/>
              </a:spcAft>
            </a:pPr>
            <a:r>
              <a:rPr lang="en-US" altLang="en-US" sz="3200" i="1" dirty="0">
                <a:ea typeface="ＭＳ Ｐゴシック" charset="-128"/>
              </a:rPr>
              <a:t>Economies of scale: </a:t>
            </a:r>
            <a:r>
              <a:rPr lang="en-US" altLang="en-US" sz="3200" dirty="0">
                <a:ea typeface="ＭＳ Ｐゴシック" charset="-128"/>
              </a:rPr>
              <a:t>manufacturing, marketing, technological</a:t>
            </a:r>
          </a:p>
          <a:p>
            <a:pPr>
              <a:lnSpc>
                <a:spcPct val="90000"/>
              </a:lnSpc>
              <a:spcBef>
                <a:spcPts val="0"/>
              </a:spcBef>
              <a:spcAft>
                <a:spcPts val="0"/>
              </a:spcAft>
            </a:pPr>
            <a:endParaRPr lang="en-US" altLang="en-US" sz="3200" dirty="0">
              <a:ea typeface="ＭＳ Ｐゴシック" charset="-128"/>
            </a:endParaRPr>
          </a:p>
          <a:p>
            <a:pPr>
              <a:lnSpc>
                <a:spcPct val="90000"/>
              </a:lnSpc>
              <a:spcBef>
                <a:spcPts val="0"/>
              </a:spcBef>
              <a:spcAft>
                <a:spcPts val="0"/>
              </a:spcAft>
            </a:pPr>
            <a:r>
              <a:rPr lang="en-US" altLang="en-US" sz="3200" i="1" dirty="0">
                <a:ea typeface="ＭＳ Ｐゴシック" charset="-128"/>
              </a:rPr>
              <a:t>Customer loyalty: </a:t>
            </a:r>
            <a:r>
              <a:rPr lang="en-US" altLang="en-US" sz="3200" dirty="0">
                <a:ea typeface="ＭＳ Ｐゴシック" charset="-128"/>
              </a:rPr>
              <a:t>well established brands, long established relationships</a:t>
            </a:r>
          </a:p>
          <a:p>
            <a:pPr>
              <a:lnSpc>
                <a:spcPct val="90000"/>
              </a:lnSpc>
              <a:spcBef>
                <a:spcPts val="0"/>
              </a:spcBef>
              <a:spcAft>
                <a:spcPts val="0"/>
              </a:spcAft>
            </a:pPr>
            <a:endParaRPr lang="en-US" altLang="en-US" sz="3200" dirty="0">
              <a:ea typeface="ＭＳ Ｐゴシック" charset="-128"/>
            </a:endParaRPr>
          </a:p>
          <a:p>
            <a:pPr>
              <a:lnSpc>
                <a:spcPct val="90000"/>
              </a:lnSpc>
              <a:spcBef>
                <a:spcPts val="0"/>
              </a:spcBef>
              <a:spcAft>
                <a:spcPts val="0"/>
              </a:spcAft>
            </a:pPr>
            <a:r>
              <a:rPr lang="en-US" altLang="en-US" sz="3200" i="1" dirty="0">
                <a:ea typeface="ＭＳ Ｐゴシック" charset="-128"/>
              </a:rPr>
              <a:t>Agreements with customers, suppliers, strategic partners</a:t>
            </a:r>
          </a:p>
          <a:p>
            <a:pPr>
              <a:lnSpc>
                <a:spcPct val="90000"/>
              </a:lnSpc>
              <a:spcBef>
                <a:spcPts val="0"/>
              </a:spcBef>
              <a:spcAft>
                <a:spcPts val="0"/>
              </a:spcAft>
            </a:pPr>
            <a:endParaRPr lang="en-US" altLang="en-US" sz="3200" dirty="0">
              <a:ea typeface="ＭＳ Ｐゴシック" charset="-128"/>
            </a:endParaRPr>
          </a:p>
          <a:p>
            <a:pPr>
              <a:lnSpc>
                <a:spcPct val="90000"/>
              </a:lnSpc>
              <a:spcBef>
                <a:spcPts val="0"/>
              </a:spcBef>
              <a:spcAft>
                <a:spcPts val="0"/>
              </a:spcAft>
            </a:pPr>
            <a:r>
              <a:rPr lang="en-US" altLang="en-US" sz="3200" i="1" dirty="0">
                <a:ea typeface="ＭＳ Ｐゴシック" charset="-128"/>
              </a:rPr>
              <a:t>Switching costs</a:t>
            </a:r>
          </a:p>
          <a:p>
            <a:pPr>
              <a:lnSpc>
                <a:spcPct val="90000"/>
              </a:lnSpc>
              <a:spcBef>
                <a:spcPts val="0"/>
              </a:spcBef>
              <a:spcAft>
                <a:spcPts val="0"/>
              </a:spcAft>
            </a:pPr>
            <a:endParaRPr lang="en-US" altLang="en-US" sz="3200" dirty="0">
              <a:ea typeface="ＭＳ Ｐゴシック" charset="-128"/>
            </a:endParaRPr>
          </a:p>
          <a:p>
            <a:pPr>
              <a:lnSpc>
                <a:spcPct val="90000"/>
              </a:lnSpc>
              <a:spcBef>
                <a:spcPts val="0"/>
              </a:spcBef>
              <a:spcAft>
                <a:spcPts val="0"/>
              </a:spcAft>
            </a:pPr>
            <a:r>
              <a:rPr lang="en-US" altLang="en-US" sz="3200" i="1" dirty="0">
                <a:ea typeface="ＭＳ Ｐゴシック" charset="-128"/>
              </a:rPr>
              <a:t>Capital requirements: </a:t>
            </a:r>
            <a:r>
              <a:rPr lang="en-US" altLang="en-US" sz="3200" dirty="0">
                <a:ea typeface="ＭＳ Ｐゴシック" charset="-128"/>
              </a:rPr>
              <a:t>high investment.  Sunk cost?</a:t>
            </a:r>
          </a:p>
        </p:txBody>
      </p:sp>
      <p:grpSp>
        <p:nvGrpSpPr>
          <p:cNvPr id="4" name="Group 25">
            <a:extLst>
              <a:ext uri="{FF2B5EF4-FFF2-40B4-BE49-F238E27FC236}">
                <a16:creationId xmlns:a16="http://schemas.microsoft.com/office/drawing/2014/main" id="{4973D607-69B3-ED4E-AA26-3FB1BC7AA5ED}"/>
              </a:ext>
            </a:extLst>
          </p:cNvPr>
          <p:cNvGrpSpPr>
            <a:grpSpLocks/>
          </p:cNvGrpSpPr>
          <p:nvPr/>
        </p:nvGrpSpPr>
        <p:grpSpPr bwMode="auto">
          <a:xfrm>
            <a:off x="928559" y="3078156"/>
            <a:ext cx="2936240" cy="1813560"/>
            <a:chOff x="432" y="1008"/>
            <a:chExt cx="1632" cy="1008"/>
          </a:xfrm>
        </p:grpSpPr>
        <p:sp>
          <p:nvSpPr>
            <p:cNvPr id="5" name="AutoShape 6">
              <a:extLst>
                <a:ext uri="{FF2B5EF4-FFF2-40B4-BE49-F238E27FC236}">
                  <a16:creationId xmlns:a16="http://schemas.microsoft.com/office/drawing/2014/main" id="{BEEE1E5F-0546-3C4B-B0EF-670651A9BB51}"/>
                </a:ext>
              </a:extLst>
            </p:cNvPr>
            <p:cNvSpPr>
              <a:spLocks noChangeArrowheads="1"/>
            </p:cNvSpPr>
            <p:nvPr/>
          </p:nvSpPr>
          <p:spPr bwMode="auto">
            <a:xfrm>
              <a:off x="432" y="1008"/>
              <a:ext cx="1632" cy="1008"/>
            </a:xfrm>
            <a:prstGeom prst="homePlate">
              <a:avLst>
                <a:gd name="adj" fmla="val 53968"/>
              </a:avLst>
            </a:prstGeom>
            <a:solidFill>
              <a:schemeClr val="accent2"/>
            </a:solidFill>
            <a:ln>
              <a:noFill/>
            </a:ln>
            <a:effectLst>
              <a:outerShdw blurRad="63500" dist="53882" dir="2700000" algn="ctr" rotWithShape="0">
                <a:schemeClr val="bg2">
                  <a:alpha val="74998"/>
                </a:schemeClr>
              </a:outerShdw>
            </a:effectLst>
            <a:extLst>
              <a:ext uri="{91240B29-F687-4F45-9708-019B960494DF}">
                <a14:hiddenLine xmlns:a14="http://schemas.microsoft.com/office/drawing/2010/main" w="12699">
                  <a:solidFill>
                    <a:schemeClr val="tx1"/>
                  </a:solidFill>
                  <a:miter lim="800000"/>
                  <a:headEnd/>
                  <a:tailEnd/>
                </a14:hiddenLine>
              </a:ext>
            </a:extLst>
          </p:spPr>
          <p:txBody>
            <a:bodyPr wrap="none" anchor="ctr"/>
            <a:lstStyle/>
            <a:p>
              <a:endParaRPr lang="en-US" sz="2267"/>
            </a:p>
          </p:txBody>
        </p:sp>
        <p:sp>
          <p:nvSpPr>
            <p:cNvPr id="6" name="Rectangle 7">
              <a:extLst>
                <a:ext uri="{FF2B5EF4-FFF2-40B4-BE49-F238E27FC236}">
                  <a16:creationId xmlns:a16="http://schemas.microsoft.com/office/drawing/2014/main" id="{28B513BD-B2F5-DD4C-909B-866D4A49BA1C}"/>
                </a:ext>
              </a:extLst>
            </p:cNvPr>
            <p:cNvSpPr>
              <a:spLocks noChangeArrowheads="1"/>
            </p:cNvSpPr>
            <p:nvPr/>
          </p:nvSpPr>
          <p:spPr bwMode="auto">
            <a:xfrm>
              <a:off x="527" y="1295"/>
              <a:ext cx="1064" cy="444"/>
            </a:xfrm>
            <a:prstGeom prst="rect">
              <a:avLst/>
            </a:prstGeom>
            <a:noFill/>
            <a:ln>
              <a:noFill/>
            </a:ln>
            <a:effectLst>
              <a:outerShdw blurRad="63500" dist="17961"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Lst>
          </p:spPr>
          <p:txBody>
            <a:bodyPr lIns="102553" tIns="50377" rIns="102553" bIns="50377">
              <a:spAutoFit/>
            </a:bodyPr>
            <a:lstStyle/>
            <a:p>
              <a:pPr algn="ctr"/>
              <a:r>
                <a:rPr lang="en-US" altLang="en-US" sz="2267" b="1" dirty="0"/>
                <a:t>Barriers to Entry</a:t>
              </a:r>
            </a:p>
          </p:txBody>
        </p:sp>
      </p:grpSp>
    </p:spTree>
    <p:extLst>
      <p:ext uri="{BB962C8B-B14F-4D97-AF65-F5344CB8AC3E}">
        <p14:creationId xmlns:p14="http://schemas.microsoft.com/office/powerpoint/2010/main" val="3997939935"/>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p:cNvSpPr>
            <a:spLocks noGrp="1" noChangeArrowheads="1"/>
          </p:cNvSpPr>
          <p:nvPr>
            <p:ph type="title"/>
          </p:nvPr>
        </p:nvSpPr>
        <p:spPr>
          <a:xfrm>
            <a:off x="-1440479" y="244116"/>
            <a:ext cx="16257321" cy="861774"/>
          </a:xfrm>
        </p:spPr>
        <p:txBody>
          <a:bodyPr/>
          <a:lstStyle/>
          <a:p>
            <a:pPr algn="ctr"/>
            <a:r>
              <a:rPr lang="en-US" altLang="en-US" sz="4400" b="1" dirty="0"/>
              <a:t>Threat of New Entrants</a:t>
            </a:r>
            <a:endParaRPr lang="en-US" altLang="en-US" dirty="0">
              <a:ea typeface="ＭＳ Ｐゴシック" charset="-128"/>
            </a:endParaRPr>
          </a:p>
        </p:txBody>
      </p:sp>
      <p:sp>
        <p:nvSpPr>
          <p:cNvPr id="103426" name="Rectangle 3"/>
          <p:cNvSpPr>
            <a:spLocks noGrp="1" noChangeArrowheads="1"/>
          </p:cNvSpPr>
          <p:nvPr>
            <p:ph type="body" idx="4294967295"/>
          </p:nvPr>
        </p:nvSpPr>
        <p:spPr>
          <a:xfrm>
            <a:off x="5000017" y="1341196"/>
            <a:ext cx="8657617" cy="5306068"/>
          </a:xfrm>
          <a:prstGeom prst="rect">
            <a:avLst/>
          </a:prstGeom>
        </p:spPr>
        <p:txBody>
          <a:bodyPr/>
          <a:lstStyle/>
          <a:p>
            <a:pPr>
              <a:lnSpc>
                <a:spcPct val="80000"/>
              </a:lnSpc>
              <a:spcBef>
                <a:spcPts val="0"/>
              </a:spcBef>
              <a:spcAft>
                <a:spcPts val="0"/>
              </a:spcAft>
            </a:pPr>
            <a:r>
              <a:rPr lang="en-US" altLang="en-US" sz="2800" i="1" dirty="0">
                <a:ea typeface="ＭＳ Ｐゴシック" charset="-128"/>
              </a:rPr>
              <a:t>Access to distribution channels: </a:t>
            </a:r>
            <a:r>
              <a:rPr lang="en-US" altLang="en-US" sz="2800" dirty="0">
                <a:ea typeface="ＭＳ Ｐゴシック" charset="-128"/>
              </a:rPr>
              <a:t>exclusive distribution agreements, dominant position of competitors</a:t>
            </a:r>
          </a:p>
          <a:p>
            <a:pPr>
              <a:lnSpc>
                <a:spcPct val="80000"/>
              </a:lnSpc>
              <a:spcBef>
                <a:spcPts val="0"/>
              </a:spcBef>
              <a:spcAft>
                <a:spcPts val="0"/>
              </a:spcAft>
            </a:pPr>
            <a:endParaRPr lang="en-US" altLang="en-US" sz="2800" dirty="0">
              <a:ea typeface="ＭＳ Ｐゴシック" charset="-128"/>
            </a:endParaRPr>
          </a:p>
          <a:p>
            <a:pPr>
              <a:lnSpc>
                <a:spcPct val="80000"/>
              </a:lnSpc>
              <a:spcBef>
                <a:spcPts val="0"/>
              </a:spcBef>
              <a:spcAft>
                <a:spcPts val="0"/>
              </a:spcAft>
            </a:pPr>
            <a:r>
              <a:rPr lang="en-US" altLang="en-US" sz="2800" i="1" dirty="0">
                <a:ea typeface="ＭＳ Ｐゴシック" charset="-128"/>
              </a:rPr>
              <a:t>Intellectual property: </a:t>
            </a:r>
            <a:r>
              <a:rPr lang="en-US" altLang="en-US" sz="2800" dirty="0">
                <a:ea typeface="ＭＳ Ｐゴシック" charset="-128"/>
              </a:rPr>
              <a:t>patents, trade secrets, copyrights, trademarks, know-how</a:t>
            </a:r>
          </a:p>
          <a:p>
            <a:pPr>
              <a:lnSpc>
                <a:spcPct val="80000"/>
              </a:lnSpc>
              <a:spcBef>
                <a:spcPts val="0"/>
              </a:spcBef>
              <a:spcAft>
                <a:spcPts val="0"/>
              </a:spcAft>
            </a:pPr>
            <a:endParaRPr lang="en-US" altLang="en-US" sz="2800" dirty="0">
              <a:ea typeface="ＭＳ Ｐゴシック" charset="-128"/>
            </a:endParaRPr>
          </a:p>
          <a:p>
            <a:pPr>
              <a:lnSpc>
                <a:spcPct val="80000"/>
              </a:lnSpc>
              <a:spcBef>
                <a:spcPts val="0"/>
              </a:spcBef>
              <a:spcAft>
                <a:spcPts val="0"/>
              </a:spcAft>
            </a:pPr>
            <a:r>
              <a:rPr lang="en-US" altLang="en-US" sz="2800" i="1" dirty="0">
                <a:ea typeface="ＭＳ Ｐゴシック" charset="-128"/>
              </a:rPr>
              <a:t>Government regulations: </a:t>
            </a:r>
            <a:r>
              <a:rPr lang="en-US" altLang="en-US" sz="2800" dirty="0">
                <a:ea typeface="ＭＳ Ｐゴシック" charset="-128"/>
              </a:rPr>
              <a:t>Regulated monopolies, import restrictions</a:t>
            </a:r>
          </a:p>
          <a:p>
            <a:pPr>
              <a:lnSpc>
                <a:spcPct val="80000"/>
              </a:lnSpc>
              <a:spcBef>
                <a:spcPts val="0"/>
              </a:spcBef>
              <a:spcAft>
                <a:spcPts val="0"/>
              </a:spcAft>
            </a:pPr>
            <a:endParaRPr lang="en-US" altLang="en-US" sz="2800" dirty="0">
              <a:ea typeface="ＭＳ Ｐゴシック" charset="-128"/>
            </a:endParaRPr>
          </a:p>
          <a:p>
            <a:pPr>
              <a:lnSpc>
                <a:spcPct val="80000"/>
              </a:lnSpc>
              <a:spcBef>
                <a:spcPts val="0"/>
              </a:spcBef>
              <a:spcAft>
                <a:spcPts val="0"/>
              </a:spcAft>
            </a:pPr>
            <a:r>
              <a:rPr lang="en-US" altLang="en-US" sz="2800" i="1" dirty="0">
                <a:ea typeface="ＭＳ Ｐゴシック" charset="-128"/>
              </a:rPr>
              <a:t>Hostility to new entrants: </a:t>
            </a:r>
            <a:r>
              <a:rPr lang="en-US" altLang="en-US" sz="2800" dirty="0">
                <a:ea typeface="ＭＳ Ｐゴシック" charset="-128"/>
              </a:rPr>
              <a:t>Use all means to drive out new competition: pricing, legal, spreading rumors</a:t>
            </a:r>
          </a:p>
          <a:p>
            <a:pPr>
              <a:lnSpc>
                <a:spcPct val="80000"/>
              </a:lnSpc>
              <a:spcBef>
                <a:spcPts val="0"/>
              </a:spcBef>
              <a:spcAft>
                <a:spcPts val="0"/>
              </a:spcAft>
            </a:pPr>
            <a:endParaRPr lang="en-US" altLang="en-US" sz="2800" dirty="0">
              <a:ea typeface="ＭＳ Ｐゴシック" charset="-128"/>
            </a:endParaRPr>
          </a:p>
          <a:p>
            <a:pPr>
              <a:lnSpc>
                <a:spcPct val="80000"/>
              </a:lnSpc>
              <a:spcBef>
                <a:spcPts val="0"/>
              </a:spcBef>
              <a:spcAft>
                <a:spcPts val="0"/>
              </a:spcAft>
            </a:pPr>
            <a:r>
              <a:rPr lang="en-US" altLang="en-US" sz="2800" i="1" dirty="0">
                <a:ea typeface="ＭＳ Ｐゴシック" charset="-128"/>
              </a:rPr>
              <a:t>Network externalities and customer lock in</a:t>
            </a:r>
          </a:p>
        </p:txBody>
      </p:sp>
      <p:grpSp>
        <p:nvGrpSpPr>
          <p:cNvPr id="4" name="Group 25">
            <a:extLst>
              <a:ext uri="{FF2B5EF4-FFF2-40B4-BE49-F238E27FC236}">
                <a16:creationId xmlns:a16="http://schemas.microsoft.com/office/drawing/2014/main" id="{C33020ED-E320-744E-8DC8-6B4601A2F4EC}"/>
              </a:ext>
            </a:extLst>
          </p:cNvPr>
          <p:cNvGrpSpPr>
            <a:grpSpLocks/>
          </p:cNvGrpSpPr>
          <p:nvPr/>
        </p:nvGrpSpPr>
        <p:grpSpPr bwMode="auto">
          <a:xfrm>
            <a:off x="928559" y="3078156"/>
            <a:ext cx="2936240" cy="1813560"/>
            <a:chOff x="432" y="1008"/>
            <a:chExt cx="1632" cy="1008"/>
          </a:xfrm>
        </p:grpSpPr>
        <p:sp>
          <p:nvSpPr>
            <p:cNvPr id="5" name="AutoShape 6">
              <a:extLst>
                <a:ext uri="{FF2B5EF4-FFF2-40B4-BE49-F238E27FC236}">
                  <a16:creationId xmlns:a16="http://schemas.microsoft.com/office/drawing/2014/main" id="{6236AD76-3E96-044C-8AA1-BF3190264A42}"/>
                </a:ext>
              </a:extLst>
            </p:cNvPr>
            <p:cNvSpPr>
              <a:spLocks noChangeArrowheads="1"/>
            </p:cNvSpPr>
            <p:nvPr/>
          </p:nvSpPr>
          <p:spPr bwMode="auto">
            <a:xfrm>
              <a:off x="432" y="1008"/>
              <a:ext cx="1632" cy="1008"/>
            </a:xfrm>
            <a:prstGeom prst="homePlate">
              <a:avLst>
                <a:gd name="adj" fmla="val 53968"/>
              </a:avLst>
            </a:prstGeom>
            <a:solidFill>
              <a:schemeClr val="accent2"/>
            </a:solidFill>
            <a:ln>
              <a:noFill/>
            </a:ln>
            <a:effectLst>
              <a:outerShdw blurRad="63500" dist="53882" dir="2700000" algn="ctr" rotWithShape="0">
                <a:schemeClr val="bg2">
                  <a:alpha val="74998"/>
                </a:schemeClr>
              </a:outerShdw>
            </a:effectLst>
            <a:extLst>
              <a:ext uri="{91240B29-F687-4F45-9708-019B960494DF}">
                <a14:hiddenLine xmlns:a14="http://schemas.microsoft.com/office/drawing/2010/main" w="12699">
                  <a:solidFill>
                    <a:schemeClr val="tx1"/>
                  </a:solidFill>
                  <a:miter lim="800000"/>
                  <a:headEnd/>
                  <a:tailEnd/>
                </a14:hiddenLine>
              </a:ext>
            </a:extLst>
          </p:spPr>
          <p:txBody>
            <a:bodyPr wrap="none" anchor="ctr"/>
            <a:lstStyle/>
            <a:p>
              <a:endParaRPr lang="en-US" sz="2267"/>
            </a:p>
          </p:txBody>
        </p:sp>
        <p:sp>
          <p:nvSpPr>
            <p:cNvPr id="6" name="Rectangle 7">
              <a:extLst>
                <a:ext uri="{FF2B5EF4-FFF2-40B4-BE49-F238E27FC236}">
                  <a16:creationId xmlns:a16="http://schemas.microsoft.com/office/drawing/2014/main" id="{B3CA2BB3-4F70-0E45-9FFB-D321AEBA5EA2}"/>
                </a:ext>
              </a:extLst>
            </p:cNvPr>
            <p:cNvSpPr>
              <a:spLocks noChangeArrowheads="1"/>
            </p:cNvSpPr>
            <p:nvPr/>
          </p:nvSpPr>
          <p:spPr bwMode="auto">
            <a:xfrm>
              <a:off x="567" y="1295"/>
              <a:ext cx="1064" cy="444"/>
            </a:xfrm>
            <a:prstGeom prst="rect">
              <a:avLst/>
            </a:prstGeom>
            <a:noFill/>
            <a:ln>
              <a:noFill/>
            </a:ln>
            <a:effectLst>
              <a:outerShdw blurRad="63500" dist="17961"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Lst>
          </p:spPr>
          <p:txBody>
            <a:bodyPr lIns="102553" tIns="50377" rIns="102553" bIns="50377">
              <a:spAutoFit/>
            </a:bodyPr>
            <a:lstStyle/>
            <a:p>
              <a:pPr algn="ctr"/>
              <a:r>
                <a:rPr lang="en-US" altLang="en-US" sz="2267" b="1" dirty="0"/>
                <a:t>Barriers to Entry</a:t>
              </a:r>
            </a:p>
          </p:txBody>
        </p:sp>
      </p:grpSp>
    </p:spTree>
    <p:extLst>
      <p:ext uri="{BB962C8B-B14F-4D97-AF65-F5344CB8AC3E}">
        <p14:creationId xmlns:p14="http://schemas.microsoft.com/office/powerpoint/2010/main" val="3643198636"/>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1026"/>
          <p:cNvSpPr>
            <a:spLocks noGrp="1" noChangeArrowheads="1"/>
          </p:cNvSpPr>
          <p:nvPr>
            <p:ph type="title"/>
          </p:nvPr>
        </p:nvSpPr>
        <p:spPr bwMode="auto">
          <a:xfrm>
            <a:off x="1264596" y="329465"/>
            <a:ext cx="10564238" cy="935641"/>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103632" tIns="51816" rIns="103632" bIns="51816" numCol="1" rtlCol="0" anchor="t" anchorCtr="0" compatLnSpc="1">
            <a:prstTxWarp prst="textNoShape">
              <a:avLst/>
            </a:prstTxWarp>
            <a:spAutoFit/>
          </a:bodyPr>
          <a:lstStyle/>
          <a:p>
            <a:r>
              <a:rPr lang="en-US" altLang="en-US" dirty="0"/>
              <a:t>Power of Suppliers and Buyers</a:t>
            </a:r>
          </a:p>
        </p:txBody>
      </p:sp>
      <p:sp>
        <p:nvSpPr>
          <p:cNvPr id="106499" name="Rectangle 1027"/>
          <p:cNvSpPr>
            <a:spLocks noGrp="1" noChangeArrowheads="1"/>
          </p:cNvSpPr>
          <p:nvPr>
            <p:ph type="body" idx="4294967295"/>
          </p:nvPr>
        </p:nvSpPr>
        <p:spPr bwMode="auto">
          <a:xfrm>
            <a:off x="1264596" y="1672912"/>
            <a:ext cx="10875524" cy="2185214"/>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103632" tIns="51816" rIns="103632" bIns="51816" numCol="1" anchor="t" anchorCtr="0" compatLnSpc="1">
            <a:prstTxWarp prst="textNoShape">
              <a:avLst/>
            </a:prstTxWarp>
          </a:bodyPr>
          <a:lstStyle/>
          <a:p>
            <a:pPr>
              <a:lnSpc>
                <a:spcPct val="90000"/>
              </a:lnSpc>
            </a:pPr>
            <a:r>
              <a:rPr lang="en-US" altLang="en-US" sz="3200" dirty="0"/>
              <a:t>Buyers and Suppliers can “appropriate” industry profits</a:t>
            </a:r>
          </a:p>
          <a:p>
            <a:pPr>
              <a:lnSpc>
                <a:spcPct val="90000"/>
              </a:lnSpc>
            </a:pPr>
            <a:r>
              <a:rPr lang="en-US" altLang="en-US" sz="3200" dirty="0"/>
              <a:t>Clarify Buyer, Supplier, Focal Industry</a:t>
            </a:r>
          </a:p>
          <a:p>
            <a:pPr>
              <a:lnSpc>
                <a:spcPct val="90000"/>
              </a:lnSpc>
            </a:pPr>
            <a:r>
              <a:rPr lang="en-US" altLang="en-US" sz="3200" dirty="0"/>
              <a:t>Buyer and Consumer are not always the same</a:t>
            </a:r>
          </a:p>
        </p:txBody>
      </p:sp>
      <p:grpSp>
        <p:nvGrpSpPr>
          <p:cNvPr id="2" name="Group 1">
            <a:extLst>
              <a:ext uri="{FF2B5EF4-FFF2-40B4-BE49-F238E27FC236}">
                <a16:creationId xmlns:a16="http://schemas.microsoft.com/office/drawing/2014/main" id="{B19722B0-AF08-EC47-A742-ECAA18B521B0}"/>
              </a:ext>
            </a:extLst>
          </p:cNvPr>
          <p:cNvGrpSpPr/>
          <p:nvPr/>
        </p:nvGrpSpPr>
        <p:grpSpPr>
          <a:xfrm>
            <a:off x="2410027" y="4319081"/>
            <a:ext cx="8273376" cy="1843822"/>
            <a:chOff x="2796701" y="4873664"/>
            <a:chExt cx="7081520" cy="1036320"/>
          </a:xfrm>
        </p:grpSpPr>
        <p:sp>
          <p:nvSpPr>
            <p:cNvPr id="106500" name="Rectangle 1028"/>
            <p:cNvSpPr>
              <a:spLocks noChangeArrowheads="1"/>
            </p:cNvSpPr>
            <p:nvPr/>
          </p:nvSpPr>
          <p:spPr bwMode="auto">
            <a:xfrm>
              <a:off x="2796701" y="4873664"/>
              <a:ext cx="1554480" cy="103632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r>
                <a:rPr lang="en-US" altLang="en-US" sz="2267" dirty="0"/>
                <a:t>Supplier</a:t>
              </a:r>
            </a:p>
          </p:txBody>
        </p:sp>
        <p:sp>
          <p:nvSpPr>
            <p:cNvPr id="106501" name="Rectangle 1029"/>
            <p:cNvSpPr>
              <a:spLocks noChangeArrowheads="1"/>
            </p:cNvSpPr>
            <p:nvPr/>
          </p:nvSpPr>
          <p:spPr bwMode="auto">
            <a:xfrm>
              <a:off x="5560221" y="4873664"/>
              <a:ext cx="1554480" cy="103632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r>
                <a:rPr lang="en-US" altLang="en-US" sz="2267" dirty="0"/>
                <a:t>Focal</a:t>
              </a:r>
            </a:p>
            <a:p>
              <a:pPr algn="ctr" eaLnBrk="1" hangingPunct="1"/>
              <a:r>
                <a:rPr lang="en-US" altLang="en-US" sz="2267" dirty="0"/>
                <a:t>Industry</a:t>
              </a:r>
            </a:p>
          </p:txBody>
        </p:sp>
        <p:sp>
          <p:nvSpPr>
            <p:cNvPr id="106502" name="Rectangle 1030"/>
            <p:cNvSpPr>
              <a:spLocks noChangeArrowheads="1"/>
            </p:cNvSpPr>
            <p:nvPr/>
          </p:nvSpPr>
          <p:spPr bwMode="auto">
            <a:xfrm>
              <a:off x="8323741" y="4873664"/>
              <a:ext cx="1554480" cy="103632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r>
                <a:rPr lang="en-US" altLang="en-US" sz="2267"/>
                <a:t>Buyer</a:t>
              </a:r>
            </a:p>
          </p:txBody>
        </p:sp>
        <p:sp>
          <p:nvSpPr>
            <p:cNvPr id="106503" name="Line 1031"/>
            <p:cNvSpPr>
              <a:spLocks noChangeShapeType="1"/>
            </p:cNvSpPr>
            <p:nvPr/>
          </p:nvSpPr>
          <p:spPr bwMode="auto">
            <a:xfrm>
              <a:off x="4351181" y="5391824"/>
              <a:ext cx="1209040" cy="0"/>
            </a:xfrm>
            <a:prstGeom prst="line">
              <a:avLst/>
            </a:prstGeom>
            <a:noFill/>
            <a:ln w="254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sz="2267"/>
            </a:p>
          </p:txBody>
        </p:sp>
        <p:sp>
          <p:nvSpPr>
            <p:cNvPr id="106504" name="Line 1032"/>
            <p:cNvSpPr>
              <a:spLocks noChangeShapeType="1"/>
            </p:cNvSpPr>
            <p:nvPr/>
          </p:nvSpPr>
          <p:spPr bwMode="auto">
            <a:xfrm>
              <a:off x="7114701" y="5391824"/>
              <a:ext cx="1209040" cy="0"/>
            </a:xfrm>
            <a:prstGeom prst="line">
              <a:avLst/>
            </a:prstGeom>
            <a:noFill/>
            <a:ln w="254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sz="2267"/>
            </a:p>
          </p:txBody>
        </p:sp>
      </p:grpSp>
    </p:spTree>
    <p:extLst>
      <p:ext uri="{BB962C8B-B14F-4D97-AF65-F5344CB8AC3E}">
        <p14:creationId xmlns:p14="http://schemas.microsoft.com/office/powerpoint/2010/main" val="919847920"/>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7" name="AutoShape 1033"/>
          <p:cNvSpPr>
            <a:spLocks noChangeArrowheads="1"/>
          </p:cNvSpPr>
          <p:nvPr/>
        </p:nvSpPr>
        <p:spPr bwMode="auto">
          <a:xfrm flipH="1">
            <a:off x="8549640" y="3404023"/>
            <a:ext cx="2058247" cy="2058247"/>
          </a:xfrm>
          <a:prstGeom prst="homePlate">
            <a:avLst>
              <a:gd name="adj" fmla="val 33333"/>
            </a:avLst>
          </a:prstGeom>
          <a:solidFill>
            <a:schemeClr val="accent2"/>
          </a:solidFill>
          <a:ln w="12699">
            <a:solidFill>
              <a:srgbClr val="143C2E"/>
            </a:solidFill>
            <a:miter lim="800000"/>
            <a:headEnd/>
            <a:tailEnd/>
          </a:ln>
          <a:effectLst>
            <a:outerShdw blurRad="63500" dist="38099" dir="2700000" algn="ctr" rotWithShape="0">
              <a:srgbClr val="919191">
                <a:alpha val="74998"/>
              </a:srgbClr>
            </a:outerShdw>
          </a:effectLst>
        </p:spPr>
        <p:txBody>
          <a:bodyPr wrap="none" anchor="ctr"/>
          <a:lstStyle/>
          <a:p>
            <a:endParaRPr lang="en-US" sz="2267"/>
          </a:p>
        </p:txBody>
      </p:sp>
      <p:sp>
        <p:nvSpPr>
          <p:cNvPr id="114699" name="Rectangle 1035"/>
          <p:cNvSpPr>
            <a:spLocks noChangeArrowheads="1"/>
          </p:cNvSpPr>
          <p:nvPr/>
        </p:nvSpPr>
        <p:spPr bwMode="auto">
          <a:xfrm>
            <a:off x="8760143" y="3830789"/>
            <a:ext cx="1982682" cy="1148371"/>
          </a:xfrm>
          <a:prstGeom prst="rect">
            <a:avLst/>
          </a:prstGeom>
          <a:noFill/>
          <a:ln>
            <a:noFill/>
          </a:ln>
          <a:effectLst>
            <a:outerShdw blurRad="63500" dist="17961" dir="2700000" algn="ctr" rotWithShape="0">
              <a:schemeClr val="tx1">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Lst>
        </p:spPr>
        <p:txBody>
          <a:bodyPr lIns="102553" tIns="50377" rIns="102553" bIns="50377">
            <a:spAutoFit/>
          </a:bodyPr>
          <a:lstStyle/>
          <a:p>
            <a:pPr algn="ctr"/>
            <a:r>
              <a:rPr lang="en-US" altLang="en-US" sz="2267" b="1" dirty="0">
                <a:solidFill>
                  <a:srgbClr val="1B533F"/>
                </a:solidFill>
              </a:rPr>
              <a:t>Bargaining Power of Buyers</a:t>
            </a:r>
          </a:p>
        </p:txBody>
      </p:sp>
      <p:sp>
        <p:nvSpPr>
          <p:cNvPr id="114701" name="Rectangle 1037"/>
          <p:cNvSpPr>
            <a:spLocks noChangeArrowheads="1"/>
          </p:cNvSpPr>
          <p:nvPr/>
        </p:nvSpPr>
        <p:spPr bwMode="auto">
          <a:xfrm>
            <a:off x="1727200" y="0"/>
            <a:ext cx="10363200" cy="1496863"/>
          </a:xfrm>
          <a:prstGeom prst="rect">
            <a:avLst/>
          </a:prstGeom>
          <a:noFill/>
          <a:ln>
            <a:noFill/>
          </a:ln>
          <a:effectLst>
            <a:outerShdw blurRad="63500" dist="17961"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Lst>
        </p:spPr>
        <p:txBody>
          <a:bodyPr lIns="102553" tIns="50377" rIns="102553" bIns="50377">
            <a:spAutoFit/>
          </a:bodyPr>
          <a:lstStyle/>
          <a:p>
            <a:pPr algn="ctr"/>
            <a:r>
              <a:rPr lang="en-US" altLang="en-US" sz="4400" b="1" dirty="0">
                <a:solidFill>
                  <a:schemeClr val="tx2"/>
                </a:solidFill>
              </a:rPr>
              <a:t>Porter’s Five Forces </a:t>
            </a:r>
          </a:p>
          <a:p>
            <a:pPr algn="ctr"/>
            <a:r>
              <a:rPr lang="en-US" altLang="en-US" sz="4400" b="1" dirty="0">
                <a:solidFill>
                  <a:schemeClr val="tx2"/>
                </a:solidFill>
              </a:rPr>
              <a:t>Model of Competition</a:t>
            </a:r>
          </a:p>
        </p:txBody>
      </p:sp>
    </p:spTree>
    <p:extLst>
      <p:ext uri="{BB962C8B-B14F-4D97-AF65-F5344CB8AC3E}">
        <p14:creationId xmlns:p14="http://schemas.microsoft.com/office/powerpoint/2010/main" val="2074374871"/>
      </p:ext>
    </p:extLst>
  </p:cSld>
  <p:clrMapOvr>
    <a:masterClrMapping/>
  </p:clrMapOvr>
  <p:transition spd="slow">
    <p:zoom dir="in"/>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7" name="Rectangle 5"/>
          <p:cNvSpPr>
            <a:spLocks noChangeArrowheads="1"/>
          </p:cNvSpPr>
          <p:nvPr/>
        </p:nvSpPr>
        <p:spPr bwMode="auto">
          <a:xfrm>
            <a:off x="1727200" y="131341"/>
            <a:ext cx="10363200" cy="799301"/>
          </a:xfrm>
          <a:prstGeom prst="rect">
            <a:avLst/>
          </a:prstGeom>
          <a:noFill/>
          <a:ln>
            <a:noFill/>
          </a:ln>
          <a:effectLst>
            <a:outerShdw blurRad="63500" dist="17961"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Lst>
        </p:spPr>
        <p:txBody>
          <a:bodyPr lIns="102553" tIns="50377" rIns="102553" bIns="50377">
            <a:spAutoFit/>
          </a:bodyPr>
          <a:lstStyle/>
          <a:p>
            <a:pPr algn="ctr"/>
            <a:r>
              <a:rPr lang="en-US" altLang="en-US" sz="4533" b="1" dirty="0">
                <a:solidFill>
                  <a:schemeClr val="tx2"/>
                </a:solidFill>
              </a:rPr>
              <a:t>Bargaining Power of Buyers</a:t>
            </a:r>
          </a:p>
        </p:txBody>
      </p:sp>
      <p:grpSp>
        <p:nvGrpSpPr>
          <p:cNvPr id="38944" name="Group 32"/>
          <p:cNvGrpSpPr>
            <a:grpSpLocks/>
          </p:cNvGrpSpPr>
          <p:nvPr/>
        </p:nvGrpSpPr>
        <p:grpSpPr bwMode="auto">
          <a:xfrm>
            <a:off x="7126500" y="1878330"/>
            <a:ext cx="4517707" cy="4490720"/>
            <a:chOff x="3001" y="1044"/>
            <a:chExt cx="2511" cy="2496"/>
          </a:xfrm>
        </p:grpSpPr>
        <p:sp>
          <p:nvSpPr>
            <p:cNvPr id="38918" name="AutoShape 6"/>
            <p:cNvSpPr>
              <a:spLocks noChangeArrowheads="1"/>
            </p:cNvSpPr>
            <p:nvPr/>
          </p:nvSpPr>
          <p:spPr bwMode="auto">
            <a:xfrm flipH="1">
              <a:off x="3400" y="1044"/>
              <a:ext cx="2112" cy="2496"/>
            </a:xfrm>
            <a:prstGeom prst="homePlate">
              <a:avLst>
                <a:gd name="adj" fmla="val 33333"/>
              </a:avLst>
            </a:prstGeom>
            <a:solidFill>
              <a:schemeClr val="accent2"/>
            </a:solidFill>
            <a:ln>
              <a:noFill/>
            </a:ln>
            <a:effectLst>
              <a:outerShdw blurRad="63500" dist="53882" dir="2700000" algn="ctr" rotWithShape="0">
                <a:schemeClr val="bg2">
                  <a:alpha val="74998"/>
                </a:schemeClr>
              </a:outerShdw>
            </a:effectLst>
            <a:extLst>
              <a:ext uri="{91240B29-F687-4F45-9708-019B960494DF}">
                <a14:hiddenLine xmlns:a14="http://schemas.microsoft.com/office/drawing/2010/main" w="12699">
                  <a:solidFill>
                    <a:schemeClr val="tx1"/>
                  </a:solidFill>
                  <a:miter lim="800000"/>
                  <a:headEnd/>
                  <a:tailEnd/>
                </a14:hiddenLine>
              </a:ext>
            </a:extLst>
          </p:spPr>
          <p:txBody>
            <a:bodyPr wrap="none" anchor="ctr"/>
            <a:lstStyle/>
            <a:p>
              <a:endParaRPr lang="en-US" sz="2267"/>
            </a:p>
          </p:txBody>
        </p:sp>
        <p:grpSp>
          <p:nvGrpSpPr>
            <p:cNvPr id="38924" name="Group 12"/>
            <p:cNvGrpSpPr>
              <a:grpSpLocks/>
            </p:cNvGrpSpPr>
            <p:nvPr/>
          </p:nvGrpSpPr>
          <p:grpSpPr bwMode="auto">
            <a:xfrm>
              <a:off x="3001" y="1580"/>
              <a:ext cx="2510" cy="1594"/>
              <a:chOff x="3001" y="1580"/>
              <a:chExt cx="2510" cy="1594"/>
            </a:xfrm>
          </p:grpSpPr>
          <p:sp>
            <p:nvSpPr>
              <p:cNvPr id="38919" name="Rectangle 7"/>
              <p:cNvSpPr>
                <a:spLocks noChangeArrowheads="1"/>
              </p:cNvSpPr>
              <p:nvPr/>
            </p:nvSpPr>
            <p:spPr bwMode="auto">
              <a:xfrm>
                <a:off x="3739" y="1580"/>
                <a:ext cx="1736" cy="444"/>
              </a:xfrm>
              <a:prstGeom prst="rect">
                <a:avLst/>
              </a:prstGeom>
              <a:noFill/>
              <a:ln>
                <a:noFill/>
              </a:ln>
              <a:effectLst>
                <a:outerShdw blurRad="63500" dist="17961"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Lst>
            </p:spPr>
            <p:txBody>
              <a:bodyPr lIns="102553" tIns="50377" rIns="102553" bIns="50377">
                <a:spAutoFit/>
              </a:bodyPr>
              <a:lstStyle/>
              <a:p>
                <a:pPr algn="r"/>
                <a:r>
                  <a:rPr lang="en-US" altLang="en-US" sz="2267" b="1" dirty="0"/>
                  <a:t>Buyers compete with the focal industry by:</a:t>
                </a:r>
              </a:p>
            </p:txBody>
          </p:sp>
          <p:sp>
            <p:nvSpPr>
              <p:cNvPr id="38920" name="Rectangle 8"/>
              <p:cNvSpPr>
                <a:spLocks noChangeArrowheads="1"/>
              </p:cNvSpPr>
              <p:nvPr/>
            </p:nvSpPr>
            <p:spPr bwMode="auto">
              <a:xfrm>
                <a:off x="3001" y="2140"/>
                <a:ext cx="2474" cy="250"/>
              </a:xfrm>
              <a:prstGeom prst="rect">
                <a:avLst/>
              </a:prstGeom>
              <a:noFill/>
              <a:ln>
                <a:noFill/>
              </a:ln>
              <a:effectLst>
                <a:outerShdw blurRad="63500" dist="17961"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Lst>
            </p:spPr>
            <p:txBody>
              <a:bodyPr lIns="102553" tIns="50377" rIns="102553" bIns="50377">
                <a:spAutoFit/>
              </a:bodyPr>
              <a:lstStyle/>
              <a:p>
                <a:pPr algn="r"/>
                <a:r>
                  <a:rPr lang="en-US" altLang="en-US" sz="2267" b="1"/>
                  <a:t>* </a:t>
                </a:r>
                <a:r>
                  <a:rPr lang="en-US" altLang="en-US" sz="2267" b="1" i="1"/>
                  <a:t>Bargaining down prices</a:t>
                </a:r>
              </a:p>
            </p:txBody>
          </p:sp>
          <p:sp>
            <p:nvSpPr>
              <p:cNvPr id="38921" name="Rectangle 9"/>
              <p:cNvSpPr>
                <a:spLocks noChangeArrowheads="1"/>
              </p:cNvSpPr>
              <p:nvPr/>
            </p:nvSpPr>
            <p:spPr bwMode="auto">
              <a:xfrm>
                <a:off x="3535" y="2435"/>
                <a:ext cx="1976" cy="250"/>
              </a:xfrm>
              <a:prstGeom prst="rect">
                <a:avLst/>
              </a:prstGeom>
              <a:noFill/>
              <a:ln>
                <a:noFill/>
              </a:ln>
              <a:effectLst>
                <a:outerShdw blurRad="63500" dist="17961"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Lst>
            </p:spPr>
            <p:txBody>
              <a:bodyPr lIns="102553" tIns="50377" rIns="102553" bIns="50377">
                <a:spAutoFit/>
              </a:bodyPr>
              <a:lstStyle/>
              <a:p>
                <a:pPr algn="r"/>
                <a:r>
                  <a:rPr lang="en-US" altLang="en-US" sz="2267" b="1" i="1" dirty="0"/>
                  <a:t>* Forcing higher quality</a:t>
                </a:r>
              </a:p>
            </p:txBody>
          </p:sp>
          <p:sp>
            <p:nvSpPr>
              <p:cNvPr id="38922" name="Rectangle 10"/>
              <p:cNvSpPr>
                <a:spLocks noChangeArrowheads="1"/>
              </p:cNvSpPr>
              <p:nvPr/>
            </p:nvSpPr>
            <p:spPr bwMode="auto">
              <a:xfrm>
                <a:off x="3903" y="2730"/>
                <a:ext cx="1608" cy="444"/>
              </a:xfrm>
              <a:prstGeom prst="rect">
                <a:avLst/>
              </a:prstGeom>
              <a:noFill/>
              <a:ln>
                <a:noFill/>
              </a:ln>
              <a:effectLst>
                <a:outerShdw blurRad="63500" dist="17961"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Lst>
            </p:spPr>
            <p:txBody>
              <a:bodyPr lIns="102553" tIns="50377" rIns="102553" bIns="50377">
                <a:spAutoFit/>
              </a:bodyPr>
              <a:lstStyle/>
              <a:p>
                <a:pPr algn="r"/>
                <a:r>
                  <a:rPr lang="en-US" altLang="en-US" sz="2267" b="1" i="1" dirty="0"/>
                  <a:t>* Playing firms off of each other</a:t>
                </a:r>
              </a:p>
            </p:txBody>
          </p:sp>
        </p:grpSp>
      </p:grpSp>
      <p:sp>
        <p:nvSpPr>
          <p:cNvPr id="38926" name="Rectangle 14"/>
          <p:cNvSpPr>
            <a:spLocks noChangeArrowheads="1"/>
          </p:cNvSpPr>
          <p:nvPr/>
        </p:nvSpPr>
        <p:spPr bwMode="auto">
          <a:xfrm>
            <a:off x="1950296" y="971550"/>
            <a:ext cx="5843267" cy="450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02553" tIns="50377" rIns="102553" bIns="50377">
            <a:spAutoFit/>
          </a:bodyPr>
          <a:lstStyle/>
          <a:p>
            <a:r>
              <a:rPr lang="en-US" altLang="en-US" sz="2267" b="1">
                <a:effectLst>
                  <a:outerShdw blurRad="38100" dist="38100" dir="2700000" algn="tl">
                    <a:srgbClr val="000000"/>
                  </a:outerShdw>
                </a:effectLst>
              </a:rPr>
              <a:t>Buyer groups are likely to be powerful if:</a:t>
            </a:r>
          </a:p>
        </p:txBody>
      </p:sp>
      <p:grpSp>
        <p:nvGrpSpPr>
          <p:cNvPr id="38953" name="Group 41"/>
          <p:cNvGrpSpPr>
            <a:grpSpLocks/>
          </p:cNvGrpSpPr>
          <p:nvPr/>
        </p:nvGrpSpPr>
        <p:grpSpPr bwMode="auto">
          <a:xfrm>
            <a:off x="2072640" y="1766782"/>
            <a:ext cx="6153150" cy="5861685"/>
            <a:chOff x="192" y="982"/>
            <a:chExt cx="3420" cy="3258"/>
          </a:xfrm>
        </p:grpSpPr>
        <p:sp>
          <p:nvSpPr>
            <p:cNvPr id="38928" name="Rectangle 16"/>
            <p:cNvSpPr>
              <a:spLocks noChangeArrowheads="1"/>
            </p:cNvSpPr>
            <p:nvPr/>
          </p:nvSpPr>
          <p:spPr bwMode="auto">
            <a:xfrm>
              <a:off x="332" y="982"/>
              <a:ext cx="3230" cy="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02553" tIns="50377" rIns="102553" bIns="50377">
              <a:spAutoFit/>
            </a:bodyPr>
            <a:lstStyle/>
            <a:p>
              <a:r>
                <a:rPr lang="en-US" altLang="en-US" sz="2267">
                  <a:effectLst>
                    <a:outerShdw blurRad="38100" dist="38100" dir="2700000" algn="tl">
                      <a:srgbClr val="000000"/>
                    </a:outerShdw>
                  </a:effectLst>
                </a:rPr>
                <a:t>Buyers are concentrated or purchases are large relative to seller’s sales</a:t>
              </a:r>
            </a:p>
          </p:txBody>
        </p:sp>
        <p:sp>
          <p:nvSpPr>
            <p:cNvPr id="38930" name="Rectangle 18"/>
            <p:cNvSpPr>
              <a:spLocks noChangeArrowheads="1"/>
            </p:cNvSpPr>
            <p:nvPr/>
          </p:nvSpPr>
          <p:spPr bwMode="auto">
            <a:xfrm>
              <a:off x="332" y="1562"/>
              <a:ext cx="3280"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02553" tIns="50377" rIns="102553" bIns="50377">
              <a:spAutoFit/>
            </a:bodyPr>
            <a:lstStyle/>
            <a:p>
              <a:pPr>
                <a:lnSpc>
                  <a:spcPct val="90000"/>
                </a:lnSpc>
              </a:pPr>
              <a:r>
                <a:rPr lang="en-US" altLang="en-US" sz="2267">
                  <a:effectLst>
                    <a:outerShdw blurRad="38100" dist="38100" dir="2700000" algn="tl">
                      <a:srgbClr val="000000"/>
                    </a:outerShdw>
                  </a:effectLst>
                </a:rPr>
                <a:t>Purchase accounts for a significant fraction of industry’s sales</a:t>
              </a:r>
            </a:p>
          </p:txBody>
        </p:sp>
        <p:sp>
          <p:nvSpPr>
            <p:cNvPr id="38932" name="Rectangle 20"/>
            <p:cNvSpPr>
              <a:spLocks noChangeArrowheads="1"/>
            </p:cNvSpPr>
            <p:nvPr/>
          </p:nvSpPr>
          <p:spPr bwMode="auto">
            <a:xfrm>
              <a:off x="332" y="2138"/>
              <a:ext cx="218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02553" tIns="50377" rIns="102553" bIns="50377">
              <a:spAutoFit/>
            </a:bodyPr>
            <a:lstStyle/>
            <a:p>
              <a:pPr>
                <a:lnSpc>
                  <a:spcPct val="90000"/>
                </a:lnSpc>
              </a:pPr>
              <a:r>
                <a:rPr lang="en-US" altLang="en-US" sz="2267">
                  <a:effectLst>
                    <a:outerShdw blurRad="38100" dist="38100" dir="2700000" algn="tl">
                      <a:srgbClr val="000000"/>
                    </a:outerShdw>
                  </a:effectLst>
                </a:rPr>
                <a:t>Products are undifferentiated</a:t>
              </a:r>
            </a:p>
          </p:txBody>
        </p:sp>
        <p:sp>
          <p:nvSpPr>
            <p:cNvPr id="38934" name="Rectangle 22"/>
            <p:cNvSpPr>
              <a:spLocks noChangeArrowheads="1"/>
            </p:cNvSpPr>
            <p:nvPr/>
          </p:nvSpPr>
          <p:spPr bwMode="auto">
            <a:xfrm>
              <a:off x="332" y="2473"/>
              <a:ext cx="302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02553" tIns="50377" rIns="102553" bIns="50377">
              <a:spAutoFit/>
            </a:bodyPr>
            <a:lstStyle/>
            <a:p>
              <a:pPr>
                <a:lnSpc>
                  <a:spcPct val="90000"/>
                </a:lnSpc>
              </a:pPr>
              <a:r>
                <a:rPr lang="en-US" altLang="en-US" sz="2267">
                  <a:effectLst>
                    <a:outerShdw blurRad="38100" dist="38100" dir="2700000" algn="tl">
                      <a:srgbClr val="000000"/>
                    </a:outerShdw>
                  </a:effectLst>
                </a:rPr>
                <a:t>Buyers face few switching costs</a:t>
              </a:r>
            </a:p>
          </p:txBody>
        </p:sp>
        <p:sp>
          <p:nvSpPr>
            <p:cNvPr id="38936" name="Rectangle 24"/>
            <p:cNvSpPr>
              <a:spLocks noChangeArrowheads="1"/>
            </p:cNvSpPr>
            <p:nvPr/>
          </p:nvSpPr>
          <p:spPr bwMode="auto">
            <a:xfrm>
              <a:off x="332" y="2809"/>
              <a:ext cx="247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02553" tIns="50377" rIns="102553" bIns="50377">
              <a:spAutoFit/>
            </a:bodyPr>
            <a:lstStyle/>
            <a:p>
              <a:pPr>
                <a:lnSpc>
                  <a:spcPct val="90000"/>
                </a:lnSpc>
              </a:pPr>
              <a:r>
                <a:rPr lang="en-US" altLang="en-US" sz="2267">
                  <a:effectLst>
                    <a:outerShdw blurRad="38100" dist="38100" dir="2700000" algn="tl">
                      <a:srgbClr val="000000"/>
                    </a:outerShdw>
                  </a:effectLst>
                </a:rPr>
                <a:t>Buyers’ industry earns low profits</a:t>
              </a:r>
            </a:p>
          </p:txBody>
        </p:sp>
        <p:sp>
          <p:nvSpPr>
            <p:cNvPr id="38938" name="Rectangle 26"/>
            <p:cNvSpPr>
              <a:spLocks noChangeArrowheads="1"/>
            </p:cNvSpPr>
            <p:nvPr/>
          </p:nvSpPr>
          <p:spPr bwMode="auto">
            <a:xfrm>
              <a:off x="332" y="3145"/>
              <a:ext cx="3088"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02553" tIns="50377" rIns="102553" bIns="50377">
              <a:spAutoFit/>
            </a:bodyPr>
            <a:lstStyle/>
            <a:p>
              <a:pPr>
                <a:lnSpc>
                  <a:spcPct val="90000"/>
                </a:lnSpc>
              </a:pPr>
              <a:r>
                <a:rPr lang="en-US" altLang="en-US" sz="2267">
                  <a:effectLst>
                    <a:outerShdw blurRad="38100" dist="38100" dir="2700000" algn="tl">
                      <a:srgbClr val="000000"/>
                    </a:outerShdw>
                  </a:effectLst>
                </a:rPr>
                <a:t>Buyer presents a credible threat of backward integration</a:t>
              </a:r>
            </a:p>
          </p:txBody>
        </p:sp>
        <p:sp>
          <p:nvSpPr>
            <p:cNvPr id="38940" name="Rectangle 28"/>
            <p:cNvSpPr>
              <a:spLocks noChangeArrowheads="1"/>
            </p:cNvSpPr>
            <p:nvPr/>
          </p:nvSpPr>
          <p:spPr bwMode="auto">
            <a:xfrm>
              <a:off x="332" y="3673"/>
              <a:ext cx="226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02553" tIns="50377" rIns="102553" bIns="50377">
              <a:spAutoFit/>
            </a:bodyPr>
            <a:lstStyle/>
            <a:p>
              <a:pPr>
                <a:lnSpc>
                  <a:spcPct val="90000"/>
                </a:lnSpc>
              </a:pPr>
              <a:r>
                <a:rPr lang="en-US" altLang="en-US" sz="2267">
                  <a:effectLst>
                    <a:outerShdw blurRad="38100" dist="38100" dir="2700000" algn="tl">
                      <a:srgbClr val="000000"/>
                    </a:outerShdw>
                  </a:effectLst>
                </a:rPr>
                <a:t>Product unimportant to quality</a:t>
              </a:r>
            </a:p>
          </p:txBody>
        </p:sp>
        <p:sp>
          <p:nvSpPr>
            <p:cNvPr id="38943" name="Rectangle 31"/>
            <p:cNvSpPr>
              <a:spLocks noChangeArrowheads="1"/>
            </p:cNvSpPr>
            <p:nvPr/>
          </p:nvSpPr>
          <p:spPr bwMode="auto">
            <a:xfrm>
              <a:off x="332" y="4009"/>
              <a:ext cx="19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02553" tIns="50377" rIns="102553" bIns="50377">
              <a:spAutoFit/>
            </a:bodyPr>
            <a:lstStyle/>
            <a:p>
              <a:pPr>
                <a:lnSpc>
                  <a:spcPct val="90000"/>
                </a:lnSpc>
              </a:pPr>
              <a:r>
                <a:rPr lang="en-US" altLang="en-US" sz="2267">
                  <a:effectLst>
                    <a:outerShdw blurRad="38100" dist="38100" dir="2700000" algn="tl">
                      <a:srgbClr val="000000"/>
                    </a:outerShdw>
                  </a:effectLst>
                </a:rPr>
                <a:t>Buyer has full information</a:t>
              </a:r>
            </a:p>
          </p:txBody>
        </p:sp>
        <p:sp>
          <p:nvSpPr>
            <p:cNvPr id="38945" name="Oval 33"/>
            <p:cNvSpPr>
              <a:spLocks noChangeArrowheads="1"/>
            </p:cNvSpPr>
            <p:nvPr/>
          </p:nvSpPr>
          <p:spPr bwMode="auto">
            <a:xfrm>
              <a:off x="192" y="1104"/>
              <a:ext cx="108" cy="108"/>
            </a:xfrm>
            <a:prstGeom prst="ellipse">
              <a:avLst/>
            </a:prstGeom>
            <a:solidFill>
              <a:schemeClr val="accent1"/>
            </a:solidFill>
            <a:ln>
              <a:noFill/>
            </a:ln>
            <a:effectLst>
              <a:outerShdw blurRad="63500" dist="38099" dir="2700000" algn="ctr" rotWithShape="0">
                <a:schemeClr val="bg2">
                  <a:alpha val="74998"/>
                </a:schemeClr>
              </a:outerShdw>
            </a:effectLst>
            <a:extLst>
              <a:ext uri="{91240B29-F687-4F45-9708-019B960494DF}">
                <a14:hiddenLine xmlns:a14="http://schemas.microsoft.com/office/drawing/2010/main" w="12699">
                  <a:solidFill>
                    <a:schemeClr val="tx1"/>
                  </a:solidFill>
                  <a:round/>
                  <a:headEnd/>
                  <a:tailEnd/>
                </a14:hiddenLine>
              </a:ext>
            </a:extLst>
          </p:spPr>
          <p:txBody>
            <a:bodyPr wrap="none" anchor="ctr"/>
            <a:lstStyle/>
            <a:p>
              <a:endParaRPr lang="en-US" sz="2267"/>
            </a:p>
          </p:txBody>
        </p:sp>
        <p:sp>
          <p:nvSpPr>
            <p:cNvPr id="38946" name="Oval 34"/>
            <p:cNvSpPr>
              <a:spLocks noChangeArrowheads="1"/>
            </p:cNvSpPr>
            <p:nvPr/>
          </p:nvSpPr>
          <p:spPr bwMode="auto">
            <a:xfrm>
              <a:off x="192" y="1620"/>
              <a:ext cx="108" cy="108"/>
            </a:xfrm>
            <a:prstGeom prst="ellipse">
              <a:avLst/>
            </a:prstGeom>
            <a:solidFill>
              <a:schemeClr val="accent1"/>
            </a:solidFill>
            <a:ln>
              <a:noFill/>
            </a:ln>
            <a:effectLst>
              <a:outerShdw blurRad="63500" dist="38099" dir="2700000" algn="ctr" rotWithShape="0">
                <a:schemeClr val="bg2">
                  <a:alpha val="74998"/>
                </a:schemeClr>
              </a:outerShdw>
            </a:effectLst>
            <a:extLst>
              <a:ext uri="{91240B29-F687-4F45-9708-019B960494DF}">
                <a14:hiddenLine xmlns:a14="http://schemas.microsoft.com/office/drawing/2010/main" w="12699">
                  <a:solidFill>
                    <a:schemeClr val="tx1"/>
                  </a:solidFill>
                  <a:round/>
                  <a:headEnd/>
                  <a:tailEnd/>
                </a14:hiddenLine>
              </a:ext>
            </a:extLst>
          </p:spPr>
          <p:txBody>
            <a:bodyPr wrap="none" anchor="ctr"/>
            <a:lstStyle/>
            <a:p>
              <a:endParaRPr lang="en-US" sz="2267"/>
            </a:p>
          </p:txBody>
        </p:sp>
        <p:sp>
          <p:nvSpPr>
            <p:cNvPr id="38947" name="Oval 35"/>
            <p:cNvSpPr>
              <a:spLocks noChangeArrowheads="1"/>
            </p:cNvSpPr>
            <p:nvPr/>
          </p:nvSpPr>
          <p:spPr bwMode="auto">
            <a:xfrm>
              <a:off x="192" y="2196"/>
              <a:ext cx="108" cy="108"/>
            </a:xfrm>
            <a:prstGeom prst="ellipse">
              <a:avLst/>
            </a:prstGeom>
            <a:solidFill>
              <a:schemeClr val="accent1"/>
            </a:solidFill>
            <a:ln>
              <a:noFill/>
            </a:ln>
            <a:effectLst>
              <a:outerShdw blurRad="63500" dist="38099" dir="2700000" algn="ctr" rotWithShape="0">
                <a:schemeClr val="bg2">
                  <a:alpha val="74998"/>
                </a:schemeClr>
              </a:outerShdw>
            </a:effectLst>
            <a:extLst>
              <a:ext uri="{91240B29-F687-4F45-9708-019B960494DF}">
                <a14:hiddenLine xmlns:a14="http://schemas.microsoft.com/office/drawing/2010/main" w="12699">
                  <a:solidFill>
                    <a:schemeClr val="tx1"/>
                  </a:solidFill>
                  <a:round/>
                  <a:headEnd/>
                  <a:tailEnd/>
                </a14:hiddenLine>
              </a:ext>
            </a:extLst>
          </p:spPr>
          <p:txBody>
            <a:bodyPr wrap="none" anchor="ctr"/>
            <a:lstStyle/>
            <a:p>
              <a:endParaRPr lang="en-US" sz="2267"/>
            </a:p>
          </p:txBody>
        </p:sp>
        <p:sp>
          <p:nvSpPr>
            <p:cNvPr id="38948" name="Oval 36"/>
            <p:cNvSpPr>
              <a:spLocks noChangeArrowheads="1"/>
            </p:cNvSpPr>
            <p:nvPr/>
          </p:nvSpPr>
          <p:spPr bwMode="auto">
            <a:xfrm>
              <a:off x="192" y="2532"/>
              <a:ext cx="108" cy="108"/>
            </a:xfrm>
            <a:prstGeom prst="ellipse">
              <a:avLst/>
            </a:prstGeom>
            <a:solidFill>
              <a:schemeClr val="accent1"/>
            </a:solidFill>
            <a:ln>
              <a:noFill/>
            </a:ln>
            <a:effectLst>
              <a:outerShdw blurRad="63500" dist="38099" dir="2700000" algn="ctr" rotWithShape="0">
                <a:schemeClr val="bg2">
                  <a:alpha val="74998"/>
                </a:schemeClr>
              </a:outerShdw>
            </a:effectLst>
            <a:extLst>
              <a:ext uri="{91240B29-F687-4F45-9708-019B960494DF}">
                <a14:hiddenLine xmlns:a14="http://schemas.microsoft.com/office/drawing/2010/main" w="12699">
                  <a:solidFill>
                    <a:schemeClr val="tx1"/>
                  </a:solidFill>
                  <a:round/>
                  <a:headEnd/>
                  <a:tailEnd/>
                </a14:hiddenLine>
              </a:ext>
            </a:extLst>
          </p:spPr>
          <p:txBody>
            <a:bodyPr wrap="none" anchor="ctr"/>
            <a:lstStyle/>
            <a:p>
              <a:endParaRPr lang="en-US" sz="2267"/>
            </a:p>
          </p:txBody>
        </p:sp>
        <p:sp>
          <p:nvSpPr>
            <p:cNvPr id="38949" name="Oval 37"/>
            <p:cNvSpPr>
              <a:spLocks noChangeArrowheads="1"/>
            </p:cNvSpPr>
            <p:nvPr/>
          </p:nvSpPr>
          <p:spPr bwMode="auto">
            <a:xfrm>
              <a:off x="192" y="2868"/>
              <a:ext cx="108" cy="108"/>
            </a:xfrm>
            <a:prstGeom prst="ellipse">
              <a:avLst/>
            </a:prstGeom>
            <a:solidFill>
              <a:schemeClr val="accent1"/>
            </a:solidFill>
            <a:ln>
              <a:noFill/>
            </a:ln>
            <a:effectLst>
              <a:outerShdw blurRad="63500" dist="38099" dir="2700000" algn="ctr" rotWithShape="0">
                <a:schemeClr val="bg2">
                  <a:alpha val="74998"/>
                </a:schemeClr>
              </a:outerShdw>
            </a:effectLst>
            <a:extLst>
              <a:ext uri="{91240B29-F687-4F45-9708-019B960494DF}">
                <a14:hiddenLine xmlns:a14="http://schemas.microsoft.com/office/drawing/2010/main" w="12699">
                  <a:solidFill>
                    <a:schemeClr val="tx1"/>
                  </a:solidFill>
                  <a:round/>
                  <a:headEnd/>
                  <a:tailEnd/>
                </a14:hiddenLine>
              </a:ext>
            </a:extLst>
          </p:spPr>
          <p:txBody>
            <a:bodyPr wrap="none" anchor="ctr"/>
            <a:lstStyle/>
            <a:p>
              <a:endParaRPr lang="en-US" sz="2267"/>
            </a:p>
          </p:txBody>
        </p:sp>
        <p:sp>
          <p:nvSpPr>
            <p:cNvPr id="38950" name="Oval 38"/>
            <p:cNvSpPr>
              <a:spLocks noChangeArrowheads="1"/>
            </p:cNvSpPr>
            <p:nvPr/>
          </p:nvSpPr>
          <p:spPr bwMode="auto">
            <a:xfrm>
              <a:off x="192" y="3204"/>
              <a:ext cx="108" cy="108"/>
            </a:xfrm>
            <a:prstGeom prst="ellipse">
              <a:avLst/>
            </a:prstGeom>
            <a:solidFill>
              <a:schemeClr val="accent1"/>
            </a:solidFill>
            <a:ln>
              <a:noFill/>
            </a:ln>
            <a:effectLst>
              <a:outerShdw blurRad="63500" dist="38099" dir="2700000" algn="ctr" rotWithShape="0">
                <a:schemeClr val="bg2">
                  <a:alpha val="74998"/>
                </a:schemeClr>
              </a:outerShdw>
            </a:effectLst>
            <a:extLst>
              <a:ext uri="{91240B29-F687-4F45-9708-019B960494DF}">
                <a14:hiddenLine xmlns:a14="http://schemas.microsoft.com/office/drawing/2010/main" w="12699">
                  <a:solidFill>
                    <a:schemeClr val="tx1"/>
                  </a:solidFill>
                  <a:round/>
                  <a:headEnd/>
                  <a:tailEnd/>
                </a14:hiddenLine>
              </a:ext>
            </a:extLst>
          </p:spPr>
          <p:txBody>
            <a:bodyPr wrap="none" anchor="ctr"/>
            <a:lstStyle/>
            <a:p>
              <a:endParaRPr lang="en-US" sz="2267"/>
            </a:p>
          </p:txBody>
        </p:sp>
        <p:sp>
          <p:nvSpPr>
            <p:cNvPr id="38951" name="Oval 39"/>
            <p:cNvSpPr>
              <a:spLocks noChangeArrowheads="1"/>
            </p:cNvSpPr>
            <p:nvPr/>
          </p:nvSpPr>
          <p:spPr bwMode="auto">
            <a:xfrm>
              <a:off x="192" y="3732"/>
              <a:ext cx="108" cy="108"/>
            </a:xfrm>
            <a:prstGeom prst="ellipse">
              <a:avLst/>
            </a:prstGeom>
            <a:solidFill>
              <a:schemeClr val="accent1"/>
            </a:solidFill>
            <a:ln>
              <a:noFill/>
            </a:ln>
            <a:effectLst>
              <a:outerShdw blurRad="63500" dist="38099" dir="2700000" algn="ctr" rotWithShape="0">
                <a:schemeClr val="bg2">
                  <a:alpha val="74998"/>
                </a:schemeClr>
              </a:outerShdw>
            </a:effectLst>
            <a:extLst>
              <a:ext uri="{91240B29-F687-4F45-9708-019B960494DF}">
                <a14:hiddenLine xmlns:a14="http://schemas.microsoft.com/office/drawing/2010/main" w="12699">
                  <a:solidFill>
                    <a:schemeClr val="tx1"/>
                  </a:solidFill>
                  <a:round/>
                  <a:headEnd/>
                  <a:tailEnd/>
                </a14:hiddenLine>
              </a:ext>
            </a:extLst>
          </p:spPr>
          <p:txBody>
            <a:bodyPr wrap="none" anchor="ctr"/>
            <a:lstStyle/>
            <a:p>
              <a:endParaRPr lang="en-US" sz="2267"/>
            </a:p>
          </p:txBody>
        </p:sp>
        <p:sp>
          <p:nvSpPr>
            <p:cNvPr id="38952" name="Oval 40"/>
            <p:cNvSpPr>
              <a:spLocks noChangeArrowheads="1"/>
            </p:cNvSpPr>
            <p:nvPr/>
          </p:nvSpPr>
          <p:spPr bwMode="auto">
            <a:xfrm>
              <a:off x="192" y="4068"/>
              <a:ext cx="108" cy="108"/>
            </a:xfrm>
            <a:prstGeom prst="ellipse">
              <a:avLst/>
            </a:prstGeom>
            <a:solidFill>
              <a:schemeClr val="accent1"/>
            </a:solidFill>
            <a:ln>
              <a:noFill/>
            </a:ln>
            <a:effectLst>
              <a:outerShdw blurRad="63500" dist="38099" dir="2700000" algn="ctr" rotWithShape="0">
                <a:schemeClr val="bg2">
                  <a:alpha val="74998"/>
                </a:schemeClr>
              </a:outerShdw>
            </a:effectLst>
            <a:extLst>
              <a:ext uri="{91240B29-F687-4F45-9708-019B960494DF}">
                <a14:hiddenLine xmlns:a14="http://schemas.microsoft.com/office/drawing/2010/main" w="12699">
                  <a:solidFill>
                    <a:schemeClr val="tx1"/>
                  </a:solidFill>
                  <a:round/>
                  <a:headEnd/>
                  <a:tailEnd/>
                </a14:hiddenLine>
              </a:ext>
            </a:extLst>
          </p:spPr>
          <p:txBody>
            <a:bodyPr wrap="none" anchor="ctr"/>
            <a:lstStyle/>
            <a:p>
              <a:endParaRPr lang="en-US" sz="2267"/>
            </a:p>
          </p:txBody>
        </p:sp>
      </p:grpSp>
    </p:spTree>
    <p:extLst>
      <p:ext uri="{BB962C8B-B14F-4D97-AF65-F5344CB8AC3E}">
        <p14:creationId xmlns:p14="http://schemas.microsoft.com/office/powerpoint/2010/main" val="1339864884"/>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73" name="AutoShape 9"/>
          <p:cNvSpPr>
            <a:spLocks noChangeArrowheads="1"/>
          </p:cNvSpPr>
          <p:nvPr/>
        </p:nvSpPr>
        <p:spPr bwMode="auto">
          <a:xfrm>
            <a:off x="2597997" y="3720677"/>
            <a:ext cx="2058247" cy="2058247"/>
          </a:xfrm>
          <a:prstGeom prst="homePlate">
            <a:avLst>
              <a:gd name="adj" fmla="val 33333"/>
            </a:avLst>
          </a:prstGeom>
          <a:solidFill>
            <a:schemeClr val="accent2"/>
          </a:solidFill>
          <a:ln w="12699">
            <a:solidFill>
              <a:srgbClr val="143C2E"/>
            </a:solidFill>
            <a:miter lim="800000"/>
            <a:headEnd/>
            <a:tailEnd/>
          </a:ln>
          <a:effectLst>
            <a:outerShdw blurRad="63500" dist="38099" dir="2700000" algn="ctr" rotWithShape="0">
              <a:srgbClr val="919191">
                <a:alpha val="74998"/>
              </a:srgbClr>
            </a:outerShdw>
          </a:effectLst>
        </p:spPr>
        <p:txBody>
          <a:bodyPr wrap="none" anchor="ctr"/>
          <a:lstStyle/>
          <a:p>
            <a:endParaRPr lang="en-US" sz="2267"/>
          </a:p>
        </p:txBody>
      </p:sp>
      <p:sp>
        <p:nvSpPr>
          <p:cNvPr id="36874" name="Rectangle 10"/>
          <p:cNvSpPr>
            <a:spLocks noChangeArrowheads="1"/>
          </p:cNvSpPr>
          <p:nvPr/>
        </p:nvSpPr>
        <p:spPr bwMode="auto">
          <a:xfrm>
            <a:off x="2477454" y="4103900"/>
            <a:ext cx="1968288" cy="1148371"/>
          </a:xfrm>
          <a:prstGeom prst="rect">
            <a:avLst/>
          </a:prstGeom>
          <a:noFill/>
          <a:ln>
            <a:noFill/>
          </a:ln>
          <a:effectLst>
            <a:outerShdw blurRad="63500" dist="17961" dir="2700000" algn="ctr" rotWithShape="0">
              <a:schemeClr val="tx1">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Lst>
        </p:spPr>
        <p:txBody>
          <a:bodyPr lIns="102553" tIns="50377" rIns="102553" bIns="50377">
            <a:spAutoFit/>
          </a:bodyPr>
          <a:lstStyle/>
          <a:p>
            <a:pPr algn="ctr"/>
            <a:r>
              <a:rPr lang="en-US" altLang="en-US" sz="2267" b="1">
                <a:solidFill>
                  <a:srgbClr val="1B533F"/>
                </a:solidFill>
              </a:rPr>
              <a:t>Bargaining Power of Suppliers</a:t>
            </a:r>
          </a:p>
        </p:txBody>
      </p:sp>
      <p:sp>
        <p:nvSpPr>
          <p:cNvPr id="36877" name="Rectangle 13"/>
          <p:cNvSpPr>
            <a:spLocks noChangeArrowheads="1"/>
          </p:cNvSpPr>
          <p:nvPr/>
        </p:nvSpPr>
        <p:spPr bwMode="auto">
          <a:xfrm>
            <a:off x="1727200" y="0"/>
            <a:ext cx="10363200" cy="1496863"/>
          </a:xfrm>
          <a:prstGeom prst="rect">
            <a:avLst/>
          </a:prstGeom>
          <a:noFill/>
          <a:ln>
            <a:noFill/>
          </a:ln>
          <a:effectLst>
            <a:outerShdw blurRad="63500" dist="17961"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Lst>
        </p:spPr>
        <p:txBody>
          <a:bodyPr lIns="102553" tIns="50377" rIns="102553" bIns="50377">
            <a:spAutoFit/>
          </a:bodyPr>
          <a:lstStyle/>
          <a:p>
            <a:pPr algn="ctr"/>
            <a:r>
              <a:rPr lang="en-US" altLang="en-US" sz="4533" b="1">
                <a:solidFill>
                  <a:schemeClr val="tx2"/>
                </a:solidFill>
              </a:rPr>
              <a:t>Porter’s Five Forces </a:t>
            </a:r>
          </a:p>
          <a:p>
            <a:pPr algn="ctr"/>
            <a:r>
              <a:rPr lang="en-US" altLang="en-US" sz="4533" b="1">
                <a:solidFill>
                  <a:schemeClr val="tx2"/>
                </a:solidFill>
              </a:rPr>
              <a:t>Model of Competition</a:t>
            </a:r>
          </a:p>
        </p:txBody>
      </p:sp>
    </p:spTree>
    <p:extLst>
      <p:ext uri="{BB962C8B-B14F-4D97-AF65-F5344CB8AC3E}">
        <p14:creationId xmlns:p14="http://schemas.microsoft.com/office/powerpoint/2010/main" val="3821999566"/>
      </p:ext>
    </p:extLst>
  </p:cSld>
  <p:clrMapOvr>
    <a:masterClrMapping/>
  </p:clrMapOvr>
  <p:transition spd="slow">
    <p:zoom dir="in"/>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3" name="Rectangle 5"/>
          <p:cNvSpPr>
            <a:spLocks noChangeArrowheads="1"/>
          </p:cNvSpPr>
          <p:nvPr/>
        </p:nvSpPr>
        <p:spPr bwMode="auto">
          <a:xfrm>
            <a:off x="1727200" y="190712"/>
            <a:ext cx="10363200" cy="799301"/>
          </a:xfrm>
          <a:prstGeom prst="rect">
            <a:avLst/>
          </a:prstGeom>
          <a:noFill/>
          <a:ln>
            <a:noFill/>
          </a:ln>
          <a:effectLst>
            <a:outerShdw blurRad="63500" dist="17961"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Lst>
        </p:spPr>
        <p:txBody>
          <a:bodyPr lIns="102553" tIns="50377" rIns="102553" bIns="50377">
            <a:spAutoFit/>
          </a:bodyPr>
          <a:lstStyle/>
          <a:p>
            <a:pPr algn="ctr"/>
            <a:r>
              <a:rPr lang="en-US" altLang="en-US" sz="4533" b="1">
                <a:solidFill>
                  <a:schemeClr val="tx2"/>
                </a:solidFill>
              </a:rPr>
              <a:t>Bargaining Power of Suppliers</a:t>
            </a:r>
          </a:p>
        </p:txBody>
      </p:sp>
      <p:grpSp>
        <p:nvGrpSpPr>
          <p:cNvPr id="32798" name="Group 30"/>
          <p:cNvGrpSpPr>
            <a:grpSpLocks/>
          </p:cNvGrpSpPr>
          <p:nvPr/>
        </p:nvGrpSpPr>
        <p:grpSpPr bwMode="auto">
          <a:xfrm>
            <a:off x="1392566" y="1496905"/>
            <a:ext cx="3850216" cy="4999883"/>
            <a:chOff x="-186" y="832"/>
            <a:chExt cx="2140" cy="2779"/>
          </a:xfrm>
        </p:grpSpPr>
        <p:sp>
          <p:nvSpPr>
            <p:cNvPr id="32774" name="AutoShape 6"/>
            <p:cNvSpPr>
              <a:spLocks noChangeArrowheads="1"/>
            </p:cNvSpPr>
            <p:nvPr/>
          </p:nvSpPr>
          <p:spPr bwMode="auto">
            <a:xfrm>
              <a:off x="-158" y="832"/>
              <a:ext cx="2112" cy="2736"/>
            </a:xfrm>
            <a:prstGeom prst="homePlate">
              <a:avLst>
                <a:gd name="adj" fmla="val 33333"/>
              </a:avLst>
            </a:prstGeom>
            <a:solidFill>
              <a:schemeClr val="accent2"/>
            </a:solidFill>
            <a:ln>
              <a:noFill/>
            </a:ln>
            <a:effectLst>
              <a:outerShdw blurRad="63500" dist="53882" dir="2700000" algn="ctr" rotWithShape="0">
                <a:schemeClr val="bg2">
                  <a:alpha val="74998"/>
                </a:schemeClr>
              </a:outerShdw>
            </a:effectLst>
            <a:extLst>
              <a:ext uri="{91240B29-F687-4F45-9708-019B960494DF}">
                <a14:hiddenLine xmlns:a14="http://schemas.microsoft.com/office/drawing/2010/main" w="12699">
                  <a:solidFill>
                    <a:schemeClr val="tx1"/>
                  </a:solidFill>
                  <a:miter lim="800000"/>
                  <a:headEnd/>
                  <a:tailEnd/>
                </a14:hiddenLine>
              </a:ext>
            </a:extLst>
          </p:spPr>
          <p:txBody>
            <a:bodyPr wrap="none" anchor="ctr"/>
            <a:lstStyle/>
            <a:p>
              <a:endParaRPr lang="en-US" sz="2267"/>
            </a:p>
          </p:txBody>
        </p:sp>
        <p:sp>
          <p:nvSpPr>
            <p:cNvPr id="32775" name="Rectangle 7"/>
            <p:cNvSpPr>
              <a:spLocks noChangeArrowheads="1"/>
            </p:cNvSpPr>
            <p:nvPr/>
          </p:nvSpPr>
          <p:spPr bwMode="auto">
            <a:xfrm>
              <a:off x="-126" y="996"/>
              <a:ext cx="1696" cy="638"/>
            </a:xfrm>
            <a:prstGeom prst="rect">
              <a:avLst/>
            </a:prstGeom>
            <a:noFill/>
            <a:ln>
              <a:noFill/>
            </a:ln>
            <a:effectLst>
              <a:outerShdw blurRad="63500" dist="17961"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Lst>
          </p:spPr>
          <p:txBody>
            <a:bodyPr lIns="102553" tIns="50377" rIns="102553" bIns="50377">
              <a:spAutoFit/>
            </a:bodyPr>
            <a:lstStyle/>
            <a:p>
              <a:r>
                <a:rPr lang="en-US" altLang="en-US" sz="2267" b="1" dirty="0"/>
                <a:t>Suppliers exert power in the industry by:</a:t>
              </a:r>
            </a:p>
          </p:txBody>
        </p:sp>
        <p:sp>
          <p:nvSpPr>
            <p:cNvPr id="32776" name="Rectangle 8"/>
            <p:cNvSpPr>
              <a:spLocks noChangeArrowheads="1"/>
            </p:cNvSpPr>
            <p:nvPr/>
          </p:nvSpPr>
          <p:spPr bwMode="auto">
            <a:xfrm>
              <a:off x="-186" y="1624"/>
              <a:ext cx="2072" cy="250"/>
            </a:xfrm>
            <a:prstGeom prst="rect">
              <a:avLst/>
            </a:prstGeom>
            <a:noFill/>
            <a:ln>
              <a:noFill/>
            </a:ln>
            <a:effectLst>
              <a:outerShdw blurRad="63500" dist="17961"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Lst>
          </p:spPr>
          <p:txBody>
            <a:bodyPr lIns="102553" tIns="50377" rIns="102553" bIns="50377">
              <a:spAutoFit/>
            </a:bodyPr>
            <a:lstStyle/>
            <a:p>
              <a:r>
                <a:rPr lang="en-US" altLang="en-US" sz="2267" b="1" dirty="0"/>
                <a:t>* </a:t>
              </a:r>
              <a:r>
                <a:rPr lang="en-US" altLang="en-US" sz="2267" b="1" i="1" dirty="0"/>
                <a:t>Threatening to raise</a:t>
              </a:r>
            </a:p>
          </p:txBody>
        </p:sp>
        <p:sp>
          <p:nvSpPr>
            <p:cNvPr id="32777" name="Rectangle 9"/>
            <p:cNvSpPr>
              <a:spLocks noChangeArrowheads="1"/>
            </p:cNvSpPr>
            <p:nvPr/>
          </p:nvSpPr>
          <p:spPr bwMode="auto">
            <a:xfrm>
              <a:off x="-42" y="1816"/>
              <a:ext cx="1928" cy="444"/>
            </a:xfrm>
            <a:prstGeom prst="rect">
              <a:avLst/>
            </a:prstGeom>
            <a:noFill/>
            <a:ln>
              <a:noFill/>
            </a:ln>
            <a:effectLst>
              <a:outerShdw blurRad="63500" dist="17961"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Lst>
          </p:spPr>
          <p:txBody>
            <a:bodyPr lIns="102553" tIns="50377" rIns="102553" bIns="50377">
              <a:spAutoFit/>
            </a:bodyPr>
            <a:lstStyle/>
            <a:p>
              <a:r>
                <a:rPr lang="en-US" altLang="en-US" sz="2267" b="1" i="1" dirty="0"/>
                <a:t>prices or to reduce quality</a:t>
              </a:r>
            </a:p>
          </p:txBody>
        </p:sp>
        <p:sp>
          <p:nvSpPr>
            <p:cNvPr id="32778" name="Rectangle 10"/>
            <p:cNvSpPr>
              <a:spLocks noChangeArrowheads="1"/>
            </p:cNvSpPr>
            <p:nvPr/>
          </p:nvSpPr>
          <p:spPr bwMode="auto">
            <a:xfrm>
              <a:off x="-126" y="2197"/>
              <a:ext cx="1592" cy="1414"/>
            </a:xfrm>
            <a:prstGeom prst="rect">
              <a:avLst/>
            </a:prstGeom>
            <a:noFill/>
            <a:ln>
              <a:noFill/>
            </a:ln>
            <a:effectLst>
              <a:outerShdw blurRad="63500" dist="17961"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Lst>
          </p:spPr>
          <p:txBody>
            <a:bodyPr lIns="102553" tIns="50377" rIns="102553" bIns="50377">
              <a:spAutoFit/>
            </a:bodyPr>
            <a:lstStyle/>
            <a:p>
              <a:r>
                <a:rPr lang="en-US" altLang="en-US" sz="2267" b="1" i="1" dirty="0"/>
                <a:t>* Powerful suppliers can squeeze industry profitability if firms are unable to recover cost increases</a:t>
              </a:r>
            </a:p>
          </p:txBody>
        </p:sp>
      </p:grpSp>
      <p:sp>
        <p:nvSpPr>
          <p:cNvPr id="32792" name="Rectangle 24"/>
          <p:cNvSpPr>
            <a:spLocks noChangeArrowheads="1"/>
          </p:cNvSpPr>
          <p:nvPr/>
        </p:nvSpPr>
        <p:spPr bwMode="auto">
          <a:xfrm>
            <a:off x="5683569" y="971550"/>
            <a:ext cx="5275804" cy="433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02553" tIns="50377" rIns="102553" bIns="50377">
            <a:spAutoFit/>
          </a:bodyPr>
          <a:lstStyle/>
          <a:p>
            <a:pPr>
              <a:lnSpc>
                <a:spcPct val="95000"/>
              </a:lnSpc>
            </a:pPr>
            <a:r>
              <a:rPr lang="en-US" altLang="en-US" sz="2267" b="1">
                <a:effectLst>
                  <a:outerShdw blurRad="38100" dist="38100" dir="2700000" algn="tl">
                    <a:srgbClr val="000000"/>
                  </a:outerShdw>
                </a:effectLst>
              </a:rPr>
              <a:t>Suppliers are likely to be powerful if:</a:t>
            </a:r>
          </a:p>
        </p:txBody>
      </p:sp>
      <p:grpSp>
        <p:nvGrpSpPr>
          <p:cNvPr id="32807" name="Group 39"/>
          <p:cNvGrpSpPr>
            <a:grpSpLocks/>
          </p:cNvGrpSpPr>
          <p:nvPr/>
        </p:nvGrpSpPr>
        <p:grpSpPr bwMode="auto">
          <a:xfrm>
            <a:off x="5699760" y="1640840"/>
            <a:ext cx="6649720" cy="5795116"/>
            <a:chOff x="2244" y="939"/>
            <a:chExt cx="3507" cy="3221"/>
          </a:xfrm>
        </p:grpSpPr>
        <p:sp>
          <p:nvSpPr>
            <p:cNvPr id="32783" name="Rectangle 15"/>
            <p:cNvSpPr>
              <a:spLocks noChangeArrowheads="1"/>
            </p:cNvSpPr>
            <p:nvPr/>
          </p:nvSpPr>
          <p:spPr bwMode="auto">
            <a:xfrm>
              <a:off x="2417" y="939"/>
              <a:ext cx="3032"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02553" tIns="50377" rIns="102553" bIns="50377">
              <a:spAutoFit/>
            </a:bodyPr>
            <a:lstStyle/>
            <a:p>
              <a:pPr>
                <a:lnSpc>
                  <a:spcPct val="90000"/>
                </a:lnSpc>
              </a:pPr>
              <a:r>
                <a:rPr lang="en-US" altLang="en-US" sz="2267">
                  <a:effectLst>
                    <a:outerShdw blurRad="38100" dist="38100" dir="2700000" algn="tl">
                      <a:srgbClr val="000000"/>
                    </a:outerShdw>
                  </a:effectLst>
                </a:rPr>
                <a:t>Supplier industry is dominated by a few firms-the suppliers are “concentrated”</a:t>
              </a:r>
            </a:p>
          </p:txBody>
        </p:sp>
        <p:sp>
          <p:nvSpPr>
            <p:cNvPr id="32785" name="Rectangle 17"/>
            <p:cNvSpPr>
              <a:spLocks noChangeArrowheads="1"/>
            </p:cNvSpPr>
            <p:nvPr/>
          </p:nvSpPr>
          <p:spPr bwMode="auto">
            <a:xfrm>
              <a:off x="2417" y="1424"/>
              <a:ext cx="333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02553" tIns="50377" rIns="102553" bIns="50377">
              <a:spAutoFit/>
            </a:bodyPr>
            <a:lstStyle/>
            <a:p>
              <a:pPr>
                <a:lnSpc>
                  <a:spcPct val="90000"/>
                </a:lnSpc>
              </a:pPr>
              <a:r>
                <a:rPr lang="en-US" altLang="en-US" sz="2267">
                  <a:effectLst>
                    <a:outerShdw blurRad="38100" dist="38100" dir="2700000" algn="tl">
                      <a:srgbClr val="000000"/>
                    </a:outerShdw>
                  </a:effectLst>
                </a:rPr>
                <a:t>Suppliers’ products have few substitutes</a:t>
              </a:r>
            </a:p>
          </p:txBody>
        </p:sp>
        <p:sp>
          <p:nvSpPr>
            <p:cNvPr id="32787" name="Rectangle 19"/>
            <p:cNvSpPr>
              <a:spLocks noChangeArrowheads="1"/>
            </p:cNvSpPr>
            <p:nvPr/>
          </p:nvSpPr>
          <p:spPr bwMode="auto">
            <a:xfrm>
              <a:off x="2417" y="1875"/>
              <a:ext cx="3062"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02553" tIns="50377" rIns="102553" bIns="50377">
              <a:spAutoFit/>
            </a:bodyPr>
            <a:lstStyle/>
            <a:p>
              <a:pPr>
                <a:lnSpc>
                  <a:spcPct val="90000"/>
                </a:lnSpc>
              </a:pPr>
              <a:r>
                <a:rPr lang="en-US" altLang="en-US" sz="2267" dirty="0">
                  <a:effectLst>
                    <a:outerShdw blurRad="38100" dist="38100" dir="2700000" algn="tl">
                      <a:srgbClr val="000000"/>
                    </a:outerShdw>
                  </a:effectLst>
                </a:rPr>
                <a:t>Focal industry/firm is not an important customer to supplier (low volume)</a:t>
              </a:r>
            </a:p>
          </p:txBody>
        </p:sp>
        <p:sp>
          <p:nvSpPr>
            <p:cNvPr id="32789" name="Rectangle 21"/>
            <p:cNvSpPr>
              <a:spLocks noChangeArrowheads="1"/>
            </p:cNvSpPr>
            <p:nvPr/>
          </p:nvSpPr>
          <p:spPr bwMode="auto">
            <a:xfrm>
              <a:off x="2417" y="2378"/>
              <a:ext cx="3032"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02553" tIns="50377" rIns="102553" bIns="50377">
              <a:spAutoFit/>
            </a:bodyPr>
            <a:lstStyle/>
            <a:p>
              <a:pPr>
                <a:lnSpc>
                  <a:spcPct val="90000"/>
                </a:lnSpc>
              </a:pPr>
              <a:r>
                <a:rPr lang="en-US" altLang="en-US" sz="2267">
                  <a:effectLst>
                    <a:outerShdw blurRad="38100" dist="38100" dir="2700000" algn="tl">
                      <a:srgbClr val="000000"/>
                    </a:outerShdw>
                  </a:effectLst>
                </a:rPr>
                <a:t>Suppliers’ product is an important input to buyers’ product/process</a:t>
              </a:r>
            </a:p>
          </p:txBody>
        </p:sp>
        <p:sp>
          <p:nvSpPr>
            <p:cNvPr id="32791" name="Rectangle 23"/>
            <p:cNvSpPr>
              <a:spLocks noChangeArrowheads="1"/>
            </p:cNvSpPr>
            <p:nvPr/>
          </p:nvSpPr>
          <p:spPr bwMode="auto">
            <a:xfrm>
              <a:off x="2417" y="2906"/>
              <a:ext cx="333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02553" tIns="50377" rIns="102553" bIns="50377">
              <a:spAutoFit/>
            </a:bodyPr>
            <a:lstStyle/>
            <a:p>
              <a:pPr>
                <a:lnSpc>
                  <a:spcPct val="90000"/>
                </a:lnSpc>
              </a:pPr>
              <a:r>
                <a:rPr lang="en-US" altLang="en-US" sz="2267">
                  <a:effectLst>
                    <a:outerShdw blurRad="38100" dist="38100" dir="2700000" algn="tl">
                      <a:srgbClr val="000000"/>
                    </a:outerShdw>
                  </a:effectLst>
                </a:rPr>
                <a:t>Suppliers’ products are differentiated</a:t>
              </a:r>
            </a:p>
          </p:txBody>
        </p:sp>
        <p:sp>
          <p:nvSpPr>
            <p:cNvPr id="32794" name="Rectangle 26"/>
            <p:cNvSpPr>
              <a:spLocks noChangeArrowheads="1"/>
            </p:cNvSpPr>
            <p:nvPr/>
          </p:nvSpPr>
          <p:spPr bwMode="auto">
            <a:xfrm>
              <a:off x="2417" y="3210"/>
              <a:ext cx="2942"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02553" tIns="50377" rIns="102553" bIns="50377">
              <a:spAutoFit/>
            </a:bodyPr>
            <a:lstStyle/>
            <a:p>
              <a:pPr>
                <a:lnSpc>
                  <a:spcPct val="90000"/>
                </a:lnSpc>
              </a:pPr>
              <a:r>
                <a:rPr lang="en-US" altLang="en-US" sz="2267">
                  <a:effectLst>
                    <a:outerShdw blurRad="38100" dist="38100" dir="2700000" algn="tl">
                      <a:srgbClr val="000000"/>
                    </a:outerShdw>
                  </a:effectLst>
                </a:rPr>
                <a:t>Suppliers’ products have high switching costs</a:t>
              </a:r>
            </a:p>
          </p:txBody>
        </p:sp>
        <p:sp>
          <p:nvSpPr>
            <p:cNvPr id="32797" name="Rectangle 29"/>
            <p:cNvSpPr>
              <a:spLocks noChangeArrowheads="1"/>
            </p:cNvSpPr>
            <p:nvPr/>
          </p:nvSpPr>
          <p:spPr bwMode="auto">
            <a:xfrm>
              <a:off x="2417" y="3754"/>
              <a:ext cx="2936"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02553" tIns="50377" rIns="102553" bIns="50377">
              <a:spAutoFit/>
            </a:bodyPr>
            <a:lstStyle/>
            <a:p>
              <a:pPr>
                <a:lnSpc>
                  <a:spcPct val="90000"/>
                </a:lnSpc>
              </a:pPr>
              <a:r>
                <a:rPr lang="en-US" altLang="en-US" sz="2267">
                  <a:effectLst>
                    <a:outerShdw blurRad="38100" dist="38100" dir="2700000" algn="tl">
                      <a:srgbClr val="000000"/>
                    </a:outerShdw>
                  </a:effectLst>
                </a:rPr>
                <a:t>Supplier poses credible threat of forward integration</a:t>
              </a:r>
            </a:p>
          </p:txBody>
        </p:sp>
        <p:sp>
          <p:nvSpPr>
            <p:cNvPr id="32800" name="Oval 32"/>
            <p:cNvSpPr>
              <a:spLocks noChangeArrowheads="1"/>
            </p:cNvSpPr>
            <p:nvPr/>
          </p:nvSpPr>
          <p:spPr bwMode="auto">
            <a:xfrm>
              <a:off x="2244" y="1008"/>
              <a:ext cx="108" cy="108"/>
            </a:xfrm>
            <a:prstGeom prst="ellipse">
              <a:avLst/>
            </a:prstGeom>
            <a:solidFill>
              <a:schemeClr val="accent1"/>
            </a:solidFill>
            <a:ln>
              <a:noFill/>
            </a:ln>
            <a:effectLst>
              <a:outerShdw blurRad="63500" dist="38099" dir="2700000" algn="ctr" rotWithShape="0">
                <a:schemeClr val="bg2">
                  <a:alpha val="74998"/>
                </a:schemeClr>
              </a:outerShdw>
            </a:effectLst>
            <a:extLst>
              <a:ext uri="{91240B29-F687-4F45-9708-019B960494DF}">
                <a14:hiddenLine xmlns:a14="http://schemas.microsoft.com/office/drawing/2010/main" w="12699">
                  <a:solidFill>
                    <a:schemeClr val="tx1"/>
                  </a:solidFill>
                  <a:round/>
                  <a:headEnd/>
                  <a:tailEnd/>
                </a14:hiddenLine>
              </a:ext>
            </a:extLst>
          </p:spPr>
          <p:txBody>
            <a:bodyPr wrap="none" anchor="ctr"/>
            <a:lstStyle/>
            <a:p>
              <a:endParaRPr lang="en-US" sz="2267"/>
            </a:p>
          </p:txBody>
        </p:sp>
        <p:sp>
          <p:nvSpPr>
            <p:cNvPr id="32801" name="Oval 33"/>
            <p:cNvSpPr>
              <a:spLocks noChangeArrowheads="1"/>
            </p:cNvSpPr>
            <p:nvPr/>
          </p:nvSpPr>
          <p:spPr bwMode="auto">
            <a:xfrm>
              <a:off x="2244" y="1488"/>
              <a:ext cx="108" cy="108"/>
            </a:xfrm>
            <a:prstGeom prst="ellipse">
              <a:avLst/>
            </a:prstGeom>
            <a:solidFill>
              <a:schemeClr val="accent1"/>
            </a:solidFill>
            <a:ln>
              <a:noFill/>
            </a:ln>
            <a:effectLst>
              <a:outerShdw blurRad="63500" dist="38099" dir="2700000" algn="ctr" rotWithShape="0">
                <a:schemeClr val="bg2">
                  <a:alpha val="74998"/>
                </a:schemeClr>
              </a:outerShdw>
            </a:effectLst>
            <a:extLst>
              <a:ext uri="{91240B29-F687-4F45-9708-019B960494DF}">
                <a14:hiddenLine xmlns:a14="http://schemas.microsoft.com/office/drawing/2010/main" w="12699">
                  <a:solidFill>
                    <a:schemeClr val="tx1"/>
                  </a:solidFill>
                  <a:round/>
                  <a:headEnd/>
                  <a:tailEnd/>
                </a14:hiddenLine>
              </a:ext>
            </a:extLst>
          </p:spPr>
          <p:txBody>
            <a:bodyPr wrap="none" anchor="ctr"/>
            <a:lstStyle/>
            <a:p>
              <a:endParaRPr lang="en-US" sz="2267"/>
            </a:p>
          </p:txBody>
        </p:sp>
        <p:sp>
          <p:nvSpPr>
            <p:cNvPr id="32802" name="Oval 34"/>
            <p:cNvSpPr>
              <a:spLocks noChangeArrowheads="1"/>
            </p:cNvSpPr>
            <p:nvPr/>
          </p:nvSpPr>
          <p:spPr bwMode="auto">
            <a:xfrm>
              <a:off x="2244" y="1956"/>
              <a:ext cx="108" cy="108"/>
            </a:xfrm>
            <a:prstGeom prst="ellipse">
              <a:avLst/>
            </a:prstGeom>
            <a:solidFill>
              <a:schemeClr val="accent1"/>
            </a:solidFill>
            <a:ln>
              <a:noFill/>
            </a:ln>
            <a:effectLst>
              <a:outerShdw blurRad="63500" dist="38099" dir="2700000" algn="ctr" rotWithShape="0">
                <a:schemeClr val="bg2">
                  <a:alpha val="74998"/>
                </a:schemeClr>
              </a:outerShdw>
            </a:effectLst>
            <a:extLst>
              <a:ext uri="{91240B29-F687-4F45-9708-019B960494DF}">
                <a14:hiddenLine xmlns:a14="http://schemas.microsoft.com/office/drawing/2010/main" w="12699">
                  <a:solidFill>
                    <a:schemeClr val="tx1"/>
                  </a:solidFill>
                  <a:round/>
                  <a:headEnd/>
                  <a:tailEnd/>
                </a14:hiddenLine>
              </a:ext>
            </a:extLst>
          </p:spPr>
          <p:txBody>
            <a:bodyPr wrap="none" anchor="ctr"/>
            <a:lstStyle/>
            <a:p>
              <a:endParaRPr lang="en-US" sz="2267"/>
            </a:p>
          </p:txBody>
        </p:sp>
        <p:sp>
          <p:nvSpPr>
            <p:cNvPr id="32803" name="Oval 35"/>
            <p:cNvSpPr>
              <a:spLocks noChangeArrowheads="1"/>
            </p:cNvSpPr>
            <p:nvPr/>
          </p:nvSpPr>
          <p:spPr bwMode="auto">
            <a:xfrm>
              <a:off x="2244" y="2436"/>
              <a:ext cx="108" cy="108"/>
            </a:xfrm>
            <a:prstGeom prst="ellipse">
              <a:avLst/>
            </a:prstGeom>
            <a:solidFill>
              <a:schemeClr val="accent1"/>
            </a:solidFill>
            <a:ln>
              <a:noFill/>
            </a:ln>
            <a:effectLst>
              <a:outerShdw blurRad="63500" dist="38099" dir="2700000" algn="ctr" rotWithShape="0">
                <a:schemeClr val="bg2">
                  <a:alpha val="74998"/>
                </a:schemeClr>
              </a:outerShdw>
            </a:effectLst>
            <a:extLst>
              <a:ext uri="{91240B29-F687-4F45-9708-019B960494DF}">
                <a14:hiddenLine xmlns:a14="http://schemas.microsoft.com/office/drawing/2010/main" w="12699">
                  <a:solidFill>
                    <a:schemeClr val="tx1"/>
                  </a:solidFill>
                  <a:round/>
                  <a:headEnd/>
                  <a:tailEnd/>
                </a14:hiddenLine>
              </a:ext>
            </a:extLst>
          </p:spPr>
          <p:txBody>
            <a:bodyPr wrap="none" anchor="ctr"/>
            <a:lstStyle/>
            <a:p>
              <a:endParaRPr lang="en-US" sz="2267"/>
            </a:p>
          </p:txBody>
        </p:sp>
        <p:sp>
          <p:nvSpPr>
            <p:cNvPr id="32804" name="Oval 36"/>
            <p:cNvSpPr>
              <a:spLocks noChangeArrowheads="1"/>
            </p:cNvSpPr>
            <p:nvPr/>
          </p:nvSpPr>
          <p:spPr bwMode="auto">
            <a:xfrm>
              <a:off x="2244" y="2976"/>
              <a:ext cx="108" cy="108"/>
            </a:xfrm>
            <a:prstGeom prst="ellipse">
              <a:avLst/>
            </a:prstGeom>
            <a:solidFill>
              <a:schemeClr val="accent1"/>
            </a:solidFill>
            <a:ln>
              <a:noFill/>
            </a:ln>
            <a:effectLst>
              <a:outerShdw blurRad="63500" dist="38099" dir="2700000" algn="ctr" rotWithShape="0">
                <a:schemeClr val="bg2">
                  <a:alpha val="74998"/>
                </a:schemeClr>
              </a:outerShdw>
            </a:effectLst>
            <a:extLst>
              <a:ext uri="{91240B29-F687-4F45-9708-019B960494DF}">
                <a14:hiddenLine xmlns:a14="http://schemas.microsoft.com/office/drawing/2010/main" w="12699">
                  <a:solidFill>
                    <a:schemeClr val="tx1"/>
                  </a:solidFill>
                  <a:round/>
                  <a:headEnd/>
                  <a:tailEnd/>
                </a14:hiddenLine>
              </a:ext>
            </a:extLst>
          </p:spPr>
          <p:txBody>
            <a:bodyPr wrap="none" anchor="ctr"/>
            <a:lstStyle/>
            <a:p>
              <a:endParaRPr lang="en-US" sz="2267"/>
            </a:p>
          </p:txBody>
        </p:sp>
        <p:sp>
          <p:nvSpPr>
            <p:cNvPr id="32805" name="Oval 37"/>
            <p:cNvSpPr>
              <a:spLocks noChangeArrowheads="1"/>
            </p:cNvSpPr>
            <p:nvPr/>
          </p:nvSpPr>
          <p:spPr bwMode="auto">
            <a:xfrm>
              <a:off x="2244" y="3264"/>
              <a:ext cx="108" cy="108"/>
            </a:xfrm>
            <a:prstGeom prst="ellipse">
              <a:avLst/>
            </a:prstGeom>
            <a:solidFill>
              <a:schemeClr val="accent1"/>
            </a:solidFill>
            <a:ln>
              <a:noFill/>
            </a:ln>
            <a:effectLst>
              <a:outerShdw blurRad="63500" dist="38099" dir="2700000" algn="ctr" rotWithShape="0">
                <a:schemeClr val="bg2">
                  <a:alpha val="74998"/>
                </a:schemeClr>
              </a:outerShdw>
            </a:effectLst>
            <a:extLst>
              <a:ext uri="{91240B29-F687-4F45-9708-019B960494DF}">
                <a14:hiddenLine xmlns:a14="http://schemas.microsoft.com/office/drawing/2010/main" w="12699">
                  <a:solidFill>
                    <a:schemeClr val="tx1"/>
                  </a:solidFill>
                  <a:round/>
                  <a:headEnd/>
                  <a:tailEnd/>
                </a14:hiddenLine>
              </a:ext>
            </a:extLst>
          </p:spPr>
          <p:txBody>
            <a:bodyPr wrap="none" anchor="ctr"/>
            <a:lstStyle/>
            <a:p>
              <a:endParaRPr lang="en-US" sz="2267"/>
            </a:p>
          </p:txBody>
        </p:sp>
        <p:sp>
          <p:nvSpPr>
            <p:cNvPr id="32806" name="Oval 38"/>
            <p:cNvSpPr>
              <a:spLocks noChangeArrowheads="1"/>
            </p:cNvSpPr>
            <p:nvPr/>
          </p:nvSpPr>
          <p:spPr bwMode="auto">
            <a:xfrm>
              <a:off x="2244" y="3828"/>
              <a:ext cx="108" cy="108"/>
            </a:xfrm>
            <a:prstGeom prst="ellipse">
              <a:avLst/>
            </a:prstGeom>
            <a:solidFill>
              <a:schemeClr val="accent1"/>
            </a:solidFill>
            <a:ln>
              <a:noFill/>
            </a:ln>
            <a:effectLst>
              <a:outerShdw blurRad="63500" dist="38099" dir="2700000" algn="ctr" rotWithShape="0">
                <a:schemeClr val="bg2">
                  <a:alpha val="74998"/>
                </a:schemeClr>
              </a:outerShdw>
            </a:effectLst>
            <a:extLst>
              <a:ext uri="{91240B29-F687-4F45-9708-019B960494DF}">
                <a14:hiddenLine xmlns:a14="http://schemas.microsoft.com/office/drawing/2010/main" w="12699">
                  <a:solidFill>
                    <a:schemeClr val="tx1"/>
                  </a:solidFill>
                  <a:round/>
                  <a:headEnd/>
                  <a:tailEnd/>
                </a14:hiddenLine>
              </a:ext>
            </a:extLst>
          </p:spPr>
          <p:txBody>
            <a:bodyPr wrap="none" anchor="ctr"/>
            <a:lstStyle/>
            <a:p>
              <a:endParaRPr lang="en-US" sz="2267"/>
            </a:p>
          </p:txBody>
        </p:sp>
      </p:grpSp>
    </p:spTree>
    <p:extLst>
      <p:ext uri="{BB962C8B-B14F-4D97-AF65-F5344CB8AC3E}">
        <p14:creationId xmlns:p14="http://schemas.microsoft.com/office/powerpoint/2010/main" val="3819475547"/>
      </p:ext>
    </p:extLst>
  </p:cSld>
  <p:clrMapOvr>
    <a:masterClrMapping/>
  </p:clrMapOvr>
  <p:transition spd="med">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023" name="Group 15"/>
          <p:cNvGrpSpPr>
            <a:grpSpLocks/>
          </p:cNvGrpSpPr>
          <p:nvPr/>
        </p:nvGrpSpPr>
        <p:grpSpPr bwMode="auto">
          <a:xfrm>
            <a:off x="5267960" y="5527040"/>
            <a:ext cx="3281680" cy="2072640"/>
            <a:chOff x="1968" y="3072"/>
            <a:chExt cx="1824" cy="1152"/>
          </a:xfrm>
        </p:grpSpPr>
        <p:sp>
          <p:nvSpPr>
            <p:cNvPr id="43011" name="Rectangle 3"/>
            <p:cNvSpPr>
              <a:spLocks noChangeArrowheads="1"/>
            </p:cNvSpPr>
            <p:nvPr/>
          </p:nvSpPr>
          <p:spPr bwMode="auto">
            <a:xfrm>
              <a:off x="1968" y="3936"/>
              <a:ext cx="1824" cy="288"/>
            </a:xfrm>
            <a:prstGeom prst="rect">
              <a:avLst/>
            </a:prstGeom>
            <a:noFill/>
            <a:ln>
              <a:noFill/>
            </a:ln>
            <a:effectLst>
              <a:outerShdw blurRad="63500" dist="38099"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Lst>
          </p:spPr>
          <p:txBody>
            <a:bodyPr wrap="none" anchor="ctr"/>
            <a:lstStyle/>
            <a:p>
              <a:endParaRPr lang="en-US" sz="2267"/>
            </a:p>
          </p:txBody>
        </p:sp>
        <p:sp>
          <p:nvSpPr>
            <p:cNvPr id="43012" name="AutoShape 4"/>
            <p:cNvSpPr>
              <a:spLocks noChangeArrowheads="1"/>
            </p:cNvSpPr>
            <p:nvPr/>
          </p:nvSpPr>
          <p:spPr bwMode="auto">
            <a:xfrm rot="16200000">
              <a:off x="2284" y="3072"/>
              <a:ext cx="1152" cy="1152"/>
            </a:xfrm>
            <a:prstGeom prst="homePlate">
              <a:avLst>
                <a:gd name="adj" fmla="val 33333"/>
              </a:avLst>
            </a:prstGeom>
            <a:solidFill>
              <a:schemeClr val="accent2"/>
            </a:solidFill>
            <a:ln>
              <a:noFill/>
            </a:ln>
            <a:effectLst>
              <a:outerShdw blurRad="63500" dist="53882" dir="2700000" algn="ctr" rotWithShape="0">
                <a:schemeClr val="bg2">
                  <a:alpha val="74998"/>
                </a:schemeClr>
              </a:outerShdw>
            </a:effectLst>
            <a:extLst>
              <a:ext uri="{91240B29-F687-4F45-9708-019B960494DF}">
                <a14:hiddenLine xmlns:a14="http://schemas.microsoft.com/office/drawing/2010/main" w="12699">
                  <a:solidFill>
                    <a:schemeClr val="tx1"/>
                  </a:solidFill>
                  <a:miter lim="800000"/>
                  <a:headEnd/>
                  <a:tailEnd/>
                </a14:hiddenLine>
              </a:ext>
            </a:extLst>
          </p:spPr>
          <p:txBody>
            <a:bodyPr wrap="none" anchor="ctr"/>
            <a:lstStyle/>
            <a:p>
              <a:endParaRPr lang="en-US" sz="2267"/>
            </a:p>
          </p:txBody>
        </p:sp>
        <p:sp>
          <p:nvSpPr>
            <p:cNvPr id="43013" name="Rectangle 5"/>
            <p:cNvSpPr>
              <a:spLocks noChangeArrowheads="1"/>
            </p:cNvSpPr>
            <p:nvPr/>
          </p:nvSpPr>
          <p:spPr bwMode="auto">
            <a:xfrm>
              <a:off x="2309" y="3394"/>
              <a:ext cx="1102" cy="638"/>
            </a:xfrm>
            <a:prstGeom prst="rect">
              <a:avLst/>
            </a:prstGeom>
            <a:noFill/>
            <a:ln>
              <a:noFill/>
            </a:ln>
            <a:effectLst>
              <a:outerShdw blurRad="63500" dist="17961"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Lst>
          </p:spPr>
          <p:txBody>
            <a:bodyPr lIns="102553" tIns="50377" rIns="102553" bIns="50377">
              <a:spAutoFit/>
            </a:bodyPr>
            <a:lstStyle/>
            <a:p>
              <a:pPr algn="ctr"/>
              <a:r>
                <a:rPr lang="en-US" altLang="en-US" sz="2267" b="1"/>
                <a:t>Threat of Substitute Products</a:t>
              </a:r>
            </a:p>
          </p:txBody>
        </p:sp>
      </p:grpSp>
      <p:sp>
        <p:nvSpPr>
          <p:cNvPr id="43024" name="Rectangle 16"/>
          <p:cNvSpPr>
            <a:spLocks noChangeArrowheads="1"/>
          </p:cNvSpPr>
          <p:nvPr/>
        </p:nvSpPr>
        <p:spPr bwMode="auto">
          <a:xfrm>
            <a:off x="1727200" y="0"/>
            <a:ext cx="10363200" cy="1496863"/>
          </a:xfrm>
          <a:prstGeom prst="rect">
            <a:avLst/>
          </a:prstGeom>
          <a:noFill/>
          <a:ln>
            <a:noFill/>
          </a:ln>
          <a:effectLst>
            <a:outerShdw blurRad="63500" dist="17961"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Lst>
        </p:spPr>
        <p:txBody>
          <a:bodyPr lIns="102553" tIns="50377" rIns="102553" bIns="50377">
            <a:spAutoFit/>
          </a:bodyPr>
          <a:lstStyle/>
          <a:p>
            <a:pPr algn="ctr"/>
            <a:r>
              <a:rPr lang="en-US" altLang="en-US" sz="4533" b="1">
                <a:solidFill>
                  <a:schemeClr val="tx2"/>
                </a:solidFill>
              </a:rPr>
              <a:t>Porter’s Five Forces </a:t>
            </a:r>
          </a:p>
          <a:p>
            <a:pPr algn="ctr"/>
            <a:r>
              <a:rPr lang="en-US" altLang="en-US" sz="4533" b="1">
                <a:solidFill>
                  <a:schemeClr val="tx2"/>
                </a:solidFill>
              </a:rPr>
              <a:t>Model of Competition</a:t>
            </a:r>
          </a:p>
        </p:txBody>
      </p:sp>
    </p:spTree>
    <p:extLst>
      <p:ext uri="{BB962C8B-B14F-4D97-AF65-F5344CB8AC3E}">
        <p14:creationId xmlns:p14="http://schemas.microsoft.com/office/powerpoint/2010/main" val="1572774825"/>
      </p:ext>
    </p:extLst>
  </p:cSld>
  <p:clrMapOvr>
    <a:masterClrMapping/>
  </p:clrMapOvr>
  <p:transition spd="slow">
    <p:zoom dir="in"/>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nodeType="afterEffect">
                                  <p:stCondLst>
                                    <p:cond delay="0"/>
                                  </p:stCondLst>
                                  <p:childTnLst>
                                    <p:set>
                                      <p:cBhvr>
                                        <p:cTn id="6" dur="1" fill="hold">
                                          <p:stCondLst>
                                            <p:cond delay="0"/>
                                          </p:stCondLst>
                                        </p:cTn>
                                        <p:tgtEl>
                                          <p:spTgt spid="43023"/>
                                        </p:tgtEl>
                                        <p:attrNameLst>
                                          <p:attrName>style.visibility</p:attrName>
                                        </p:attrNameLst>
                                      </p:cBhvr>
                                      <p:to>
                                        <p:strVal val="visible"/>
                                      </p:to>
                                    </p:set>
                                    <p:anim calcmode="lin" valueType="num">
                                      <p:cBhvr additive="base">
                                        <p:cTn id="7" dur="500" fill="hold"/>
                                        <p:tgtEl>
                                          <p:spTgt spid="43023"/>
                                        </p:tgtEl>
                                        <p:attrNameLst>
                                          <p:attrName>ppt_x</p:attrName>
                                        </p:attrNameLst>
                                      </p:cBhvr>
                                      <p:tavLst>
                                        <p:tav tm="0">
                                          <p:val>
                                            <p:strVal val="#ppt_x"/>
                                          </p:val>
                                        </p:tav>
                                        <p:tav tm="100000">
                                          <p:val>
                                            <p:strVal val="#ppt_x"/>
                                          </p:val>
                                        </p:tav>
                                      </p:tavLst>
                                    </p:anim>
                                    <p:anim calcmode="lin" valueType="num">
                                      <p:cBhvr additive="base">
                                        <p:cTn id="8" dur="500" fill="hold"/>
                                        <p:tgtEl>
                                          <p:spTgt spid="430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1" name="Rectangle 5"/>
          <p:cNvSpPr>
            <a:spLocks noChangeArrowheads="1"/>
          </p:cNvSpPr>
          <p:nvPr/>
        </p:nvSpPr>
        <p:spPr bwMode="auto">
          <a:xfrm>
            <a:off x="1727200" y="343642"/>
            <a:ext cx="10363200" cy="799301"/>
          </a:xfrm>
          <a:prstGeom prst="rect">
            <a:avLst/>
          </a:prstGeom>
          <a:noFill/>
          <a:ln>
            <a:noFill/>
          </a:ln>
          <a:effectLst>
            <a:outerShdw blurRad="63500" dist="17961"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Lst>
        </p:spPr>
        <p:txBody>
          <a:bodyPr lIns="102553" tIns="50377" rIns="102553" bIns="50377">
            <a:spAutoFit/>
          </a:bodyPr>
          <a:lstStyle/>
          <a:p>
            <a:pPr algn="ctr"/>
            <a:r>
              <a:rPr lang="en-US" altLang="en-US" sz="4533" b="1">
                <a:solidFill>
                  <a:schemeClr val="tx2"/>
                </a:solidFill>
              </a:rPr>
              <a:t>Threat of Substitute Products</a:t>
            </a:r>
          </a:p>
        </p:txBody>
      </p:sp>
      <p:grpSp>
        <p:nvGrpSpPr>
          <p:cNvPr id="45065" name="Group 9"/>
          <p:cNvGrpSpPr>
            <a:grpSpLocks/>
          </p:cNvGrpSpPr>
          <p:nvPr/>
        </p:nvGrpSpPr>
        <p:grpSpPr bwMode="auto">
          <a:xfrm>
            <a:off x="2418080" y="2072640"/>
            <a:ext cx="2936240" cy="3454400"/>
            <a:chOff x="384" y="1152"/>
            <a:chExt cx="1632" cy="1920"/>
          </a:xfrm>
        </p:grpSpPr>
        <p:sp>
          <p:nvSpPr>
            <p:cNvPr id="45062" name="AutoShape 6"/>
            <p:cNvSpPr>
              <a:spLocks noChangeArrowheads="1"/>
            </p:cNvSpPr>
            <p:nvPr/>
          </p:nvSpPr>
          <p:spPr bwMode="auto">
            <a:xfrm>
              <a:off x="384" y="1152"/>
              <a:ext cx="1632" cy="1920"/>
            </a:xfrm>
            <a:prstGeom prst="homePlate">
              <a:avLst>
                <a:gd name="adj" fmla="val 33333"/>
              </a:avLst>
            </a:prstGeom>
            <a:solidFill>
              <a:schemeClr val="accent2"/>
            </a:solidFill>
            <a:ln>
              <a:noFill/>
            </a:ln>
            <a:effectLst>
              <a:outerShdw blurRad="63500" dist="53882" dir="2700000" algn="ctr" rotWithShape="0">
                <a:schemeClr val="bg2">
                  <a:alpha val="74998"/>
                </a:schemeClr>
              </a:outerShdw>
            </a:effectLst>
            <a:extLst>
              <a:ext uri="{91240B29-F687-4F45-9708-019B960494DF}">
                <a14:hiddenLine xmlns:a14="http://schemas.microsoft.com/office/drawing/2010/main" w="12699">
                  <a:solidFill>
                    <a:schemeClr val="tx1"/>
                  </a:solidFill>
                  <a:miter lim="800000"/>
                  <a:headEnd/>
                  <a:tailEnd/>
                </a14:hiddenLine>
              </a:ext>
            </a:extLst>
          </p:spPr>
          <p:txBody>
            <a:bodyPr wrap="none" anchor="ctr"/>
            <a:lstStyle/>
            <a:p>
              <a:endParaRPr lang="en-US" sz="2267"/>
            </a:p>
          </p:txBody>
        </p:sp>
        <p:sp>
          <p:nvSpPr>
            <p:cNvPr id="45063" name="Rectangle 7"/>
            <p:cNvSpPr>
              <a:spLocks noChangeArrowheads="1"/>
            </p:cNvSpPr>
            <p:nvPr/>
          </p:nvSpPr>
          <p:spPr bwMode="auto">
            <a:xfrm>
              <a:off x="464" y="1384"/>
              <a:ext cx="1216" cy="1220"/>
            </a:xfrm>
            <a:prstGeom prst="rect">
              <a:avLst/>
            </a:prstGeom>
            <a:noFill/>
            <a:ln>
              <a:noFill/>
            </a:ln>
            <a:effectLst>
              <a:outerShdw blurRad="63500" dist="17961"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Lst>
          </p:spPr>
          <p:txBody>
            <a:bodyPr lIns="102553" tIns="50377" rIns="102553" bIns="50377">
              <a:spAutoFit/>
            </a:bodyPr>
            <a:lstStyle/>
            <a:p>
              <a:r>
                <a:rPr lang="en-US" altLang="en-US" sz="2267" b="1"/>
                <a:t>Products with similar </a:t>
              </a:r>
              <a:r>
                <a:rPr lang="en-US" altLang="en-US" sz="2267" b="1" i="1"/>
                <a:t>function</a:t>
              </a:r>
              <a:r>
                <a:rPr lang="en-US" altLang="en-US" sz="2267" b="1" i="1">
                  <a:solidFill>
                    <a:schemeClr val="hlink"/>
                  </a:solidFill>
                </a:rPr>
                <a:t> </a:t>
              </a:r>
              <a:r>
                <a:rPr lang="en-US" altLang="en-US" sz="2267" b="1"/>
                <a:t>limit the prices firms can charge</a:t>
              </a:r>
            </a:p>
          </p:txBody>
        </p:sp>
      </p:grpSp>
      <p:sp>
        <p:nvSpPr>
          <p:cNvPr id="45069" name="Rectangle 13"/>
          <p:cNvSpPr>
            <a:spLocks noChangeArrowheads="1"/>
          </p:cNvSpPr>
          <p:nvPr/>
        </p:nvSpPr>
        <p:spPr bwMode="auto">
          <a:xfrm>
            <a:off x="5683568" y="1712807"/>
            <a:ext cx="5391220" cy="450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02553" tIns="50377" rIns="102553" bIns="50377">
            <a:spAutoFit/>
          </a:bodyPr>
          <a:lstStyle/>
          <a:p>
            <a:r>
              <a:rPr lang="en-US" altLang="en-US" sz="2267" b="1">
                <a:effectLst>
                  <a:outerShdw blurRad="38100" dist="38100" dir="2700000" algn="tl">
                    <a:srgbClr val="000000"/>
                  </a:outerShdw>
                </a:effectLst>
              </a:rPr>
              <a:t>Keys to evaluate substitute products:</a:t>
            </a:r>
          </a:p>
        </p:txBody>
      </p:sp>
      <p:grpSp>
        <p:nvGrpSpPr>
          <p:cNvPr id="45078" name="Group 22"/>
          <p:cNvGrpSpPr>
            <a:grpSpLocks/>
          </p:cNvGrpSpPr>
          <p:nvPr/>
        </p:nvGrpSpPr>
        <p:grpSpPr bwMode="auto">
          <a:xfrm>
            <a:off x="6460808" y="2490047"/>
            <a:ext cx="6102773" cy="4607666"/>
            <a:chOff x="2631" y="1384"/>
            <a:chExt cx="3392" cy="2561"/>
          </a:xfrm>
        </p:grpSpPr>
        <p:sp>
          <p:nvSpPr>
            <p:cNvPr id="45067" name="Rectangle 11"/>
            <p:cNvSpPr>
              <a:spLocks noChangeArrowheads="1"/>
            </p:cNvSpPr>
            <p:nvPr/>
          </p:nvSpPr>
          <p:spPr bwMode="auto">
            <a:xfrm>
              <a:off x="2631" y="1384"/>
              <a:ext cx="2744" cy="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02553" tIns="50377" rIns="102553" bIns="50377">
              <a:spAutoFit/>
            </a:bodyPr>
            <a:lstStyle/>
            <a:p>
              <a:r>
                <a:rPr lang="en-US" altLang="en-US" sz="2267" b="1">
                  <a:effectLst>
                    <a:outerShdw blurRad="38100" dist="38100" dir="2700000" algn="tl">
                      <a:srgbClr val="000000"/>
                    </a:outerShdw>
                  </a:effectLst>
                </a:rPr>
                <a:t>Products with improving price/performance tradeoffs relative to present industry products</a:t>
              </a:r>
            </a:p>
          </p:txBody>
        </p:sp>
        <p:sp>
          <p:nvSpPr>
            <p:cNvPr id="45068" name="Rectangle 12"/>
            <p:cNvSpPr>
              <a:spLocks noChangeArrowheads="1"/>
            </p:cNvSpPr>
            <p:nvPr/>
          </p:nvSpPr>
          <p:spPr bwMode="auto">
            <a:xfrm>
              <a:off x="2631" y="2607"/>
              <a:ext cx="280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02553" tIns="50377" rIns="102553" bIns="50377">
              <a:spAutoFit/>
            </a:bodyPr>
            <a:lstStyle/>
            <a:p>
              <a:r>
                <a:rPr lang="en-US" altLang="en-US" sz="2267" b="1" i="1" dirty="0">
                  <a:solidFill>
                    <a:schemeClr val="tx2"/>
                  </a:solidFill>
                  <a:effectLst>
                    <a:outerShdw blurRad="38100" dist="38100" dir="2700000" algn="tl">
                      <a:srgbClr val="000000"/>
                    </a:outerShdw>
                  </a:effectLst>
                </a:rPr>
                <a:t>Examples:</a:t>
              </a:r>
              <a:endParaRPr lang="en-US" altLang="en-US" sz="2267" b="1" dirty="0">
                <a:effectLst>
                  <a:outerShdw blurRad="38100" dist="38100" dir="2700000" algn="tl">
                    <a:srgbClr val="000000"/>
                  </a:outerShdw>
                </a:effectLst>
              </a:endParaRPr>
            </a:p>
          </p:txBody>
        </p:sp>
        <p:sp>
          <p:nvSpPr>
            <p:cNvPr id="45070" name="Rectangle 14"/>
            <p:cNvSpPr>
              <a:spLocks noChangeArrowheads="1"/>
            </p:cNvSpPr>
            <p:nvPr/>
          </p:nvSpPr>
          <p:spPr bwMode="auto">
            <a:xfrm>
              <a:off x="3168" y="2919"/>
              <a:ext cx="2855" cy="10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02553" tIns="50377" rIns="102553" bIns="50377">
              <a:spAutoFit/>
            </a:bodyPr>
            <a:lstStyle/>
            <a:p>
              <a:r>
                <a:rPr lang="en-US" altLang="en-US" sz="2267" b="1" dirty="0">
                  <a:effectLst>
                    <a:outerShdw blurRad="38100" dist="38100" dir="2700000" algn="tl">
                      <a:srgbClr val="000000"/>
                    </a:outerShdw>
                  </a:effectLst>
                </a:rPr>
                <a:t>Electronic security systems in place of security guards</a:t>
              </a:r>
            </a:p>
            <a:p>
              <a:endParaRPr lang="en-US" altLang="en-US" sz="2267" b="1" dirty="0">
                <a:effectLst>
                  <a:outerShdw blurRad="38100" dist="38100" dir="2700000" algn="tl">
                    <a:srgbClr val="000000"/>
                  </a:outerShdw>
                </a:effectLst>
              </a:endParaRPr>
            </a:p>
            <a:p>
              <a:r>
                <a:rPr lang="en-US" altLang="en-US" sz="2267" b="1" dirty="0">
                  <a:effectLst>
                    <a:outerShdw blurRad="38100" dist="38100" dir="2700000" algn="tl">
                      <a:srgbClr val="000000"/>
                    </a:outerShdw>
                  </a:effectLst>
                </a:rPr>
                <a:t>Smart phones instead of traditional cameras</a:t>
              </a:r>
            </a:p>
          </p:txBody>
        </p:sp>
        <p:sp>
          <p:nvSpPr>
            <p:cNvPr id="45076" name="Oval 20"/>
            <p:cNvSpPr>
              <a:spLocks noChangeArrowheads="1"/>
            </p:cNvSpPr>
            <p:nvPr/>
          </p:nvSpPr>
          <p:spPr bwMode="auto">
            <a:xfrm>
              <a:off x="2976" y="3024"/>
              <a:ext cx="108" cy="108"/>
            </a:xfrm>
            <a:prstGeom prst="ellipse">
              <a:avLst/>
            </a:prstGeom>
            <a:solidFill>
              <a:schemeClr val="accent1"/>
            </a:solidFill>
            <a:ln>
              <a:noFill/>
            </a:ln>
            <a:effectLst>
              <a:outerShdw blurRad="63500" dist="38099" dir="2700000" algn="ctr" rotWithShape="0">
                <a:schemeClr val="bg2">
                  <a:alpha val="74998"/>
                </a:schemeClr>
              </a:outerShdw>
            </a:effectLst>
            <a:extLst>
              <a:ext uri="{91240B29-F687-4F45-9708-019B960494DF}">
                <a14:hiddenLine xmlns:a14="http://schemas.microsoft.com/office/drawing/2010/main" w="12699">
                  <a:solidFill>
                    <a:schemeClr val="tx1"/>
                  </a:solidFill>
                  <a:round/>
                  <a:headEnd/>
                  <a:tailEnd/>
                </a14:hiddenLine>
              </a:ext>
            </a:extLst>
          </p:spPr>
          <p:txBody>
            <a:bodyPr wrap="none" anchor="ctr"/>
            <a:lstStyle/>
            <a:p>
              <a:endParaRPr lang="en-US" sz="2267"/>
            </a:p>
          </p:txBody>
        </p:sp>
        <p:sp>
          <p:nvSpPr>
            <p:cNvPr id="45077" name="Oval 21"/>
            <p:cNvSpPr>
              <a:spLocks noChangeArrowheads="1"/>
            </p:cNvSpPr>
            <p:nvPr/>
          </p:nvSpPr>
          <p:spPr bwMode="auto">
            <a:xfrm>
              <a:off x="2976" y="3636"/>
              <a:ext cx="108" cy="108"/>
            </a:xfrm>
            <a:prstGeom prst="ellipse">
              <a:avLst/>
            </a:prstGeom>
            <a:solidFill>
              <a:schemeClr val="accent1"/>
            </a:solidFill>
            <a:ln>
              <a:noFill/>
            </a:ln>
            <a:effectLst>
              <a:outerShdw blurRad="63500" dist="38099" dir="2700000" algn="ctr" rotWithShape="0">
                <a:schemeClr val="bg2">
                  <a:alpha val="74998"/>
                </a:schemeClr>
              </a:outerShdw>
            </a:effectLst>
            <a:extLst>
              <a:ext uri="{91240B29-F687-4F45-9708-019B960494DF}">
                <a14:hiddenLine xmlns:a14="http://schemas.microsoft.com/office/drawing/2010/main" w="12699">
                  <a:solidFill>
                    <a:schemeClr val="tx1"/>
                  </a:solidFill>
                  <a:round/>
                  <a:headEnd/>
                  <a:tailEnd/>
                </a14:hiddenLine>
              </a:ext>
            </a:extLst>
          </p:spPr>
          <p:txBody>
            <a:bodyPr wrap="none" anchor="ctr"/>
            <a:lstStyle/>
            <a:p>
              <a:endParaRPr lang="en-US" sz="2267"/>
            </a:p>
          </p:txBody>
        </p:sp>
      </p:grpSp>
      <p:sp>
        <p:nvSpPr>
          <p:cNvPr id="45079" name="Rectangle 23"/>
          <p:cNvSpPr>
            <a:spLocks noGrp="1" noChangeArrowheads="1"/>
          </p:cNvSpPr>
          <p:nvPr>
            <p:ph type="title" idx="4294967295"/>
          </p:nvPr>
        </p:nvSpPr>
        <p:spPr bwMode="auto">
          <a:xfrm>
            <a:off x="1899920" y="6112740"/>
            <a:ext cx="3799840" cy="882421"/>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r>
              <a:rPr lang="en-US" altLang="en-US" sz="2267" b="1" i="1" dirty="0"/>
              <a:t>Competing brands are </a:t>
            </a:r>
            <a:br>
              <a:rPr lang="en-US" altLang="en-US" sz="2267" b="1" i="1" dirty="0"/>
            </a:br>
            <a:r>
              <a:rPr lang="en-US" altLang="en-US" sz="2267" b="1" i="1" u="sng" dirty="0"/>
              <a:t>not</a:t>
            </a:r>
            <a:r>
              <a:rPr lang="en-US" altLang="en-US" sz="2267" b="1" i="1" dirty="0"/>
              <a:t> substitutes</a:t>
            </a:r>
          </a:p>
        </p:txBody>
      </p:sp>
    </p:spTree>
    <p:extLst>
      <p:ext uri="{BB962C8B-B14F-4D97-AF65-F5344CB8AC3E}">
        <p14:creationId xmlns:p14="http://schemas.microsoft.com/office/powerpoint/2010/main" val="1264726616"/>
      </p:ext>
    </p:extLst>
  </p:cSld>
  <p:clrMapOvr>
    <a:masterClrMapping/>
  </p:clrMapOvr>
  <p:transition spd="slow">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3"/>
          <p:cNvSpPr>
            <a:spLocks noChangeArrowheads="1"/>
          </p:cNvSpPr>
          <p:nvPr/>
        </p:nvSpPr>
        <p:spPr bwMode="auto">
          <a:xfrm>
            <a:off x="5267960" y="7081520"/>
            <a:ext cx="3281680" cy="518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2267"/>
          </a:p>
        </p:txBody>
      </p:sp>
      <p:sp>
        <p:nvSpPr>
          <p:cNvPr id="49156" name="AutoShape 4"/>
          <p:cNvSpPr>
            <a:spLocks noChangeArrowheads="1"/>
          </p:cNvSpPr>
          <p:nvPr/>
        </p:nvSpPr>
        <p:spPr bwMode="auto">
          <a:xfrm rot="16200000">
            <a:off x="5843693" y="5534237"/>
            <a:ext cx="2058247" cy="2058247"/>
          </a:xfrm>
          <a:prstGeom prst="homePlate">
            <a:avLst>
              <a:gd name="adj" fmla="val 33333"/>
            </a:avLst>
          </a:prstGeom>
          <a:solidFill>
            <a:srgbClr val="CECECE"/>
          </a:solidFill>
          <a:ln w="12699">
            <a:solidFill>
              <a:srgbClr val="143C2E"/>
            </a:solidFill>
            <a:miter lim="800000"/>
            <a:headEnd/>
            <a:tailEnd/>
          </a:ln>
          <a:effectLst>
            <a:outerShdw blurRad="63500" dist="38099" dir="2700000" algn="ctr" rotWithShape="0">
              <a:srgbClr val="919191">
                <a:alpha val="74998"/>
              </a:srgbClr>
            </a:outerShdw>
          </a:effectLst>
        </p:spPr>
        <p:txBody>
          <a:bodyPr wrap="none" anchor="ctr"/>
          <a:lstStyle/>
          <a:p>
            <a:endParaRPr lang="en-US" sz="2267"/>
          </a:p>
        </p:txBody>
      </p:sp>
      <p:sp>
        <p:nvSpPr>
          <p:cNvPr id="49157" name="Rectangle 5"/>
          <p:cNvSpPr>
            <a:spLocks noChangeArrowheads="1"/>
          </p:cNvSpPr>
          <p:nvPr/>
        </p:nvSpPr>
        <p:spPr bwMode="auto">
          <a:xfrm>
            <a:off x="5881477" y="6106372"/>
            <a:ext cx="1982682" cy="1148371"/>
          </a:xfrm>
          <a:prstGeom prst="rect">
            <a:avLst/>
          </a:prstGeom>
          <a:noFill/>
          <a:ln>
            <a:noFill/>
          </a:ln>
          <a:effectLst>
            <a:outerShdw blurRad="63500" dist="17961" dir="2700000" algn="ctr" rotWithShape="0">
              <a:schemeClr val="tx1">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Lst>
        </p:spPr>
        <p:txBody>
          <a:bodyPr lIns="102553" tIns="50377" rIns="102553" bIns="50377">
            <a:spAutoFit/>
          </a:bodyPr>
          <a:lstStyle/>
          <a:p>
            <a:pPr algn="ctr"/>
            <a:r>
              <a:rPr lang="en-US" altLang="en-US" sz="2267" b="1">
                <a:solidFill>
                  <a:srgbClr val="143C2E"/>
                </a:solidFill>
              </a:rPr>
              <a:t>Threat of Substitute Products</a:t>
            </a:r>
          </a:p>
        </p:txBody>
      </p:sp>
      <p:sp>
        <p:nvSpPr>
          <p:cNvPr id="49158" name="Rectangle 6"/>
          <p:cNvSpPr>
            <a:spLocks noChangeArrowheads="1"/>
          </p:cNvSpPr>
          <p:nvPr/>
        </p:nvSpPr>
        <p:spPr bwMode="auto">
          <a:xfrm>
            <a:off x="5881477" y="1536489"/>
            <a:ext cx="1637242" cy="11483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02553" tIns="50377" rIns="102553" bIns="50377">
            <a:spAutoFit/>
          </a:bodyPr>
          <a:lstStyle/>
          <a:p>
            <a:pPr algn="ctr"/>
            <a:r>
              <a:rPr lang="en-US" altLang="en-US" sz="2267"/>
              <a:t>Threat of New Entrants</a:t>
            </a:r>
          </a:p>
        </p:txBody>
      </p:sp>
      <p:sp>
        <p:nvSpPr>
          <p:cNvPr id="49159" name="AutoShape 7"/>
          <p:cNvSpPr>
            <a:spLocks noChangeArrowheads="1"/>
          </p:cNvSpPr>
          <p:nvPr/>
        </p:nvSpPr>
        <p:spPr bwMode="auto">
          <a:xfrm rot="16200000" flipH="1">
            <a:off x="5843693" y="1568873"/>
            <a:ext cx="2058247" cy="2058247"/>
          </a:xfrm>
          <a:prstGeom prst="homePlate">
            <a:avLst>
              <a:gd name="adj" fmla="val 33333"/>
            </a:avLst>
          </a:prstGeom>
          <a:solidFill>
            <a:srgbClr val="CECECE"/>
          </a:solidFill>
          <a:ln w="12699">
            <a:solidFill>
              <a:srgbClr val="143C2E"/>
            </a:solidFill>
            <a:miter lim="800000"/>
            <a:headEnd/>
            <a:tailEnd/>
          </a:ln>
          <a:effectLst>
            <a:outerShdw blurRad="63500" dist="38099" dir="2700000" algn="ctr" rotWithShape="0">
              <a:srgbClr val="919191">
                <a:alpha val="74998"/>
              </a:srgbClr>
            </a:outerShdw>
          </a:effectLst>
        </p:spPr>
        <p:txBody>
          <a:bodyPr wrap="none" anchor="ctr"/>
          <a:lstStyle/>
          <a:p>
            <a:endParaRPr lang="en-US" sz="2267"/>
          </a:p>
        </p:txBody>
      </p:sp>
      <p:sp>
        <p:nvSpPr>
          <p:cNvPr id="49160" name="Rectangle 8"/>
          <p:cNvSpPr>
            <a:spLocks noChangeArrowheads="1"/>
          </p:cNvSpPr>
          <p:nvPr/>
        </p:nvSpPr>
        <p:spPr bwMode="auto">
          <a:xfrm>
            <a:off x="5751937" y="1766782"/>
            <a:ext cx="2241762" cy="799493"/>
          </a:xfrm>
          <a:prstGeom prst="rect">
            <a:avLst/>
          </a:prstGeom>
          <a:noFill/>
          <a:ln>
            <a:noFill/>
          </a:ln>
          <a:effectLst>
            <a:outerShdw blurRad="63500" dist="17961" dir="2700000" algn="ctr" rotWithShape="0">
              <a:schemeClr val="tx1">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Lst>
        </p:spPr>
        <p:txBody>
          <a:bodyPr lIns="102553" tIns="50377" rIns="102553" bIns="50377">
            <a:spAutoFit/>
          </a:bodyPr>
          <a:lstStyle/>
          <a:p>
            <a:pPr algn="ctr"/>
            <a:r>
              <a:rPr lang="en-US" altLang="en-US" sz="2267" b="1">
                <a:solidFill>
                  <a:srgbClr val="143C2E"/>
                </a:solidFill>
              </a:rPr>
              <a:t>Threat of New Entrants</a:t>
            </a:r>
          </a:p>
        </p:txBody>
      </p:sp>
      <p:sp>
        <p:nvSpPr>
          <p:cNvPr id="49163" name="AutoShape 11"/>
          <p:cNvSpPr>
            <a:spLocks noChangeArrowheads="1"/>
          </p:cNvSpPr>
          <p:nvPr/>
        </p:nvSpPr>
        <p:spPr bwMode="auto">
          <a:xfrm flipH="1">
            <a:off x="8636000" y="3404023"/>
            <a:ext cx="2058247" cy="2058247"/>
          </a:xfrm>
          <a:prstGeom prst="homePlate">
            <a:avLst>
              <a:gd name="adj" fmla="val 33333"/>
            </a:avLst>
          </a:prstGeom>
          <a:solidFill>
            <a:srgbClr val="CECECE"/>
          </a:solidFill>
          <a:ln w="12699">
            <a:solidFill>
              <a:srgbClr val="143C2E"/>
            </a:solidFill>
            <a:miter lim="800000"/>
            <a:headEnd/>
            <a:tailEnd/>
          </a:ln>
          <a:effectLst>
            <a:outerShdw blurRad="63500" dist="38099" dir="2700000" algn="ctr" rotWithShape="0">
              <a:srgbClr val="919191">
                <a:alpha val="74998"/>
              </a:srgbClr>
            </a:outerShdw>
          </a:effectLst>
        </p:spPr>
        <p:txBody>
          <a:bodyPr wrap="none" anchor="ctr"/>
          <a:lstStyle/>
          <a:p>
            <a:endParaRPr lang="en-US" sz="2267"/>
          </a:p>
        </p:txBody>
      </p:sp>
      <p:sp>
        <p:nvSpPr>
          <p:cNvPr id="49164" name="AutoShape 12"/>
          <p:cNvSpPr>
            <a:spLocks noChangeArrowheads="1"/>
          </p:cNvSpPr>
          <p:nvPr/>
        </p:nvSpPr>
        <p:spPr bwMode="auto">
          <a:xfrm>
            <a:off x="3036993" y="3404023"/>
            <a:ext cx="2058247" cy="2058247"/>
          </a:xfrm>
          <a:prstGeom prst="homePlate">
            <a:avLst>
              <a:gd name="adj" fmla="val 33333"/>
            </a:avLst>
          </a:prstGeom>
          <a:solidFill>
            <a:srgbClr val="CECECE"/>
          </a:solidFill>
          <a:ln w="12699">
            <a:solidFill>
              <a:srgbClr val="143C2E"/>
            </a:solidFill>
            <a:miter lim="800000"/>
            <a:headEnd/>
            <a:tailEnd/>
          </a:ln>
          <a:effectLst>
            <a:outerShdw blurRad="63500" dist="38099" dir="2700000" algn="ctr" rotWithShape="0">
              <a:srgbClr val="919191">
                <a:alpha val="74998"/>
              </a:srgbClr>
            </a:outerShdw>
          </a:effectLst>
        </p:spPr>
        <p:txBody>
          <a:bodyPr wrap="none" anchor="ctr"/>
          <a:lstStyle/>
          <a:p>
            <a:endParaRPr lang="en-US" sz="2267"/>
          </a:p>
        </p:txBody>
      </p:sp>
      <p:grpSp>
        <p:nvGrpSpPr>
          <p:cNvPr id="49171" name="Group 19"/>
          <p:cNvGrpSpPr>
            <a:grpSpLocks/>
          </p:cNvGrpSpPr>
          <p:nvPr/>
        </p:nvGrpSpPr>
        <p:grpSpPr bwMode="auto">
          <a:xfrm>
            <a:off x="5325533" y="3799840"/>
            <a:ext cx="3094567" cy="1489710"/>
            <a:chOff x="2000" y="2160"/>
            <a:chExt cx="1720" cy="828"/>
          </a:xfrm>
        </p:grpSpPr>
        <p:sp>
          <p:nvSpPr>
            <p:cNvPr id="49165" name="AutoShape 13"/>
            <p:cNvSpPr>
              <a:spLocks noChangeArrowheads="1"/>
            </p:cNvSpPr>
            <p:nvPr/>
          </p:nvSpPr>
          <p:spPr bwMode="auto">
            <a:xfrm>
              <a:off x="2000" y="2160"/>
              <a:ext cx="1720" cy="828"/>
            </a:xfrm>
            <a:prstGeom prst="octagon">
              <a:avLst>
                <a:gd name="adj" fmla="val 29264"/>
              </a:avLst>
            </a:prstGeom>
            <a:solidFill>
              <a:schemeClr val="accent2"/>
            </a:solidFill>
            <a:ln>
              <a:noFill/>
            </a:ln>
            <a:effectLst>
              <a:outerShdw blurRad="63500" dist="53882" dir="2700000" algn="ctr" rotWithShape="0">
                <a:schemeClr val="bg2">
                  <a:alpha val="74998"/>
                </a:schemeClr>
              </a:outerShdw>
            </a:effectLst>
            <a:extLst>
              <a:ext uri="{91240B29-F687-4F45-9708-019B960494DF}">
                <a14:hiddenLine xmlns:a14="http://schemas.microsoft.com/office/drawing/2010/main" w="12699">
                  <a:solidFill>
                    <a:schemeClr val="tx1"/>
                  </a:solidFill>
                  <a:miter lim="800000"/>
                  <a:headEnd/>
                  <a:tailEnd/>
                </a14:hiddenLine>
              </a:ext>
            </a:extLst>
          </p:spPr>
          <p:txBody>
            <a:bodyPr wrap="none" anchor="ctr"/>
            <a:lstStyle/>
            <a:p>
              <a:endParaRPr lang="en-US" sz="2267"/>
            </a:p>
          </p:txBody>
        </p:sp>
        <p:sp>
          <p:nvSpPr>
            <p:cNvPr id="49166" name="Rectangle 14"/>
            <p:cNvSpPr>
              <a:spLocks noChangeArrowheads="1"/>
            </p:cNvSpPr>
            <p:nvPr/>
          </p:nvSpPr>
          <p:spPr bwMode="auto">
            <a:xfrm>
              <a:off x="2021" y="2208"/>
              <a:ext cx="1678" cy="638"/>
            </a:xfrm>
            <a:prstGeom prst="rect">
              <a:avLst/>
            </a:prstGeom>
            <a:noFill/>
            <a:ln>
              <a:noFill/>
            </a:ln>
            <a:effectLst>
              <a:outerShdw blurRad="63500" dist="17961"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Lst>
          </p:spPr>
          <p:txBody>
            <a:bodyPr lIns="102553" tIns="50377" rIns="102553" bIns="50377">
              <a:spAutoFit/>
            </a:bodyPr>
            <a:lstStyle/>
            <a:p>
              <a:pPr algn="ctr"/>
              <a:r>
                <a:rPr lang="en-US" altLang="en-US" sz="2267" b="1"/>
                <a:t>Rivalry Among Competing Firms in Industry</a:t>
              </a:r>
            </a:p>
          </p:txBody>
        </p:sp>
      </p:grpSp>
      <p:sp>
        <p:nvSpPr>
          <p:cNvPr id="49167" name="Rectangle 15"/>
          <p:cNvSpPr>
            <a:spLocks noChangeArrowheads="1"/>
          </p:cNvSpPr>
          <p:nvPr/>
        </p:nvSpPr>
        <p:spPr bwMode="auto">
          <a:xfrm>
            <a:off x="8846503" y="3787247"/>
            <a:ext cx="1982682" cy="1148371"/>
          </a:xfrm>
          <a:prstGeom prst="rect">
            <a:avLst/>
          </a:prstGeom>
          <a:noFill/>
          <a:ln>
            <a:noFill/>
          </a:ln>
          <a:effectLst>
            <a:outerShdw blurRad="63500" dist="17961" dir="2700000" algn="ctr" rotWithShape="0">
              <a:schemeClr val="tx1">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Lst>
        </p:spPr>
        <p:txBody>
          <a:bodyPr lIns="102553" tIns="50377" rIns="102553" bIns="50377">
            <a:spAutoFit/>
          </a:bodyPr>
          <a:lstStyle/>
          <a:p>
            <a:pPr algn="ctr"/>
            <a:r>
              <a:rPr lang="en-US" altLang="en-US" sz="2267" b="1">
                <a:solidFill>
                  <a:srgbClr val="143C2E"/>
                </a:solidFill>
              </a:rPr>
              <a:t>Bargaining Power of Buyers</a:t>
            </a:r>
          </a:p>
        </p:txBody>
      </p:sp>
      <p:sp>
        <p:nvSpPr>
          <p:cNvPr id="49168" name="Rectangle 16"/>
          <p:cNvSpPr>
            <a:spLocks noChangeArrowheads="1"/>
          </p:cNvSpPr>
          <p:nvPr/>
        </p:nvSpPr>
        <p:spPr bwMode="auto">
          <a:xfrm>
            <a:off x="2916450" y="3787247"/>
            <a:ext cx="1968288" cy="1148371"/>
          </a:xfrm>
          <a:prstGeom prst="rect">
            <a:avLst/>
          </a:prstGeom>
          <a:noFill/>
          <a:ln>
            <a:noFill/>
          </a:ln>
          <a:effectLst>
            <a:outerShdw blurRad="63500" dist="17961" dir="2700000" algn="ctr" rotWithShape="0">
              <a:schemeClr val="tx1">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Lst>
        </p:spPr>
        <p:txBody>
          <a:bodyPr lIns="102553" tIns="50377" rIns="102553" bIns="50377">
            <a:spAutoFit/>
          </a:bodyPr>
          <a:lstStyle/>
          <a:p>
            <a:pPr algn="ctr"/>
            <a:r>
              <a:rPr lang="en-US" altLang="en-US" sz="2267" b="1">
                <a:solidFill>
                  <a:srgbClr val="143C2E"/>
                </a:solidFill>
              </a:rPr>
              <a:t>Bargaining Power of Suppliers</a:t>
            </a:r>
          </a:p>
        </p:txBody>
      </p:sp>
      <p:sp>
        <p:nvSpPr>
          <p:cNvPr id="49170" name="Rectangle 18"/>
          <p:cNvSpPr>
            <a:spLocks noChangeArrowheads="1"/>
          </p:cNvSpPr>
          <p:nvPr/>
        </p:nvSpPr>
        <p:spPr bwMode="auto">
          <a:xfrm>
            <a:off x="1727200" y="0"/>
            <a:ext cx="10363200" cy="1496863"/>
          </a:xfrm>
          <a:prstGeom prst="rect">
            <a:avLst/>
          </a:prstGeom>
          <a:noFill/>
          <a:ln>
            <a:noFill/>
          </a:ln>
          <a:effectLst>
            <a:outerShdw blurRad="63500" dist="17961"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Lst>
        </p:spPr>
        <p:txBody>
          <a:bodyPr lIns="102553" tIns="50377" rIns="102553" bIns="50377">
            <a:spAutoFit/>
          </a:bodyPr>
          <a:lstStyle/>
          <a:p>
            <a:pPr algn="ctr"/>
            <a:r>
              <a:rPr lang="en-US" altLang="en-US" sz="4533" b="1">
                <a:solidFill>
                  <a:schemeClr val="tx2"/>
                </a:solidFill>
              </a:rPr>
              <a:t>Porter’s Five Forces </a:t>
            </a:r>
          </a:p>
          <a:p>
            <a:pPr algn="ctr"/>
            <a:r>
              <a:rPr lang="en-US" altLang="en-US" sz="4533" b="1">
                <a:solidFill>
                  <a:schemeClr val="tx2"/>
                </a:solidFill>
              </a:rPr>
              <a:t>Model of Competition</a:t>
            </a:r>
          </a:p>
        </p:txBody>
      </p:sp>
    </p:spTree>
    <p:extLst>
      <p:ext uri="{BB962C8B-B14F-4D97-AF65-F5344CB8AC3E}">
        <p14:creationId xmlns:p14="http://schemas.microsoft.com/office/powerpoint/2010/main" val="3263875167"/>
      </p:ext>
    </p:extLst>
  </p:cSld>
  <p:clrMapOvr>
    <a:masterClrMapping/>
  </p:clrMapOvr>
  <p:transition spd="slow">
    <p:zoom dir="in"/>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49171"/>
                                        </p:tgtEl>
                                        <p:attrNameLst>
                                          <p:attrName>style.visibility</p:attrName>
                                        </p:attrNameLst>
                                      </p:cBhvr>
                                      <p:to>
                                        <p:strVal val="visible"/>
                                      </p:to>
                                    </p:set>
                                    <p:animEffect transition="in" filter="dissolve">
                                      <p:cBhvr>
                                        <p:cTn id="7" dur="500"/>
                                        <p:tgtEl>
                                          <p:spTgt spid="49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69" name="Rectangle 1045"/>
          <p:cNvSpPr>
            <a:spLocks noChangeArrowheads="1"/>
          </p:cNvSpPr>
          <p:nvPr/>
        </p:nvSpPr>
        <p:spPr bwMode="auto">
          <a:xfrm>
            <a:off x="1727200" y="314855"/>
            <a:ext cx="10363200" cy="729602"/>
          </a:xfrm>
          <a:prstGeom prst="rect">
            <a:avLst/>
          </a:prstGeom>
          <a:noFill/>
          <a:ln>
            <a:noFill/>
          </a:ln>
          <a:effectLst>
            <a:outerShdw blurRad="63500" dist="17961"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Lst>
        </p:spPr>
        <p:txBody>
          <a:bodyPr lIns="102553" tIns="50377" rIns="102553" bIns="50377">
            <a:spAutoFit/>
          </a:bodyPr>
          <a:lstStyle/>
          <a:p>
            <a:pPr algn="ctr"/>
            <a:r>
              <a:rPr lang="en-US" altLang="en-US" sz="4080" b="1">
                <a:solidFill>
                  <a:schemeClr val="tx2"/>
                </a:solidFill>
              </a:rPr>
              <a:t>Rivalry Among Existing Competitors</a:t>
            </a:r>
          </a:p>
        </p:txBody>
      </p:sp>
      <p:sp>
        <p:nvSpPr>
          <p:cNvPr id="53252" name="Rectangle 1028"/>
          <p:cNvSpPr>
            <a:spLocks noChangeArrowheads="1"/>
          </p:cNvSpPr>
          <p:nvPr/>
        </p:nvSpPr>
        <p:spPr bwMode="auto">
          <a:xfrm>
            <a:off x="2203980" y="1295400"/>
            <a:ext cx="10733807" cy="59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2553" tIns="50377" rIns="102553" bIns="50377">
            <a:spAutoFit/>
          </a:bodyPr>
          <a:lstStyle/>
          <a:p>
            <a:r>
              <a:rPr lang="en-US" altLang="en-US" sz="3173" b="1" dirty="0">
                <a:effectLst>
                  <a:outerShdw blurRad="38100" dist="38100" dir="2700000" algn="tl">
                    <a:srgbClr val="000000"/>
                  </a:outerShdw>
                </a:effectLst>
              </a:rPr>
              <a:t>Intense rivalry often plays out in the following ways:</a:t>
            </a:r>
          </a:p>
        </p:txBody>
      </p:sp>
      <p:sp>
        <p:nvSpPr>
          <p:cNvPr id="53254" name="Rectangle 1030"/>
          <p:cNvSpPr>
            <a:spLocks noChangeArrowheads="1"/>
          </p:cNvSpPr>
          <p:nvPr/>
        </p:nvSpPr>
        <p:spPr bwMode="auto">
          <a:xfrm>
            <a:off x="2979421" y="2043853"/>
            <a:ext cx="5541433" cy="4497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02553" tIns="50377" rIns="102553" bIns="50377">
            <a:spAutoFit/>
          </a:bodyPr>
          <a:lstStyle/>
          <a:p>
            <a:r>
              <a:rPr lang="en-US" altLang="en-US" sz="2267">
                <a:effectLst>
                  <a:outerShdw blurRad="38100" dist="38100" dir="2700000" algn="tl">
                    <a:srgbClr val="000000"/>
                  </a:outerShdw>
                </a:effectLst>
              </a:rPr>
              <a:t>Jockeying for strategic position</a:t>
            </a:r>
          </a:p>
        </p:txBody>
      </p:sp>
      <p:sp>
        <p:nvSpPr>
          <p:cNvPr id="53256" name="Rectangle 1032"/>
          <p:cNvSpPr>
            <a:spLocks noChangeArrowheads="1"/>
          </p:cNvSpPr>
          <p:nvPr/>
        </p:nvSpPr>
        <p:spPr bwMode="auto">
          <a:xfrm>
            <a:off x="2979421" y="2562013"/>
            <a:ext cx="5541433" cy="4497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02553" tIns="50377" rIns="102553" bIns="50377">
            <a:spAutoFit/>
          </a:bodyPr>
          <a:lstStyle/>
          <a:p>
            <a:r>
              <a:rPr lang="en-US" altLang="en-US" sz="2267">
                <a:effectLst>
                  <a:outerShdw blurRad="38100" dist="38100" dir="2700000" algn="tl">
                    <a:srgbClr val="000000"/>
                  </a:outerShdw>
                </a:effectLst>
              </a:rPr>
              <a:t>Using price competition</a:t>
            </a:r>
          </a:p>
        </p:txBody>
      </p:sp>
      <p:sp>
        <p:nvSpPr>
          <p:cNvPr id="53258" name="Rectangle 1034"/>
          <p:cNvSpPr>
            <a:spLocks noChangeArrowheads="1"/>
          </p:cNvSpPr>
          <p:nvPr/>
        </p:nvSpPr>
        <p:spPr bwMode="auto">
          <a:xfrm>
            <a:off x="2979421" y="3080173"/>
            <a:ext cx="5541433" cy="4497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02553" tIns="50377" rIns="102553" bIns="50377">
            <a:spAutoFit/>
          </a:bodyPr>
          <a:lstStyle/>
          <a:p>
            <a:r>
              <a:rPr lang="en-US" altLang="en-US" sz="2267" dirty="0">
                <a:effectLst>
                  <a:outerShdw blurRad="38100" dist="38100" dir="2700000" algn="tl">
                    <a:srgbClr val="000000"/>
                  </a:outerShdw>
                </a:effectLst>
              </a:rPr>
              <a:t>Staging advertising battles</a:t>
            </a:r>
          </a:p>
        </p:txBody>
      </p:sp>
      <p:sp>
        <p:nvSpPr>
          <p:cNvPr id="53260" name="Rectangle 1036"/>
          <p:cNvSpPr>
            <a:spLocks noChangeArrowheads="1"/>
          </p:cNvSpPr>
          <p:nvPr/>
        </p:nvSpPr>
        <p:spPr bwMode="auto">
          <a:xfrm>
            <a:off x="2979421" y="4114694"/>
            <a:ext cx="7527713" cy="4497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02553" tIns="50377" rIns="102553" bIns="50377">
            <a:spAutoFit/>
          </a:bodyPr>
          <a:lstStyle/>
          <a:p>
            <a:r>
              <a:rPr lang="en-US" altLang="en-US" sz="2267" dirty="0">
                <a:effectLst>
                  <a:outerShdw blurRad="38100" dist="38100" dir="2700000" algn="tl">
                    <a:srgbClr val="000000"/>
                  </a:outerShdw>
                </a:effectLst>
              </a:rPr>
              <a:t>Making new product introductions</a:t>
            </a:r>
          </a:p>
        </p:txBody>
      </p:sp>
      <p:sp>
        <p:nvSpPr>
          <p:cNvPr id="53262" name="Rectangle 1038"/>
          <p:cNvSpPr>
            <a:spLocks noChangeArrowheads="1"/>
          </p:cNvSpPr>
          <p:nvPr/>
        </p:nvSpPr>
        <p:spPr bwMode="auto">
          <a:xfrm>
            <a:off x="2979421" y="3598333"/>
            <a:ext cx="6577753" cy="4497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02553" tIns="50377" rIns="102553" bIns="50377">
            <a:spAutoFit/>
          </a:bodyPr>
          <a:lstStyle/>
          <a:p>
            <a:r>
              <a:rPr lang="en-US" altLang="en-US" sz="2267" dirty="0">
                <a:effectLst>
                  <a:outerShdw blurRad="38100" dist="38100" dir="2700000" algn="tl">
                    <a:srgbClr val="000000"/>
                  </a:outerShdw>
                </a:effectLst>
              </a:rPr>
              <a:t>Increasing consumer warranties or service</a:t>
            </a:r>
          </a:p>
        </p:txBody>
      </p:sp>
      <p:sp>
        <p:nvSpPr>
          <p:cNvPr id="53272" name="Oval 1048"/>
          <p:cNvSpPr>
            <a:spLocks noChangeArrowheads="1"/>
          </p:cNvSpPr>
          <p:nvPr/>
        </p:nvSpPr>
        <p:spPr bwMode="auto">
          <a:xfrm>
            <a:off x="2677161" y="2245360"/>
            <a:ext cx="194310" cy="194310"/>
          </a:xfrm>
          <a:prstGeom prst="ellipse">
            <a:avLst/>
          </a:prstGeom>
          <a:solidFill>
            <a:schemeClr val="accent1"/>
          </a:solidFill>
          <a:ln>
            <a:noFill/>
          </a:ln>
          <a:effectLst>
            <a:outerShdw blurRad="63500" dist="38099" dir="2700000" algn="ctr" rotWithShape="0">
              <a:schemeClr val="bg2">
                <a:alpha val="74998"/>
              </a:schemeClr>
            </a:outerShdw>
          </a:effectLst>
          <a:extLst>
            <a:ext uri="{91240B29-F687-4F45-9708-019B960494DF}">
              <a14:hiddenLine xmlns:a14="http://schemas.microsoft.com/office/drawing/2010/main" w="12699">
                <a:solidFill>
                  <a:schemeClr val="tx1"/>
                </a:solidFill>
                <a:round/>
                <a:headEnd/>
                <a:tailEnd/>
              </a14:hiddenLine>
            </a:ext>
          </a:extLst>
        </p:spPr>
        <p:txBody>
          <a:bodyPr wrap="none" anchor="ctr"/>
          <a:lstStyle/>
          <a:p>
            <a:endParaRPr lang="en-US" sz="2267"/>
          </a:p>
        </p:txBody>
      </p:sp>
      <p:sp>
        <p:nvSpPr>
          <p:cNvPr id="53273" name="Oval 1049"/>
          <p:cNvSpPr>
            <a:spLocks noChangeArrowheads="1"/>
          </p:cNvSpPr>
          <p:nvPr/>
        </p:nvSpPr>
        <p:spPr bwMode="auto">
          <a:xfrm>
            <a:off x="2677161" y="2763520"/>
            <a:ext cx="194310" cy="194310"/>
          </a:xfrm>
          <a:prstGeom prst="ellipse">
            <a:avLst/>
          </a:prstGeom>
          <a:solidFill>
            <a:schemeClr val="accent1"/>
          </a:solidFill>
          <a:ln>
            <a:noFill/>
          </a:ln>
          <a:effectLst>
            <a:outerShdw blurRad="63500" dist="38099" dir="2700000" algn="ctr" rotWithShape="0">
              <a:schemeClr val="bg2">
                <a:alpha val="74998"/>
              </a:schemeClr>
            </a:outerShdw>
          </a:effectLst>
          <a:extLst>
            <a:ext uri="{91240B29-F687-4F45-9708-019B960494DF}">
              <a14:hiddenLine xmlns:a14="http://schemas.microsoft.com/office/drawing/2010/main" w="12699">
                <a:solidFill>
                  <a:schemeClr val="tx1"/>
                </a:solidFill>
                <a:round/>
                <a:headEnd/>
                <a:tailEnd/>
              </a14:hiddenLine>
            </a:ext>
          </a:extLst>
        </p:spPr>
        <p:txBody>
          <a:bodyPr wrap="none" anchor="ctr"/>
          <a:lstStyle/>
          <a:p>
            <a:endParaRPr lang="en-US" sz="2267"/>
          </a:p>
        </p:txBody>
      </p:sp>
      <p:sp>
        <p:nvSpPr>
          <p:cNvPr id="53274" name="Oval 1050"/>
          <p:cNvSpPr>
            <a:spLocks noChangeArrowheads="1"/>
          </p:cNvSpPr>
          <p:nvPr/>
        </p:nvSpPr>
        <p:spPr bwMode="auto">
          <a:xfrm>
            <a:off x="2677161" y="3281680"/>
            <a:ext cx="194310" cy="194310"/>
          </a:xfrm>
          <a:prstGeom prst="ellipse">
            <a:avLst/>
          </a:prstGeom>
          <a:solidFill>
            <a:schemeClr val="accent1"/>
          </a:solidFill>
          <a:ln>
            <a:noFill/>
          </a:ln>
          <a:effectLst>
            <a:outerShdw blurRad="63500" dist="38099" dir="2700000" algn="ctr" rotWithShape="0">
              <a:schemeClr val="bg2">
                <a:alpha val="74998"/>
              </a:schemeClr>
            </a:outerShdw>
          </a:effectLst>
          <a:extLst>
            <a:ext uri="{91240B29-F687-4F45-9708-019B960494DF}">
              <a14:hiddenLine xmlns:a14="http://schemas.microsoft.com/office/drawing/2010/main" w="12699">
                <a:solidFill>
                  <a:schemeClr val="tx1"/>
                </a:solidFill>
                <a:round/>
                <a:headEnd/>
                <a:tailEnd/>
              </a14:hiddenLine>
            </a:ext>
          </a:extLst>
        </p:spPr>
        <p:txBody>
          <a:bodyPr wrap="none" anchor="ctr"/>
          <a:lstStyle/>
          <a:p>
            <a:endParaRPr lang="en-US" sz="2267"/>
          </a:p>
        </p:txBody>
      </p:sp>
      <p:sp>
        <p:nvSpPr>
          <p:cNvPr id="53275" name="Oval 1051"/>
          <p:cNvSpPr>
            <a:spLocks noChangeArrowheads="1"/>
          </p:cNvSpPr>
          <p:nvPr/>
        </p:nvSpPr>
        <p:spPr bwMode="auto">
          <a:xfrm>
            <a:off x="2677161" y="3778250"/>
            <a:ext cx="194310" cy="194310"/>
          </a:xfrm>
          <a:prstGeom prst="ellipse">
            <a:avLst/>
          </a:prstGeom>
          <a:solidFill>
            <a:schemeClr val="accent1"/>
          </a:solidFill>
          <a:ln>
            <a:noFill/>
          </a:ln>
          <a:effectLst>
            <a:outerShdw blurRad="63500" dist="38099" dir="2700000" algn="ctr" rotWithShape="0">
              <a:schemeClr val="bg2">
                <a:alpha val="74998"/>
              </a:schemeClr>
            </a:outerShdw>
          </a:effectLst>
          <a:extLst>
            <a:ext uri="{91240B29-F687-4F45-9708-019B960494DF}">
              <a14:hiddenLine xmlns:a14="http://schemas.microsoft.com/office/drawing/2010/main" w="12699">
                <a:solidFill>
                  <a:schemeClr val="tx1"/>
                </a:solidFill>
                <a:round/>
                <a:headEnd/>
                <a:tailEnd/>
              </a14:hiddenLine>
            </a:ext>
          </a:extLst>
        </p:spPr>
        <p:txBody>
          <a:bodyPr wrap="none" anchor="ctr"/>
          <a:lstStyle/>
          <a:p>
            <a:endParaRPr lang="en-US" sz="2267"/>
          </a:p>
        </p:txBody>
      </p:sp>
      <p:sp>
        <p:nvSpPr>
          <p:cNvPr id="53276" name="Oval 1052"/>
          <p:cNvSpPr>
            <a:spLocks noChangeArrowheads="1"/>
          </p:cNvSpPr>
          <p:nvPr/>
        </p:nvSpPr>
        <p:spPr bwMode="auto">
          <a:xfrm>
            <a:off x="2677161" y="4296410"/>
            <a:ext cx="194310" cy="194310"/>
          </a:xfrm>
          <a:prstGeom prst="ellipse">
            <a:avLst/>
          </a:prstGeom>
          <a:solidFill>
            <a:schemeClr val="accent1"/>
          </a:solidFill>
          <a:ln>
            <a:noFill/>
          </a:ln>
          <a:effectLst>
            <a:outerShdw blurRad="63500" dist="38099" dir="2700000" algn="ctr" rotWithShape="0">
              <a:schemeClr val="bg2">
                <a:alpha val="74998"/>
              </a:schemeClr>
            </a:outerShdw>
          </a:effectLst>
          <a:extLst>
            <a:ext uri="{91240B29-F687-4F45-9708-019B960494DF}">
              <a14:hiddenLine xmlns:a14="http://schemas.microsoft.com/office/drawing/2010/main" w="12699">
                <a:solidFill>
                  <a:schemeClr val="tx1"/>
                </a:solidFill>
                <a:round/>
                <a:headEnd/>
                <a:tailEnd/>
              </a14:hiddenLine>
            </a:ext>
          </a:extLst>
        </p:spPr>
        <p:txBody>
          <a:bodyPr wrap="none" anchor="ctr"/>
          <a:lstStyle/>
          <a:p>
            <a:endParaRPr lang="en-US" sz="2267"/>
          </a:p>
        </p:txBody>
      </p:sp>
      <p:sp>
        <p:nvSpPr>
          <p:cNvPr id="53263" name="Rectangle 1039"/>
          <p:cNvSpPr>
            <a:spLocks noChangeArrowheads="1"/>
          </p:cNvSpPr>
          <p:nvPr/>
        </p:nvSpPr>
        <p:spPr bwMode="auto">
          <a:xfrm>
            <a:off x="2203980" y="4819967"/>
            <a:ext cx="11298011" cy="59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2553" tIns="50377" rIns="102553" bIns="50377">
            <a:spAutoFit/>
          </a:bodyPr>
          <a:lstStyle/>
          <a:p>
            <a:r>
              <a:rPr lang="en-US" altLang="en-US" sz="3173" b="1" dirty="0">
                <a:effectLst>
                  <a:outerShdw blurRad="38100" dist="38100" dir="2700000" algn="tl">
                    <a:srgbClr val="000000"/>
                  </a:outerShdw>
                </a:effectLst>
              </a:rPr>
              <a:t>Occurs when a firm is pressured or sees an opportunity</a:t>
            </a:r>
          </a:p>
        </p:txBody>
      </p:sp>
      <p:sp>
        <p:nvSpPr>
          <p:cNvPr id="53265" name="Rectangle 1041"/>
          <p:cNvSpPr>
            <a:spLocks noChangeArrowheads="1"/>
          </p:cNvSpPr>
          <p:nvPr/>
        </p:nvSpPr>
        <p:spPr bwMode="auto">
          <a:xfrm>
            <a:off x="2977622" y="5467667"/>
            <a:ext cx="8909473" cy="4497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02553" tIns="50377" rIns="102553" bIns="50377">
            <a:spAutoFit/>
          </a:bodyPr>
          <a:lstStyle/>
          <a:p>
            <a:r>
              <a:rPr lang="en-US" altLang="en-US" sz="2267">
                <a:effectLst>
                  <a:outerShdw blurRad="38100" dist="38100" dir="2700000" algn="tl">
                    <a:srgbClr val="000000"/>
                  </a:outerShdw>
                </a:effectLst>
              </a:rPr>
              <a:t>Price competition often leaves the entire industry worse off</a:t>
            </a:r>
          </a:p>
        </p:txBody>
      </p:sp>
      <p:sp>
        <p:nvSpPr>
          <p:cNvPr id="53267" name="Rectangle 1043"/>
          <p:cNvSpPr>
            <a:spLocks noChangeArrowheads="1"/>
          </p:cNvSpPr>
          <p:nvPr/>
        </p:nvSpPr>
        <p:spPr bwMode="auto">
          <a:xfrm>
            <a:off x="2977622" y="6061392"/>
            <a:ext cx="8520853" cy="798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02553" tIns="50377" rIns="102553" bIns="50377">
            <a:spAutoFit/>
          </a:bodyPr>
          <a:lstStyle/>
          <a:p>
            <a:r>
              <a:rPr lang="en-US" altLang="en-US" sz="2267">
                <a:effectLst>
                  <a:outerShdw blurRad="38100" dist="38100" dir="2700000" algn="tl">
                    <a:srgbClr val="000000"/>
                  </a:outerShdw>
                </a:effectLst>
              </a:rPr>
              <a:t>Advertising battles may increase total industry demand, but may be costly to smaller competitors</a:t>
            </a:r>
          </a:p>
        </p:txBody>
      </p:sp>
      <p:sp>
        <p:nvSpPr>
          <p:cNvPr id="53278" name="Oval 1054"/>
          <p:cNvSpPr>
            <a:spLocks noChangeArrowheads="1"/>
          </p:cNvSpPr>
          <p:nvPr/>
        </p:nvSpPr>
        <p:spPr bwMode="auto">
          <a:xfrm>
            <a:off x="2677161" y="5613400"/>
            <a:ext cx="194310" cy="194310"/>
          </a:xfrm>
          <a:prstGeom prst="ellipse">
            <a:avLst/>
          </a:prstGeom>
          <a:solidFill>
            <a:schemeClr val="accent1"/>
          </a:solidFill>
          <a:ln>
            <a:noFill/>
          </a:ln>
          <a:effectLst>
            <a:outerShdw blurRad="63500" dist="38099" dir="2700000" algn="ctr" rotWithShape="0">
              <a:schemeClr val="bg2">
                <a:alpha val="74998"/>
              </a:schemeClr>
            </a:outerShdw>
          </a:effectLst>
          <a:extLst>
            <a:ext uri="{91240B29-F687-4F45-9708-019B960494DF}">
              <a14:hiddenLine xmlns:a14="http://schemas.microsoft.com/office/drawing/2010/main" w="12699">
                <a:solidFill>
                  <a:schemeClr val="tx1"/>
                </a:solidFill>
                <a:round/>
                <a:headEnd/>
                <a:tailEnd/>
              </a14:hiddenLine>
            </a:ext>
          </a:extLst>
        </p:spPr>
        <p:txBody>
          <a:bodyPr wrap="none" anchor="ctr"/>
          <a:lstStyle/>
          <a:p>
            <a:endParaRPr lang="en-US" sz="2267"/>
          </a:p>
        </p:txBody>
      </p:sp>
      <p:sp>
        <p:nvSpPr>
          <p:cNvPr id="53279" name="Oval 1055"/>
          <p:cNvSpPr>
            <a:spLocks noChangeArrowheads="1"/>
          </p:cNvSpPr>
          <p:nvPr/>
        </p:nvSpPr>
        <p:spPr bwMode="auto">
          <a:xfrm>
            <a:off x="2677161" y="6196330"/>
            <a:ext cx="194310" cy="194310"/>
          </a:xfrm>
          <a:prstGeom prst="ellipse">
            <a:avLst/>
          </a:prstGeom>
          <a:solidFill>
            <a:schemeClr val="accent1"/>
          </a:solidFill>
          <a:ln>
            <a:noFill/>
          </a:ln>
          <a:effectLst>
            <a:outerShdw blurRad="63500" dist="38099" dir="2700000" algn="ctr" rotWithShape="0">
              <a:schemeClr val="bg2">
                <a:alpha val="74998"/>
              </a:schemeClr>
            </a:outerShdw>
          </a:effectLst>
          <a:extLst>
            <a:ext uri="{91240B29-F687-4F45-9708-019B960494DF}">
              <a14:hiddenLine xmlns:a14="http://schemas.microsoft.com/office/drawing/2010/main" w="12699">
                <a:solidFill>
                  <a:schemeClr val="tx1"/>
                </a:solidFill>
                <a:round/>
                <a:headEnd/>
                <a:tailEnd/>
              </a14:hiddenLine>
            </a:ext>
          </a:extLst>
        </p:spPr>
        <p:txBody>
          <a:bodyPr wrap="none" anchor="ctr"/>
          <a:lstStyle/>
          <a:p>
            <a:endParaRPr lang="en-US" sz="2267"/>
          </a:p>
        </p:txBody>
      </p:sp>
    </p:spTree>
    <p:extLst>
      <p:ext uri="{BB962C8B-B14F-4D97-AF65-F5344CB8AC3E}">
        <p14:creationId xmlns:p14="http://schemas.microsoft.com/office/powerpoint/2010/main" val="366288355"/>
      </p:ext>
    </p:extLst>
  </p:cSld>
  <p:clrMapOvr>
    <a:masterClrMapping/>
  </p:clrMapOvr>
  <p:transition spd="slow">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ChangeArrowheads="1"/>
          </p:cNvSpPr>
          <p:nvPr/>
        </p:nvSpPr>
        <p:spPr bwMode="auto">
          <a:xfrm>
            <a:off x="2504440" y="7081520"/>
            <a:ext cx="2159000" cy="518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2267"/>
          </a:p>
        </p:txBody>
      </p:sp>
      <p:sp>
        <p:nvSpPr>
          <p:cNvPr id="55300" name="Rectangle 4"/>
          <p:cNvSpPr>
            <a:spLocks noChangeArrowheads="1"/>
          </p:cNvSpPr>
          <p:nvPr/>
        </p:nvSpPr>
        <p:spPr bwMode="auto">
          <a:xfrm>
            <a:off x="1556426" y="1237827"/>
            <a:ext cx="10778246" cy="59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2553" tIns="50377" rIns="102553" bIns="50377">
            <a:spAutoFit/>
          </a:bodyPr>
          <a:lstStyle/>
          <a:p>
            <a:r>
              <a:rPr lang="en-US" altLang="en-US" sz="3173" b="1" i="1" dirty="0">
                <a:effectLst>
                  <a:outerShdw blurRad="38100" dist="38100" dir="2700000" algn="tl">
                    <a:srgbClr val="000000"/>
                  </a:outerShdw>
                </a:effectLst>
              </a:rPr>
              <a:t>Cutthroat</a:t>
            </a:r>
            <a:r>
              <a:rPr lang="en-US" altLang="en-US" sz="3173" b="1" dirty="0">
                <a:effectLst>
                  <a:outerShdw blurRad="38100" dist="38100" dir="2700000" algn="tl">
                    <a:srgbClr val="000000"/>
                  </a:outerShdw>
                </a:effectLst>
              </a:rPr>
              <a:t> </a:t>
            </a:r>
            <a:r>
              <a:rPr lang="en-US" altLang="en-US" sz="3173" b="1" i="1" dirty="0">
                <a:effectLst>
                  <a:outerShdw blurRad="38100" dist="38100" dir="2700000" algn="tl">
                    <a:srgbClr val="000000"/>
                  </a:outerShdw>
                </a:effectLst>
              </a:rPr>
              <a:t>competition</a:t>
            </a:r>
            <a:r>
              <a:rPr lang="en-US" altLang="en-US" sz="3173" b="1" dirty="0">
                <a:effectLst>
                  <a:outerShdw blurRad="38100" dist="38100" dir="2700000" algn="tl">
                    <a:srgbClr val="000000"/>
                  </a:outerShdw>
                </a:effectLst>
              </a:rPr>
              <a:t> is more likely to occur when:</a:t>
            </a:r>
          </a:p>
        </p:txBody>
      </p:sp>
      <p:sp>
        <p:nvSpPr>
          <p:cNvPr id="55321" name="Rectangle 25"/>
          <p:cNvSpPr>
            <a:spLocks noChangeArrowheads="1"/>
          </p:cNvSpPr>
          <p:nvPr/>
        </p:nvSpPr>
        <p:spPr bwMode="auto">
          <a:xfrm>
            <a:off x="1727200" y="314855"/>
            <a:ext cx="10363200" cy="729602"/>
          </a:xfrm>
          <a:prstGeom prst="rect">
            <a:avLst/>
          </a:prstGeom>
          <a:noFill/>
          <a:ln>
            <a:noFill/>
          </a:ln>
          <a:effectLst>
            <a:outerShdw blurRad="63500" dist="17961"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Lst>
        </p:spPr>
        <p:txBody>
          <a:bodyPr lIns="102553" tIns="50377" rIns="102553" bIns="50377">
            <a:spAutoFit/>
          </a:bodyPr>
          <a:lstStyle/>
          <a:p>
            <a:pPr algn="ctr"/>
            <a:r>
              <a:rPr lang="en-US" altLang="en-US" sz="4080" b="1">
                <a:solidFill>
                  <a:schemeClr val="tx2"/>
                </a:solidFill>
              </a:rPr>
              <a:t>Rivalry Among Existing Competitors</a:t>
            </a:r>
          </a:p>
        </p:txBody>
      </p:sp>
      <p:grpSp>
        <p:nvGrpSpPr>
          <p:cNvPr id="55334" name="Group 38"/>
          <p:cNvGrpSpPr>
            <a:grpSpLocks/>
          </p:cNvGrpSpPr>
          <p:nvPr/>
        </p:nvGrpSpPr>
        <p:grpSpPr bwMode="auto">
          <a:xfrm>
            <a:off x="3524568" y="2034859"/>
            <a:ext cx="8290560" cy="5483859"/>
            <a:chOff x="999" y="1131"/>
            <a:chExt cx="4608" cy="3048"/>
          </a:xfrm>
        </p:grpSpPr>
        <p:sp>
          <p:nvSpPr>
            <p:cNvPr id="55302" name="Rectangle 6"/>
            <p:cNvSpPr>
              <a:spLocks noChangeArrowheads="1"/>
            </p:cNvSpPr>
            <p:nvPr/>
          </p:nvSpPr>
          <p:spPr bwMode="auto">
            <a:xfrm>
              <a:off x="999" y="1131"/>
              <a:ext cx="4608"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02553" tIns="50377" rIns="102553" bIns="50377">
              <a:spAutoFit/>
            </a:bodyPr>
            <a:lstStyle/>
            <a:p>
              <a:r>
                <a:rPr lang="en-US" altLang="en-US" sz="3173">
                  <a:effectLst>
                    <a:outerShdw blurRad="38100" dist="38100" dir="2700000" algn="tl">
                      <a:srgbClr val="000000"/>
                    </a:outerShdw>
                  </a:effectLst>
                </a:rPr>
                <a:t>Numerous or equally balanced competitors</a:t>
              </a:r>
            </a:p>
          </p:txBody>
        </p:sp>
        <p:sp>
          <p:nvSpPr>
            <p:cNvPr id="55304" name="Rectangle 8"/>
            <p:cNvSpPr>
              <a:spLocks noChangeArrowheads="1"/>
            </p:cNvSpPr>
            <p:nvPr/>
          </p:nvSpPr>
          <p:spPr bwMode="auto">
            <a:xfrm>
              <a:off x="1000" y="1467"/>
              <a:ext cx="3080"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02553" tIns="50377" rIns="102553" bIns="50377">
              <a:spAutoFit/>
            </a:bodyPr>
            <a:lstStyle/>
            <a:p>
              <a:r>
                <a:rPr lang="en-US" altLang="en-US" sz="3173">
                  <a:effectLst>
                    <a:outerShdw blurRad="38100" dist="38100" dir="2700000" algn="tl">
                      <a:srgbClr val="000000"/>
                    </a:outerShdw>
                  </a:effectLst>
                </a:rPr>
                <a:t>Slow growth industry</a:t>
              </a:r>
            </a:p>
          </p:txBody>
        </p:sp>
        <p:sp>
          <p:nvSpPr>
            <p:cNvPr id="55306" name="Rectangle 10"/>
            <p:cNvSpPr>
              <a:spLocks noChangeArrowheads="1"/>
            </p:cNvSpPr>
            <p:nvPr/>
          </p:nvSpPr>
          <p:spPr bwMode="auto">
            <a:xfrm>
              <a:off x="1000" y="1803"/>
              <a:ext cx="3080"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02553" tIns="50377" rIns="102553" bIns="50377">
              <a:spAutoFit/>
            </a:bodyPr>
            <a:lstStyle/>
            <a:p>
              <a:r>
                <a:rPr lang="en-US" altLang="en-US" sz="3173">
                  <a:effectLst>
                    <a:outerShdw blurRad="38100" dist="38100" dir="2700000" algn="tl">
                      <a:srgbClr val="000000"/>
                    </a:outerShdw>
                  </a:effectLst>
                </a:rPr>
                <a:t>High fixed costs</a:t>
              </a:r>
            </a:p>
          </p:txBody>
        </p:sp>
        <p:sp>
          <p:nvSpPr>
            <p:cNvPr id="55308" name="Rectangle 12"/>
            <p:cNvSpPr>
              <a:spLocks noChangeArrowheads="1"/>
            </p:cNvSpPr>
            <p:nvPr/>
          </p:nvSpPr>
          <p:spPr bwMode="auto">
            <a:xfrm>
              <a:off x="999" y="2507"/>
              <a:ext cx="4184"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02553" tIns="50377" rIns="102553" bIns="50377">
              <a:spAutoFit/>
            </a:bodyPr>
            <a:lstStyle/>
            <a:p>
              <a:r>
                <a:rPr lang="en-US" altLang="en-US" sz="3173">
                  <a:effectLst>
                    <a:outerShdw blurRad="38100" dist="38100" dir="2700000" algn="tl">
                      <a:srgbClr val="000000"/>
                    </a:outerShdw>
                  </a:effectLst>
                </a:rPr>
                <a:t>Lack of differentiation or switching costs</a:t>
              </a:r>
            </a:p>
          </p:txBody>
        </p:sp>
        <p:sp>
          <p:nvSpPr>
            <p:cNvPr id="55310" name="Rectangle 14"/>
            <p:cNvSpPr>
              <a:spLocks noChangeArrowheads="1"/>
            </p:cNvSpPr>
            <p:nvPr/>
          </p:nvSpPr>
          <p:spPr bwMode="auto">
            <a:xfrm>
              <a:off x="1000" y="2138"/>
              <a:ext cx="2216"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02553" tIns="50377" rIns="102553" bIns="50377">
              <a:spAutoFit/>
            </a:bodyPr>
            <a:lstStyle/>
            <a:p>
              <a:r>
                <a:rPr lang="en-US" altLang="en-US" sz="3173" dirty="0">
                  <a:effectLst>
                    <a:outerShdw blurRad="38100" dist="38100" dir="2700000" algn="tl">
                      <a:srgbClr val="000000"/>
                    </a:outerShdw>
                  </a:effectLst>
                </a:rPr>
                <a:t>High storage costs</a:t>
              </a:r>
            </a:p>
          </p:txBody>
        </p:sp>
        <p:sp>
          <p:nvSpPr>
            <p:cNvPr id="55312" name="Rectangle 16"/>
            <p:cNvSpPr>
              <a:spLocks noChangeArrowheads="1"/>
            </p:cNvSpPr>
            <p:nvPr/>
          </p:nvSpPr>
          <p:spPr bwMode="auto">
            <a:xfrm>
              <a:off x="999" y="2843"/>
              <a:ext cx="4184"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02553" tIns="50377" rIns="102553" bIns="50377">
              <a:spAutoFit/>
            </a:bodyPr>
            <a:lstStyle/>
            <a:p>
              <a:r>
                <a:rPr lang="en-US" altLang="en-US" sz="3173">
                  <a:effectLst>
                    <a:outerShdw blurRad="38100" dist="38100" dir="2700000" algn="tl">
                      <a:srgbClr val="000000"/>
                    </a:outerShdw>
                  </a:effectLst>
                </a:rPr>
                <a:t>Capacity added in large increments</a:t>
              </a:r>
            </a:p>
          </p:txBody>
        </p:sp>
        <p:sp>
          <p:nvSpPr>
            <p:cNvPr id="55314" name="Rectangle 18"/>
            <p:cNvSpPr>
              <a:spLocks noChangeArrowheads="1"/>
            </p:cNvSpPr>
            <p:nvPr/>
          </p:nvSpPr>
          <p:spPr bwMode="auto">
            <a:xfrm>
              <a:off x="999" y="3515"/>
              <a:ext cx="4184"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02553" tIns="50377" rIns="102553" bIns="50377">
              <a:spAutoFit/>
            </a:bodyPr>
            <a:lstStyle/>
            <a:p>
              <a:r>
                <a:rPr lang="en-US" altLang="en-US" sz="3173">
                  <a:effectLst>
                    <a:outerShdw blurRad="38100" dist="38100" dir="2700000" algn="tl">
                      <a:srgbClr val="000000"/>
                    </a:outerShdw>
                  </a:effectLst>
                </a:rPr>
                <a:t>High strategic stakes</a:t>
              </a:r>
            </a:p>
          </p:txBody>
        </p:sp>
        <p:sp>
          <p:nvSpPr>
            <p:cNvPr id="55316" name="Rectangle 20"/>
            <p:cNvSpPr>
              <a:spLocks noChangeArrowheads="1"/>
            </p:cNvSpPr>
            <p:nvPr/>
          </p:nvSpPr>
          <p:spPr bwMode="auto">
            <a:xfrm>
              <a:off x="999" y="3851"/>
              <a:ext cx="4184"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02553" tIns="50377" rIns="102553" bIns="50377">
              <a:spAutoFit/>
            </a:bodyPr>
            <a:lstStyle/>
            <a:p>
              <a:r>
                <a:rPr lang="en-US" altLang="en-US" sz="3173">
                  <a:effectLst>
                    <a:outerShdw blurRad="38100" dist="38100" dir="2700000" algn="tl">
                      <a:srgbClr val="000000"/>
                    </a:outerShdw>
                  </a:effectLst>
                </a:rPr>
                <a:t>High exit barriers</a:t>
              </a:r>
            </a:p>
          </p:txBody>
        </p:sp>
        <p:sp>
          <p:nvSpPr>
            <p:cNvPr id="55318" name="Rectangle 22"/>
            <p:cNvSpPr>
              <a:spLocks noChangeArrowheads="1"/>
            </p:cNvSpPr>
            <p:nvPr/>
          </p:nvSpPr>
          <p:spPr bwMode="auto">
            <a:xfrm>
              <a:off x="999" y="3179"/>
              <a:ext cx="4184"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02553" tIns="50377" rIns="102553" bIns="50377">
              <a:spAutoFit/>
            </a:bodyPr>
            <a:lstStyle/>
            <a:p>
              <a:r>
                <a:rPr lang="en-US" altLang="en-US" sz="3173">
                  <a:effectLst>
                    <a:outerShdw blurRad="38100" dist="38100" dir="2700000" algn="tl">
                      <a:srgbClr val="000000"/>
                    </a:outerShdw>
                  </a:effectLst>
                </a:rPr>
                <a:t>Diverse competitors</a:t>
              </a:r>
            </a:p>
          </p:txBody>
        </p:sp>
      </p:grpSp>
      <p:grpSp>
        <p:nvGrpSpPr>
          <p:cNvPr id="55333" name="Group 37"/>
          <p:cNvGrpSpPr>
            <a:grpSpLocks/>
          </p:cNvGrpSpPr>
          <p:nvPr/>
        </p:nvGrpSpPr>
        <p:grpSpPr bwMode="auto">
          <a:xfrm>
            <a:off x="3195320" y="2265151"/>
            <a:ext cx="194310" cy="5008880"/>
            <a:chOff x="816" y="1259"/>
            <a:chExt cx="108" cy="2784"/>
          </a:xfrm>
        </p:grpSpPr>
        <p:sp>
          <p:nvSpPr>
            <p:cNvPr id="55323" name="Oval 27"/>
            <p:cNvSpPr>
              <a:spLocks noChangeArrowheads="1"/>
            </p:cNvSpPr>
            <p:nvPr/>
          </p:nvSpPr>
          <p:spPr bwMode="auto">
            <a:xfrm>
              <a:off x="816" y="1259"/>
              <a:ext cx="108" cy="108"/>
            </a:xfrm>
            <a:prstGeom prst="ellipse">
              <a:avLst/>
            </a:prstGeom>
            <a:solidFill>
              <a:schemeClr val="accent1"/>
            </a:solidFill>
            <a:ln>
              <a:noFill/>
            </a:ln>
            <a:effectLst>
              <a:outerShdw blurRad="63500" dist="38099" dir="2700000" algn="ctr" rotWithShape="0">
                <a:schemeClr val="bg2">
                  <a:alpha val="74998"/>
                </a:schemeClr>
              </a:outerShdw>
            </a:effectLst>
            <a:extLst>
              <a:ext uri="{91240B29-F687-4F45-9708-019B960494DF}">
                <a14:hiddenLine xmlns:a14="http://schemas.microsoft.com/office/drawing/2010/main" w="12699">
                  <a:solidFill>
                    <a:schemeClr val="tx1"/>
                  </a:solidFill>
                  <a:round/>
                  <a:headEnd/>
                  <a:tailEnd/>
                </a14:hiddenLine>
              </a:ext>
            </a:extLst>
          </p:spPr>
          <p:txBody>
            <a:bodyPr wrap="none" anchor="ctr"/>
            <a:lstStyle/>
            <a:p>
              <a:endParaRPr lang="en-US" sz="2267"/>
            </a:p>
          </p:txBody>
        </p:sp>
        <p:sp>
          <p:nvSpPr>
            <p:cNvPr id="55324" name="Oval 28"/>
            <p:cNvSpPr>
              <a:spLocks noChangeArrowheads="1"/>
            </p:cNvSpPr>
            <p:nvPr/>
          </p:nvSpPr>
          <p:spPr bwMode="auto">
            <a:xfrm>
              <a:off x="816" y="1583"/>
              <a:ext cx="108" cy="108"/>
            </a:xfrm>
            <a:prstGeom prst="ellipse">
              <a:avLst/>
            </a:prstGeom>
            <a:solidFill>
              <a:schemeClr val="accent1"/>
            </a:solidFill>
            <a:ln>
              <a:noFill/>
            </a:ln>
            <a:effectLst>
              <a:outerShdw blurRad="63500" dist="38099" dir="2700000" algn="ctr" rotWithShape="0">
                <a:schemeClr val="bg2">
                  <a:alpha val="74998"/>
                </a:schemeClr>
              </a:outerShdw>
            </a:effectLst>
            <a:extLst>
              <a:ext uri="{91240B29-F687-4F45-9708-019B960494DF}">
                <a14:hiddenLine xmlns:a14="http://schemas.microsoft.com/office/drawing/2010/main" w="12699">
                  <a:solidFill>
                    <a:schemeClr val="tx1"/>
                  </a:solidFill>
                  <a:round/>
                  <a:headEnd/>
                  <a:tailEnd/>
                </a14:hiddenLine>
              </a:ext>
            </a:extLst>
          </p:spPr>
          <p:txBody>
            <a:bodyPr wrap="none" anchor="ctr"/>
            <a:lstStyle/>
            <a:p>
              <a:endParaRPr lang="en-US" sz="2267"/>
            </a:p>
          </p:txBody>
        </p:sp>
        <p:sp>
          <p:nvSpPr>
            <p:cNvPr id="55325" name="Oval 29"/>
            <p:cNvSpPr>
              <a:spLocks noChangeArrowheads="1"/>
            </p:cNvSpPr>
            <p:nvPr/>
          </p:nvSpPr>
          <p:spPr bwMode="auto">
            <a:xfrm>
              <a:off x="816" y="1919"/>
              <a:ext cx="108" cy="108"/>
            </a:xfrm>
            <a:prstGeom prst="ellipse">
              <a:avLst/>
            </a:prstGeom>
            <a:solidFill>
              <a:schemeClr val="accent1"/>
            </a:solidFill>
            <a:ln>
              <a:noFill/>
            </a:ln>
            <a:effectLst>
              <a:outerShdw blurRad="63500" dist="38099" dir="2700000" algn="ctr" rotWithShape="0">
                <a:schemeClr val="bg2">
                  <a:alpha val="74998"/>
                </a:schemeClr>
              </a:outerShdw>
            </a:effectLst>
            <a:extLst>
              <a:ext uri="{91240B29-F687-4F45-9708-019B960494DF}">
                <a14:hiddenLine xmlns:a14="http://schemas.microsoft.com/office/drawing/2010/main" w="12699">
                  <a:solidFill>
                    <a:schemeClr val="tx1"/>
                  </a:solidFill>
                  <a:round/>
                  <a:headEnd/>
                  <a:tailEnd/>
                </a14:hiddenLine>
              </a:ext>
            </a:extLst>
          </p:spPr>
          <p:txBody>
            <a:bodyPr wrap="none" anchor="ctr"/>
            <a:lstStyle/>
            <a:p>
              <a:endParaRPr lang="en-US" sz="2267"/>
            </a:p>
          </p:txBody>
        </p:sp>
        <p:sp>
          <p:nvSpPr>
            <p:cNvPr id="55326" name="Oval 30"/>
            <p:cNvSpPr>
              <a:spLocks noChangeArrowheads="1"/>
            </p:cNvSpPr>
            <p:nvPr/>
          </p:nvSpPr>
          <p:spPr bwMode="auto">
            <a:xfrm>
              <a:off x="816" y="2255"/>
              <a:ext cx="108" cy="108"/>
            </a:xfrm>
            <a:prstGeom prst="ellipse">
              <a:avLst/>
            </a:prstGeom>
            <a:solidFill>
              <a:schemeClr val="accent1"/>
            </a:solidFill>
            <a:ln>
              <a:noFill/>
            </a:ln>
            <a:effectLst>
              <a:outerShdw blurRad="63500" dist="38099" dir="2700000" algn="ctr" rotWithShape="0">
                <a:schemeClr val="bg2">
                  <a:alpha val="74998"/>
                </a:schemeClr>
              </a:outerShdw>
            </a:effectLst>
            <a:extLst>
              <a:ext uri="{91240B29-F687-4F45-9708-019B960494DF}">
                <a14:hiddenLine xmlns:a14="http://schemas.microsoft.com/office/drawing/2010/main" w="12699">
                  <a:solidFill>
                    <a:schemeClr val="tx1"/>
                  </a:solidFill>
                  <a:round/>
                  <a:headEnd/>
                  <a:tailEnd/>
                </a14:hiddenLine>
              </a:ext>
            </a:extLst>
          </p:spPr>
          <p:txBody>
            <a:bodyPr wrap="none" anchor="ctr"/>
            <a:lstStyle/>
            <a:p>
              <a:endParaRPr lang="en-US" sz="2267"/>
            </a:p>
          </p:txBody>
        </p:sp>
        <p:sp>
          <p:nvSpPr>
            <p:cNvPr id="55327" name="Oval 31"/>
            <p:cNvSpPr>
              <a:spLocks noChangeArrowheads="1"/>
            </p:cNvSpPr>
            <p:nvPr/>
          </p:nvSpPr>
          <p:spPr bwMode="auto">
            <a:xfrm>
              <a:off x="816" y="2591"/>
              <a:ext cx="108" cy="108"/>
            </a:xfrm>
            <a:prstGeom prst="ellipse">
              <a:avLst/>
            </a:prstGeom>
            <a:solidFill>
              <a:schemeClr val="accent1"/>
            </a:solidFill>
            <a:ln>
              <a:noFill/>
            </a:ln>
            <a:effectLst>
              <a:outerShdw blurRad="63500" dist="38099" dir="2700000" algn="ctr" rotWithShape="0">
                <a:schemeClr val="bg2">
                  <a:alpha val="74998"/>
                </a:schemeClr>
              </a:outerShdw>
            </a:effectLst>
            <a:extLst>
              <a:ext uri="{91240B29-F687-4F45-9708-019B960494DF}">
                <a14:hiddenLine xmlns:a14="http://schemas.microsoft.com/office/drawing/2010/main" w="12699">
                  <a:solidFill>
                    <a:schemeClr val="tx1"/>
                  </a:solidFill>
                  <a:round/>
                  <a:headEnd/>
                  <a:tailEnd/>
                </a14:hiddenLine>
              </a:ext>
            </a:extLst>
          </p:spPr>
          <p:txBody>
            <a:bodyPr wrap="none" anchor="ctr"/>
            <a:lstStyle/>
            <a:p>
              <a:endParaRPr lang="en-US" sz="2267"/>
            </a:p>
          </p:txBody>
        </p:sp>
        <p:sp>
          <p:nvSpPr>
            <p:cNvPr id="55328" name="Oval 32"/>
            <p:cNvSpPr>
              <a:spLocks noChangeArrowheads="1"/>
            </p:cNvSpPr>
            <p:nvPr/>
          </p:nvSpPr>
          <p:spPr bwMode="auto">
            <a:xfrm>
              <a:off x="816" y="2927"/>
              <a:ext cx="108" cy="108"/>
            </a:xfrm>
            <a:prstGeom prst="ellipse">
              <a:avLst/>
            </a:prstGeom>
            <a:solidFill>
              <a:schemeClr val="accent1"/>
            </a:solidFill>
            <a:ln>
              <a:noFill/>
            </a:ln>
            <a:effectLst>
              <a:outerShdw blurRad="63500" dist="38099" dir="2700000" algn="ctr" rotWithShape="0">
                <a:schemeClr val="bg2">
                  <a:alpha val="74998"/>
                </a:schemeClr>
              </a:outerShdw>
            </a:effectLst>
            <a:extLst>
              <a:ext uri="{91240B29-F687-4F45-9708-019B960494DF}">
                <a14:hiddenLine xmlns:a14="http://schemas.microsoft.com/office/drawing/2010/main" w="12699">
                  <a:solidFill>
                    <a:schemeClr val="tx1"/>
                  </a:solidFill>
                  <a:round/>
                  <a:headEnd/>
                  <a:tailEnd/>
                </a14:hiddenLine>
              </a:ext>
            </a:extLst>
          </p:spPr>
          <p:txBody>
            <a:bodyPr wrap="none" anchor="ctr"/>
            <a:lstStyle/>
            <a:p>
              <a:endParaRPr lang="en-US" sz="2267"/>
            </a:p>
          </p:txBody>
        </p:sp>
        <p:sp>
          <p:nvSpPr>
            <p:cNvPr id="55329" name="Oval 33"/>
            <p:cNvSpPr>
              <a:spLocks noChangeArrowheads="1"/>
            </p:cNvSpPr>
            <p:nvPr/>
          </p:nvSpPr>
          <p:spPr bwMode="auto">
            <a:xfrm>
              <a:off x="816" y="3263"/>
              <a:ext cx="108" cy="108"/>
            </a:xfrm>
            <a:prstGeom prst="ellipse">
              <a:avLst/>
            </a:prstGeom>
            <a:solidFill>
              <a:schemeClr val="accent1"/>
            </a:solidFill>
            <a:ln>
              <a:noFill/>
            </a:ln>
            <a:effectLst>
              <a:outerShdw blurRad="63500" dist="38099" dir="2700000" algn="ctr" rotWithShape="0">
                <a:schemeClr val="bg2">
                  <a:alpha val="74998"/>
                </a:schemeClr>
              </a:outerShdw>
            </a:effectLst>
            <a:extLst>
              <a:ext uri="{91240B29-F687-4F45-9708-019B960494DF}">
                <a14:hiddenLine xmlns:a14="http://schemas.microsoft.com/office/drawing/2010/main" w="12699">
                  <a:solidFill>
                    <a:schemeClr val="tx1"/>
                  </a:solidFill>
                  <a:round/>
                  <a:headEnd/>
                  <a:tailEnd/>
                </a14:hiddenLine>
              </a:ext>
            </a:extLst>
          </p:spPr>
          <p:txBody>
            <a:bodyPr wrap="none" anchor="ctr"/>
            <a:lstStyle/>
            <a:p>
              <a:endParaRPr lang="en-US" sz="2267"/>
            </a:p>
          </p:txBody>
        </p:sp>
        <p:sp>
          <p:nvSpPr>
            <p:cNvPr id="55330" name="Oval 34"/>
            <p:cNvSpPr>
              <a:spLocks noChangeArrowheads="1"/>
            </p:cNvSpPr>
            <p:nvPr/>
          </p:nvSpPr>
          <p:spPr bwMode="auto">
            <a:xfrm>
              <a:off x="816" y="3599"/>
              <a:ext cx="108" cy="108"/>
            </a:xfrm>
            <a:prstGeom prst="ellipse">
              <a:avLst/>
            </a:prstGeom>
            <a:solidFill>
              <a:schemeClr val="accent1"/>
            </a:solidFill>
            <a:ln>
              <a:noFill/>
            </a:ln>
            <a:effectLst>
              <a:outerShdw blurRad="63500" dist="38099" dir="2700000" algn="ctr" rotWithShape="0">
                <a:schemeClr val="bg2">
                  <a:alpha val="74998"/>
                </a:schemeClr>
              </a:outerShdw>
            </a:effectLst>
            <a:extLst>
              <a:ext uri="{91240B29-F687-4F45-9708-019B960494DF}">
                <a14:hiddenLine xmlns:a14="http://schemas.microsoft.com/office/drawing/2010/main" w="12699">
                  <a:solidFill>
                    <a:schemeClr val="tx1"/>
                  </a:solidFill>
                  <a:round/>
                  <a:headEnd/>
                  <a:tailEnd/>
                </a14:hiddenLine>
              </a:ext>
            </a:extLst>
          </p:spPr>
          <p:txBody>
            <a:bodyPr wrap="none" anchor="ctr"/>
            <a:lstStyle/>
            <a:p>
              <a:endParaRPr lang="en-US" sz="2267"/>
            </a:p>
          </p:txBody>
        </p:sp>
        <p:sp>
          <p:nvSpPr>
            <p:cNvPr id="55331" name="Oval 35"/>
            <p:cNvSpPr>
              <a:spLocks noChangeArrowheads="1"/>
            </p:cNvSpPr>
            <p:nvPr/>
          </p:nvSpPr>
          <p:spPr bwMode="auto">
            <a:xfrm>
              <a:off x="816" y="3935"/>
              <a:ext cx="108" cy="108"/>
            </a:xfrm>
            <a:prstGeom prst="ellipse">
              <a:avLst/>
            </a:prstGeom>
            <a:solidFill>
              <a:schemeClr val="accent1"/>
            </a:solidFill>
            <a:ln>
              <a:noFill/>
            </a:ln>
            <a:effectLst>
              <a:outerShdw blurRad="63500" dist="38099" dir="2700000" algn="ctr" rotWithShape="0">
                <a:schemeClr val="bg2">
                  <a:alpha val="74998"/>
                </a:schemeClr>
              </a:outerShdw>
            </a:effectLst>
            <a:extLst>
              <a:ext uri="{91240B29-F687-4F45-9708-019B960494DF}">
                <a14:hiddenLine xmlns:a14="http://schemas.microsoft.com/office/drawing/2010/main" w="12699">
                  <a:solidFill>
                    <a:schemeClr val="tx1"/>
                  </a:solidFill>
                  <a:round/>
                  <a:headEnd/>
                  <a:tailEnd/>
                </a14:hiddenLine>
              </a:ext>
            </a:extLst>
          </p:spPr>
          <p:txBody>
            <a:bodyPr wrap="none" anchor="ctr"/>
            <a:lstStyle/>
            <a:p>
              <a:endParaRPr lang="en-US" sz="2267"/>
            </a:p>
          </p:txBody>
        </p:sp>
      </p:grpSp>
    </p:spTree>
    <p:extLst>
      <p:ext uri="{BB962C8B-B14F-4D97-AF65-F5344CB8AC3E}">
        <p14:creationId xmlns:p14="http://schemas.microsoft.com/office/powerpoint/2010/main" val="2737997721"/>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5300"/>
                                        </p:tgtEl>
                                        <p:attrNameLst>
                                          <p:attrName>style.visibility</p:attrName>
                                        </p:attrNameLst>
                                      </p:cBhvr>
                                      <p:to>
                                        <p:strVal val="visible"/>
                                      </p:to>
                                    </p:set>
                                    <p:animEffect transition="in" filter="wipe(left)">
                                      <p:cBhvr>
                                        <p:cTn id="7" dur="500"/>
                                        <p:tgtEl>
                                          <p:spTgt spid="5530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nodeType="clickEffect">
                                  <p:stCondLst>
                                    <p:cond delay="0"/>
                                  </p:stCondLst>
                                  <p:childTnLst>
                                    <p:set>
                                      <p:cBhvr>
                                        <p:cTn id="11" dur="1" fill="hold">
                                          <p:stCondLst>
                                            <p:cond delay="0"/>
                                          </p:stCondLst>
                                        </p:cTn>
                                        <p:tgtEl>
                                          <p:spTgt spid="55333"/>
                                        </p:tgtEl>
                                        <p:attrNameLst>
                                          <p:attrName>style.visibility</p:attrName>
                                        </p:attrNameLst>
                                      </p:cBhvr>
                                      <p:to>
                                        <p:strVal val="visible"/>
                                      </p:to>
                                    </p:set>
                                    <p:anim calcmode="lin" valueType="num">
                                      <p:cBhvr additive="base">
                                        <p:cTn id="12" dur="500" fill="hold"/>
                                        <p:tgtEl>
                                          <p:spTgt spid="55333"/>
                                        </p:tgtEl>
                                        <p:attrNameLst>
                                          <p:attrName>ppt_x</p:attrName>
                                        </p:attrNameLst>
                                      </p:cBhvr>
                                      <p:tavLst>
                                        <p:tav tm="0">
                                          <p:val>
                                            <p:strVal val="0-#ppt_w/2"/>
                                          </p:val>
                                        </p:tav>
                                        <p:tav tm="100000">
                                          <p:val>
                                            <p:strVal val="#ppt_x"/>
                                          </p:val>
                                        </p:tav>
                                      </p:tavLst>
                                    </p:anim>
                                    <p:anim calcmode="lin" valueType="num">
                                      <p:cBhvr additive="base">
                                        <p:cTn id="13" dur="500" fill="hold"/>
                                        <p:tgtEl>
                                          <p:spTgt spid="55333"/>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500"/>
                            </p:stCondLst>
                            <p:childTnLst>
                              <p:par>
                                <p:cTn id="15" presetID="22" presetClass="entr" presetSubtype="1" fill="hold" nodeType="afterEffect">
                                  <p:stCondLst>
                                    <p:cond delay="0"/>
                                  </p:stCondLst>
                                  <p:childTnLst>
                                    <p:set>
                                      <p:cBhvr>
                                        <p:cTn id="16" dur="1" fill="hold">
                                          <p:stCondLst>
                                            <p:cond delay="0"/>
                                          </p:stCondLst>
                                        </p:cTn>
                                        <p:tgtEl>
                                          <p:spTgt spid="55334"/>
                                        </p:tgtEl>
                                        <p:attrNameLst>
                                          <p:attrName>style.visibility</p:attrName>
                                        </p:attrNameLst>
                                      </p:cBhvr>
                                      <p:to>
                                        <p:strVal val="visible"/>
                                      </p:to>
                                    </p:set>
                                    <p:animEffect transition="in" filter="wipe(up)">
                                      <p:cBhvr>
                                        <p:cTn id="17" dur="500"/>
                                        <p:tgtEl>
                                          <p:spTgt spid="553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0"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8" name="Rectangle 4"/>
          <p:cNvSpPr>
            <a:spLocks noChangeArrowheads="1"/>
          </p:cNvSpPr>
          <p:nvPr/>
        </p:nvSpPr>
        <p:spPr bwMode="auto">
          <a:xfrm>
            <a:off x="2574608" y="1237827"/>
            <a:ext cx="9254913" cy="2054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02553" tIns="50377" rIns="102553" bIns="50377">
            <a:spAutoFit/>
          </a:bodyPr>
          <a:lstStyle/>
          <a:p>
            <a:r>
              <a:rPr lang="en-US" altLang="en-US" sz="3173" b="1" i="1" dirty="0">
                <a:solidFill>
                  <a:srgbClr val="FF0000"/>
                </a:solidFill>
                <a:effectLst>
                  <a:outerShdw blurRad="38100" dist="38100" dir="2700000" algn="tl">
                    <a:srgbClr val="000000"/>
                  </a:outerShdw>
                </a:effectLst>
              </a:rPr>
              <a:t>High exit barriers </a:t>
            </a:r>
            <a:r>
              <a:rPr lang="en-US" altLang="en-US" sz="3173" b="1" dirty="0">
                <a:effectLst>
                  <a:outerShdw blurRad="38100" dist="38100" dir="2700000" algn="tl">
                    <a:srgbClr val="000000"/>
                  </a:outerShdw>
                </a:effectLst>
              </a:rPr>
              <a:t>are economic, strategic and emotional factors which cause companies to remain in an industry even when future profitability is questionable.</a:t>
            </a:r>
          </a:p>
        </p:txBody>
      </p:sp>
      <p:grpSp>
        <p:nvGrpSpPr>
          <p:cNvPr id="57375" name="Group 31"/>
          <p:cNvGrpSpPr>
            <a:grpSpLocks/>
          </p:cNvGrpSpPr>
          <p:nvPr/>
        </p:nvGrpSpPr>
        <p:grpSpPr bwMode="auto">
          <a:xfrm>
            <a:off x="3524568" y="3639714"/>
            <a:ext cx="8047673" cy="3094566"/>
            <a:chOff x="999" y="2023"/>
            <a:chExt cx="4473" cy="1720"/>
          </a:xfrm>
        </p:grpSpPr>
        <p:sp>
          <p:nvSpPr>
            <p:cNvPr id="57350" name="Rectangle 6"/>
            <p:cNvSpPr>
              <a:spLocks noChangeArrowheads="1"/>
            </p:cNvSpPr>
            <p:nvPr/>
          </p:nvSpPr>
          <p:spPr bwMode="auto">
            <a:xfrm>
              <a:off x="999" y="2023"/>
              <a:ext cx="4184"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02553" tIns="50377" rIns="102553" bIns="50377">
              <a:spAutoFit/>
            </a:bodyPr>
            <a:lstStyle/>
            <a:p>
              <a:r>
                <a:rPr lang="en-US" altLang="en-US" sz="3173">
                  <a:effectLst>
                    <a:outerShdw blurRad="38100" dist="38100" dir="2700000" algn="tl">
                      <a:srgbClr val="000000"/>
                    </a:outerShdw>
                  </a:effectLst>
                </a:rPr>
                <a:t>Specialized assets</a:t>
              </a:r>
            </a:p>
          </p:txBody>
        </p:sp>
        <p:sp>
          <p:nvSpPr>
            <p:cNvPr id="57352" name="Rectangle 8"/>
            <p:cNvSpPr>
              <a:spLocks noChangeArrowheads="1"/>
            </p:cNvSpPr>
            <p:nvPr/>
          </p:nvSpPr>
          <p:spPr bwMode="auto">
            <a:xfrm>
              <a:off x="999" y="2359"/>
              <a:ext cx="4473"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2553" tIns="50377" rIns="102553" bIns="50377">
              <a:spAutoFit/>
            </a:bodyPr>
            <a:lstStyle/>
            <a:p>
              <a:r>
                <a:rPr lang="en-US" altLang="en-US" sz="3173">
                  <a:effectLst>
                    <a:outerShdw blurRad="38100" dist="38100" dir="2700000" algn="tl">
                      <a:srgbClr val="000000"/>
                    </a:outerShdw>
                  </a:effectLst>
                </a:rPr>
                <a:t>Fixed cost of exit (e.g., labor agreements)</a:t>
              </a:r>
            </a:p>
          </p:txBody>
        </p:sp>
        <p:sp>
          <p:nvSpPr>
            <p:cNvPr id="57354" name="Rectangle 10"/>
            <p:cNvSpPr>
              <a:spLocks noChangeArrowheads="1"/>
            </p:cNvSpPr>
            <p:nvPr/>
          </p:nvSpPr>
          <p:spPr bwMode="auto">
            <a:xfrm>
              <a:off x="1000" y="3079"/>
              <a:ext cx="2104"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02553" tIns="50377" rIns="102553" bIns="50377">
              <a:spAutoFit/>
            </a:bodyPr>
            <a:lstStyle/>
            <a:p>
              <a:r>
                <a:rPr lang="en-US" altLang="en-US" sz="3173">
                  <a:effectLst>
                    <a:outerShdw blurRad="38100" dist="38100" dir="2700000" algn="tl">
                      <a:srgbClr val="000000"/>
                    </a:outerShdw>
                  </a:effectLst>
                </a:rPr>
                <a:t>Emotional barriers</a:t>
              </a:r>
            </a:p>
          </p:txBody>
        </p:sp>
        <p:sp>
          <p:nvSpPr>
            <p:cNvPr id="57356" name="Rectangle 12"/>
            <p:cNvSpPr>
              <a:spLocks noChangeArrowheads="1"/>
            </p:cNvSpPr>
            <p:nvPr/>
          </p:nvSpPr>
          <p:spPr bwMode="auto">
            <a:xfrm>
              <a:off x="999" y="3415"/>
              <a:ext cx="4184"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02553" tIns="50377" rIns="102553" bIns="50377">
              <a:spAutoFit/>
            </a:bodyPr>
            <a:lstStyle/>
            <a:p>
              <a:r>
                <a:rPr lang="en-US" altLang="en-US" sz="3173">
                  <a:effectLst>
                    <a:outerShdw blurRad="38100" dist="38100" dir="2700000" algn="tl">
                      <a:srgbClr val="000000"/>
                    </a:outerShdw>
                  </a:effectLst>
                </a:rPr>
                <a:t>Government and social restrictions</a:t>
              </a:r>
            </a:p>
          </p:txBody>
        </p:sp>
        <p:sp>
          <p:nvSpPr>
            <p:cNvPr id="57358" name="Rectangle 14"/>
            <p:cNvSpPr>
              <a:spLocks noChangeArrowheads="1"/>
            </p:cNvSpPr>
            <p:nvPr/>
          </p:nvSpPr>
          <p:spPr bwMode="auto">
            <a:xfrm>
              <a:off x="999" y="2695"/>
              <a:ext cx="4184"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02553" tIns="50377" rIns="102553" bIns="50377">
              <a:spAutoFit/>
            </a:bodyPr>
            <a:lstStyle/>
            <a:p>
              <a:r>
                <a:rPr lang="en-US" altLang="en-US" sz="3173" dirty="0">
                  <a:effectLst>
                    <a:outerShdw blurRad="38100" dist="38100" dir="2700000" algn="tl">
                      <a:srgbClr val="000000"/>
                    </a:outerShdw>
                  </a:effectLst>
                </a:rPr>
                <a:t>Strategic interrelationships</a:t>
              </a:r>
            </a:p>
          </p:txBody>
        </p:sp>
      </p:grpSp>
      <p:sp>
        <p:nvSpPr>
          <p:cNvPr id="57361" name="Rectangle 17"/>
          <p:cNvSpPr>
            <a:spLocks noChangeArrowheads="1"/>
          </p:cNvSpPr>
          <p:nvPr/>
        </p:nvSpPr>
        <p:spPr bwMode="auto">
          <a:xfrm>
            <a:off x="1727200" y="314855"/>
            <a:ext cx="10363200" cy="729602"/>
          </a:xfrm>
          <a:prstGeom prst="rect">
            <a:avLst/>
          </a:prstGeom>
          <a:noFill/>
          <a:ln>
            <a:noFill/>
          </a:ln>
          <a:effectLst>
            <a:outerShdw blurRad="63500" dist="17961"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Lst>
        </p:spPr>
        <p:txBody>
          <a:bodyPr lIns="102553" tIns="50377" rIns="102553" bIns="50377">
            <a:spAutoFit/>
          </a:bodyPr>
          <a:lstStyle/>
          <a:p>
            <a:pPr algn="ctr"/>
            <a:r>
              <a:rPr lang="en-US" altLang="en-US" sz="4080" b="1">
                <a:solidFill>
                  <a:schemeClr val="tx2"/>
                </a:solidFill>
              </a:rPr>
              <a:t>Rivalry Among Existing Competitors</a:t>
            </a:r>
          </a:p>
        </p:txBody>
      </p:sp>
      <p:grpSp>
        <p:nvGrpSpPr>
          <p:cNvPr id="57374" name="Group 30"/>
          <p:cNvGrpSpPr>
            <a:grpSpLocks/>
          </p:cNvGrpSpPr>
          <p:nvPr/>
        </p:nvGrpSpPr>
        <p:grpSpPr bwMode="auto">
          <a:xfrm>
            <a:off x="3195320" y="3886200"/>
            <a:ext cx="194310" cy="2612390"/>
            <a:chOff x="816" y="2160"/>
            <a:chExt cx="108" cy="1452"/>
          </a:xfrm>
        </p:grpSpPr>
        <p:sp>
          <p:nvSpPr>
            <p:cNvPr id="57369" name="Oval 25"/>
            <p:cNvSpPr>
              <a:spLocks noChangeArrowheads="1"/>
            </p:cNvSpPr>
            <p:nvPr/>
          </p:nvSpPr>
          <p:spPr bwMode="auto">
            <a:xfrm>
              <a:off x="816" y="2160"/>
              <a:ext cx="108" cy="108"/>
            </a:xfrm>
            <a:prstGeom prst="ellipse">
              <a:avLst/>
            </a:prstGeom>
            <a:solidFill>
              <a:schemeClr val="accent1"/>
            </a:solidFill>
            <a:ln>
              <a:noFill/>
            </a:ln>
            <a:effectLst>
              <a:outerShdw blurRad="63500" dist="38099" dir="2700000" algn="ctr" rotWithShape="0">
                <a:schemeClr val="bg2">
                  <a:alpha val="74998"/>
                </a:schemeClr>
              </a:outerShdw>
            </a:effectLst>
            <a:extLst>
              <a:ext uri="{91240B29-F687-4F45-9708-019B960494DF}">
                <a14:hiddenLine xmlns:a14="http://schemas.microsoft.com/office/drawing/2010/main" w="12699">
                  <a:solidFill>
                    <a:schemeClr val="tx1"/>
                  </a:solidFill>
                  <a:round/>
                  <a:headEnd/>
                  <a:tailEnd/>
                </a14:hiddenLine>
              </a:ext>
            </a:extLst>
          </p:spPr>
          <p:txBody>
            <a:bodyPr wrap="none" anchor="ctr"/>
            <a:lstStyle/>
            <a:p>
              <a:endParaRPr lang="en-US" sz="2267"/>
            </a:p>
          </p:txBody>
        </p:sp>
        <p:sp>
          <p:nvSpPr>
            <p:cNvPr id="57370" name="Oval 26"/>
            <p:cNvSpPr>
              <a:spLocks noChangeArrowheads="1"/>
            </p:cNvSpPr>
            <p:nvPr/>
          </p:nvSpPr>
          <p:spPr bwMode="auto">
            <a:xfrm>
              <a:off x="816" y="2496"/>
              <a:ext cx="108" cy="108"/>
            </a:xfrm>
            <a:prstGeom prst="ellipse">
              <a:avLst/>
            </a:prstGeom>
            <a:solidFill>
              <a:schemeClr val="accent1"/>
            </a:solidFill>
            <a:ln>
              <a:noFill/>
            </a:ln>
            <a:effectLst>
              <a:outerShdw blurRad="63500" dist="38099" dir="2700000" algn="ctr" rotWithShape="0">
                <a:schemeClr val="bg2">
                  <a:alpha val="74998"/>
                </a:schemeClr>
              </a:outerShdw>
            </a:effectLst>
            <a:extLst>
              <a:ext uri="{91240B29-F687-4F45-9708-019B960494DF}">
                <a14:hiddenLine xmlns:a14="http://schemas.microsoft.com/office/drawing/2010/main" w="12699">
                  <a:solidFill>
                    <a:schemeClr val="tx1"/>
                  </a:solidFill>
                  <a:round/>
                  <a:headEnd/>
                  <a:tailEnd/>
                </a14:hiddenLine>
              </a:ext>
            </a:extLst>
          </p:spPr>
          <p:txBody>
            <a:bodyPr wrap="none" anchor="ctr"/>
            <a:lstStyle/>
            <a:p>
              <a:endParaRPr lang="en-US" sz="2267"/>
            </a:p>
          </p:txBody>
        </p:sp>
        <p:sp>
          <p:nvSpPr>
            <p:cNvPr id="57371" name="Oval 27"/>
            <p:cNvSpPr>
              <a:spLocks noChangeArrowheads="1"/>
            </p:cNvSpPr>
            <p:nvPr/>
          </p:nvSpPr>
          <p:spPr bwMode="auto">
            <a:xfrm>
              <a:off x="816" y="2832"/>
              <a:ext cx="108" cy="108"/>
            </a:xfrm>
            <a:prstGeom prst="ellipse">
              <a:avLst/>
            </a:prstGeom>
            <a:solidFill>
              <a:schemeClr val="accent1"/>
            </a:solidFill>
            <a:ln>
              <a:noFill/>
            </a:ln>
            <a:effectLst>
              <a:outerShdw blurRad="63500" dist="38099" dir="2700000" algn="ctr" rotWithShape="0">
                <a:schemeClr val="bg2">
                  <a:alpha val="74998"/>
                </a:schemeClr>
              </a:outerShdw>
            </a:effectLst>
            <a:extLst>
              <a:ext uri="{91240B29-F687-4F45-9708-019B960494DF}">
                <a14:hiddenLine xmlns:a14="http://schemas.microsoft.com/office/drawing/2010/main" w="12699">
                  <a:solidFill>
                    <a:schemeClr val="tx1"/>
                  </a:solidFill>
                  <a:round/>
                  <a:headEnd/>
                  <a:tailEnd/>
                </a14:hiddenLine>
              </a:ext>
            </a:extLst>
          </p:spPr>
          <p:txBody>
            <a:bodyPr wrap="none" anchor="ctr"/>
            <a:lstStyle/>
            <a:p>
              <a:endParaRPr lang="en-US" sz="2267"/>
            </a:p>
          </p:txBody>
        </p:sp>
        <p:sp>
          <p:nvSpPr>
            <p:cNvPr id="57372" name="Oval 28"/>
            <p:cNvSpPr>
              <a:spLocks noChangeArrowheads="1"/>
            </p:cNvSpPr>
            <p:nvPr/>
          </p:nvSpPr>
          <p:spPr bwMode="auto">
            <a:xfrm>
              <a:off x="816" y="3168"/>
              <a:ext cx="108" cy="108"/>
            </a:xfrm>
            <a:prstGeom prst="ellipse">
              <a:avLst/>
            </a:prstGeom>
            <a:solidFill>
              <a:schemeClr val="accent1"/>
            </a:solidFill>
            <a:ln>
              <a:noFill/>
            </a:ln>
            <a:effectLst>
              <a:outerShdw blurRad="63500" dist="38099" dir="2700000" algn="ctr" rotWithShape="0">
                <a:schemeClr val="bg2">
                  <a:alpha val="74998"/>
                </a:schemeClr>
              </a:outerShdw>
            </a:effectLst>
            <a:extLst>
              <a:ext uri="{91240B29-F687-4F45-9708-019B960494DF}">
                <a14:hiddenLine xmlns:a14="http://schemas.microsoft.com/office/drawing/2010/main" w="12699">
                  <a:solidFill>
                    <a:schemeClr val="tx1"/>
                  </a:solidFill>
                  <a:round/>
                  <a:headEnd/>
                  <a:tailEnd/>
                </a14:hiddenLine>
              </a:ext>
            </a:extLst>
          </p:spPr>
          <p:txBody>
            <a:bodyPr wrap="none" anchor="ctr"/>
            <a:lstStyle/>
            <a:p>
              <a:endParaRPr lang="en-US" sz="2267"/>
            </a:p>
          </p:txBody>
        </p:sp>
        <p:sp>
          <p:nvSpPr>
            <p:cNvPr id="57373" name="Oval 29"/>
            <p:cNvSpPr>
              <a:spLocks noChangeArrowheads="1"/>
            </p:cNvSpPr>
            <p:nvPr/>
          </p:nvSpPr>
          <p:spPr bwMode="auto">
            <a:xfrm>
              <a:off x="816" y="3504"/>
              <a:ext cx="108" cy="108"/>
            </a:xfrm>
            <a:prstGeom prst="ellipse">
              <a:avLst/>
            </a:prstGeom>
            <a:solidFill>
              <a:schemeClr val="accent1"/>
            </a:solidFill>
            <a:ln>
              <a:noFill/>
            </a:ln>
            <a:effectLst>
              <a:outerShdw blurRad="63500" dist="38099" dir="2700000" algn="ctr" rotWithShape="0">
                <a:schemeClr val="bg2">
                  <a:alpha val="74998"/>
                </a:schemeClr>
              </a:outerShdw>
            </a:effectLst>
            <a:extLst>
              <a:ext uri="{91240B29-F687-4F45-9708-019B960494DF}">
                <a14:hiddenLine xmlns:a14="http://schemas.microsoft.com/office/drawing/2010/main" w="12699">
                  <a:solidFill>
                    <a:schemeClr val="tx1"/>
                  </a:solidFill>
                  <a:round/>
                  <a:headEnd/>
                  <a:tailEnd/>
                </a14:hiddenLine>
              </a:ext>
            </a:extLst>
          </p:spPr>
          <p:txBody>
            <a:bodyPr wrap="none" anchor="ctr"/>
            <a:lstStyle/>
            <a:p>
              <a:endParaRPr lang="en-US" sz="2267"/>
            </a:p>
          </p:txBody>
        </p:sp>
      </p:grpSp>
    </p:spTree>
    <p:extLst>
      <p:ext uri="{BB962C8B-B14F-4D97-AF65-F5344CB8AC3E}">
        <p14:creationId xmlns:p14="http://schemas.microsoft.com/office/powerpoint/2010/main" val="259547337"/>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4" presetClass="entr" presetSubtype="5" fill="hold" grpId="0" nodeType="afterEffect">
                                  <p:stCondLst>
                                    <p:cond delay="0"/>
                                  </p:stCondLst>
                                  <p:childTnLst>
                                    <p:set>
                                      <p:cBhvr>
                                        <p:cTn id="6" dur="1" fill="hold">
                                          <p:stCondLst>
                                            <p:cond delay="0"/>
                                          </p:stCondLst>
                                        </p:cTn>
                                        <p:tgtEl>
                                          <p:spTgt spid="57348"/>
                                        </p:tgtEl>
                                        <p:attrNameLst>
                                          <p:attrName>style.visibility</p:attrName>
                                        </p:attrNameLst>
                                      </p:cBhvr>
                                      <p:to>
                                        <p:strVal val="visible"/>
                                      </p:to>
                                    </p:set>
                                    <p:animEffect transition="in" filter="randombar(vertical)">
                                      <p:cBhvr>
                                        <p:cTn id="7" dur="500"/>
                                        <p:tgtEl>
                                          <p:spTgt spid="5734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nodeType="clickEffect">
                                  <p:stCondLst>
                                    <p:cond delay="0"/>
                                  </p:stCondLst>
                                  <p:childTnLst>
                                    <p:set>
                                      <p:cBhvr>
                                        <p:cTn id="11" dur="1" fill="hold">
                                          <p:stCondLst>
                                            <p:cond delay="0"/>
                                          </p:stCondLst>
                                        </p:cTn>
                                        <p:tgtEl>
                                          <p:spTgt spid="57374"/>
                                        </p:tgtEl>
                                        <p:attrNameLst>
                                          <p:attrName>style.visibility</p:attrName>
                                        </p:attrNameLst>
                                      </p:cBhvr>
                                      <p:to>
                                        <p:strVal val="visible"/>
                                      </p:to>
                                    </p:set>
                                    <p:anim calcmode="lin" valueType="num">
                                      <p:cBhvr additive="base">
                                        <p:cTn id="12" dur="500" fill="hold"/>
                                        <p:tgtEl>
                                          <p:spTgt spid="57374"/>
                                        </p:tgtEl>
                                        <p:attrNameLst>
                                          <p:attrName>ppt_x</p:attrName>
                                        </p:attrNameLst>
                                      </p:cBhvr>
                                      <p:tavLst>
                                        <p:tav tm="0">
                                          <p:val>
                                            <p:strVal val="0-#ppt_w/2"/>
                                          </p:val>
                                        </p:tav>
                                        <p:tav tm="100000">
                                          <p:val>
                                            <p:strVal val="#ppt_x"/>
                                          </p:val>
                                        </p:tav>
                                      </p:tavLst>
                                    </p:anim>
                                    <p:anim calcmode="lin" valueType="num">
                                      <p:cBhvr additive="base">
                                        <p:cTn id="13" dur="500" fill="hold"/>
                                        <p:tgtEl>
                                          <p:spTgt spid="57374"/>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500"/>
                            </p:stCondLst>
                            <p:childTnLst>
                              <p:par>
                                <p:cTn id="15" presetID="22" presetClass="entr" presetSubtype="1" fill="hold" nodeType="afterEffect">
                                  <p:stCondLst>
                                    <p:cond delay="0"/>
                                  </p:stCondLst>
                                  <p:childTnLst>
                                    <p:set>
                                      <p:cBhvr>
                                        <p:cTn id="16" dur="1" fill="hold">
                                          <p:stCondLst>
                                            <p:cond delay="0"/>
                                          </p:stCondLst>
                                        </p:cTn>
                                        <p:tgtEl>
                                          <p:spTgt spid="57375"/>
                                        </p:tgtEl>
                                        <p:attrNameLst>
                                          <p:attrName>style.visibility</p:attrName>
                                        </p:attrNameLst>
                                      </p:cBhvr>
                                      <p:to>
                                        <p:strVal val="visible"/>
                                      </p:to>
                                    </p:set>
                                    <p:animEffect transition="in" filter="wipe(up)">
                                      <p:cBhvr>
                                        <p:cTn id="17" dur="500"/>
                                        <p:tgtEl>
                                          <p:spTgt spid="573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8"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6707" y="581168"/>
            <a:ext cx="12561453" cy="1015663"/>
          </a:xfrm>
        </p:spPr>
        <p:txBody>
          <a:bodyPr/>
          <a:lstStyle/>
          <a:p>
            <a:r>
              <a:rPr lang="en-US" dirty="0">
                <a:latin typeface="Garamond" panose="02020404030301010803" pitchFamily="18" charset="0"/>
              </a:rPr>
              <a:t>Strategic Management Content</a:t>
            </a:r>
          </a:p>
        </p:txBody>
      </p:sp>
      <p:sp>
        <p:nvSpPr>
          <p:cNvPr id="3" name="Text Placeholder 2"/>
          <p:cNvSpPr>
            <a:spLocks noGrp="1"/>
          </p:cNvSpPr>
          <p:nvPr>
            <p:ph type="body" sz="quarter" idx="10"/>
          </p:nvPr>
        </p:nvSpPr>
        <p:spPr>
          <a:xfrm>
            <a:off x="1264680" y="1793402"/>
            <a:ext cx="11085505" cy="952505"/>
          </a:xfrm>
        </p:spPr>
        <p:txBody>
          <a:bodyPr/>
          <a:lstStyle/>
          <a:p>
            <a:r>
              <a:rPr lang="en-US" sz="4400" dirty="0">
                <a:solidFill>
                  <a:schemeClr val="tx1">
                    <a:lumMod val="50000"/>
                  </a:schemeClr>
                </a:solidFill>
                <a:latin typeface="Garamond" panose="02020404030301010803" pitchFamily="18" charset="0"/>
              </a:rPr>
              <a:t>Firm Effects and Business-Level Strategy</a:t>
            </a:r>
          </a:p>
        </p:txBody>
      </p:sp>
    </p:spTree>
    <p:extLst>
      <p:ext uri="{BB962C8B-B14F-4D97-AF65-F5344CB8AC3E}">
        <p14:creationId xmlns:p14="http://schemas.microsoft.com/office/powerpoint/2010/main" val="714091082"/>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28073" y="0"/>
            <a:ext cx="12561453" cy="1292662"/>
          </a:xfrm>
        </p:spPr>
        <p:txBody>
          <a:bodyPr/>
          <a:lstStyle/>
          <a:p>
            <a:r>
              <a:rPr lang="en-US" altLang="en-US" sz="3600" dirty="0">
                <a:ea typeface="ヒラギノ角ゴ Pro W3" pitchFamily="122" charset="-128"/>
              </a:rPr>
              <a:t>Industry Effects vs. Firm Effects In</a:t>
            </a:r>
            <a:br>
              <a:rPr lang="en-US" altLang="en-US" sz="3600" dirty="0">
                <a:ea typeface="ヒラギノ角ゴ Pro W3" pitchFamily="122" charset="-128"/>
              </a:rPr>
            </a:br>
            <a:r>
              <a:rPr lang="en-US" altLang="en-US" sz="3600" dirty="0">
                <a:ea typeface="ヒラギノ角ゴ Pro W3" pitchFamily="122" charset="-128"/>
              </a:rPr>
              <a:t>Determining Firm Financial Performance </a:t>
            </a:r>
            <a:endParaRPr lang="en-US" sz="3600" dirty="0"/>
          </a:p>
        </p:txBody>
      </p:sp>
      <p:pic>
        <p:nvPicPr>
          <p:cNvPr id="4" name="Picture 10" descr="This image is of a pie chart, separated into three sections, each titled Firm Effects, Industry Effects, and Other Effects. Firm Effects account for the biggest slice of the pie, at 55%. Industry Effects represent 20% of the pie, and Other Effects (business cycle effects and unexplained variance) represent 25% of the pie.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379" y="1733118"/>
            <a:ext cx="9547498" cy="5710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3820823088"/>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075" y="396238"/>
            <a:ext cx="12561453" cy="1107996"/>
          </a:xfrm>
        </p:spPr>
        <p:txBody>
          <a:bodyPr/>
          <a:lstStyle/>
          <a:p>
            <a:r>
              <a:rPr lang="en-US" altLang="en-US" sz="6000" dirty="0">
                <a:latin typeface="Garamond" panose="02020404030301010803" pitchFamily="18" charset="0"/>
              </a:rPr>
              <a:t>Strategy: Key Language</a:t>
            </a:r>
            <a:endParaRPr lang="en-US" sz="6000" dirty="0">
              <a:latin typeface="Garamond" panose="02020404030301010803" pitchFamily="18" charset="0"/>
            </a:endParaRPr>
          </a:p>
        </p:txBody>
      </p:sp>
      <p:sp>
        <p:nvSpPr>
          <p:cNvPr id="4" name="Content Placeholder 2"/>
          <p:cNvSpPr>
            <a:spLocks noGrp="1"/>
          </p:cNvSpPr>
          <p:nvPr>
            <p:ph type="body" sz="quarter" idx="10"/>
          </p:nvPr>
        </p:nvSpPr>
        <p:spPr bwMode="auto">
          <a:xfrm>
            <a:off x="628075" y="1666082"/>
            <a:ext cx="12561453" cy="473892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3632" tIns="51816" rIns="103632" bIns="51816" numCol="1" rtlCol="0" anchor="t" anchorCtr="0" compatLnSpc="1">
            <a:prstTxWarp prst="textNoShape">
              <a:avLst/>
            </a:prstTxWarp>
            <a:spAutoFit/>
          </a:bodyPr>
          <a:lstStyle/>
          <a:p>
            <a:pPr eaLnBrk="1" hangingPunct="1">
              <a:spcAft>
                <a:spcPct val="0"/>
              </a:spcAft>
            </a:pPr>
            <a:r>
              <a:rPr lang="en-US" altLang="en-US" sz="2800" b="1" dirty="0">
                <a:solidFill>
                  <a:srgbClr val="092529"/>
                </a:solidFill>
                <a:latin typeface="Garamond" panose="02020404030301010803" pitchFamily="18" charset="0"/>
              </a:rPr>
              <a:t>Competitive Advantage</a:t>
            </a:r>
          </a:p>
          <a:p>
            <a:pPr lvl="1" eaLnBrk="1" hangingPunct="1">
              <a:spcAft>
                <a:spcPct val="0"/>
              </a:spcAft>
            </a:pPr>
            <a:r>
              <a:rPr lang="en-US" altLang="en-US" sz="2400" dirty="0">
                <a:solidFill>
                  <a:srgbClr val="092529"/>
                </a:solidFill>
                <a:latin typeface="Garamond" panose="02020404030301010803" pitchFamily="18" charset="0"/>
              </a:rPr>
              <a:t>Superior performance relative to other competitors in the same industry or the industry average</a:t>
            </a:r>
          </a:p>
          <a:p>
            <a:pPr eaLnBrk="1" hangingPunct="1">
              <a:spcAft>
                <a:spcPct val="0"/>
              </a:spcAft>
            </a:pPr>
            <a:r>
              <a:rPr lang="en-US" altLang="en-US" sz="2800" b="1" dirty="0">
                <a:solidFill>
                  <a:srgbClr val="092529"/>
                </a:solidFill>
                <a:latin typeface="Garamond" panose="02020404030301010803" pitchFamily="18" charset="0"/>
              </a:rPr>
              <a:t>Sustainable Competitive Advantage</a:t>
            </a:r>
          </a:p>
          <a:p>
            <a:pPr lvl="1" eaLnBrk="1" hangingPunct="1">
              <a:spcAft>
                <a:spcPct val="0"/>
              </a:spcAft>
            </a:pPr>
            <a:r>
              <a:rPr lang="en-US" altLang="en-US" sz="2400" dirty="0">
                <a:solidFill>
                  <a:srgbClr val="092529"/>
                </a:solidFill>
                <a:latin typeface="Garamond" panose="02020404030301010803" pitchFamily="18" charset="0"/>
              </a:rPr>
              <a:t>Outperforming competitors or the industry average over a prolonged period of time</a:t>
            </a:r>
          </a:p>
          <a:p>
            <a:pPr eaLnBrk="1" hangingPunct="1">
              <a:spcAft>
                <a:spcPct val="0"/>
              </a:spcAft>
            </a:pPr>
            <a:r>
              <a:rPr lang="en-US" altLang="en-US" sz="2800" b="1" dirty="0">
                <a:solidFill>
                  <a:srgbClr val="092529"/>
                </a:solidFill>
                <a:latin typeface="Garamond" panose="02020404030301010803" pitchFamily="18" charset="0"/>
              </a:rPr>
              <a:t>Competitive Disadvantage</a:t>
            </a:r>
          </a:p>
          <a:p>
            <a:pPr lvl="1" eaLnBrk="1" hangingPunct="1">
              <a:spcAft>
                <a:spcPct val="0"/>
              </a:spcAft>
            </a:pPr>
            <a:r>
              <a:rPr lang="en-US" altLang="en-US" sz="2400" dirty="0">
                <a:solidFill>
                  <a:srgbClr val="092529"/>
                </a:solidFill>
                <a:latin typeface="Garamond" panose="02020404030301010803" pitchFamily="18" charset="0"/>
              </a:rPr>
              <a:t>Underperformance relative to other competitors in the same industry or the industry average</a:t>
            </a:r>
          </a:p>
          <a:p>
            <a:pPr eaLnBrk="1" hangingPunct="1">
              <a:spcAft>
                <a:spcPct val="0"/>
              </a:spcAft>
            </a:pPr>
            <a:r>
              <a:rPr lang="en-US" altLang="en-US" sz="2800" b="1" dirty="0">
                <a:solidFill>
                  <a:srgbClr val="092529"/>
                </a:solidFill>
                <a:latin typeface="Garamond" panose="02020404030301010803" pitchFamily="18" charset="0"/>
              </a:rPr>
              <a:t>Competitive Parity</a:t>
            </a:r>
          </a:p>
          <a:p>
            <a:pPr lvl="1" eaLnBrk="1" hangingPunct="1">
              <a:spcAft>
                <a:spcPct val="0"/>
              </a:spcAft>
            </a:pPr>
            <a:r>
              <a:rPr lang="en-US" altLang="en-US" sz="2400" dirty="0">
                <a:solidFill>
                  <a:srgbClr val="092529"/>
                </a:solidFill>
                <a:latin typeface="Garamond" panose="02020404030301010803" pitchFamily="18" charset="0"/>
              </a:rPr>
              <a:t>Performance of two or more firms at the same level</a:t>
            </a:r>
          </a:p>
        </p:txBody>
      </p:sp>
    </p:spTree>
    <p:extLst>
      <p:ext uri="{BB962C8B-B14F-4D97-AF65-F5344CB8AC3E}">
        <p14:creationId xmlns:p14="http://schemas.microsoft.com/office/powerpoint/2010/main" val="2443340579"/>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474" name="Group 42"/>
          <p:cNvGrpSpPr>
            <a:grpSpLocks/>
          </p:cNvGrpSpPr>
          <p:nvPr/>
        </p:nvGrpSpPr>
        <p:grpSpPr bwMode="auto">
          <a:xfrm>
            <a:off x="6217921" y="2677160"/>
            <a:ext cx="5525241" cy="4922520"/>
            <a:chOff x="2496" y="1488"/>
            <a:chExt cx="3071" cy="2736"/>
          </a:xfrm>
        </p:grpSpPr>
        <p:sp>
          <p:nvSpPr>
            <p:cNvPr id="18475" name="Rectangle 43"/>
            <p:cNvSpPr>
              <a:spLocks noChangeArrowheads="1"/>
            </p:cNvSpPr>
            <p:nvPr/>
          </p:nvSpPr>
          <p:spPr bwMode="auto">
            <a:xfrm>
              <a:off x="2496" y="1488"/>
              <a:ext cx="3071" cy="2736"/>
            </a:xfrm>
            <a:prstGeom prst="rect">
              <a:avLst/>
            </a:prstGeom>
            <a:solidFill>
              <a:srgbClr val="FFFFFF"/>
            </a:solidFill>
            <a:ln>
              <a:noFill/>
            </a:ln>
            <a:effectLst/>
            <a:extLs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2267"/>
            </a:p>
          </p:txBody>
        </p:sp>
        <p:sp>
          <p:nvSpPr>
            <p:cNvPr id="18476" name="Rectangle 44"/>
            <p:cNvSpPr>
              <a:spLocks noChangeArrowheads="1"/>
            </p:cNvSpPr>
            <p:nvPr/>
          </p:nvSpPr>
          <p:spPr bwMode="auto">
            <a:xfrm>
              <a:off x="2587" y="2928"/>
              <a:ext cx="1392" cy="1248"/>
            </a:xfrm>
            <a:prstGeom prst="rect">
              <a:avLst/>
            </a:prstGeom>
            <a:solidFill>
              <a:srgbClr val="C0FEF9"/>
            </a:solidFill>
            <a:ln>
              <a:noFill/>
            </a:ln>
            <a:effectLst/>
            <a:extLs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2267"/>
            </a:p>
          </p:txBody>
        </p:sp>
        <p:sp>
          <p:nvSpPr>
            <p:cNvPr id="18477" name="Rectangle 45"/>
            <p:cNvSpPr>
              <a:spLocks noChangeArrowheads="1"/>
            </p:cNvSpPr>
            <p:nvPr/>
          </p:nvSpPr>
          <p:spPr bwMode="auto">
            <a:xfrm>
              <a:off x="4075" y="1584"/>
              <a:ext cx="1392" cy="1248"/>
            </a:xfrm>
            <a:prstGeom prst="rect">
              <a:avLst/>
            </a:prstGeom>
            <a:solidFill>
              <a:srgbClr val="C0FEF9"/>
            </a:solidFill>
            <a:ln>
              <a:noFill/>
            </a:ln>
            <a:effectLst/>
            <a:extLs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2267"/>
            </a:p>
          </p:txBody>
        </p:sp>
        <p:sp>
          <p:nvSpPr>
            <p:cNvPr id="18478" name="Rectangle 46"/>
            <p:cNvSpPr>
              <a:spLocks noChangeArrowheads="1"/>
            </p:cNvSpPr>
            <p:nvPr/>
          </p:nvSpPr>
          <p:spPr bwMode="auto">
            <a:xfrm>
              <a:off x="4075" y="2928"/>
              <a:ext cx="1392" cy="1248"/>
            </a:xfrm>
            <a:prstGeom prst="rect">
              <a:avLst/>
            </a:prstGeom>
            <a:solidFill>
              <a:srgbClr val="C0FEF9"/>
            </a:solidFill>
            <a:ln>
              <a:noFill/>
            </a:ln>
            <a:effectLst/>
            <a:extLs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2267"/>
            </a:p>
          </p:txBody>
        </p:sp>
        <p:sp>
          <p:nvSpPr>
            <p:cNvPr id="18479" name="Rectangle 47"/>
            <p:cNvSpPr>
              <a:spLocks noChangeArrowheads="1"/>
            </p:cNvSpPr>
            <p:nvPr/>
          </p:nvSpPr>
          <p:spPr bwMode="auto">
            <a:xfrm>
              <a:off x="2592" y="1584"/>
              <a:ext cx="1392" cy="1248"/>
            </a:xfrm>
            <a:prstGeom prst="rect">
              <a:avLst/>
            </a:prstGeom>
            <a:solidFill>
              <a:srgbClr val="C0FEF9"/>
            </a:solidFill>
            <a:ln>
              <a:noFill/>
            </a:ln>
            <a:effectLst/>
            <a:extLs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2267"/>
            </a:p>
          </p:txBody>
        </p:sp>
      </p:grpSp>
      <p:sp>
        <p:nvSpPr>
          <p:cNvPr id="18450" name="Rectangle 18"/>
          <p:cNvSpPr>
            <a:spLocks noChangeArrowheads="1"/>
          </p:cNvSpPr>
          <p:nvPr/>
        </p:nvSpPr>
        <p:spPr bwMode="auto">
          <a:xfrm>
            <a:off x="0" y="50377"/>
            <a:ext cx="13817600" cy="6135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17961" dir="2700000" algn="ctr" rotWithShape="0">
                    <a:schemeClr val="bg2">
                      <a:alpha val="74998"/>
                    </a:schemeClr>
                  </a:outerShdw>
                </a:effectLst>
              </a14:hiddenEffects>
            </a:ext>
          </a:extLst>
        </p:spPr>
        <p:txBody>
          <a:bodyPr lIns="102553" tIns="50377" rIns="102553" bIns="50377" anchor="ctr"/>
          <a:lstStyle/>
          <a:p>
            <a:pPr algn="ctr"/>
            <a:r>
              <a:rPr lang="en-US" altLang="en-US" sz="4533" b="1" dirty="0">
                <a:solidFill>
                  <a:schemeClr val="tx2"/>
                </a:solidFill>
                <a:effectLst>
                  <a:outerShdw blurRad="38100" dist="38100" dir="2700000" algn="tl">
                    <a:srgbClr val="000000"/>
                  </a:outerShdw>
                </a:effectLst>
              </a:rPr>
              <a:t>Generic Business Level Strategies </a:t>
            </a:r>
            <a:r>
              <a:rPr lang="en-US" altLang="en-US" sz="2400" b="1" dirty="0">
                <a:solidFill>
                  <a:schemeClr val="tx2"/>
                </a:solidFill>
                <a:effectLst>
                  <a:outerShdw blurRad="38100" dist="38100" dir="2700000" algn="tl">
                    <a:srgbClr val="000000"/>
                  </a:outerShdw>
                </a:effectLst>
              </a:rPr>
              <a:t>Michael Porter</a:t>
            </a:r>
            <a:endParaRPr lang="en-US" altLang="en-US" sz="4533" b="1" dirty="0">
              <a:solidFill>
                <a:schemeClr val="tx2"/>
              </a:solidFill>
              <a:effectLst>
                <a:outerShdw blurRad="38100" dist="38100" dir="2700000" algn="tl">
                  <a:srgbClr val="000000"/>
                </a:outerShdw>
              </a:effectLst>
            </a:endParaRPr>
          </a:p>
        </p:txBody>
      </p:sp>
      <p:grpSp>
        <p:nvGrpSpPr>
          <p:cNvPr id="18481" name="Group 49"/>
          <p:cNvGrpSpPr>
            <a:grpSpLocks/>
          </p:cNvGrpSpPr>
          <p:nvPr/>
        </p:nvGrpSpPr>
        <p:grpSpPr bwMode="auto">
          <a:xfrm>
            <a:off x="1811761" y="870797"/>
            <a:ext cx="10012363" cy="6635327"/>
            <a:chOff x="47" y="484"/>
            <a:chExt cx="5565" cy="3688"/>
          </a:xfrm>
        </p:grpSpPr>
        <p:grpSp>
          <p:nvGrpSpPr>
            <p:cNvPr id="18469" name="Group 37"/>
            <p:cNvGrpSpPr>
              <a:grpSpLocks/>
            </p:cNvGrpSpPr>
            <p:nvPr/>
          </p:nvGrpSpPr>
          <p:grpSpPr bwMode="auto">
            <a:xfrm>
              <a:off x="2452" y="484"/>
              <a:ext cx="3160" cy="928"/>
              <a:chOff x="2452" y="484"/>
              <a:chExt cx="3160" cy="928"/>
            </a:xfrm>
          </p:grpSpPr>
          <p:sp>
            <p:nvSpPr>
              <p:cNvPr id="18439" name="AutoShape 7"/>
              <p:cNvSpPr>
                <a:spLocks noChangeArrowheads="1"/>
              </p:cNvSpPr>
              <p:nvPr/>
            </p:nvSpPr>
            <p:spPr bwMode="auto">
              <a:xfrm rot="16200000" flipH="1">
                <a:off x="3820" y="-884"/>
                <a:ext cx="424" cy="3160"/>
              </a:xfrm>
              <a:prstGeom prst="homePlate">
                <a:avLst>
                  <a:gd name="adj" fmla="val 33333"/>
                </a:avLst>
              </a:prstGeom>
              <a:solidFill>
                <a:schemeClr val="accent2"/>
              </a:solidFill>
              <a:ln>
                <a:noFill/>
              </a:ln>
              <a:effectLst>
                <a:outerShdw blurRad="63500" dist="53882" dir="2700000" algn="ctr" rotWithShape="0">
                  <a:schemeClr val="bg2">
                    <a:alpha val="74998"/>
                  </a:schemeClr>
                </a:outerShdw>
              </a:effectLst>
              <a:extLst>
                <a:ext uri="{91240B29-F687-4F45-9708-019B960494DF}">
                  <a14:hiddenLine xmlns:a14="http://schemas.microsoft.com/office/drawing/2010/main" w="12699">
                    <a:solidFill>
                      <a:schemeClr val="tx1"/>
                    </a:solidFill>
                    <a:miter lim="800000"/>
                    <a:headEnd/>
                    <a:tailEnd/>
                  </a14:hiddenLine>
                </a:ext>
              </a:extLst>
            </p:spPr>
            <p:txBody>
              <a:bodyPr wrap="none" anchor="ctr"/>
              <a:lstStyle/>
              <a:p>
                <a:endParaRPr lang="en-US" sz="2267"/>
              </a:p>
            </p:txBody>
          </p:sp>
          <p:sp>
            <p:nvSpPr>
              <p:cNvPr id="18440" name="AutoShape 8"/>
              <p:cNvSpPr>
                <a:spLocks noChangeArrowheads="1"/>
              </p:cNvSpPr>
              <p:nvPr/>
            </p:nvSpPr>
            <p:spPr bwMode="auto">
              <a:xfrm rot="16200000" flipH="1">
                <a:off x="3064" y="496"/>
                <a:ext cx="448" cy="1384"/>
              </a:xfrm>
              <a:prstGeom prst="homePlate">
                <a:avLst>
                  <a:gd name="adj" fmla="val 33333"/>
                </a:avLst>
              </a:prstGeom>
              <a:solidFill>
                <a:schemeClr val="accent2"/>
              </a:solidFill>
              <a:ln>
                <a:noFill/>
              </a:ln>
              <a:effectLst>
                <a:outerShdw blurRad="63500" dist="53882" dir="2700000" algn="ctr" rotWithShape="0">
                  <a:schemeClr val="bg2">
                    <a:alpha val="74998"/>
                  </a:schemeClr>
                </a:outerShdw>
              </a:effectLst>
              <a:extLst>
                <a:ext uri="{91240B29-F687-4F45-9708-019B960494DF}">
                  <a14:hiddenLine xmlns:a14="http://schemas.microsoft.com/office/drawing/2010/main" w="12699">
                    <a:solidFill>
                      <a:schemeClr val="tx1"/>
                    </a:solidFill>
                    <a:miter lim="800000"/>
                    <a:headEnd/>
                    <a:tailEnd/>
                  </a14:hiddenLine>
                </a:ext>
              </a:extLst>
            </p:spPr>
            <p:txBody>
              <a:bodyPr wrap="none" anchor="ctr"/>
              <a:lstStyle/>
              <a:p>
                <a:endParaRPr lang="en-US" sz="2267"/>
              </a:p>
            </p:txBody>
          </p:sp>
          <p:sp>
            <p:nvSpPr>
              <p:cNvPr id="18441" name="AutoShape 9"/>
              <p:cNvSpPr>
                <a:spLocks noChangeArrowheads="1"/>
              </p:cNvSpPr>
              <p:nvPr/>
            </p:nvSpPr>
            <p:spPr bwMode="auto">
              <a:xfrm rot="16200000" flipH="1">
                <a:off x="4552" y="496"/>
                <a:ext cx="448" cy="1384"/>
              </a:xfrm>
              <a:prstGeom prst="homePlate">
                <a:avLst>
                  <a:gd name="adj" fmla="val 33333"/>
                </a:avLst>
              </a:prstGeom>
              <a:solidFill>
                <a:schemeClr val="accent2"/>
              </a:solidFill>
              <a:ln>
                <a:noFill/>
              </a:ln>
              <a:effectLst>
                <a:outerShdw blurRad="63500" dist="53882" dir="2700000" algn="ctr" rotWithShape="0">
                  <a:schemeClr val="bg2">
                    <a:alpha val="74998"/>
                  </a:schemeClr>
                </a:outerShdw>
              </a:effectLst>
              <a:extLst>
                <a:ext uri="{91240B29-F687-4F45-9708-019B960494DF}">
                  <a14:hiddenLine xmlns:a14="http://schemas.microsoft.com/office/drawing/2010/main" w="12699">
                    <a:solidFill>
                      <a:schemeClr val="tx1"/>
                    </a:solidFill>
                    <a:miter lim="800000"/>
                    <a:headEnd/>
                    <a:tailEnd/>
                  </a14:hiddenLine>
                </a:ext>
              </a:extLst>
            </p:spPr>
            <p:txBody>
              <a:bodyPr wrap="none" anchor="ctr"/>
              <a:lstStyle/>
              <a:p>
                <a:endParaRPr lang="en-US" sz="2267"/>
              </a:p>
            </p:txBody>
          </p:sp>
          <p:sp>
            <p:nvSpPr>
              <p:cNvPr id="18442" name="Rectangle 10"/>
              <p:cNvSpPr>
                <a:spLocks noChangeArrowheads="1"/>
              </p:cNvSpPr>
              <p:nvPr/>
            </p:nvSpPr>
            <p:spPr bwMode="auto">
              <a:xfrm>
                <a:off x="3051" y="1065"/>
                <a:ext cx="47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02553" tIns="50377" rIns="102553" bIns="50377">
                <a:spAutoFit/>
              </a:bodyPr>
              <a:lstStyle/>
              <a:p>
                <a:pPr algn="ctr"/>
                <a:r>
                  <a:rPr lang="en-US" altLang="en-US" sz="2267" b="1">
                    <a:effectLst>
                      <a:outerShdw blurRad="38100" dist="38100" dir="2700000" algn="tl">
                        <a:srgbClr val="000000"/>
                      </a:outerShdw>
                    </a:effectLst>
                  </a:rPr>
                  <a:t>Cost</a:t>
                </a:r>
              </a:p>
            </p:txBody>
          </p:sp>
          <p:sp>
            <p:nvSpPr>
              <p:cNvPr id="18443" name="Rectangle 11"/>
              <p:cNvSpPr>
                <a:spLocks noChangeArrowheads="1"/>
              </p:cNvSpPr>
              <p:nvPr/>
            </p:nvSpPr>
            <p:spPr bwMode="auto">
              <a:xfrm>
                <a:off x="4260" y="1065"/>
                <a:ext cx="10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02553" tIns="50377" rIns="102553" bIns="50377">
                <a:spAutoFit/>
              </a:bodyPr>
              <a:lstStyle/>
              <a:p>
                <a:pPr algn="ctr"/>
                <a:r>
                  <a:rPr lang="en-US" altLang="en-US" sz="2267" b="1">
                    <a:effectLst>
                      <a:outerShdw blurRad="38100" dist="38100" dir="2700000" algn="tl">
                        <a:srgbClr val="000000"/>
                      </a:outerShdw>
                    </a:effectLst>
                  </a:rPr>
                  <a:t>Uniqueness</a:t>
                </a:r>
              </a:p>
            </p:txBody>
          </p:sp>
          <p:sp>
            <p:nvSpPr>
              <p:cNvPr id="18449" name="Rectangle 17"/>
              <p:cNvSpPr>
                <a:spLocks noChangeArrowheads="1"/>
              </p:cNvSpPr>
              <p:nvPr/>
            </p:nvSpPr>
            <p:spPr bwMode="auto">
              <a:xfrm>
                <a:off x="2597" y="520"/>
                <a:ext cx="269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02553" tIns="50377" rIns="102553" bIns="50377">
                <a:spAutoFit/>
              </a:bodyPr>
              <a:lstStyle/>
              <a:p>
                <a:r>
                  <a:rPr lang="en-US" altLang="en-US" sz="2267" b="1">
                    <a:effectLst>
                      <a:outerShdw blurRad="38100" dist="38100" dir="2700000" algn="tl">
                        <a:srgbClr val="000000"/>
                      </a:outerShdw>
                    </a:effectLst>
                  </a:rPr>
                  <a:t>Source of Competitive Advantage</a:t>
                </a:r>
              </a:p>
            </p:txBody>
          </p:sp>
        </p:grpSp>
        <p:grpSp>
          <p:nvGrpSpPr>
            <p:cNvPr id="18466" name="Group 34"/>
            <p:cNvGrpSpPr>
              <a:grpSpLocks/>
            </p:cNvGrpSpPr>
            <p:nvPr/>
          </p:nvGrpSpPr>
          <p:grpSpPr bwMode="auto">
            <a:xfrm>
              <a:off x="47" y="1588"/>
              <a:ext cx="1448" cy="2584"/>
              <a:chOff x="47" y="1588"/>
              <a:chExt cx="1448" cy="2584"/>
            </a:xfrm>
          </p:grpSpPr>
          <p:sp>
            <p:nvSpPr>
              <p:cNvPr id="18451" name="AutoShape 19"/>
              <p:cNvSpPr>
                <a:spLocks noChangeArrowheads="1"/>
              </p:cNvSpPr>
              <p:nvPr/>
            </p:nvSpPr>
            <p:spPr bwMode="auto">
              <a:xfrm>
                <a:off x="263" y="1588"/>
                <a:ext cx="1125" cy="2584"/>
              </a:xfrm>
              <a:prstGeom prst="homePlate">
                <a:avLst>
                  <a:gd name="adj" fmla="val 33333"/>
                </a:avLst>
              </a:prstGeom>
              <a:solidFill>
                <a:schemeClr val="accent2"/>
              </a:solidFill>
              <a:ln>
                <a:noFill/>
              </a:ln>
              <a:effectLst>
                <a:outerShdw blurRad="63500" dist="53882" dir="2700000" algn="ctr" rotWithShape="0">
                  <a:schemeClr val="bg2">
                    <a:alpha val="74998"/>
                  </a:schemeClr>
                </a:outerShdw>
              </a:effectLst>
              <a:extLst>
                <a:ext uri="{91240B29-F687-4F45-9708-019B960494DF}">
                  <a14:hiddenLine xmlns:a14="http://schemas.microsoft.com/office/drawing/2010/main" w="12699">
                    <a:solidFill>
                      <a:schemeClr val="tx1"/>
                    </a:solidFill>
                    <a:miter lim="800000"/>
                    <a:headEnd/>
                    <a:tailEnd/>
                  </a14:hiddenLine>
                </a:ext>
              </a:extLst>
            </p:spPr>
            <p:txBody>
              <a:bodyPr wrap="none" anchor="ctr"/>
              <a:lstStyle/>
              <a:p>
                <a:endParaRPr lang="en-US" sz="2267"/>
              </a:p>
            </p:txBody>
          </p:sp>
          <p:sp>
            <p:nvSpPr>
              <p:cNvPr id="18452" name="Rectangle 20"/>
              <p:cNvSpPr>
                <a:spLocks noChangeArrowheads="1"/>
              </p:cNvSpPr>
              <p:nvPr/>
            </p:nvSpPr>
            <p:spPr bwMode="auto">
              <a:xfrm>
                <a:off x="47" y="2483"/>
                <a:ext cx="1448" cy="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02553" tIns="50377" rIns="102553" bIns="50377">
                <a:spAutoFit/>
              </a:bodyPr>
              <a:lstStyle/>
              <a:p>
                <a:pPr algn="ctr"/>
                <a:r>
                  <a:rPr lang="en-US" altLang="en-US" sz="2267" b="1" dirty="0">
                    <a:effectLst>
                      <a:outerShdw blurRad="38100" dist="38100" dir="2700000" algn="tl">
                        <a:srgbClr val="000000"/>
                      </a:outerShdw>
                    </a:effectLst>
                  </a:rPr>
                  <a:t>Breadth of Competitive Scope</a:t>
                </a:r>
              </a:p>
            </p:txBody>
          </p:sp>
        </p:grpSp>
        <p:grpSp>
          <p:nvGrpSpPr>
            <p:cNvPr id="18467" name="Group 35"/>
            <p:cNvGrpSpPr>
              <a:grpSpLocks/>
            </p:cNvGrpSpPr>
            <p:nvPr/>
          </p:nvGrpSpPr>
          <p:grpSpPr bwMode="auto">
            <a:xfrm>
              <a:off x="1588" y="1636"/>
              <a:ext cx="760" cy="2536"/>
              <a:chOff x="1588" y="1636"/>
              <a:chExt cx="760" cy="2536"/>
            </a:xfrm>
          </p:grpSpPr>
          <p:sp>
            <p:nvSpPr>
              <p:cNvPr id="18453" name="AutoShape 21"/>
              <p:cNvSpPr>
                <a:spLocks noChangeArrowheads="1"/>
              </p:cNvSpPr>
              <p:nvPr/>
            </p:nvSpPr>
            <p:spPr bwMode="auto">
              <a:xfrm>
                <a:off x="1588" y="1636"/>
                <a:ext cx="760" cy="1192"/>
              </a:xfrm>
              <a:prstGeom prst="homePlate">
                <a:avLst>
                  <a:gd name="adj" fmla="val 33333"/>
                </a:avLst>
              </a:prstGeom>
              <a:solidFill>
                <a:schemeClr val="accent2"/>
              </a:solidFill>
              <a:ln>
                <a:noFill/>
              </a:ln>
              <a:effectLst>
                <a:outerShdw blurRad="63500" dist="53882" dir="2700000" algn="ctr" rotWithShape="0">
                  <a:schemeClr val="bg2">
                    <a:alpha val="74998"/>
                  </a:schemeClr>
                </a:outerShdw>
              </a:effectLst>
              <a:extLst>
                <a:ext uri="{91240B29-F687-4F45-9708-019B960494DF}">
                  <a14:hiddenLine xmlns:a14="http://schemas.microsoft.com/office/drawing/2010/main" w="12699">
                    <a:solidFill>
                      <a:schemeClr val="tx1"/>
                    </a:solidFill>
                    <a:miter lim="800000"/>
                    <a:headEnd/>
                    <a:tailEnd/>
                  </a14:hiddenLine>
                </a:ext>
              </a:extLst>
            </p:spPr>
            <p:txBody>
              <a:bodyPr wrap="none" anchor="ctr"/>
              <a:lstStyle/>
              <a:p>
                <a:endParaRPr lang="en-US" sz="2267"/>
              </a:p>
            </p:txBody>
          </p:sp>
          <p:sp>
            <p:nvSpPr>
              <p:cNvPr id="18454" name="AutoShape 22"/>
              <p:cNvSpPr>
                <a:spLocks noChangeArrowheads="1"/>
              </p:cNvSpPr>
              <p:nvPr/>
            </p:nvSpPr>
            <p:spPr bwMode="auto">
              <a:xfrm>
                <a:off x="1588" y="2980"/>
                <a:ext cx="760" cy="1192"/>
              </a:xfrm>
              <a:prstGeom prst="homePlate">
                <a:avLst>
                  <a:gd name="adj" fmla="val 33333"/>
                </a:avLst>
              </a:prstGeom>
              <a:solidFill>
                <a:schemeClr val="accent2"/>
              </a:solidFill>
              <a:ln>
                <a:noFill/>
              </a:ln>
              <a:effectLst>
                <a:outerShdw blurRad="63500" dist="53882" dir="2700000" algn="ctr" rotWithShape="0">
                  <a:schemeClr val="bg2">
                    <a:alpha val="74998"/>
                  </a:schemeClr>
                </a:outerShdw>
              </a:effectLst>
              <a:extLst>
                <a:ext uri="{91240B29-F687-4F45-9708-019B960494DF}">
                  <a14:hiddenLine xmlns:a14="http://schemas.microsoft.com/office/drawing/2010/main" w="12699">
                    <a:solidFill>
                      <a:schemeClr val="tx1"/>
                    </a:solidFill>
                    <a:miter lim="800000"/>
                    <a:headEnd/>
                    <a:tailEnd/>
                  </a14:hiddenLine>
                </a:ext>
              </a:extLst>
            </p:spPr>
            <p:txBody>
              <a:bodyPr wrap="none" anchor="ctr"/>
              <a:lstStyle/>
              <a:p>
                <a:endParaRPr lang="en-US" sz="2267"/>
              </a:p>
            </p:txBody>
          </p:sp>
          <p:sp>
            <p:nvSpPr>
              <p:cNvPr id="18455" name="Rectangle 23"/>
              <p:cNvSpPr>
                <a:spLocks noChangeArrowheads="1"/>
              </p:cNvSpPr>
              <p:nvPr/>
            </p:nvSpPr>
            <p:spPr bwMode="auto">
              <a:xfrm>
                <a:off x="1616" y="1964"/>
                <a:ext cx="636" cy="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02553" tIns="50377" rIns="102553" bIns="50377">
                <a:spAutoFit/>
              </a:bodyPr>
              <a:lstStyle/>
              <a:p>
                <a:pPr algn="ctr"/>
                <a:r>
                  <a:rPr lang="en-US" altLang="en-US" sz="2267" b="1" dirty="0">
                    <a:effectLst>
                      <a:outerShdw blurRad="38100" dist="38100" dir="2700000" algn="tl">
                        <a:srgbClr val="000000"/>
                      </a:outerShdw>
                    </a:effectLst>
                  </a:rPr>
                  <a:t>Broad</a:t>
                </a:r>
              </a:p>
              <a:p>
                <a:pPr algn="ctr"/>
                <a:r>
                  <a:rPr lang="en-US" altLang="en-US" sz="2267" b="1" dirty="0">
                    <a:effectLst>
                      <a:outerShdw blurRad="38100" dist="38100" dir="2700000" algn="tl">
                        <a:srgbClr val="000000"/>
                      </a:outerShdw>
                    </a:effectLst>
                  </a:rPr>
                  <a:t>Target</a:t>
                </a:r>
              </a:p>
              <a:p>
                <a:pPr algn="ctr"/>
                <a:r>
                  <a:rPr lang="en-US" altLang="en-US" sz="2267" b="1" dirty="0">
                    <a:effectLst>
                      <a:outerShdw blurRad="38100" dist="38100" dir="2700000" algn="tl">
                        <a:srgbClr val="000000"/>
                      </a:outerShdw>
                    </a:effectLst>
                  </a:rPr>
                  <a:t>Market</a:t>
                </a:r>
              </a:p>
            </p:txBody>
          </p:sp>
          <p:sp>
            <p:nvSpPr>
              <p:cNvPr id="18456" name="Rectangle 24"/>
              <p:cNvSpPr>
                <a:spLocks noChangeArrowheads="1"/>
              </p:cNvSpPr>
              <p:nvPr/>
            </p:nvSpPr>
            <p:spPr bwMode="auto">
              <a:xfrm>
                <a:off x="1596" y="3260"/>
                <a:ext cx="673" cy="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102553" tIns="50377" rIns="102553" bIns="50377">
                <a:spAutoFit/>
              </a:bodyPr>
              <a:lstStyle/>
              <a:p>
                <a:pPr algn="ctr"/>
                <a:r>
                  <a:rPr lang="en-US" altLang="en-US" sz="2267" b="1" dirty="0">
                    <a:effectLst>
                      <a:outerShdw blurRad="38100" dist="38100" dir="2700000" algn="tl">
                        <a:srgbClr val="000000"/>
                      </a:outerShdw>
                    </a:effectLst>
                  </a:rPr>
                  <a:t>Narrow</a:t>
                </a:r>
              </a:p>
              <a:p>
                <a:pPr algn="ctr"/>
                <a:r>
                  <a:rPr lang="en-US" altLang="en-US" sz="2267" b="1" dirty="0">
                    <a:effectLst>
                      <a:outerShdw blurRad="38100" dist="38100" dir="2700000" algn="tl">
                        <a:srgbClr val="000000"/>
                      </a:outerShdw>
                    </a:effectLst>
                  </a:rPr>
                  <a:t>Target</a:t>
                </a:r>
              </a:p>
              <a:p>
                <a:pPr algn="ctr"/>
                <a:r>
                  <a:rPr lang="en-US" altLang="en-US" sz="2267" b="1" dirty="0">
                    <a:effectLst>
                      <a:outerShdw blurRad="38100" dist="38100" dir="2700000" algn="tl">
                        <a:srgbClr val="000000"/>
                      </a:outerShdw>
                    </a:effectLst>
                  </a:rPr>
                  <a:t>Market</a:t>
                </a:r>
              </a:p>
            </p:txBody>
          </p:sp>
        </p:grpSp>
      </p:grpSp>
      <p:grpSp>
        <p:nvGrpSpPr>
          <p:cNvPr id="18473" name="Group 41"/>
          <p:cNvGrpSpPr>
            <a:grpSpLocks/>
          </p:cNvGrpSpPr>
          <p:nvPr/>
        </p:nvGrpSpPr>
        <p:grpSpPr bwMode="auto">
          <a:xfrm>
            <a:off x="6374448" y="2857077"/>
            <a:ext cx="5282353" cy="4649047"/>
            <a:chOff x="2583" y="1588"/>
            <a:chExt cx="2936" cy="2584"/>
          </a:xfrm>
        </p:grpSpPr>
        <p:sp>
          <p:nvSpPr>
            <p:cNvPr id="18458" name="Rectangle 26"/>
            <p:cNvSpPr>
              <a:spLocks noChangeArrowheads="1"/>
            </p:cNvSpPr>
            <p:nvPr/>
          </p:nvSpPr>
          <p:spPr bwMode="auto">
            <a:xfrm>
              <a:off x="2591" y="1588"/>
              <a:ext cx="1384" cy="1240"/>
            </a:xfrm>
            <a:prstGeom prst="rect">
              <a:avLst/>
            </a:prstGeom>
            <a:solidFill>
              <a:schemeClr val="accent2"/>
            </a:solidFill>
            <a:ln>
              <a:noFill/>
            </a:ln>
            <a:effectLst>
              <a:outerShdw blurRad="63500" dist="53882" dir="2700000" algn="ctr" rotWithShape="0">
                <a:srgbClr val="919191">
                  <a:alpha val="74998"/>
                </a:srgbClr>
              </a:outerShdw>
            </a:effectLst>
            <a:extLst>
              <a:ext uri="{91240B29-F687-4F45-9708-019B960494DF}">
                <a14:hiddenLine xmlns:a14="http://schemas.microsoft.com/office/drawing/2010/main" w="12699">
                  <a:solidFill>
                    <a:schemeClr val="tx1"/>
                  </a:solidFill>
                  <a:miter lim="800000"/>
                  <a:headEnd/>
                  <a:tailEnd/>
                </a14:hiddenLine>
              </a:ext>
            </a:extLst>
          </p:spPr>
          <p:txBody>
            <a:bodyPr wrap="none" anchor="ctr"/>
            <a:lstStyle/>
            <a:p>
              <a:endParaRPr lang="en-US" sz="2267"/>
            </a:p>
          </p:txBody>
        </p:sp>
        <p:sp>
          <p:nvSpPr>
            <p:cNvPr id="18459" name="Rectangle 27"/>
            <p:cNvSpPr>
              <a:spLocks noChangeArrowheads="1"/>
            </p:cNvSpPr>
            <p:nvPr/>
          </p:nvSpPr>
          <p:spPr bwMode="auto">
            <a:xfrm>
              <a:off x="2591" y="2932"/>
              <a:ext cx="1384" cy="1240"/>
            </a:xfrm>
            <a:prstGeom prst="rect">
              <a:avLst/>
            </a:prstGeom>
            <a:solidFill>
              <a:schemeClr val="accent2"/>
            </a:solidFill>
            <a:ln>
              <a:noFill/>
            </a:ln>
            <a:effectLst>
              <a:outerShdw blurRad="63500" dist="53882" dir="2700000" algn="ctr" rotWithShape="0">
                <a:srgbClr val="919191">
                  <a:alpha val="74998"/>
                </a:srgbClr>
              </a:outerShdw>
            </a:effectLst>
            <a:extLst>
              <a:ext uri="{91240B29-F687-4F45-9708-019B960494DF}">
                <a14:hiddenLine xmlns:a14="http://schemas.microsoft.com/office/drawing/2010/main" w="12699">
                  <a:solidFill>
                    <a:schemeClr val="tx1"/>
                  </a:solidFill>
                  <a:miter lim="800000"/>
                  <a:headEnd/>
                  <a:tailEnd/>
                </a14:hiddenLine>
              </a:ext>
            </a:extLst>
          </p:spPr>
          <p:txBody>
            <a:bodyPr wrap="none" anchor="ctr"/>
            <a:lstStyle/>
            <a:p>
              <a:endParaRPr lang="en-US" sz="2267"/>
            </a:p>
          </p:txBody>
        </p:sp>
        <p:sp>
          <p:nvSpPr>
            <p:cNvPr id="18460" name="Rectangle 28"/>
            <p:cNvSpPr>
              <a:spLocks noChangeArrowheads="1"/>
            </p:cNvSpPr>
            <p:nvPr/>
          </p:nvSpPr>
          <p:spPr bwMode="auto">
            <a:xfrm>
              <a:off x="4079" y="1588"/>
              <a:ext cx="1384" cy="1240"/>
            </a:xfrm>
            <a:prstGeom prst="rect">
              <a:avLst/>
            </a:prstGeom>
            <a:solidFill>
              <a:schemeClr val="accent2"/>
            </a:solidFill>
            <a:ln>
              <a:noFill/>
            </a:ln>
            <a:effectLst>
              <a:outerShdw blurRad="63500" dist="53882" dir="2700000" algn="ctr" rotWithShape="0">
                <a:srgbClr val="919191">
                  <a:alpha val="74998"/>
                </a:srgbClr>
              </a:outerShdw>
            </a:effectLst>
            <a:extLst>
              <a:ext uri="{91240B29-F687-4F45-9708-019B960494DF}">
                <a14:hiddenLine xmlns:a14="http://schemas.microsoft.com/office/drawing/2010/main" w="12699">
                  <a:solidFill>
                    <a:schemeClr val="tx1"/>
                  </a:solidFill>
                  <a:miter lim="800000"/>
                  <a:headEnd/>
                  <a:tailEnd/>
                </a14:hiddenLine>
              </a:ext>
            </a:extLst>
          </p:spPr>
          <p:txBody>
            <a:bodyPr wrap="none" anchor="ctr"/>
            <a:lstStyle/>
            <a:p>
              <a:endParaRPr lang="en-US" sz="2267"/>
            </a:p>
          </p:txBody>
        </p:sp>
        <p:sp>
          <p:nvSpPr>
            <p:cNvPr id="18461" name="Rectangle 29"/>
            <p:cNvSpPr>
              <a:spLocks noChangeArrowheads="1"/>
            </p:cNvSpPr>
            <p:nvPr/>
          </p:nvSpPr>
          <p:spPr bwMode="auto">
            <a:xfrm>
              <a:off x="4079" y="2932"/>
              <a:ext cx="1384" cy="1240"/>
            </a:xfrm>
            <a:prstGeom prst="rect">
              <a:avLst/>
            </a:prstGeom>
            <a:solidFill>
              <a:schemeClr val="accent2"/>
            </a:solidFill>
            <a:ln>
              <a:noFill/>
            </a:ln>
            <a:effectLst>
              <a:outerShdw blurRad="63500" dist="53882" dir="2700000" algn="ctr" rotWithShape="0">
                <a:srgbClr val="919191">
                  <a:alpha val="74998"/>
                </a:srgbClr>
              </a:outerShdw>
            </a:effectLst>
            <a:extLst>
              <a:ext uri="{91240B29-F687-4F45-9708-019B960494DF}">
                <a14:hiddenLine xmlns:a14="http://schemas.microsoft.com/office/drawing/2010/main" w="12699">
                  <a:solidFill>
                    <a:schemeClr val="tx1"/>
                  </a:solidFill>
                  <a:miter lim="800000"/>
                  <a:headEnd/>
                  <a:tailEnd/>
                </a14:hiddenLine>
              </a:ext>
            </a:extLst>
          </p:spPr>
          <p:txBody>
            <a:bodyPr wrap="none" anchor="ctr"/>
            <a:lstStyle/>
            <a:p>
              <a:endParaRPr lang="en-US" sz="2267"/>
            </a:p>
          </p:txBody>
        </p:sp>
        <p:sp>
          <p:nvSpPr>
            <p:cNvPr id="18462" name="Rectangle 30"/>
            <p:cNvSpPr>
              <a:spLocks noChangeArrowheads="1"/>
            </p:cNvSpPr>
            <p:nvPr/>
          </p:nvSpPr>
          <p:spPr bwMode="auto">
            <a:xfrm>
              <a:off x="4071" y="3064"/>
              <a:ext cx="1448" cy="987"/>
            </a:xfrm>
            <a:prstGeom prst="rect">
              <a:avLst/>
            </a:prstGeom>
            <a:noFill/>
            <a:ln>
              <a:noFill/>
            </a:ln>
            <a:effectLst>
              <a:outerShdw blurRad="63500" dist="38099"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Lst>
          </p:spPr>
          <p:txBody>
            <a:bodyPr lIns="102553" tIns="50377" rIns="102553" bIns="50377">
              <a:spAutoFit/>
            </a:bodyPr>
            <a:lstStyle/>
            <a:p>
              <a:pPr algn="ctr"/>
              <a:r>
                <a:rPr lang="en-US" altLang="en-US" sz="3627" b="1" dirty="0"/>
                <a:t>Focused </a:t>
              </a:r>
              <a:r>
                <a:rPr lang="en-US" altLang="en-US" sz="3627" b="1" dirty="0" err="1"/>
                <a:t>Differen</a:t>
              </a:r>
              <a:r>
                <a:rPr lang="en-US" altLang="en-US" sz="3627" b="1" dirty="0"/>
                <a:t>-</a:t>
              </a:r>
            </a:p>
            <a:p>
              <a:pPr algn="ctr"/>
              <a:r>
                <a:rPr lang="en-US" altLang="en-US" sz="3627" b="1" dirty="0" err="1"/>
                <a:t>tiation</a:t>
              </a:r>
              <a:endParaRPr lang="en-US" altLang="en-US" sz="3627" b="1" dirty="0"/>
            </a:p>
          </p:txBody>
        </p:sp>
        <p:sp>
          <p:nvSpPr>
            <p:cNvPr id="18463" name="Rectangle 31"/>
            <p:cNvSpPr>
              <a:spLocks noChangeArrowheads="1"/>
            </p:cNvSpPr>
            <p:nvPr/>
          </p:nvSpPr>
          <p:spPr bwMode="auto">
            <a:xfrm>
              <a:off x="2583" y="1873"/>
              <a:ext cx="1448" cy="677"/>
            </a:xfrm>
            <a:prstGeom prst="rect">
              <a:avLst/>
            </a:prstGeom>
            <a:noFill/>
            <a:ln>
              <a:noFill/>
            </a:ln>
            <a:effectLst>
              <a:outerShdw blurRad="63500" dist="38099"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Lst>
          </p:spPr>
          <p:txBody>
            <a:bodyPr lIns="102553" tIns="50377" rIns="102553" bIns="50377">
              <a:spAutoFit/>
            </a:bodyPr>
            <a:lstStyle/>
            <a:p>
              <a:pPr algn="ctr"/>
              <a:endParaRPr lang="en-US" altLang="en-US" sz="3627" b="1" dirty="0"/>
            </a:p>
            <a:p>
              <a:pPr algn="ctr"/>
              <a:endParaRPr lang="en-US" altLang="en-US" sz="3627" b="1" dirty="0"/>
            </a:p>
          </p:txBody>
        </p:sp>
        <p:sp>
          <p:nvSpPr>
            <p:cNvPr id="18464" name="Rectangle 32"/>
            <p:cNvSpPr>
              <a:spLocks noChangeArrowheads="1"/>
            </p:cNvSpPr>
            <p:nvPr/>
          </p:nvSpPr>
          <p:spPr bwMode="auto">
            <a:xfrm>
              <a:off x="4023" y="1873"/>
              <a:ext cx="1448" cy="677"/>
            </a:xfrm>
            <a:prstGeom prst="rect">
              <a:avLst/>
            </a:prstGeom>
            <a:noFill/>
            <a:ln>
              <a:noFill/>
            </a:ln>
            <a:effectLst>
              <a:outerShdw blurRad="63500" dist="38099"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Lst>
          </p:spPr>
          <p:txBody>
            <a:bodyPr lIns="102553" tIns="50377" rIns="102553" bIns="50377">
              <a:spAutoFit/>
            </a:bodyPr>
            <a:lstStyle/>
            <a:p>
              <a:pPr algn="ctr"/>
              <a:r>
                <a:rPr lang="en-US" altLang="en-US" sz="3627" b="1" dirty="0" err="1"/>
                <a:t>Differen</a:t>
              </a:r>
              <a:r>
                <a:rPr lang="en-US" altLang="en-US" sz="3627" b="1" dirty="0"/>
                <a:t>-</a:t>
              </a:r>
            </a:p>
            <a:p>
              <a:pPr algn="ctr"/>
              <a:r>
                <a:rPr lang="en-US" altLang="en-US" sz="3627" b="1" dirty="0" err="1"/>
                <a:t>tiation</a:t>
              </a:r>
              <a:endParaRPr lang="en-US" altLang="en-US" sz="3627" b="1" dirty="0"/>
            </a:p>
          </p:txBody>
        </p:sp>
        <p:sp>
          <p:nvSpPr>
            <p:cNvPr id="18465" name="Rectangle 33"/>
            <p:cNvSpPr>
              <a:spLocks noChangeArrowheads="1"/>
            </p:cNvSpPr>
            <p:nvPr/>
          </p:nvSpPr>
          <p:spPr bwMode="auto">
            <a:xfrm>
              <a:off x="2583" y="3217"/>
              <a:ext cx="1448" cy="677"/>
            </a:xfrm>
            <a:prstGeom prst="rect">
              <a:avLst/>
            </a:prstGeom>
            <a:noFill/>
            <a:ln>
              <a:noFill/>
            </a:ln>
            <a:effectLst>
              <a:outerShdw blurRad="63500" dist="38099"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Lst>
          </p:spPr>
          <p:txBody>
            <a:bodyPr lIns="102553" tIns="50377" rIns="102553" bIns="50377">
              <a:spAutoFit/>
            </a:bodyPr>
            <a:lstStyle/>
            <a:p>
              <a:pPr algn="ctr"/>
              <a:r>
                <a:rPr lang="en-US" altLang="en-US" sz="3627" b="1"/>
                <a:t>Focused Low Cost</a:t>
              </a:r>
            </a:p>
          </p:txBody>
        </p:sp>
      </p:grpSp>
      <p:sp>
        <p:nvSpPr>
          <p:cNvPr id="18472" name="Rectangle 40"/>
          <p:cNvSpPr>
            <a:spLocks noChangeArrowheads="1"/>
          </p:cNvSpPr>
          <p:nvPr/>
        </p:nvSpPr>
        <p:spPr bwMode="auto">
          <a:xfrm>
            <a:off x="6445824" y="3301174"/>
            <a:ext cx="2437870" cy="1268414"/>
          </a:xfrm>
          <a:prstGeom prst="rect">
            <a:avLst/>
          </a:prstGeom>
          <a:solidFill>
            <a:schemeClr val="accent2"/>
          </a:solidFill>
          <a:ln>
            <a:noFill/>
          </a:ln>
          <a:effectLst>
            <a:outerShdw blurRad="63500" dist="53882" dir="2700000" algn="ctr" rotWithShape="0">
              <a:srgbClr val="919191">
                <a:alpha val="74998"/>
              </a:srgbClr>
            </a:outerShdw>
          </a:effectLst>
          <a:extLst>
            <a:ext uri="{91240B29-F687-4F45-9708-019B960494DF}">
              <a14:hiddenLine xmlns:a14="http://schemas.microsoft.com/office/drawing/2010/main" w="12699">
                <a:solidFill>
                  <a:schemeClr val="tx1"/>
                </a:solidFill>
                <a:miter lim="800000"/>
                <a:headEnd/>
                <a:tailEnd/>
              </a14:hiddenLine>
            </a:ext>
          </a:extLst>
        </p:spPr>
        <p:txBody>
          <a:bodyPr wrap="none" anchor="ctr"/>
          <a:lstStyle/>
          <a:p>
            <a:pPr algn="ctr"/>
            <a:r>
              <a:rPr lang="en-US" altLang="en-US" sz="3627" b="1" dirty="0"/>
              <a:t>Cost</a:t>
            </a:r>
          </a:p>
          <a:p>
            <a:pPr algn="ctr"/>
            <a:r>
              <a:rPr lang="en-US" altLang="en-US" sz="3627" b="1" dirty="0"/>
              <a:t>Leadership</a:t>
            </a:r>
          </a:p>
        </p:txBody>
      </p:sp>
    </p:spTree>
    <p:extLst>
      <p:ext uri="{BB962C8B-B14F-4D97-AF65-F5344CB8AC3E}">
        <p14:creationId xmlns:p14="http://schemas.microsoft.com/office/powerpoint/2010/main" val="1668592555"/>
      </p:ext>
    </p:extLst>
  </p:cSld>
  <p:clrMapOvr>
    <a:masterClrMapping/>
  </p:clrMapOvr>
  <p:transition spd="slow">
    <p:zoom dir="in"/>
  </p:transition>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4E575-3B28-9045-86B3-3E6BA44448AC}"/>
              </a:ext>
            </a:extLst>
          </p:cNvPr>
          <p:cNvSpPr>
            <a:spLocks noGrp="1"/>
          </p:cNvSpPr>
          <p:nvPr>
            <p:ph type="title"/>
          </p:nvPr>
        </p:nvSpPr>
        <p:spPr>
          <a:xfrm>
            <a:off x="628073" y="919547"/>
            <a:ext cx="12561453" cy="1015663"/>
          </a:xfrm>
        </p:spPr>
        <p:txBody>
          <a:bodyPr/>
          <a:lstStyle/>
          <a:p>
            <a:pPr algn="ctr"/>
            <a:r>
              <a:rPr lang="en-US" dirty="0"/>
              <a:t>“Monopolistic Competition”</a:t>
            </a:r>
          </a:p>
        </p:txBody>
      </p:sp>
    </p:spTree>
    <p:extLst>
      <p:ext uri="{BB962C8B-B14F-4D97-AF65-F5344CB8AC3E}">
        <p14:creationId xmlns:p14="http://schemas.microsoft.com/office/powerpoint/2010/main" val="56908080"/>
      </p:ext>
    </p:extLst>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9643" y="1488462"/>
            <a:ext cx="12561453" cy="1107996"/>
          </a:xfrm>
        </p:spPr>
        <p:txBody>
          <a:bodyPr/>
          <a:lstStyle/>
          <a:p>
            <a:r>
              <a:rPr lang="en-US" sz="6000" dirty="0">
                <a:latin typeface="Garamond" panose="02020404030301010803" pitchFamily="18" charset="0"/>
              </a:rPr>
              <a:t>Reading Discussion</a:t>
            </a:r>
          </a:p>
        </p:txBody>
      </p:sp>
      <p:sp>
        <p:nvSpPr>
          <p:cNvPr id="3" name="TextBox 2">
            <a:extLst>
              <a:ext uri="{FF2B5EF4-FFF2-40B4-BE49-F238E27FC236}">
                <a16:creationId xmlns:a16="http://schemas.microsoft.com/office/drawing/2014/main" id="{4CBB347F-1BD5-B448-B0CA-1661E310425E}"/>
              </a:ext>
            </a:extLst>
          </p:cNvPr>
          <p:cNvSpPr txBox="1"/>
          <p:nvPr/>
        </p:nvSpPr>
        <p:spPr>
          <a:xfrm>
            <a:off x="1984194" y="3110754"/>
            <a:ext cx="9490933" cy="2554545"/>
          </a:xfrm>
          <a:prstGeom prst="rect">
            <a:avLst/>
          </a:prstGeom>
          <a:noFill/>
        </p:spPr>
        <p:txBody>
          <a:bodyPr wrap="none" rtlCol="0">
            <a:spAutoFit/>
          </a:bodyPr>
          <a:lstStyle/>
          <a:p>
            <a:pPr algn="ctr"/>
            <a:r>
              <a:rPr lang="en-US" sz="4000" i="1" dirty="0">
                <a:solidFill>
                  <a:schemeClr val="tx1">
                    <a:lumMod val="50000"/>
                  </a:schemeClr>
                </a:solidFill>
                <a:latin typeface="Garamond" panose="02020404030301010803" pitchFamily="18" charset="0"/>
              </a:rPr>
              <a:t>Firm Resources and Sustained Competitive Advantage</a:t>
            </a:r>
          </a:p>
          <a:p>
            <a:pPr algn="ctr"/>
            <a:endParaRPr lang="en-US" sz="4000" i="1" dirty="0">
              <a:solidFill>
                <a:schemeClr val="tx1">
                  <a:lumMod val="50000"/>
                </a:schemeClr>
              </a:solidFill>
              <a:latin typeface="Garamond" panose="02020404030301010803" pitchFamily="18" charset="0"/>
            </a:endParaRPr>
          </a:p>
          <a:p>
            <a:pPr algn="ctr"/>
            <a:r>
              <a:rPr lang="en-US" sz="4000" i="1" dirty="0">
                <a:solidFill>
                  <a:schemeClr val="tx1">
                    <a:lumMod val="50000"/>
                  </a:schemeClr>
                </a:solidFill>
                <a:latin typeface="Garamond" panose="02020404030301010803" pitchFamily="18" charset="0"/>
              </a:rPr>
              <a:t>“The Resource-Based View of Competitive Strategy”</a:t>
            </a:r>
            <a:endParaRPr lang="en-US" sz="4000" dirty="0">
              <a:solidFill>
                <a:schemeClr val="tx1">
                  <a:lumMod val="50000"/>
                </a:schemeClr>
              </a:solidFill>
              <a:latin typeface="Garamond" panose="02020404030301010803" pitchFamily="18" charset="0"/>
            </a:endParaRPr>
          </a:p>
          <a:p>
            <a:pPr algn="ctr"/>
            <a:endParaRPr lang="en-US" sz="4000" dirty="0">
              <a:solidFill>
                <a:schemeClr val="tx1">
                  <a:lumMod val="50000"/>
                </a:schemeClr>
              </a:solidFill>
              <a:latin typeface="Garamond" panose="02020404030301010803" pitchFamily="18" charset="0"/>
            </a:endParaRPr>
          </a:p>
        </p:txBody>
      </p:sp>
    </p:spTree>
    <p:extLst>
      <p:ext uri="{BB962C8B-B14F-4D97-AF65-F5344CB8AC3E}">
        <p14:creationId xmlns:p14="http://schemas.microsoft.com/office/powerpoint/2010/main" val="3629330534"/>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6561" name="Title 1"/>
          <p:cNvSpPr>
            <a:spLocks noGrp="1"/>
          </p:cNvSpPr>
          <p:nvPr>
            <p:ph type="title"/>
          </p:nvPr>
        </p:nvSpPr>
        <p:spPr/>
        <p:txBody>
          <a:bodyPr/>
          <a:lstStyle/>
          <a:p>
            <a:endParaRPr lang="en-US" altLang="en-US">
              <a:ea typeface="ＭＳ Ｐゴシック" charset="-128"/>
            </a:endParaRPr>
          </a:p>
        </p:txBody>
      </p:sp>
      <p:pic>
        <p:nvPicPr>
          <p:cNvPr id="66563" name="Picture 12" descr="Table showing the career of Steve Jobs and the various products launched at Apple such as iMac, iBook, iPod, iTunes, and iPhone"/>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43992" y="-802196"/>
            <a:ext cx="12901647" cy="6831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2AFDA440-5D65-304D-9BB2-A0B5D4440745}"/>
              </a:ext>
            </a:extLst>
          </p:cNvPr>
          <p:cNvSpPr txBox="1"/>
          <p:nvPr/>
        </p:nvSpPr>
        <p:spPr>
          <a:xfrm>
            <a:off x="2413865" y="7326327"/>
            <a:ext cx="9453742" cy="400110"/>
          </a:xfrm>
          <a:prstGeom prst="rect">
            <a:avLst/>
          </a:prstGeom>
          <a:noFill/>
        </p:spPr>
        <p:txBody>
          <a:bodyPr wrap="none" rtlCol="0">
            <a:spAutoFit/>
          </a:bodyPr>
          <a:lstStyle/>
          <a:p>
            <a:r>
              <a:rPr lang="en-US" dirty="0"/>
              <a:t>1984 Macintosh Superbowl Ad: </a:t>
            </a:r>
            <a:r>
              <a:rPr lang="en-US" dirty="0">
                <a:hlinkClick r:id="rId4"/>
              </a:rPr>
              <a:t>https://www.youtube.com/watch?v=ErwS24cBZPc</a:t>
            </a:r>
            <a:endParaRPr lang="en-US" dirty="0"/>
          </a:p>
        </p:txBody>
      </p:sp>
      <p:sp>
        <p:nvSpPr>
          <p:cNvPr id="3" name="TextBox 2">
            <a:extLst>
              <a:ext uri="{FF2B5EF4-FFF2-40B4-BE49-F238E27FC236}">
                <a16:creationId xmlns:a16="http://schemas.microsoft.com/office/drawing/2014/main" id="{99EEF18D-D8B6-449B-35D3-0ABB8E75DAA2}"/>
              </a:ext>
            </a:extLst>
          </p:cNvPr>
          <p:cNvSpPr txBox="1"/>
          <p:nvPr/>
        </p:nvSpPr>
        <p:spPr>
          <a:xfrm>
            <a:off x="2228428" y="6220810"/>
            <a:ext cx="9020546" cy="646331"/>
          </a:xfrm>
          <a:prstGeom prst="rect">
            <a:avLst/>
          </a:prstGeom>
          <a:noFill/>
        </p:spPr>
        <p:txBody>
          <a:bodyPr wrap="none" rtlCol="0">
            <a:spAutoFit/>
          </a:bodyPr>
          <a:lstStyle/>
          <a:p>
            <a:r>
              <a:rPr lang="en-US" sz="3600" b="1" dirty="0">
                <a:latin typeface="Garamond" panose="02020404030301010803" pitchFamily="18" charset="0"/>
              </a:rPr>
              <a:t>Apple Computer Major Events and Launches</a:t>
            </a:r>
          </a:p>
        </p:txBody>
      </p:sp>
    </p:spTree>
    <p:extLst>
      <p:ext uri="{BB962C8B-B14F-4D97-AF65-F5344CB8AC3E}">
        <p14:creationId xmlns:p14="http://schemas.microsoft.com/office/powerpoint/2010/main" val="2724929284"/>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53" name="Rectangle 9"/>
          <p:cNvSpPr>
            <a:spLocks noChangeArrowheads="1"/>
          </p:cNvSpPr>
          <p:nvPr/>
        </p:nvSpPr>
        <p:spPr bwMode="auto">
          <a:xfrm>
            <a:off x="2358136" y="6359351"/>
            <a:ext cx="3296073" cy="450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17961" dir="2700000" algn="ctr" rotWithShape="0">
                    <a:schemeClr val="bg2">
                      <a:alpha val="74998"/>
                    </a:schemeClr>
                  </a:outerShdw>
                </a:effectLst>
              </a14:hiddenEffects>
            </a:ext>
          </a:extLst>
        </p:spPr>
        <p:txBody>
          <a:bodyPr lIns="102553" tIns="50377" rIns="102553" bIns="50377">
            <a:spAutoFit/>
          </a:bodyPr>
          <a:lstStyle/>
          <a:p>
            <a:r>
              <a:rPr lang="en-US" altLang="en-US" sz="2267" b="1" dirty="0">
                <a:effectLst>
                  <a:outerShdw blurRad="38100" dist="38100" dir="2700000" algn="tl">
                    <a:srgbClr val="000000"/>
                  </a:outerShdw>
                </a:effectLst>
              </a:rPr>
              <a:t>Non-substitutable</a:t>
            </a:r>
          </a:p>
        </p:txBody>
      </p:sp>
      <p:sp>
        <p:nvSpPr>
          <p:cNvPr id="108554" name="Rectangle 10"/>
          <p:cNvSpPr>
            <a:spLocks noChangeArrowheads="1"/>
          </p:cNvSpPr>
          <p:nvPr/>
        </p:nvSpPr>
        <p:spPr bwMode="auto">
          <a:xfrm>
            <a:off x="5553456" y="6374157"/>
            <a:ext cx="6316875" cy="10437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17961" dir="2700000" algn="ctr" rotWithShape="0">
                    <a:schemeClr val="bg2">
                      <a:alpha val="74998"/>
                    </a:schemeClr>
                  </a:outerShdw>
                </a:effectLst>
              </a14:hiddenEffects>
            </a:ext>
          </a:extLst>
        </p:spPr>
        <p:txBody>
          <a:bodyPr lIns="102553" tIns="50377" rIns="102553" bIns="50377">
            <a:spAutoFit/>
          </a:bodyPr>
          <a:lstStyle/>
          <a:p>
            <a:pPr>
              <a:lnSpc>
                <a:spcPct val="90000"/>
              </a:lnSpc>
            </a:pPr>
            <a:r>
              <a:rPr lang="en-US" altLang="en-US" sz="2267" dirty="0">
                <a:effectLst>
                  <a:outerShdw blurRad="38100" dist="38100" dir="2700000" algn="tl">
                    <a:srgbClr val="000000"/>
                  </a:outerShdw>
                </a:effectLst>
              </a:rPr>
              <a:t>Other resources possessed by competitors cannot create the equivalent value for customers</a:t>
            </a:r>
          </a:p>
        </p:txBody>
      </p:sp>
      <p:sp>
        <p:nvSpPr>
          <p:cNvPr id="108560" name="Rectangle 16"/>
          <p:cNvSpPr>
            <a:spLocks noChangeArrowheads="1"/>
          </p:cNvSpPr>
          <p:nvPr/>
        </p:nvSpPr>
        <p:spPr bwMode="auto">
          <a:xfrm>
            <a:off x="2358136" y="1936496"/>
            <a:ext cx="1986280" cy="450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17961" dir="2700000" algn="ctr" rotWithShape="0">
                    <a:schemeClr val="bg2">
                      <a:alpha val="74998"/>
                    </a:schemeClr>
                  </a:outerShdw>
                </a:effectLst>
              </a14:hiddenEffects>
            </a:ext>
          </a:extLst>
        </p:spPr>
        <p:txBody>
          <a:bodyPr lIns="102553" tIns="50377" rIns="102553" bIns="50377">
            <a:spAutoFit/>
          </a:bodyPr>
          <a:lstStyle/>
          <a:p>
            <a:r>
              <a:rPr lang="en-US" altLang="en-US" sz="2267" b="1">
                <a:effectLst>
                  <a:outerShdw blurRad="38100" dist="38100" dir="2700000" algn="tl">
                    <a:srgbClr val="000000"/>
                  </a:outerShdw>
                </a:effectLst>
              </a:rPr>
              <a:t>Valuable</a:t>
            </a:r>
          </a:p>
        </p:txBody>
      </p:sp>
      <p:sp>
        <p:nvSpPr>
          <p:cNvPr id="108561" name="Rectangle 17"/>
          <p:cNvSpPr>
            <a:spLocks noChangeArrowheads="1"/>
          </p:cNvSpPr>
          <p:nvPr/>
        </p:nvSpPr>
        <p:spPr bwMode="auto">
          <a:xfrm>
            <a:off x="5557055" y="1954488"/>
            <a:ext cx="6041602" cy="729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17961" dir="2700000" algn="ctr" rotWithShape="0">
                    <a:schemeClr val="bg2">
                      <a:alpha val="74998"/>
                    </a:schemeClr>
                  </a:outerShdw>
                </a:effectLst>
              </a14:hiddenEffects>
            </a:ext>
          </a:extLst>
        </p:spPr>
        <p:txBody>
          <a:bodyPr lIns="102553" tIns="50377" rIns="102553" bIns="50377">
            <a:spAutoFit/>
          </a:bodyPr>
          <a:lstStyle/>
          <a:p>
            <a:pPr>
              <a:lnSpc>
                <a:spcPct val="90000"/>
              </a:lnSpc>
            </a:pPr>
            <a:r>
              <a:rPr lang="en-US" altLang="en-US" sz="2267">
                <a:effectLst>
                  <a:outerShdw blurRad="38100" dist="38100" dir="2700000" algn="tl">
                    <a:srgbClr val="000000"/>
                  </a:outerShdw>
                </a:effectLst>
              </a:rPr>
              <a:t>allow the firm to exploit opportunities or neutralize threats in its external environment</a:t>
            </a:r>
          </a:p>
        </p:txBody>
      </p:sp>
      <p:sp>
        <p:nvSpPr>
          <p:cNvPr id="108563" name="Rectangle 19"/>
          <p:cNvSpPr>
            <a:spLocks noChangeArrowheads="1"/>
          </p:cNvSpPr>
          <p:nvPr/>
        </p:nvSpPr>
        <p:spPr bwMode="auto">
          <a:xfrm>
            <a:off x="2358136" y="3318256"/>
            <a:ext cx="1741593" cy="450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17961" dir="2700000" algn="ctr" rotWithShape="0">
                    <a:schemeClr val="bg2">
                      <a:alpha val="74998"/>
                    </a:schemeClr>
                  </a:outerShdw>
                </a:effectLst>
              </a14:hiddenEffects>
            </a:ext>
          </a:extLst>
        </p:spPr>
        <p:txBody>
          <a:bodyPr lIns="102553" tIns="50377" rIns="102553" bIns="50377">
            <a:spAutoFit/>
          </a:bodyPr>
          <a:lstStyle/>
          <a:p>
            <a:r>
              <a:rPr lang="en-US" altLang="en-US" sz="2267" b="1">
                <a:effectLst>
                  <a:outerShdw blurRad="38100" dist="38100" dir="2700000" algn="tl">
                    <a:srgbClr val="000000"/>
                  </a:outerShdw>
                </a:effectLst>
              </a:rPr>
              <a:t>Rare</a:t>
            </a:r>
          </a:p>
        </p:txBody>
      </p:sp>
      <p:sp>
        <p:nvSpPr>
          <p:cNvPr id="108564" name="Rectangle 20"/>
          <p:cNvSpPr>
            <a:spLocks noChangeArrowheads="1"/>
          </p:cNvSpPr>
          <p:nvPr/>
        </p:nvSpPr>
        <p:spPr bwMode="auto">
          <a:xfrm>
            <a:off x="5553456" y="3336248"/>
            <a:ext cx="6316875" cy="729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17961" dir="2700000" algn="ctr" rotWithShape="0">
                    <a:schemeClr val="bg2">
                      <a:alpha val="74998"/>
                    </a:schemeClr>
                  </a:outerShdw>
                </a:effectLst>
              </a14:hiddenEffects>
            </a:ext>
          </a:extLst>
        </p:spPr>
        <p:txBody>
          <a:bodyPr lIns="102553" tIns="50377" rIns="102553" bIns="50377">
            <a:spAutoFit/>
          </a:bodyPr>
          <a:lstStyle/>
          <a:p>
            <a:pPr>
              <a:lnSpc>
                <a:spcPct val="90000"/>
              </a:lnSpc>
            </a:pPr>
            <a:r>
              <a:rPr lang="en-US" altLang="en-US" sz="2267" dirty="0">
                <a:effectLst>
                  <a:outerShdw blurRad="38100" dist="38100" dir="2700000" algn="tl">
                    <a:srgbClr val="000000"/>
                  </a:outerShdw>
                </a:effectLst>
              </a:rPr>
              <a:t>possessed by few, if any, current and potential competitors</a:t>
            </a:r>
          </a:p>
        </p:txBody>
      </p:sp>
      <p:sp>
        <p:nvSpPr>
          <p:cNvPr id="108566" name="Rectangle 22"/>
          <p:cNvSpPr>
            <a:spLocks noChangeArrowheads="1"/>
          </p:cNvSpPr>
          <p:nvPr/>
        </p:nvSpPr>
        <p:spPr bwMode="auto">
          <a:xfrm>
            <a:off x="2386923" y="4434308"/>
            <a:ext cx="3511973" cy="450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17961" dir="2700000" algn="ctr" rotWithShape="0">
                    <a:schemeClr val="bg2">
                      <a:alpha val="74998"/>
                    </a:schemeClr>
                  </a:outerShdw>
                </a:effectLst>
              </a14:hiddenEffects>
            </a:ext>
          </a:extLst>
        </p:spPr>
        <p:txBody>
          <a:bodyPr lIns="102553" tIns="50377" rIns="102553" bIns="50377">
            <a:spAutoFit/>
          </a:bodyPr>
          <a:lstStyle/>
          <a:p>
            <a:r>
              <a:rPr lang="en-US" altLang="en-US" sz="2267" b="1" dirty="0">
                <a:effectLst>
                  <a:outerShdw blurRad="38100" dist="38100" dir="2700000" algn="tl">
                    <a:srgbClr val="000000"/>
                  </a:outerShdw>
                </a:effectLst>
              </a:rPr>
              <a:t>In-</a:t>
            </a:r>
            <a:r>
              <a:rPr lang="en-US" altLang="en-US" sz="2267" b="1" dirty="0" err="1">
                <a:effectLst>
                  <a:outerShdw blurRad="38100" dist="38100" dir="2700000" algn="tl">
                    <a:srgbClr val="000000"/>
                  </a:outerShdw>
                </a:effectLst>
              </a:rPr>
              <a:t>imitatable</a:t>
            </a:r>
            <a:endParaRPr lang="en-US" altLang="en-US" sz="2267" b="1" dirty="0">
              <a:effectLst>
                <a:outerShdw blurRad="38100" dist="38100" dir="2700000" algn="tl">
                  <a:srgbClr val="000000"/>
                </a:outerShdw>
              </a:effectLst>
            </a:endParaRPr>
          </a:p>
        </p:txBody>
      </p:sp>
      <p:sp>
        <p:nvSpPr>
          <p:cNvPr id="108567" name="Rectangle 23"/>
          <p:cNvSpPr>
            <a:spLocks noChangeArrowheads="1"/>
          </p:cNvSpPr>
          <p:nvPr/>
        </p:nvSpPr>
        <p:spPr bwMode="auto">
          <a:xfrm>
            <a:off x="5553456" y="4520668"/>
            <a:ext cx="6316875" cy="13577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17961" dir="2700000" algn="ctr" rotWithShape="0">
                    <a:schemeClr val="bg2">
                      <a:alpha val="74998"/>
                    </a:schemeClr>
                  </a:outerShdw>
                </a:effectLst>
              </a14:hiddenEffects>
            </a:ext>
          </a:extLst>
        </p:spPr>
        <p:txBody>
          <a:bodyPr lIns="102553" tIns="50377" rIns="102553" bIns="50377">
            <a:spAutoFit/>
          </a:bodyPr>
          <a:lstStyle/>
          <a:p>
            <a:pPr>
              <a:lnSpc>
                <a:spcPct val="90000"/>
              </a:lnSpc>
            </a:pPr>
            <a:r>
              <a:rPr lang="en-US" altLang="en-US" sz="2267" dirty="0">
                <a:effectLst>
                  <a:outerShdw blurRad="38100" dist="38100" dir="2700000" algn="tl">
                    <a:srgbClr val="000000"/>
                  </a:outerShdw>
                </a:effectLst>
              </a:rPr>
              <a:t>when other firms either cannot obtain them or must obtain them at a much higher cost</a:t>
            </a:r>
          </a:p>
          <a:p>
            <a:pPr>
              <a:lnSpc>
                <a:spcPct val="90000"/>
              </a:lnSpc>
            </a:pPr>
            <a:r>
              <a:rPr lang="en-US" altLang="en-US" sz="2267" dirty="0">
                <a:effectLst>
                  <a:outerShdw blurRad="38100" dist="38100" dir="2700000" algn="tl">
                    <a:srgbClr val="000000"/>
                  </a:outerShdw>
                </a:effectLst>
              </a:rPr>
              <a:t>(Social complexity, causal ambiguity, history &amp; path dependence)</a:t>
            </a:r>
          </a:p>
        </p:txBody>
      </p:sp>
      <p:sp>
        <p:nvSpPr>
          <p:cNvPr id="108568" name="Rectangle 24"/>
          <p:cNvSpPr>
            <a:spLocks noChangeArrowheads="1"/>
          </p:cNvSpPr>
          <p:nvPr/>
        </p:nvSpPr>
        <p:spPr bwMode="auto">
          <a:xfrm>
            <a:off x="2212976" y="250180"/>
            <a:ext cx="8927465" cy="12180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17961" dir="2700000" algn="ctr" rotWithShape="0">
                    <a:schemeClr val="bg2">
                      <a:alpha val="74998"/>
                    </a:schemeClr>
                  </a:outerShdw>
                </a:effectLst>
              </a14:hiddenEffects>
            </a:ext>
          </a:extLst>
        </p:spPr>
        <p:txBody>
          <a:bodyPr lIns="102553" tIns="50377" rIns="102553" bIns="50377">
            <a:spAutoFit/>
          </a:bodyPr>
          <a:lstStyle/>
          <a:p>
            <a:pPr algn="ctr"/>
            <a:r>
              <a:rPr lang="en-US" altLang="en-US" sz="3627" b="1" dirty="0">
                <a:solidFill>
                  <a:schemeClr val="tx2"/>
                </a:solidFill>
                <a:effectLst>
                  <a:outerShdw blurRad="38100" dist="38100" dir="2700000" algn="tl">
                    <a:srgbClr val="000000"/>
                  </a:outerShdw>
                </a:effectLst>
              </a:rPr>
              <a:t>Resources and capabilities lead to </a:t>
            </a:r>
          </a:p>
          <a:p>
            <a:pPr algn="ctr"/>
            <a:r>
              <a:rPr lang="en-US" altLang="en-US" sz="3627" b="1" i="1" dirty="0">
                <a:effectLst>
                  <a:outerShdw blurRad="38100" dist="38100" dir="2700000" algn="tl">
                    <a:srgbClr val="000000"/>
                  </a:outerShdw>
                </a:effectLst>
              </a:rPr>
              <a:t>Competitive Advantage</a:t>
            </a:r>
            <a:r>
              <a:rPr lang="en-US" altLang="en-US" sz="3627" b="1" dirty="0">
                <a:effectLst>
                  <a:outerShdw blurRad="38100" dist="38100" dir="2700000" algn="tl">
                    <a:srgbClr val="000000"/>
                  </a:outerShdw>
                </a:effectLst>
              </a:rPr>
              <a:t> </a:t>
            </a:r>
            <a:r>
              <a:rPr lang="en-US" altLang="en-US" sz="3627" b="1" dirty="0">
                <a:solidFill>
                  <a:schemeClr val="tx2"/>
                </a:solidFill>
                <a:effectLst>
                  <a:outerShdw blurRad="38100" dist="38100" dir="2700000" algn="tl">
                    <a:srgbClr val="000000"/>
                  </a:outerShdw>
                </a:effectLst>
              </a:rPr>
              <a:t>when they are:</a:t>
            </a:r>
          </a:p>
        </p:txBody>
      </p:sp>
      <p:sp>
        <p:nvSpPr>
          <p:cNvPr id="108569" name="AutoShape 25"/>
          <p:cNvSpPr>
            <a:spLocks noChangeArrowheads="1"/>
          </p:cNvSpPr>
          <p:nvPr/>
        </p:nvSpPr>
        <p:spPr bwMode="auto">
          <a:xfrm rot="5400000">
            <a:off x="1926336" y="2022856"/>
            <a:ext cx="345440" cy="345440"/>
          </a:xfrm>
          <a:prstGeom prst="triangle">
            <a:avLst>
              <a:gd name="adj" fmla="val 50000"/>
            </a:avLst>
          </a:prstGeom>
          <a:solidFill>
            <a:schemeClr val="accent1"/>
          </a:solidFill>
          <a:ln>
            <a:noFill/>
          </a:ln>
          <a:effectLst>
            <a:outerShdw blurRad="63500" dist="38099" dir="2700000" algn="ctr" rotWithShape="0">
              <a:schemeClr val="bg2">
                <a:alpha val="74998"/>
              </a:schemeClr>
            </a:outerShdw>
          </a:effectLst>
          <a:extLst>
            <a:ext uri="{91240B29-F687-4F45-9708-019B960494DF}">
              <a14:hiddenLine xmlns:a14="http://schemas.microsoft.com/office/drawing/2010/main" w="12700">
                <a:solidFill>
                  <a:schemeClr val="tx2"/>
                </a:solidFill>
                <a:miter lim="800000"/>
                <a:headEnd/>
                <a:tailEnd/>
              </a14:hiddenLine>
            </a:ext>
          </a:extLst>
        </p:spPr>
        <p:txBody>
          <a:bodyPr wrap="none" anchor="ctr"/>
          <a:lstStyle/>
          <a:p>
            <a:endParaRPr lang="en-US" sz="2267"/>
          </a:p>
        </p:txBody>
      </p:sp>
      <p:sp>
        <p:nvSpPr>
          <p:cNvPr id="108571" name="AutoShape 27"/>
          <p:cNvSpPr>
            <a:spLocks noChangeArrowheads="1"/>
          </p:cNvSpPr>
          <p:nvPr/>
        </p:nvSpPr>
        <p:spPr bwMode="auto">
          <a:xfrm rot="5400000">
            <a:off x="1926336" y="3404616"/>
            <a:ext cx="345440" cy="345440"/>
          </a:xfrm>
          <a:prstGeom prst="triangle">
            <a:avLst>
              <a:gd name="adj" fmla="val 50000"/>
            </a:avLst>
          </a:prstGeom>
          <a:solidFill>
            <a:schemeClr val="accent1"/>
          </a:solidFill>
          <a:ln>
            <a:noFill/>
          </a:ln>
          <a:effectLst>
            <a:outerShdw blurRad="63500" dist="38099" dir="2700000" algn="ctr" rotWithShape="0">
              <a:schemeClr val="bg2">
                <a:alpha val="74998"/>
              </a:schemeClr>
            </a:outerShdw>
          </a:effectLst>
          <a:extLst>
            <a:ext uri="{91240B29-F687-4F45-9708-019B960494DF}">
              <a14:hiddenLine xmlns:a14="http://schemas.microsoft.com/office/drawing/2010/main" w="12700">
                <a:solidFill>
                  <a:schemeClr val="tx2"/>
                </a:solidFill>
                <a:miter lim="800000"/>
                <a:headEnd/>
                <a:tailEnd/>
              </a14:hiddenLine>
            </a:ext>
          </a:extLst>
        </p:spPr>
        <p:txBody>
          <a:bodyPr wrap="none" anchor="ctr"/>
          <a:lstStyle/>
          <a:p>
            <a:endParaRPr lang="en-US" sz="2267"/>
          </a:p>
        </p:txBody>
      </p:sp>
      <p:sp>
        <p:nvSpPr>
          <p:cNvPr id="108572" name="AutoShape 28"/>
          <p:cNvSpPr>
            <a:spLocks noChangeArrowheads="1"/>
          </p:cNvSpPr>
          <p:nvPr/>
        </p:nvSpPr>
        <p:spPr bwMode="auto">
          <a:xfrm rot="5400000">
            <a:off x="1926336" y="4520668"/>
            <a:ext cx="345440" cy="345440"/>
          </a:xfrm>
          <a:prstGeom prst="triangle">
            <a:avLst>
              <a:gd name="adj" fmla="val 50000"/>
            </a:avLst>
          </a:prstGeom>
          <a:solidFill>
            <a:schemeClr val="accent1"/>
          </a:solidFill>
          <a:ln>
            <a:noFill/>
          </a:ln>
          <a:effectLst>
            <a:outerShdw blurRad="63500" dist="38099" dir="2700000" algn="ctr" rotWithShape="0">
              <a:schemeClr val="bg2">
                <a:alpha val="74998"/>
              </a:schemeClr>
            </a:outerShdw>
          </a:effectLst>
          <a:extLst>
            <a:ext uri="{91240B29-F687-4F45-9708-019B960494DF}">
              <a14:hiddenLine xmlns:a14="http://schemas.microsoft.com/office/drawing/2010/main" w="12700">
                <a:solidFill>
                  <a:schemeClr val="tx2"/>
                </a:solidFill>
                <a:miter lim="800000"/>
                <a:headEnd/>
                <a:tailEnd/>
              </a14:hiddenLine>
            </a:ext>
          </a:extLst>
        </p:spPr>
        <p:txBody>
          <a:bodyPr wrap="none" anchor="ctr"/>
          <a:lstStyle/>
          <a:p>
            <a:endParaRPr lang="en-US" sz="2267"/>
          </a:p>
        </p:txBody>
      </p:sp>
      <p:sp>
        <p:nvSpPr>
          <p:cNvPr id="108573" name="AutoShape 29"/>
          <p:cNvSpPr>
            <a:spLocks noChangeArrowheads="1"/>
          </p:cNvSpPr>
          <p:nvPr/>
        </p:nvSpPr>
        <p:spPr bwMode="auto">
          <a:xfrm rot="5400000">
            <a:off x="1926336" y="6411939"/>
            <a:ext cx="345440" cy="345440"/>
          </a:xfrm>
          <a:prstGeom prst="triangle">
            <a:avLst>
              <a:gd name="adj" fmla="val 50000"/>
            </a:avLst>
          </a:prstGeom>
          <a:solidFill>
            <a:schemeClr val="accent1"/>
          </a:solidFill>
          <a:ln>
            <a:noFill/>
          </a:ln>
          <a:effectLst>
            <a:outerShdw blurRad="63500" dist="38099" dir="2700000" algn="ctr" rotWithShape="0">
              <a:schemeClr val="bg2">
                <a:alpha val="74998"/>
              </a:schemeClr>
            </a:outerShdw>
          </a:effectLst>
          <a:extLst>
            <a:ext uri="{91240B29-F687-4F45-9708-019B960494DF}">
              <a14:hiddenLine xmlns:a14="http://schemas.microsoft.com/office/drawing/2010/main" w="12700">
                <a:solidFill>
                  <a:schemeClr val="tx2"/>
                </a:solidFill>
                <a:miter lim="800000"/>
                <a:headEnd/>
                <a:tailEnd/>
              </a14:hiddenLine>
            </a:ext>
          </a:extLst>
        </p:spPr>
        <p:txBody>
          <a:bodyPr wrap="none" anchor="ctr"/>
          <a:lstStyle/>
          <a:p>
            <a:endParaRPr lang="en-US" sz="2267"/>
          </a:p>
        </p:txBody>
      </p:sp>
    </p:spTree>
    <p:extLst>
      <p:ext uri="{BB962C8B-B14F-4D97-AF65-F5344CB8AC3E}">
        <p14:creationId xmlns:p14="http://schemas.microsoft.com/office/powerpoint/2010/main" val="3642953512"/>
      </p:ext>
    </p:extLst>
  </p:cSld>
  <p:clrMapOvr>
    <a:masterClrMapping/>
  </p:clrMapOvr>
  <p:transition spd="slow">
    <p:strips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855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855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856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856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856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856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856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856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856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857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857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85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53" grpId="0"/>
      <p:bldP spid="108554" grpId="0"/>
      <p:bldP spid="108560" grpId="0"/>
      <p:bldP spid="108561" grpId="0"/>
      <p:bldP spid="108563" grpId="0"/>
      <p:bldP spid="108564" grpId="0"/>
      <p:bldP spid="108566" grpId="0"/>
      <p:bldP spid="108567" grpId="0"/>
      <p:bldP spid="108569" grpId="0" animBg="1"/>
      <p:bldP spid="108571" grpId="0" animBg="1"/>
      <p:bldP spid="108572" grpId="0" animBg="1"/>
      <p:bldP spid="108573"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2"/>
          <p:cNvSpPr>
            <a:spLocks noGrp="1" noChangeArrowheads="1"/>
          </p:cNvSpPr>
          <p:nvPr>
            <p:ph type="title"/>
          </p:nvPr>
        </p:nvSpPr>
        <p:spPr>
          <a:xfrm>
            <a:off x="1588143" y="271212"/>
            <a:ext cx="9797143" cy="923330"/>
          </a:xfrm>
        </p:spPr>
        <p:txBody>
          <a:bodyPr/>
          <a:lstStyle/>
          <a:p>
            <a:pPr algn="ctr"/>
            <a:r>
              <a:rPr lang="en-US" altLang="en-US" sz="4800" dirty="0">
                <a:latin typeface="Garamond" panose="02020404030301010803" pitchFamily="18" charset="0"/>
                <a:ea typeface="ＭＳ Ｐゴシック" charset="-128"/>
              </a:rPr>
              <a:t>Barriers to Entry </a:t>
            </a:r>
            <a:r>
              <a:rPr lang="en-US" altLang="en-US" sz="4800" dirty="0">
                <a:solidFill>
                  <a:srgbClr val="FF0000"/>
                </a:solidFill>
                <a:latin typeface="Garamond" panose="02020404030301010803" pitchFamily="18" charset="0"/>
                <a:ea typeface="ＭＳ Ｐゴシック" charset="-128"/>
              </a:rPr>
              <a:t>and/or Imitation</a:t>
            </a:r>
          </a:p>
        </p:txBody>
      </p:sp>
      <p:sp>
        <p:nvSpPr>
          <p:cNvPr id="256003" name="Rectangle 3"/>
          <p:cNvSpPr>
            <a:spLocks noGrp="1" noChangeArrowheads="1"/>
          </p:cNvSpPr>
          <p:nvPr>
            <p:ph type="body" idx="4294967295"/>
          </p:nvPr>
        </p:nvSpPr>
        <p:spPr>
          <a:xfrm>
            <a:off x="1222381" y="1549232"/>
            <a:ext cx="11573691" cy="5175584"/>
          </a:xfrm>
          <a:prstGeom prst="rect">
            <a:avLst/>
          </a:prstGeom>
        </p:spPr>
        <p:txBody>
          <a:bodyPr/>
          <a:lstStyle/>
          <a:p>
            <a:pPr>
              <a:lnSpc>
                <a:spcPct val="90000"/>
              </a:lnSpc>
              <a:spcBef>
                <a:spcPts val="0"/>
              </a:spcBef>
              <a:spcAft>
                <a:spcPts val="0"/>
              </a:spcAft>
            </a:pPr>
            <a:r>
              <a:rPr lang="en-US" altLang="en-US" sz="3600" i="1" dirty="0">
                <a:solidFill>
                  <a:schemeClr val="tx1">
                    <a:lumMod val="50000"/>
                  </a:schemeClr>
                </a:solidFill>
                <a:latin typeface="Garamond" panose="02020404030301010803" pitchFamily="18" charset="0"/>
                <a:ea typeface="ＭＳ Ｐゴシック" charset="-128"/>
              </a:rPr>
              <a:t>Economies of scale: </a:t>
            </a:r>
            <a:r>
              <a:rPr lang="en-US" altLang="en-US" sz="3600" dirty="0">
                <a:solidFill>
                  <a:schemeClr val="tx1">
                    <a:lumMod val="50000"/>
                  </a:schemeClr>
                </a:solidFill>
                <a:latin typeface="Garamond" panose="02020404030301010803" pitchFamily="18" charset="0"/>
                <a:ea typeface="ＭＳ Ｐゴシック" charset="-128"/>
              </a:rPr>
              <a:t>manufacturing, marketing, technological</a:t>
            </a:r>
          </a:p>
          <a:p>
            <a:pPr>
              <a:lnSpc>
                <a:spcPct val="90000"/>
              </a:lnSpc>
              <a:spcBef>
                <a:spcPts val="0"/>
              </a:spcBef>
              <a:spcAft>
                <a:spcPts val="0"/>
              </a:spcAft>
            </a:pPr>
            <a:endParaRPr lang="en-US" altLang="en-US" sz="3600" dirty="0">
              <a:solidFill>
                <a:schemeClr val="tx1">
                  <a:lumMod val="50000"/>
                </a:schemeClr>
              </a:solidFill>
              <a:latin typeface="Garamond" panose="02020404030301010803" pitchFamily="18" charset="0"/>
              <a:ea typeface="ＭＳ Ｐゴシック" charset="-128"/>
            </a:endParaRPr>
          </a:p>
          <a:p>
            <a:pPr>
              <a:lnSpc>
                <a:spcPct val="90000"/>
              </a:lnSpc>
              <a:spcBef>
                <a:spcPts val="0"/>
              </a:spcBef>
              <a:spcAft>
                <a:spcPts val="0"/>
              </a:spcAft>
            </a:pPr>
            <a:r>
              <a:rPr lang="en-US" altLang="en-US" sz="3600" i="1" dirty="0">
                <a:solidFill>
                  <a:schemeClr val="tx1">
                    <a:lumMod val="50000"/>
                  </a:schemeClr>
                </a:solidFill>
                <a:latin typeface="Garamond" panose="02020404030301010803" pitchFamily="18" charset="0"/>
                <a:ea typeface="ＭＳ Ｐゴシック" charset="-128"/>
              </a:rPr>
              <a:t>Customer loyalty: </a:t>
            </a:r>
            <a:r>
              <a:rPr lang="en-US" altLang="en-US" sz="3600" dirty="0">
                <a:solidFill>
                  <a:schemeClr val="tx1">
                    <a:lumMod val="50000"/>
                  </a:schemeClr>
                </a:solidFill>
                <a:latin typeface="Garamond" panose="02020404030301010803" pitchFamily="18" charset="0"/>
                <a:ea typeface="ＭＳ Ｐゴシック" charset="-128"/>
              </a:rPr>
              <a:t>well established brands, long established relationships</a:t>
            </a:r>
          </a:p>
          <a:p>
            <a:pPr>
              <a:lnSpc>
                <a:spcPct val="90000"/>
              </a:lnSpc>
              <a:spcBef>
                <a:spcPts val="0"/>
              </a:spcBef>
              <a:spcAft>
                <a:spcPts val="0"/>
              </a:spcAft>
            </a:pPr>
            <a:endParaRPr lang="en-US" altLang="en-US" sz="3600" dirty="0">
              <a:solidFill>
                <a:schemeClr val="tx1">
                  <a:lumMod val="50000"/>
                </a:schemeClr>
              </a:solidFill>
              <a:latin typeface="Garamond" panose="02020404030301010803" pitchFamily="18" charset="0"/>
              <a:ea typeface="ＭＳ Ｐゴシック" charset="-128"/>
            </a:endParaRPr>
          </a:p>
          <a:p>
            <a:pPr>
              <a:lnSpc>
                <a:spcPct val="90000"/>
              </a:lnSpc>
              <a:spcBef>
                <a:spcPts val="0"/>
              </a:spcBef>
              <a:spcAft>
                <a:spcPts val="0"/>
              </a:spcAft>
            </a:pPr>
            <a:r>
              <a:rPr lang="en-US" altLang="en-US" sz="3600" i="1" dirty="0">
                <a:solidFill>
                  <a:schemeClr val="tx1">
                    <a:lumMod val="50000"/>
                  </a:schemeClr>
                </a:solidFill>
                <a:latin typeface="Garamond" panose="02020404030301010803" pitchFamily="18" charset="0"/>
                <a:ea typeface="ＭＳ Ｐゴシック" charset="-128"/>
              </a:rPr>
              <a:t>Agreements with customers, suppliers, strategic partners</a:t>
            </a:r>
          </a:p>
          <a:p>
            <a:pPr>
              <a:lnSpc>
                <a:spcPct val="90000"/>
              </a:lnSpc>
              <a:spcBef>
                <a:spcPts val="0"/>
              </a:spcBef>
              <a:spcAft>
                <a:spcPts val="0"/>
              </a:spcAft>
            </a:pPr>
            <a:endParaRPr lang="en-US" altLang="en-US" sz="3600" dirty="0">
              <a:solidFill>
                <a:schemeClr val="tx1">
                  <a:lumMod val="50000"/>
                </a:schemeClr>
              </a:solidFill>
              <a:latin typeface="Garamond" panose="02020404030301010803" pitchFamily="18" charset="0"/>
              <a:ea typeface="ＭＳ Ｐゴシック" charset="-128"/>
            </a:endParaRPr>
          </a:p>
          <a:p>
            <a:pPr>
              <a:lnSpc>
                <a:spcPct val="90000"/>
              </a:lnSpc>
              <a:spcBef>
                <a:spcPts val="0"/>
              </a:spcBef>
              <a:spcAft>
                <a:spcPts val="0"/>
              </a:spcAft>
            </a:pPr>
            <a:r>
              <a:rPr lang="en-US" altLang="en-US" sz="3600" i="1" dirty="0">
                <a:solidFill>
                  <a:schemeClr val="tx1">
                    <a:lumMod val="50000"/>
                  </a:schemeClr>
                </a:solidFill>
                <a:latin typeface="Garamond" panose="02020404030301010803" pitchFamily="18" charset="0"/>
                <a:ea typeface="ＭＳ Ｐゴシック" charset="-128"/>
              </a:rPr>
              <a:t>Switching costs</a:t>
            </a:r>
          </a:p>
          <a:p>
            <a:pPr>
              <a:lnSpc>
                <a:spcPct val="90000"/>
              </a:lnSpc>
              <a:spcBef>
                <a:spcPts val="0"/>
              </a:spcBef>
              <a:spcAft>
                <a:spcPts val="0"/>
              </a:spcAft>
            </a:pPr>
            <a:endParaRPr lang="en-US" altLang="en-US" sz="3600" dirty="0">
              <a:solidFill>
                <a:schemeClr val="tx1">
                  <a:lumMod val="50000"/>
                </a:schemeClr>
              </a:solidFill>
              <a:latin typeface="Garamond" panose="02020404030301010803" pitchFamily="18" charset="0"/>
              <a:ea typeface="ＭＳ Ｐゴシック" charset="-128"/>
            </a:endParaRPr>
          </a:p>
          <a:p>
            <a:pPr>
              <a:lnSpc>
                <a:spcPct val="90000"/>
              </a:lnSpc>
              <a:spcBef>
                <a:spcPts val="0"/>
              </a:spcBef>
              <a:spcAft>
                <a:spcPts val="0"/>
              </a:spcAft>
            </a:pPr>
            <a:r>
              <a:rPr lang="en-US" altLang="en-US" sz="3600" i="1" dirty="0">
                <a:solidFill>
                  <a:schemeClr val="tx1">
                    <a:lumMod val="50000"/>
                  </a:schemeClr>
                </a:solidFill>
                <a:latin typeface="Garamond" panose="02020404030301010803" pitchFamily="18" charset="0"/>
                <a:ea typeface="ＭＳ Ｐゴシック" charset="-128"/>
              </a:rPr>
              <a:t>Capital requirements: </a:t>
            </a:r>
            <a:r>
              <a:rPr lang="en-US" altLang="en-US" sz="3600" dirty="0">
                <a:solidFill>
                  <a:schemeClr val="tx1">
                    <a:lumMod val="50000"/>
                  </a:schemeClr>
                </a:solidFill>
                <a:latin typeface="Garamond" panose="02020404030301010803" pitchFamily="18" charset="0"/>
                <a:ea typeface="ＭＳ Ｐゴシック" charset="-128"/>
              </a:rPr>
              <a:t>high investment.  Sunk cost?</a:t>
            </a:r>
          </a:p>
        </p:txBody>
      </p:sp>
    </p:spTree>
    <p:extLst>
      <p:ext uri="{BB962C8B-B14F-4D97-AF65-F5344CB8AC3E}">
        <p14:creationId xmlns:p14="http://schemas.microsoft.com/office/powerpoint/2010/main" val="3410247603"/>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5600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600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600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5600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5600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p:cNvSpPr>
            <a:spLocks noGrp="1" noChangeArrowheads="1"/>
          </p:cNvSpPr>
          <p:nvPr>
            <p:ph type="title"/>
          </p:nvPr>
        </p:nvSpPr>
        <p:spPr>
          <a:xfrm>
            <a:off x="-1440479" y="244116"/>
            <a:ext cx="16257321" cy="861774"/>
          </a:xfrm>
        </p:spPr>
        <p:txBody>
          <a:bodyPr/>
          <a:lstStyle/>
          <a:p>
            <a:pPr algn="ctr"/>
            <a:r>
              <a:rPr lang="en-US" altLang="en-US" sz="4400" dirty="0">
                <a:latin typeface="Garamond" panose="02020404030301010803" pitchFamily="18" charset="0"/>
                <a:ea typeface="ＭＳ Ｐゴシック" charset="-128"/>
              </a:rPr>
              <a:t>Barriers to Entry and/or Imitation</a:t>
            </a:r>
            <a:endParaRPr lang="en-US" altLang="en-US" sz="6000" dirty="0">
              <a:latin typeface="Garamond" panose="02020404030301010803" pitchFamily="18" charset="0"/>
              <a:ea typeface="ＭＳ Ｐゴシック" charset="-128"/>
            </a:endParaRPr>
          </a:p>
        </p:txBody>
      </p:sp>
      <p:sp>
        <p:nvSpPr>
          <p:cNvPr id="103426" name="Rectangle 3"/>
          <p:cNvSpPr>
            <a:spLocks noGrp="1" noChangeArrowheads="1"/>
          </p:cNvSpPr>
          <p:nvPr>
            <p:ph type="body" idx="4294967295"/>
          </p:nvPr>
        </p:nvSpPr>
        <p:spPr>
          <a:xfrm>
            <a:off x="966649" y="1105890"/>
            <a:ext cx="11443063" cy="5965031"/>
          </a:xfrm>
          <a:prstGeom prst="rect">
            <a:avLst/>
          </a:prstGeom>
        </p:spPr>
        <p:txBody>
          <a:bodyPr/>
          <a:lstStyle/>
          <a:p>
            <a:pPr>
              <a:lnSpc>
                <a:spcPct val="80000"/>
              </a:lnSpc>
              <a:spcBef>
                <a:spcPts val="0"/>
              </a:spcBef>
              <a:spcAft>
                <a:spcPts val="0"/>
              </a:spcAft>
            </a:pPr>
            <a:r>
              <a:rPr lang="en-US" altLang="en-US" sz="3600" i="1" dirty="0">
                <a:solidFill>
                  <a:schemeClr val="tx1">
                    <a:lumMod val="50000"/>
                  </a:schemeClr>
                </a:solidFill>
                <a:latin typeface="Garamond" panose="02020404030301010803" pitchFamily="18" charset="0"/>
                <a:ea typeface="ＭＳ Ｐゴシック" charset="-128"/>
              </a:rPr>
              <a:t>Access to distribution channels: </a:t>
            </a:r>
            <a:r>
              <a:rPr lang="en-US" altLang="en-US" sz="3600" dirty="0">
                <a:solidFill>
                  <a:schemeClr val="tx1">
                    <a:lumMod val="50000"/>
                  </a:schemeClr>
                </a:solidFill>
                <a:latin typeface="Garamond" panose="02020404030301010803" pitchFamily="18" charset="0"/>
                <a:ea typeface="ＭＳ Ｐゴシック" charset="-128"/>
              </a:rPr>
              <a:t>exclusive distribution agreements, dominant position of competitors</a:t>
            </a:r>
          </a:p>
          <a:p>
            <a:pPr>
              <a:lnSpc>
                <a:spcPct val="80000"/>
              </a:lnSpc>
              <a:spcBef>
                <a:spcPts val="0"/>
              </a:spcBef>
              <a:spcAft>
                <a:spcPts val="0"/>
              </a:spcAft>
            </a:pPr>
            <a:endParaRPr lang="en-US" altLang="en-US" sz="3600" dirty="0">
              <a:solidFill>
                <a:schemeClr val="tx1">
                  <a:lumMod val="50000"/>
                </a:schemeClr>
              </a:solidFill>
              <a:latin typeface="Garamond" panose="02020404030301010803" pitchFamily="18" charset="0"/>
              <a:ea typeface="ＭＳ Ｐゴシック" charset="-128"/>
            </a:endParaRPr>
          </a:p>
          <a:p>
            <a:pPr>
              <a:lnSpc>
                <a:spcPct val="80000"/>
              </a:lnSpc>
              <a:spcBef>
                <a:spcPts val="0"/>
              </a:spcBef>
              <a:spcAft>
                <a:spcPts val="0"/>
              </a:spcAft>
            </a:pPr>
            <a:r>
              <a:rPr lang="en-US" altLang="en-US" sz="3600" i="1" dirty="0">
                <a:solidFill>
                  <a:schemeClr val="tx1">
                    <a:lumMod val="50000"/>
                  </a:schemeClr>
                </a:solidFill>
                <a:latin typeface="Garamond" panose="02020404030301010803" pitchFamily="18" charset="0"/>
                <a:ea typeface="ＭＳ Ｐゴシック" charset="-128"/>
              </a:rPr>
              <a:t>Intellectual property: </a:t>
            </a:r>
            <a:r>
              <a:rPr lang="en-US" altLang="en-US" sz="3600" dirty="0">
                <a:solidFill>
                  <a:schemeClr val="tx1">
                    <a:lumMod val="50000"/>
                  </a:schemeClr>
                </a:solidFill>
                <a:latin typeface="Garamond" panose="02020404030301010803" pitchFamily="18" charset="0"/>
                <a:ea typeface="ＭＳ Ｐゴシック" charset="-128"/>
              </a:rPr>
              <a:t>patents, trade secrets, copyrights, trademarks, know-how</a:t>
            </a:r>
          </a:p>
          <a:p>
            <a:pPr>
              <a:lnSpc>
                <a:spcPct val="80000"/>
              </a:lnSpc>
              <a:spcBef>
                <a:spcPts val="0"/>
              </a:spcBef>
              <a:spcAft>
                <a:spcPts val="0"/>
              </a:spcAft>
            </a:pPr>
            <a:endParaRPr lang="en-US" altLang="en-US" sz="3600" dirty="0">
              <a:solidFill>
                <a:schemeClr val="tx1">
                  <a:lumMod val="50000"/>
                </a:schemeClr>
              </a:solidFill>
              <a:latin typeface="Garamond" panose="02020404030301010803" pitchFamily="18" charset="0"/>
              <a:ea typeface="ＭＳ Ｐゴシック" charset="-128"/>
            </a:endParaRPr>
          </a:p>
          <a:p>
            <a:pPr>
              <a:lnSpc>
                <a:spcPct val="80000"/>
              </a:lnSpc>
              <a:spcBef>
                <a:spcPts val="0"/>
              </a:spcBef>
              <a:spcAft>
                <a:spcPts val="0"/>
              </a:spcAft>
            </a:pPr>
            <a:r>
              <a:rPr lang="en-US" altLang="en-US" sz="3600" i="1" dirty="0">
                <a:solidFill>
                  <a:schemeClr val="tx1">
                    <a:lumMod val="50000"/>
                  </a:schemeClr>
                </a:solidFill>
                <a:latin typeface="Garamond" panose="02020404030301010803" pitchFamily="18" charset="0"/>
                <a:ea typeface="ＭＳ Ｐゴシック" charset="-128"/>
              </a:rPr>
              <a:t>Government regulations: </a:t>
            </a:r>
            <a:r>
              <a:rPr lang="en-US" altLang="en-US" sz="3600" dirty="0">
                <a:solidFill>
                  <a:schemeClr val="tx1">
                    <a:lumMod val="50000"/>
                  </a:schemeClr>
                </a:solidFill>
                <a:latin typeface="Garamond" panose="02020404030301010803" pitchFamily="18" charset="0"/>
                <a:ea typeface="ＭＳ Ｐゴシック" charset="-128"/>
              </a:rPr>
              <a:t>Regulated monopolies, import restrictions</a:t>
            </a:r>
          </a:p>
          <a:p>
            <a:pPr>
              <a:lnSpc>
                <a:spcPct val="80000"/>
              </a:lnSpc>
              <a:spcBef>
                <a:spcPts val="0"/>
              </a:spcBef>
              <a:spcAft>
                <a:spcPts val="0"/>
              </a:spcAft>
            </a:pPr>
            <a:endParaRPr lang="en-US" altLang="en-US" sz="3600" dirty="0">
              <a:solidFill>
                <a:schemeClr val="tx1">
                  <a:lumMod val="50000"/>
                </a:schemeClr>
              </a:solidFill>
              <a:latin typeface="Garamond" panose="02020404030301010803" pitchFamily="18" charset="0"/>
              <a:ea typeface="ＭＳ Ｐゴシック" charset="-128"/>
            </a:endParaRPr>
          </a:p>
          <a:p>
            <a:pPr>
              <a:lnSpc>
                <a:spcPct val="80000"/>
              </a:lnSpc>
              <a:spcBef>
                <a:spcPts val="0"/>
              </a:spcBef>
              <a:spcAft>
                <a:spcPts val="0"/>
              </a:spcAft>
            </a:pPr>
            <a:r>
              <a:rPr lang="en-US" altLang="en-US" sz="3600" i="1" dirty="0">
                <a:solidFill>
                  <a:schemeClr val="tx1">
                    <a:lumMod val="50000"/>
                  </a:schemeClr>
                </a:solidFill>
                <a:latin typeface="Garamond" panose="02020404030301010803" pitchFamily="18" charset="0"/>
                <a:ea typeface="ＭＳ Ｐゴシック" charset="-128"/>
              </a:rPr>
              <a:t>Hostility to new entrants: </a:t>
            </a:r>
            <a:r>
              <a:rPr lang="en-US" altLang="en-US" sz="3600" dirty="0">
                <a:solidFill>
                  <a:schemeClr val="tx1">
                    <a:lumMod val="50000"/>
                  </a:schemeClr>
                </a:solidFill>
                <a:latin typeface="Garamond" panose="02020404030301010803" pitchFamily="18" charset="0"/>
                <a:ea typeface="ＭＳ Ｐゴシック" charset="-128"/>
              </a:rPr>
              <a:t>Use all means to drive out new competition: pricing, legal, spreading rumors</a:t>
            </a:r>
          </a:p>
          <a:p>
            <a:pPr>
              <a:lnSpc>
                <a:spcPct val="80000"/>
              </a:lnSpc>
              <a:spcBef>
                <a:spcPts val="0"/>
              </a:spcBef>
              <a:spcAft>
                <a:spcPts val="0"/>
              </a:spcAft>
            </a:pPr>
            <a:endParaRPr lang="en-US" altLang="en-US" sz="3600" dirty="0">
              <a:solidFill>
                <a:schemeClr val="tx1">
                  <a:lumMod val="50000"/>
                </a:schemeClr>
              </a:solidFill>
              <a:latin typeface="Garamond" panose="02020404030301010803" pitchFamily="18" charset="0"/>
              <a:ea typeface="ＭＳ Ｐゴシック" charset="-128"/>
            </a:endParaRPr>
          </a:p>
          <a:p>
            <a:pPr>
              <a:lnSpc>
                <a:spcPct val="80000"/>
              </a:lnSpc>
              <a:spcBef>
                <a:spcPts val="0"/>
              </a:spcBef>
              <a:spcAft>
                <a:spcPts val="0"/>
              </a:spcAft>
            </a:pPr>
            <a:r>
              <a:rPr lang="en-US" altLang="en-US" sz="3600" i="1" dirty="0">
                <a:solidFill>
                  <a:schemeClr val="tx1">
                    <a:lumMod val="50000"/>
                  </a:schemeClr>
                </a:solidFill>
                <a:latin typeface="Garamond" panose="02020404030301010803" pitchFamily="18" charset="0"/>
                <a:ea typeface="ＭＳ Ｐゴシック" charset="-128"/>
              </a:rPr>
              <a:t>Network externalities and customer lock in</a:t>
            </a:r>
          </a:p>
        </p:txBody>
      </p:sp>
    </p:spTree>
    <p:extLst>
      <p:ext uri="{BB962C8B-B14F-4D97-AF65-F5344CB8AC3E}">
        <p14:creationId xmlns:p14="http://schemas.microsoft.com/office/powerpoint/2010/main" val="2284853849"/>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ChangeArrowheads="1"/>
          </p:cNvSpPr>
          <p:nvPr/>
        </p:nvSpPr>
        <p:spPr bwMode="auto">
          <a:xfrm>
            <a:off x="2504440" y="7081520"/>
            <a:ext cx="2159000" cy="518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2267"/>
          </a:p>
        </p:txBody>
      </p:sp>
      <p:sp>
        <p:nvSpPr>
          <p:cNvPr id="110597" name="Rectangle 5"/>
          <p:cNvSpPr>
            <a:spLocks noChangeArrowheads="1"/>
          </p:cNvSpPr>
          <p:nvPr/>
        </p:nvSpPr>
        <p:spPr bwMode="auto">
          <a:xfrm>
            <a:off x="548640" y="378899"/>
            <a:ext cx="13039344" cy="12097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17961" dir="2700000" algn="ctr" rotWithShape="0">
                    <a:schemeClr val="bg2">
                      <a:alpha val="74998"/>
                    </a:schemeClr>
                  </a:outerShdw>
                </a:effectLst>
              </a14:hiddenEffects>
            </a:ext>
          </a:extLst>
        </p:spPr>
        <p:txBody>
          <a:bodyPr wrap="square" lIns="102553" tIns="50377" rIns="102553" bIns="50377">
            <a:spAutoFit/>
          </a:bodyPr>
          <a:lstStyle/>
          <a:p>
            <a:pPr algn="ctr"/>
            <a:r>
              <a:rPr lang="en-US" altLang="en-US" sz="4400" b="1" dirty="0">
                <a:solidFill>
                  <a:schemeClr val="tx2"/>
                </a:solidFill>
                <a:latin typeface="Garamond" panose="02020404030301010803" pitchFamily="18" charset="0"/>
                <a:ea typeface="ＭＳ Ｐゴシック" charset="-128"/>
              </a:rPr>
              <a:t>“The Core Competence of the Corporation”  </a:t>
            </a:r>
          </a:p>
          <a:p>
            <a:pPr algn="ctr"/>
            <a:r>
              <a:rPr lang="en-US" altLang="en-US" sz="2800" b="1" dirty="0" err="1">
                <a:solidFill>
                  <a:schemeClr val="tx2"/>
                </a:solidFill>
                <a:latin typeface="Garamond" panose="02020404030301010803" pitchFamily="18" charset="0"/>
                <a:ea typeface="ＭＳ Ｐゴシック" charset="-128"/>
              </a:rPr>
              <a:t>Prahalad</a:t>
            </a:r>
            <a:r>
              <a:rPr lang="en-US" altLang="en-US" sz="2800" b="1" dirty="0">
                <a:solidFill>
                  <a:schemeClr val="tx2"/>
                </a:solidFill>
                <a:latin typeface="Garamond" panose="02020404030301010803" pitchFamily="18" charset="0"/>
                <a:ea typeface="ＭＳ Ｐゴシック" charset="-128"/>
              </a:rPr>
              <a:t> and Hamel</a:t>
            </a:r>
          </a:p>
        </p:txBody>
      </p:sp>
      <p:sp>
        <p:nvSpPr>
          <p:cNvPr id="110600" name="Rectangle 8"/>
          <p:cNvSpPr>
            <a:spLocks noChangeArrowheads="1"/>
          </p:cNvSpPr>
          <p:nvPr/>
        </p:nvSpPr>
        <p:spPr bwMode="auto">
          <a:xfrm>
            <a:off x="1403931" y="1808675"/>
            <a:ext cx="11590020" cy="6257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2553" tIns="50377" rIns="102553" bIns="50377">
            <a:spAutoFit/>
          </a:bodyPr>
          <a:lstStyle/>
          <a:p>
            <a:pPr marL="457200" indent="-457200">
              <a:buFont typeface="Courier New" panose="02070309020205020404" pitchFamily="49" charset="0"/>
              <a:buChar char="o"/>
            </a:pPr>
            <a:r>
              <a:rPr lang="en-US" altLang="en-US" sz="3600" dirty="0">
                <a:solidFill>
                  <a:srgbClr val="092529"/>
                </a:solidFill>
                <a:latin typeface="Garamond" panose="02020404030301010803" pitchFamily="18" charset="0"/>
                <a:ea typeface="ＭＳ Ｐゴシック" charset="-128"/>
              </a:rPr>
              <a:t>Core competencies are resources or capabilities that can serve as a source of competitive advantage across the entire corporation</a:t>
            </a:r>
          </a:p>
          <a:p>
            <a:pPr marL="457200" indent="-457200">
              <a:buFont typeface="Courier New" panose="02070309020205020404" pitchFamily="49" charset="0"/>
              <a:buChar char="o"/>
            </a:pPr>
            <a:endParaRPr lang="en-US" altLang="en-US" sz="3600" dirty="0">
              <a:solidFill>
                <a:srgbClr val="092529"/>
              </a:solidFill>
              <a:latin typeface="Garamond" panose="02020404030301010803" pitchFamily="18" charset="0"/>
              <a:ea typeface="ＭＳ Ｐゴシック" charset="-128"/>
            </a:endParaRPr>
          </a:p>
          <a:p>
            <a:pPr marL="457200" indent="-457200">
              <a:buFont typeface="Courier New" panose="02070309020205020404" pitchFamily="49" charset="0"/>
              <a:buChar char="o"/>
            </a:pPr>
            <a:r>
              <a:rPr lang="en-US" altLang="en-US" sz="3600" dirty="0">
                <a:solidFill>
                  <a:srgbClr val="092529"/>
                </a:solidFill>
                <a:latin typeface="Garamond" panose="02020404030301010803" pitchFamily="18" charset="0"/>
                <a:ea typeface="ＭＳ Ｐゴシック" charset="-128"/>
              </a:rPr>
              <a:t>Are the basis for a firm’s Strategic Competitiveness and Ability to Earn Above-average Returns. </a:t>
            </a:r>
          </a:p>
          <a:p>
            <a:pPr marL="457200" indent="-457200">
              <a:buFont typeface="Courier New" panose="02070309020205020404" pitchFamily="49" charset="0"/>
              <a:buChar char="o"/>
            </a:pPr>
            <a:endParaRPr lang="en-US" altLang="en-US" sz="3600" dirty="0">
              <a:solidFill>
                <a:srgbClr val="092529"/>
              </a:solidFill>
              <a:latin typeface="Garamond" panose="02020404030301010803" pitchFamily="18" charset="0"/>
              <a:ea typeface="ＭＳ Ｐゴシック" charset="-128"/>
            </a:endParaRPr>
          </a:p>
          <a:p>
            <a:pPr marL="457200" indent="-457200">
              <a:buFont typeface="Courier New" panose="02070309020205020404" pitchFamily="49" charset="0"/>
              <a:buChar char="o"/>
            </a:pPr>
            <a:r>
              <a:rPr lang="en-US" altLang="en-US" sz="3600" dirty="0">
                <a:solidFill>
                  <a:srgbClr val="092529"/>
                </a:solidFill>
                <a:latin typeface="Garamond" panose="02020404030301010803" pitchFamily="18" charset="0"/>
                <a:ea typeface="ＭＳ Ｐゴシック" charset="-128"/>
              </a:rPr>
              <a:t>Implications for </a:t>
            </a:r>
            <a:r>
              <a:rPr lang="en-US" altLang="en-US" sz="3600" u="sng" dirty="0">
                <a:solidFill>
                  <a:srgbClr val="092529"/>
                </a:solidFill>
                <a:latin typeface="Garamond" panose="02020404030301010803" pitchFamily="18" charset="0"/>
                <a:ea typeface="ＭＳ Ｐゴシック" charset="-128"/>
              </a:rPr>
              <a:t>Corporate</a:t>
            </a:r>
            <a:r>
              <a:rPr lang="en-US" altLang="en-US" sz="3600" dirty="0">
                <a:solidFill>
                  <a:srgbClr val="092529"/>
                </a:solidFill>
                <a:latin typeface="Garamond" panose="02020404030301010803" pitchFamily="18" charset="0"/>
                <a:ea typeface="ＭＳ Ｐゴシック" charset="-128"/>
              </a:rPr>
              <a:t> Strategy</a:t>
            </a:r>
          </a:p>
          <a:p>
            <a:pPr marL="1080792" lvl="1" indent="-571500">
              <a:buFont typeface="Arial" panose="020B0604020202020204" pitchFamily="34" charset="0"/>
              <a:buChar char="•"/>
            </a:pPr>
            <a:r>
              <a:rPr lang="en-US" altLang="en-US" sz="3600" dirty="0">
                <a:solidFill>
                  <a:srgbClr val="092529"/>
                </a:solidFill>
                <a:latin typeface="Garamond" panose="02020404030301010803" pitchFamily="18" charset="0"/>
                <a:ea typeface="ＭＳ Ｐゴシック" charset="-128"/>
              </a:rPr>
              <a:t>Vertical Integration</a:t>
            </a:r>
          </a:p>
          <a:p>
            <a:pPr marL="1080792" lvl="1" indent="-571500">
              <a:buFont typeface="Arial" panose="020B0604020202020204" pitchFamily="34" charset="0"/>
              <a:buChar char="•"/>
            </a:pPr>
            <a:r>
              <a:rPr lang="en-US" altLang="en-US" sz="3600" dirty="0">
                <a:solidFill>
                  <a:srgbClr val="092529"/>
                </a:solidFill>
                <a:latin typeface="Garamond" panose="02020404030301010803" pitchFamily="18" charset="0"/>
                <a:ea typeface="ＭＳ Ｐゴシック" charset="-128"/>
              </a:rPr>
              <a:t>Diversification</a:t>
            </a:r>
          </a:p>
          <a:p>
            <a:endParaRPr lang="en-US" altLang="en-US" sz="4000" b="1" dirty="0">
              <a:solidFill>
                <a:srgbClr val="092529"/>
              </a:solidFill>
              <a:effectLst>
                <a:outerShdw blurRad="38100" dist="38100" dir="2700000" algn="tl">
                  <a:srgbClr val="000000"/>
                </a:outerShdw>
              </a:effectLst>
              <a:latin typeface="Garamond" panose="02020404030301010803" pitchFamily="18" charset="0"/>
            </a:endParaRPr>
          </a:p>
        </p:txBody>
      </p:sp>
    </p:spTree>
    <p:extLst>
      <p:ext uri="{BB962C8B-B14F-4D97-AF65-F5344CB8AC3E}">
        <p14:creationId xmlns:p14="http://schemas.microsoft.com/office/powerpoint/2010/main" val="3275408154"/>
      </p:ext>
    </p:extLst>
  </p:cSld>
  <p:clrMapOvr>
    <a:masterClrMapping/>
  </p:clrMapOvr>
  <p:transition spd="slow">
    <p:blinds/>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p:cNvSpPr>
            <a:spLocks noGrp="1"/>
          </p:cNvSpPr>
          <p:nvPr>
            <p:ph type="title"/>
          </p:nvPr>
        </p:nvSpPr>
        <p:spPr>
          <a:xfrm>
            <a:off x="628073" y="440675"/>
            <a:ext cx="12561453" cy="1200329"/>
          </a:xfrm>
        </p:spPr>
        <p:txBody>
          <a:bodyPr/>
          <a:lstStyle/>
          <a:p>
            <a:r>
              <a:rPr lang="en-US" altLang="en-US" sz="6600" dirty="0">
                <a:latin typeface="Garamond" panose="02020404030301010803" pitchFamily="18" charset="0"/>
                <a:ea typeface="ＭＳ Ｐゴシック" charset="-128"/>
              </a:rPr>
              <a:t>Other thoughts on strategy</a:t>
            </a:r>
          </a:p>
        </p:txBody>
      </p:sp>
      <p:sp>
        <p:nvSpPr>
          <p:cNvPr id="39938" name="Content Placeholder 2"/>
          <p:cNvSpPr>
            <a:spLocks noGrp="1"/>
          </p:cNvSpPr>
          <p:nvPr>
            <p:ph idx="4294967295"/>
          </p:nvPr>
        </p:nvSpPr>
        <p:spPr>
          <a:xfrm>
            <a:off x="1331334" y="1914938"/>
            <a:ext cx="10712356" cy="3933706"/>
          </a:xfrm>
          <a:prstGeom prst="rect">
            <a:avLst/>
          </a:prstGeom>
        </p:spPr>
        <p:txBody>
          <a:bodyPr/>
          <a:lstStyle/>
          <a:p>
            <a:r>
              <a:rPr lang="en-US" altLang="en-US" sz="3600" dirty="0">
                <a:solidFill>
                  <a:schemeClr val="tx1">
                    <a:lumMod val="50000"/>
                  </a:schemeClr>
                </a:solidFill>
                <a:latin typeface="Garamond" panose="02020404030301010803" pitchFamily="18" charset="0"/>
                <a:ea typeface="ＭＳ Ｐゴシック" charset="-128"/>
              </a:rPr>
              <a:t>No rules for riches</a:t>
            </a:r>
          </a:p>
          <a:p>
            <a:r>
              <a:rPr lang="en-US" altLang="en-US" sz="3600" dirty="0">
                <a:solidFill>
                  <a:schemeClr val="tx1">
                    <a:lumMod val="50000"/>
                  </a:schemeClr>
                </a:solidFill>
                <a:latin typeface="Garamond" panose="02020404030301010803" pitchFamily="18" charset="0"/>
                <a:ea typeface="ＭＳ Ｐゴシック" charset="-128"/>
              </a:rPr>
              <a:t>The failure of a strategy does not necessarily imply a bad strategy</a:t>
            </a:r>
          </a:p>
          <a:p>
            <a:r>
              <a:rPr lang="en-US" altLang="en-US" sz="3600" dirty="0">
                <a:solidFill>
                  <a:schemeClr val="tx1">
                    <a:lumMod val="50000"/>
                  </a:schemeClr>
                </a:solidFill>
                <a:latin typeface="Garamond" panose="02020404030301010803" pitchFamily="18" charset="0"/>
                <a:ea typeface="ＭＳ Ｐゴシック" charset="-128"/>
              </a:rPr>
              <a:t>Strategy is good luck rationalized by hindsight</a:t>
            </a:r>
          </a:p>
          <a:p>
            <a:r>
              <a:rPr lang="en-US" altLang="en-US" sz="3600" dirty="0">
                <a:solidFill>
                  <a:schemeClr val="tx1">
                    <a:lumMod val="50000"/>
                  </a:schemeClr>
                </a:solidFill>
                <a:latin typeface="Garamond" panose="02020404030301010803" pitchFamily="18" charset="0"/>
                <a:ea typeface="ＭＳ Ｐゴシック" charset="-128"/>
              </a:rPr>
              <a:t>Strategy is determined by what you decide not to do</a:t>
            </a:r>
          </a:p>
        </p:txBody>
      </p:sp>
      <p:sp>
        <p:nvSpPr>
          <p:cNvPr id="39939" name="Slide Number Placeholder 3"/>
          <p:cNvSpPr>
            <a:spLocks noGrp="1"/>
          </p:cNvSpPr>
          <p:nvPr>
            <p:ph type="sldNum" sz="quarter" idx="4294967295"/>
          </p:nvPr>
        </p:nvSpPr>
        <p:spPr>
          <a:xfrm>
            <a:off x="9154160" y="7077922"/>
            <a:ext cx="2418080" cy="5397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5F5F5F"/>
              </a:buClr>
              <a:buSzPct val="75000"/>
              <a:buFont typeface="Wingdings" charset="2"/>
              <a:buChar char="n"/>
              <a:defRPr kumimoji="1" sz="3627">
                <a:solidFill>
                  <a:schemeClr val="tx1"/>
                </a:solidFill>
                <a:latin typeface="Tahoma" charset="0"/>
                <a:ea typeface="ＭＳ Ｐゴシック" charset="-128"/>
              </a:defRPr>
            </a:lvl1pPr>
            <a:lvl2pPr marL="841985" indent="-323840">
              <a:spcBef>
                <a:spcPct val="20000"/>
              </a:spcBef>
              <a:buClr>
                <a:srgbClr val="5F5F5F"/>
              </a:buClr>
              <a:buSzPct val="75000"/>
              <a:buFont typeface="Wingdings" charset="2"/>
              <a:buChar char="n"/>
              <a:defRPr kumimoji="1" sz="3173">
                <a:solidFill>
                  <a:schemeClr val="tx1"/>
                </a:solidFill>
                <a:latin typeface="Tahoma" charset="0"/>
                <a:ea typeface="ＭＳ Ｐゴシック" charset="-128"/>
              </a:defRPr>
            </a:lvl2pPr>
            <a:lvl3pPr marL="1295362" indent="-259072">
              <a:spcBef>
                <a:spcPct val="20000"/>
              </a:spcBef>
              <a:buClr>
                <a:srgbClr val="5F5F5F"/>
              </a:buClr>
              <a:buSzPct val="75000"/>
              <a:buFont typeface="Wingdings" charset="2"/>
              <a:buChar char="n"/>
              <a:defRPr kumimoji="1" sz="2720">
                <a:solidFill>
                  <a:schemeClr val="tx1"/>
                </a:solidFill>
                <a:latin typeface="Tahoma" charset="0"/>
                <a:ea typeface="ＭＳ Ｐゴシック" charset="-128"/>
              </a:defRPr>
            </a:lvl3pPr>
            <a:lvl4pPr marL="1813507" indent="-259072">
              <a:spcBef>
                <a:spcPct val="20000"/>
              </a:spcBef>
              <a:buClr>
                <a:srgbClr val="5F5F5F"/>
              </a:buClr>
              <a:buSzPct val="75000"/>
              <a:buFont typeface="Wingdings" charset="2"/>
              <a:buChar char="n"/>
              <a:defRPr kumimoji="1" sz="2267">
                <a:solidFill>
                  <a:schemeClr val="tx1"/>
                </a:solidFill>
                <a:latin typeface="Tahoma" charset="0"/>
                <a:ea typeface="ＭＳ Ｐゴシック" charset="-128"/>
              </a:defRPr>
            </a:lvl4pPr>
            <a:lvl5pPr marL="2331651" indent="-259072">
              <a:spcBef>
                <a:spcPct val="20000"/>
              </a:spcBef>
              <a:buClr>
                <a:srgbClr val="5F5F5F"/>
              </a:buClr>
              <a:buSzPct val="75000"/>
              <a:buFont typeface="Wingdings" charset="2"/>
              <a:buChar char="n"/>
              <a:defRPr kumimoji="1" sz="2267">
                <a:solidFill>
                  <a:schemeClr val="tx1"/>
                </a:solidFill>
                <a:latin typeface="Tahoma" charset="0"/>
                <a:ea typeface="ＭＳ Ｐゴシック" charset="-128"/>
              </a:defRPr>
            </a:lvl5pPr>
            <a:lvl6pPr marL="2849796" indent="-259072" eaLnBrk="0" fontAlgn="base" hangingPunct="0">
              <a:spcBef>
                <a:spcPct val="20000"/>
              </a:spcBef>
              <a:spcAft>
                <a:spcPct val="0"/>
              </a:spcAft>
              <a:buClr>
                <a:srgbClr val="5F5F5F"/>
              </a:buClr>
              <a:buSzPct val="75000"/>
              <a:buFont typeface="Wingdings" charset="2"/>
              <a:buChar char="n"/>
              <a:defRPr kumimoji="1" sz="2267">
                <a:solidFill>
                  <a:schemeClr val="tx1"/>
                </a:solidFill>
                <a:latin typeface="Tahoma" charset="0"/>
                <a:ea typeface="ＭＳ Ｐゴシック" charset="-128"/>
              </a:defRPr>
            </a:lvl6pPr>
            <a:lvl7pPr marL="3367941" indent="-259072" eaLnBrk="0" fontAlgn="base" hangingPunct="0">
              <a:spcBef>
                <a:spcPct val="20000"/>
              </a:spcBef>
              <a:spcAft>
                <a:spcPct val="0"/>
              </a:spcAft>
              <a:buClr>
                <a:srgbClr val="5F5F5F"/>
              </a:buClr>
              <a:buSzPct val="75000"/>
              <a:buFont typeface="Wingdings" charset="2"/>
              <a:buChar char="n"/>
              <a:defRPr kumimoji="1" sz="2267">
                <a:solidFill>
                  <a:schemeClr val="tx1"/>
                </a:solidFill>
                <a:latin typeface="Tahoma" charset="0"/>
                <a:ea typeface="ＭＳ Ｐゴシック" charset="-128"/>
              </a:defRPr>
            </a:lvl7pPr>
            <a:lvl8pPr marL="3886086" indent="-259072" eaLnBrk="0" fontAlgn="base" hangingPunct="0">
              <a:spcBef>
                <a:spcPct val="20000"/>
              </a:spcBef>
              <a:spcAft>
                <a:spcPct val="0"/>
              </a:spcAft>
              <a:buClr>
                <a:srgbClr val="5F5F5F"/>
              </a:buClr>
              <a:buSzPct val="75000"/>
              <a:buFont typeface="Wingdings" charset="2"/>
              <a:buChar char="n"/>
              <a:defRPr kumimoji="1" sz="2267">
                <a:solidFill>
                  <a:schemeClr val="tx1"/>
                </a:solidFill>
                <a:latin typeface="Tahoma" charset="0"/>
                <a:ea typeface="ＭＳ Ｐゴシック" charset="-128"/>
              </a:defRPr>
            </a:lvl8pPr>
            <a:lvl9pPr marL="4404230" indent="-259072" eaLnBrk="0" fontAlgn="base" hangingPunct="0">
              <a:spcBef>
                <a:spcPct val="20000"/>
              </a:spcBef>
              <a:spcAft>
                <a:spcPct val="0"/>
              </a:spcAft>
              <a:buClr>
                <a:srgbClr val="5F5F5F"/>
              </a:buClr>
              <a:buSzPct val="75000"/>
              <a:buFont typeface="Wingdings" charset="2"/>
              <a:buChar char="n"/>
              <a:defRPr kumimoji="1" sz="2267">
                <a:solidFill>
                  <a:schemeClr val="tx1"/>
                </a:solidFill>
                <a:latin typeface="Tahoma" charset="0"/>
                <a:ea typeface="ＭＳ Ｐゴシック" charset="-128"/>
              </a:defRPr>
            </a:lvl9pPr>
          </a:lstStyle>
          <a:p>
            <a:pPr>
              <a:spcBef>
                <a:spcPct val="0"/>
              </a:spcBef>
              <a:buClrTx/>
              <a:buSzTx/>
              <a:buFontTx/>
              <a:buNone/>
            </a:pPr>
            <a:r>
              <a:rPr kumimoji="0" lang="en-US" altLang="en-US" sz="1587">
                <a:latin typeface="Times New Roman" charset="0"/>
              </a:rPr>
              <a:t> 1-</a:t>
            </a:r>
            <a:fld id="{0FE6B30B-6ED4-7F4A-91C3-315F5F313AC5}" type="slidenum">
              <a:rPr kumimoji="0" lang="en-US" altLang="en-US" sz="1587">
                <a:latin typeface="Times New Roman" charset="0"/>
              </a:rPr>
              <a:pPr>
                <a:spcBef>
                  <a:spcPct val="0"/>
                </a:spcBef>
                <a:buClrTx/>
                <a:buSzTx/>
                <a:buFontTx/>
                <a:buNone/>
              </a:pPr>
              <a:t>52</a:t>
            </a:fld>
            <a:endParaRPr kumimoji="0" lang="en-US" altLang="en-US" sz="1587">
              <a:latin typeface="Times New Roman" charset="0"/>
            </a:endParaRPr>
          </a:p>
        </p:txBody>
      </p:sp>
    </p:spTree>
    <p:extLst>
      <p:ext uri="{BB962C8B-B14F-4D97-AF65-F5344CB8AC3E}">
        <p14:creationId xmlns:p14="http://schemas.microsoft.com/office/powerpoint/2010/main" val="406576102"/>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93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93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93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993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Rectangle 2"/>
          <p:cNvSpPr>
            <a:spLocks noGrp="1" noChangeArrowheads="1"/>
          </p:cNvSpPr>
          <p:nvPr>
            <p:ph type="title"/>
          </p:nvPr>
        </p:nvSpPr>
        <p:spPr>
          <a:xfrm>
            <a:off x="365760" y="329184"/>
            <a:ext cx="13451840" cy="1846659"/>
          </a:xfrm>
        </p:spPr>
        <p:txBody>
          <a:bodyPr/>
          <a:lstStyle/>
          <a:p>
            <a:pPr eaLnBrk="1" hangingPunct="1"/>
            <a:r>
              <a:rPr lang="en-US" altLang="en-US" b="1" dirty="0">
                <a:latin typeface="Garamond" panose="02020404030301010803" pitchFamily="18" charset="0"/>
                <a:ea typeface="ＭＳ Ｐゴシック" charset="-128"/>
              </a:rPr>
              <a:t>Economic/Entrepreneurial Opportunity</a:t>
            </a:r>
            <a:br>
              <a:rPr lang="en-US" altLang="en-US" b="1" dirty="0">
                <a:latin typeface="Garamond" panose="02020404030301010803" pitchFamily="18" charset="0"/>
                <a:ea typeface="ＭＳ Ｐゴシック" charset="-128"/>
              </a:rPr>
            </a:br>
            <a:endParaRPr lang="en-CA" altLang="en-US" dirty="0">
              <a:latin typeface="Garamond" panose="02020404030301010803" pitchFamily="18" charset="0"/>
              <a:ea typeface="ＭＳ Ｐゴシック" charset="-128"/>
            </a:endParaRPr>
          </a:p>
        </p:txBody>
      </p:sp>
      <p:sp>
        <p:nvSpPr>
          <p:cNvPr id="151554" name="Rectangle 5"/>
          <p:cNvSpPr>
            <a:spLocks noGrp="1" noChangeArrowheads="1"/>
          </p:cNvSpPr>
          <p:nvPr>
            <p:ph type="body" idx="4294967295"/>
          </p:nvPr>
        </p:nvSpPr>
        <p:spPr>
          <a:xfrm>
            <a:off x="998002" y="1582103"/>
            <a:ext cx="11443063" cy="5126340"/>
          </a:xfrm>
          <a:prstGeom prst="rect">
            <a:avLst/>
          </a:prstGeom>
        </p:spPr>
        <p:txBody>
          <a:bodyPr/>
          <a:lstStyle/>
          <a:p>
            <a:r>
              <a:rPr lang="en-US" altLang="en-US" sz="3600" dirty="0">
                <a:solidFill>
                  <a:schemeClr val="tx1">
                    <a:lumMod val="50000"/>
                  </a:schemeClr>
                </a:solidFill>
                <a:latin typeface="Garamond" charset="0"/>
                <a:ea typeface="ＭＳ Ｐゴシック" charset="-128"/>
              </a:rPr>
              <a:t>The potential to achieve economic profit is commonly referred to as </a:t>
            </a:r>
            <a:r>
              <a:rPr lang="en-US" altLang="en-US" sz="3600" i="1" dirty="0">
                <a:solidFill>
                  <a:schemeClr val="tx1">
                    <a:lumMod val="50000"/>
                  </a:schemeClr>
                </a:solidFill>
                <a:latin typeface="Garamond" charset="0"/>
                <a:ea typeface="ＭＳ Ｐゴシック" charset="-128"/>
              </a:rPr>
              <a:t>economic opportunity. </a:t>
            </a:r>
          </a:p>
          <a:p>
            <a:r>
              <a:rPr lang="en-US" sz="3600" dirty="0">
                <a:solidFill>
                  <a:schemeClr val="tx1">
                    <a:lumMod val="50000"/>
                  </a:schemeClr>
                </a:solidFill>
                <a:latin typeface="Garamond" charset="0"/>
                <a:ea typeface="ＭＳ Ｐゴシック" charset="-128"/>
              </a:rPr>
              <a:t>A favorable set of circumstances that create a need for a new product, service, or business</a:t>
            </a:r>
          </a:p>
          <a:p>
            <a:pPr eaLnBrk="1" hangingPunct="1"/>
            <a:r>
              <a:rPr lang="en-US" altLang="en-US" sz="3600" dirty="0">
                <a:solidFill>
                  <a:schemeClr val="tx1">
                    <a:lumMod val="50000"/>
                  </a:schemeClr>
                </a:solidFill>
                <a:latin typeface="Garamond" charset="0"/>
                <a:ea typeface="ＭＳ Ｐゴシック" charset="-128"/>
              </a:rPr>
              <a:t>Also referred to as </a:t>
            </a:r>
            <a:r>
              <a:rPr lang="en-US" altLang="en-US" sz="3600" i="1" dirty="0">
                <a:solidFill>
                  <a:schemeClr val="tx1">
                    <a:lumMod val="50000"/>
                  </a:schemeClr>
                </a:solidFill>
                <a:latin typeface="Garamond" charset="0"/>
                <a:ea typeface="ＭＳ Ｐゴシック" charset="-128"/>
              </a:rPr>
              <a:t>market gaps or imperfections</a:t>
            </a:r>
          </a:p>
          <a:p>
            <a:pPr eaLnBrk="1" hangingPunct="1"/>
            <a:r>
              <a:rPr lang="en-US" altLang="en-US" sz="3600" i="1" dirty="0">
                <a:solidFill>
                  <a:schemeClr val="tx1">
                    <a:lumMod val="50000"/>
                  </a:schemeClr>
                </a:solidFill>
                <a:latin typeface="Garamond" charset="0"/>
                <a:ea typeface="ＭＳ Ｐゴシック" charset="-128"/>
              </a:rPr>
              <a:t>Opportunities are often hidden or difficult to pursue</a:t>
            </a:r>
            <a:endParaRPr lang="en-US" altLang="en-US" sz="3600" dirty="0">
              <a:solidFill>
                <a:schemeClr val="tx1">
                  <a:lumMod val="50000"/>
                </a:schemeClr>
              </a:solidFill>
              <a:latin typeface="Garamond" charset="0"/>
              <a:ea typeface="ＭＳ Ｐゴシック" charset="-128"/>
            </a:endParaRPr>
          </a:p>
          <a:p>
            <a:pPr eaLnBrk="1" hangingPunct="1">
              <a:lnSpc>
                <a:spcPct val="50000"/>
              </a:lnSpc>
            </a:pPr>
            <a:endParaRPr lang="en-US" altLang="en-US" sz="3600" i="1" dirty="0">
              <a:latin typeface="Garamond" charset="0"/>
              <a:ea typeface="ＭＳ Ｐゴシック" charset="-128"/>
            </a:endParaRPr>
          </a:p>
        </p:txBody>
      </p:sp>
    </p:spTree>
    <p:extLst>
      <p:ext uri="{BB962C8B-B14F-4D97-AF65-F5344CB8AC3E}">
        <p14:creationId xmlns:p14="http://schemas.microsoft.com/office/powerpoint/2010/main" val="1184241756"/>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87C55-6B79-6E4E-95AC-3EF53C3743B0}"/>
              </a:ext>
            </a:extLst>
          </p:cNvPr>
          <p:cNvSpPr>
            <a:spLocks noGrp="1"/>
          </p:cNvSpPr>
          <p:nvPr>
            <p:ph type="title"/>
          </p:nvPr>
        </p:nvSpPr>
        <p:spPr>
          <a:xfrm>
            <a:off x="504168" y="128020"/>
            <a:ext cx="12561453" cy="1015663"/>
          </a:xfrm>
        </p:spPr>
        <p:txBody>
          <a:bodyPr/>
          <a:lstStyle/>
          <a:p>
            <a:r>
              <a:rPr lang="en-US" dirty="0"/>
              <a:t>Moneyball</a:t>
            </a:r>
          </a:p>
        </p:txBody>
      </p:sp>
      <p:sp>
        <p:nvSpPr>
          <p:cNvPr id="3" name="Text Placeholder 2">
            <a:extLst>
              <a:ext uri="{FF2B5EF4-FFF2-40B4-BE49-F238E27FC236}">
                <a16:creationId xmlns:a16="http://schemas.microsoft.com/office/drawing/2014/main" id="{D13FA460-8566-DB4E-BCBE-0F11F6EB0C48}"/>
              </a:ext>
            </a:extLst>
          </p:cNvPr>
          <p:cNvSpPr>
            <a:spLocks noGrp="1"/>
          </p:cNvSpPr>
          <p:nvPr>
            <p:ph type="body" sz="quarter" idx="10"/>
          </p:nvPr>
        </p:nvSpPr>
        <p:spPr>
          <a:xfrm>
            <a:off x="628074" y="1360171"/>
            <a:ext cx="12561453" cy="4465710"/>
          </a:xfrm>
        </p:spPr>
        <p:txBody>
          <a:bodyPr/>
          <a:lstStyle/>
          <a:p>
            <a:r>
              <a:rPr lang="en-US" sz="2400" dirty="0"/>
              <a:t>What is the problem</a:t>
            </a:r>
          </a:p>
          <a:p>
            <a:pPr lvl="1"/>
            <a:r>
              <a:rPr lang="en-US" sz="2000" dirty="0">
                <a:hlinkClick r:id="rId2"/>
              </a:rPr>
              <a:t>https://www.youtube.com/watch?v=pWgyy_rlmag</a:t>
            </a:r>
            <a:endParaRPr lang="en-US" sz="2000" dirty="0"/>
          </a:p>
          <a:p>
            <a:pPr lvl="1"/>
            <a:endParaRPr lang="en-US" sz="2000" dirty="0"/>
          </a:p>
          <a:p>
            <a:r>
              <a:rPr lang="en-US" sz="2400" dirty="0"/>
              <a:t>Who are you?	</a:t>
            </a:r>
          </a:p>
          <a:p>
            <a:pPr lvl="1"/>
            <a:r>
              <a:rPr lang="en-US" sz="2000" dirty="0">
                <a:hlinkClick r:id="rId3"/>
              </a:rPr>
              <a:t>https://www.youtube.com/watch?v=8DDMHwqIn3s</a:t>
            </a:r>
            <a:endParaRPr lang="en-US" sz="2000" dirty="0"/>
          </a:p>
          <a:p>
            <a:pPr lvl="1"/>
            <a:endParaRPr lang="en-US" sz="2000" dirty="0"/>
          </a:p>
          <a:p>
            <a:r>
              <a:rPr lang="en-US" sz="2400" dirty="0"/>
              <a:t>He gets on base</a:t>
            </a:r>
          </a:p>
          <a:p>
            <a:pPr lvl="1"/>
            <a:r>
              <a:rPr lang="en-US" sz="2000" dirty="0">
                <a:hlinkClick r:id="rId4"/>
              </a:rPr>
              <a:t>https://www.youtube.com/watch?v=PlKDQqKh03Y</a:t>
            </a:r>
            <a:endParaRPr lang="en-US" sz="2000" dirty="0"/>
          </a:p>
          <a:p>
            <a:pPr lvl="1"/>
            <a:endParaRPr lang="en-US" sz="2000" dirty="0"/>
          </a:p>
        </p:txBody>
      </p:sp>
    </p:spTree>
    <p:extLst>
      <p:ext uri="{BB962C8B-B14F-4D97-AF65-F5344CB8AC3E}">
        <p14:creationId xmlns:p14="http://schemas.microsoft.com/office/powerpoint/2010/main" val="496945961"/>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ChangeArrowheads="1"/>
          </p:cNvSpPr>
          <p:nvPr>
            <p:ph type="title"/>
          </p:nvPr>
        </p:nvSpPr>
        <p:spPr>
          <a:xfrm>
            <a:off x="-340527" y="-117964"/>
            <a:ext cx="14236313" cy="1354217"/>
          </a:xfrm>
        </p:spPr>
        <p:txBody>
          <a:bodyPr/>
          <a:lstStyle/>
          <a:p>
            <a:pPr algn="ctr" eaLnBrk="1" hangingPunct="1">
              <a:defRPr/>
            </a:pPr>
            <a:r>
              <a:rPr lang="en-CA" sz="4000" b="1" dirty="0">
                <a:cs typeface="+mj-cs"/>
              </a:rPr>
              <a:t>Two Perspective on Opportunity:</a:t>
            </a:r>
            <a:br>
              <a:rPr lang="en-CA" sz="4000" b="1" dirty="0">
                <a:cs typeface="+mj-cs"/>
              </a:rPr>
            </a:br>
            <a:r>
              <a:rPr lang="en-CA" sz="3600" b="1" dirty="0">
                <a:cs typeface="+mj-cs"/>
              </a:rPr>
              <a:t>Opportunity Recognition Vs. Opportunity Creation</a:t>
            </a:r>
            <a:endParaRPr lang="en-CA" sz="4000" b="1" dirty="0">
              <a:cs typeface="+mj-cs"/>
            </a:endParaRPr>
          </a:p>
        </p:txBody>
      </p:sp>
      <p:sp>
        <p:nvSpPr>
          <p:cNvPr id="152578" name="Rectangle 5"/>
          <p:cNvSpPr>
            <a:spLocks noGrp="1" noChangeArrowheads="1"/>
          </p:cNvSpPr>
          <p:nvPr>
            <p:ph type="body" idx="4294967295"/>
          </p:nvPr>
        </p:nvSpPr>
        <p:spPr>
          <a:xfrm>
            <a:off x="618546" y="1358062"/>
            <a:ext cx="9619488" cy="5855193"/>
          </a:xfrm>
          <a:prstGeom prst="rect">
            <a:avLst/>
          </a:prstGeom>
        </p:spPr>
        <p:txBody>
          <a:bodyPr/>
          <a:lstStyle/>
          <a:p>
            <a:pPr eaLnBrk="1" hangingPunct="1"/>
            <a:r>
              <a:rPr lang="en-US" altLang="en-US" sz="3200" i="1" dirty="0">
                <a:solidFill>
                  <a:srgbClr val="FF0000"/>
                </a:solidFill>
                <a:latin typeface="Garamond" charset="0"/>
                <a:ea typeface="ＭＳ Ｐゴシック" charset="-128"/>
              </a:rPr>
              <a:t>Opportunity Recognition </a:t>
            </a:r>
            <a:r>
              <a:rPr lang="en-US" altLang="en-US" sz="3200" dirty="0">
                <a:solidFill>
                  <a:srgbClr val="092529"/>
                </a:solidFill>
                <a:latin typeface="Garamond" charset="0"/>
                <a:ea typeface="ＭＳ Ｐゴシック" charset="-128"/>
              </a:rPr>
              <a:t>refers to the ability of entrepreneurs to perceive market gaps or imperfections within the economic systems (Israel </a:t>
            </a:r>
            <a:r>
              <a:rPr lang="en-US" altLang="en-US" sz="3200" dirty="0" err="1">
                <a:solidFill>
                  <a:srgbClr val="092529"/>
                </a:solidFill>
                <a:latin typeface="Garamond" charset="0"/>
                <a:ea typeface="ＭＳ Ｐゴシック" charset="-128"/>
              </a:rPr>
              <a:t>Kirzner</a:t>
            </a:r>
            <a:r>
              <a:rPr lang="en-US" altLang="en-US" sz="3200" dirty="0">
                <a:solidFill>
                  <a:srgbClr val="092529"/>
                </a:solidFill>
                <a:latin typeface="Garamond" charset="0"/>
                <a:ea typeface="ＭＳ Ｐゴシック" charset="-128"/>
              </a:rPr>
              <a:t>)</a:t>
            </a:r>
            <a:endParaRPr lang="en-US" altLang="en-US" sz="3200" dirty="0">
              <a:latin typeface="Garamond" charset="0"/>
              <a:ea typeface="ＭＳ Ｐゴシック" charset="-128"/>
            </a:endParaRPr>
          </a:p>
          <a:p>
            <a:pPr>
              <a:spcBef>
                <a:spcPts val="0"/>
              </a:spcBef>
            </a:pPr>
            <a:r>
              <a:rPr lang="en-US" sz="3200" dirty="0">
                <a:solidFill>
                  <a:srgbClr val="092529"/>
                </a:solidFill>
                <a:latin typeface="Garamond" charset="0"/>
                <a:ea typeface="ＭＳ Ｐゴシック" charset="-128"/>
              </a:rPr>
              <a:t>Implies </a:t>
            </a:r>
            <a:r>
              <a:rPr lang="en-US" sz="3200" i="1" dirty="0">
                <a:solidFill>
                  <a:srgbClr val="092529"/>
                </a:solidFill>
                <a:latin typeface="Garamond" charset="0"/>
                <a:ea typeface="ＭＳ Ｐゴシック" charset="-128"/>
              </a:rPr>
              <a:t>Discovery</a:t>
            </a:r>
            <a:r>
              <a:rPr lang="en-US" sz="3200" dirty="0">
                <a:solidFill>
                  <a:srgbClr val="092529"/>
                </a:solidFill>
                <a:latin typeface="Garamond" charset="0"/>
                <a:ea typeface="ＭＳ Ｐゴシック" charset="-128"/>
              </a:rPr>
              <a:t> and </a:t>
            </a:r>
            <a:r>
              <a:rPr lang="en-US" sz="3200" i="1" dirty="0">
                <a:solidFill>
                  <a:srgbClr val="092529"/>
                </a:solidFill>
                <a:latin typeface="Garamond" charset="0"/>
                <a:ea typeface="ＭＳ Ｐゴシック" charset="-128"/>
              </a:rPr>
              <a:t>Opportunity</a:t>
            </a:r>
            <a:r>
              <a:rPr lang="en-US" sz="3200" dirty="0">
                <a:solidFill>
                  <a:srgbClr val="092529"/>
                </a:solidFill>
                <a:latin typeface="Garamond" charset="0"/>
                <a:ea typeface="ＭＳ Ｐゴシック" charset="-128"/>
              </a:rPr>
              <a:t> </a:t>
            </a:r>
            <a:r>
              <a:rPr lang="en-US" sz="3200" i="1" dirty="0">
                <a:solidFill>
                  <a:srgbClr val="092529"/>
                </a:solidFill>
                <a:latin typeface="Garamond" charset="0"/>
                <a:ea typeface="ＭＳ Ｐゴシック" charset="-128"/>
              </a:rPr>
              <a:t>Identification</a:t>
            </a:r>
            <a:r>
              <a:rPr lang="en-US" sz="3200" dirty="0">
                <a:solidFill>
                  <a:srgbClr val="092529"/>
                </a:solidFill>
                <a:latin typeface="Garamond" charset="0"/>
                <a:ea typeface="ＭＳ Ｐゴシック" charset="-128"/>
              </a:rPr>
              <a:t> are the keys to entrepreneurship</a:t>
            </a:r>
          </a:p>
          <a:p>
            <a:pPr lvl="1"/>
            <a:r>
              <a:rPr lang="en-US" sz="3200" dirty="0">
                <a:solidFill>
                  <a:srgbClr val="092529"/>
                </a:solidFill>
                <a:latin typeface="Garamond" charset="0"/>
                <a:ea typeface="ＭＳ Ｐゴシック" charset="-128"/>
              </a:rPr>
              <a:t>Trends, problems, unmet needs</a:t>
            </a:r>
          </a:p>
          <a:p>
            <a:pPr lvl="1"/>
            <a:r>
              <a:rPr lang="en-US" sz="3200" dirty="0">
                <a:solidFill>
                  <a:srgbClr val="092529"/>
                </a:solidFill>
                <a:latin typeface="Garamond" charset="0"/>
                <a:ea typeface="ＭＳ Ｐゴシック" charset="-128"/>
              </a:rPr>
              <a:t>Knowledge, experience, information, context and </a:t>
            </a:r>
            <a:r>
              <a:rPr lang="en-US" sz="3200" i="1" dirty="0">
                <a:solidFill>
                  <a:srgbClr val="092529"/>
                </a:solidFill>
                <a:latin typeface="Garamond" charset="0"/>
                <a:ea typeface="ＭＳ Ｐゴシック" charset="-128"/>
              </a:rPr>
              <a:t>entrepreneurial alertness </a:t>
            </a:r>
            <a:r>
              <a:rPr lang="en-US" sz="3200" dirty="0">
                <a:solidFill>
                  <a:srgbClr val="092529"/>
                </a:solidFill>
                <a:latin typeface="Garamond" charset="0"/>
                <a:ea typeface="ＭＳ Ｐゴシック" charset="-128"/>
              </a:rPr>
              <a:t>lead to discovery</a:t>
            </a:r>
          </a:p>
          <a:p>
            <a:r>
              <a:rPr lang="en-US" sz="3400" dirty="0">
                <a:solidFill>
                  <a:srgbClr val="092529"/>
                </a:solidFill>
                <a:latin typeface="Garamond" charset="0"/>
                <a:ea typeface="ＭＳ Ｐゴシック" charset="-128"/>
              </a:rPr>
              <a:t>World exists as objective reality and is knowable</a:t>
            </a:r>
          </a:p>
        </p:txBody>
      </p:sp>
      <p:pic>
        <p:nvPicPr>
          <p:cNvPr id="4" name="Picture 3" descr="Photo of a glowing light bulb">
            <a:extLst>
              <a:ext uri="{FF2B5EF4-FFF2-40B4-BE49-F238E27FC236}">
                <a16:creationId xmlns:a16="http://schemas.microsoft.com/office/drawing/2014/main" id="{728A6065-97B1-434B-A2AB-DD0C3B914192}"/>
              </a:ext>
            </a:extLst>
          </p:cNvPr>
          <p:cNvPicPr>
            <a:picLocks noChangeAspect="1"/>
          </p:cNvPicPr>
          <p:nvPr/>
        </p:nvPicPr>
        <p:blipFill>
          <a:blip r:embed="rId3"/>
          <a:stretch>
            <a:fillRect/>
          </a:stretch>
        </p:blipFill>
        <p:spPr>
          <a:xfrm>
            <a:off x="10309448" y="3140180"/>
            <a:ext cx="2889606" cy="3022600"/>
          </a:xfrm>
          <a:prstGeom prst="rect">
            <a:avLst/>
          </a:prstGeom>
        </p:spPr>
      </p:pic>
    </p:spTree>
    <p:extLst>
      <p:ext uri="{BB962C8B-B14F-4D97-AF65-F5344CB8AC3E}">
        <p14:creationId xmlns:p14="http://schemas.microsoft.com/office/powerpoint/2010/main" val="1383457545"/>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Rectangle 2"/>
          <p:cNvSpPr>
            <a:spLocks noGrp="1" noChangeArrowheads="1"/>
          </p:cNvSpPr>
          <p:nvPr>
            <p:ph type="title"/>
          </p:nvPr>
        </p:nvSpPr>
        <p:spPr>
          <a:xfrm>
            <a:off x="401214" y="580744"/>
            <a:ext cx="14236313" cy="812530"/>
          </a:xfrm>
        </p:spPr>
        <p:txBody>
          <a:bodyPr/>
          <a:lstStyle/>
          <a:p>
            <a:pPr eaLnBrk="1" hangingPunct="1"/>
            <a:r>
              <a:rPr lang="en-US" altLang="en-US" sz="4080" dirty="0">
                <a:latin typeface="Garamond" panose="02020404030301010803" pitchFamily="18" charset="0"/>
                <a:ea typeface="ＭＳ Ｐゴシック" charset="-128"/>
              </a:rPr>
              <a:t>Ex-ante and Ex-post Barriers (Limits) to Competition</a:t>
            </a:r>
          </a:p>
        </p:txBody>
      </p:sp>
      <p:sp>
        <p:nvSpPr>
          <p:cNvPr id="1247235" name="Rectangle 3"/>
          <p:cNvSpPr>
            <a:spLocks noGrp="1" noChangeArrowheads="1"/>
          </p:cNvSpPr>
          <p:nvPr>
            <p:ph type="body" idx="4294967295"/>
          </p:nvPr>
        </p:nvSpPr>
        <p:spPr>
          <a:xfrm>
            <a:off x="1043576" y="1759034"/>
            <a:ext cx="11522891" cy="4608698"/>
          </a:xfrm>
          <a:prstGeom prst="rect">
            <a:avLst/>
          </a:prstGeom>
        </p:spPr>
        <p:txBody>
          <a:bodyPr/>
          <a:lstStyle/>
          <a:p>
            <a:pPr eaLnBrk="1" hangingPunct="1">
              <a:buFont typeface="Wingdings" charset="2"/>
              <a:buBlip>
                <a:blip r:embed="rId3"/>
              </a:buBlip>
            </a:pPr>
            <a:r>
              <a:rPr lang="en-US" altLang="en-US" sz="3600" i="1" dirty="0">
                <a:solidFill>
                  <a:schemeClr val="tx1">
                    <a:lumMod val="50000"/>
                  </a:schemeClr>
                </a:solidFill>
                <a:latin typeface="Garamond" charset="0"/>
                <a:ea typeface="ＭＳ Ｐゴシック" charset="-128"/>
              </a:rPr>
              <a:t>Ex-ante limits; </a:t>
            </a:r>
            <a:r>
              <a:rPr lang="en-US" altLang="en-US" sz="3600" dirty="0">
                <a:solidFill>
                  <a:schemeClr val="tx1">
                    <a:lumMod val="50000"/>
                  </a:schemeClr>
                </a:solidFill>
                <a:latin typeface="Garamond" charset="0"/>
                <a:ea typeface="ＭＳ Ｐゴシック" charset="-128"/>
              </a:rPr>
              <a:t>Required for the presence of opportunity</a:t>
            </a:r>
          </a:p>
          <a:p>
            <a:pPr eaLnBrk="1" hangingPunct="1">
              <a:buFont typeface="Wingdings" charset="2"/>
              <a:buBlip>
                <a:blip r:embed="rId3"/>
              </a:buBlip>
            </a:pPr>
            <a:endParaRPr lang="en-US" altLang="en-US" sz="3600" dirty="0">
              <a:solidFill>
                <a:schemeClr val="tx1">
                  <a:lumMod val="50000"/>
                </a:schemeClr>
              </a:solidFill>
              <a:latin typeface="Garamond" charset="0"/>
              <a:ea typeface="ＭＳ Ｐゴシック" charset="-128"/>
            </a:endParaRPr>
          </a:p>
          <a:p>
            <a:pPr eaLnBrk="1" hangingPunct="1">
              <a:buFont typeface="Wingdings" charset="2"/>
              <a:buBlip>
                <a:blip r:embed="rId3"/>
              </a:buBlip>
            </a:pPr>
            <a:r>
              <a:rPr lang="en-US" altLang="en-US" sz="3600" i="1" dirty="0">
                <a:solidFill>
                  <a:schemeClr val="tx1">
                    <a:lumMod val="50000"/>
                  </a:schemeClr>
                </a:solidFill>
                <a:latin typeface="Garamond" charset="0"/>
                <a:ea typeface="ＭＳ Ｐゴシック" charset="-128"/>
              </a:rPr>
              <a:t>Ex-post limits;</a:t>
            </a:r>
            <a:r>
              <a:rPr lang="en-US" altLang="en-US" sz="3600" dirty="0">
                <a:solidFill>
                  <a:schemeClr val="tx1">
                    <a:lumMod val="50000"/>
                  </a:schemeClr>
                </a:solidFill>
                <a:latin typeface="Garamond" charset="0"/>
                <a:ea typeface="ＭＳ Ｐゴシック" charset="-128"/>
              </a:rPr>
              <a:t> Required for sustainable competitive advantage and the longer-term generation of economic profit</a:t>
            </a:r>
          </a:p>
          <a:p>
            <a:pPr eaLnBrk="1" hangingPunct="1">
              <a:buFont typeface="Wingdings" charset="2"/>
              <a:buNone/>
            </a:pPr>
            <a:r>
              <a:rPr lang="en-US" altLang="en-US" sz="2400" dirty="0">
                <a:solidFill>
                  <a:schemeClr val="tx1">
                    <a:lumMod val="50000"/>
                  </a:schemeClr>
                </a:solidFill>
                <a:latin typeface="Garamond" charset="0"/>
                <a:ea typeface="ＭＳ Ｐゴシック" charset="-128"/>
              </a:rPr>
              <a:t>	</a:t>
            </a:r>
            <a:r>
              <a:rPr lang="en-US" altLang="en-US" sz="3200" dirty="0">
                <a:solidFill>
                  <a:schemeClr val="tx1">
                    <a:lumMod val="50000"/>
                  </a:schemeClr>
                </a:solidFill>
                <a:latin typeface="Garamond" charset="0"/>
                <a:ea typeface="ＭＳ Ｐゴシック" charset="-128"/>
              </a:rPr>
              <a:t>		Ex-ante means </a:t>
            </a:r>
            <a:r>
              <a:rPr lang="en-US" altLang="en-US" sz="3200" u="sng" dirty="0">
                <a:solidFill>
                  <a:schemeClr val="tx1">
                    <a:lumMod val="50000"/>
                  </a:schemeClr>
                </a:solidFill>
                <a:latin typeface="Garamond" charset="0"/>
                <a:ea typeface="ＭＳ Ｐゴシック" charset="-128"/>
              </a:rPr>
              <a:t>prior</a:t>
            </a:r>
            <a:r>
              <a:rPr lang="en-US" altLang="en-US" sz="3200" dirty="0">
                <a:solidFill>
                  <a:schemeClr val="tx1">
                    <a:lumMod val="50000"/>
                  </a:schemeClr>
                </a:solidFill>
                <a:latin typeface="Garamond" charset="0"/>
                <a:ea typeface="ＭＳ Ｐゴシック" charset="-128"/>
              </a:rPr>
              <a:t> to some economic action</a:t>
            </a:r>
          </a:p>
          <a:p>
            <a:pPr eaLnBrk="1" hangingPunct="1">
              <a:buFont typeface="Wingdings" charset="2"/>
              <a:buNone/>
            </a:pPr>
            <a:r>
              <a:rPr lang="en-US" altLang="en-US" sz="3200" dirty="0">
                <a:solidFill>
                  <a:schemeClr val="tx1">
                    <a:lumMod val="50000"/>
                  </a:schemeClr>
                </a:solidFill>
                <a:latin typeface="Garamond" charset="0"/>
                <a:ea typeface="ＭＳ Ｐゴシック" charset="-128"/>
              </a:rPr>
              <a:t>			Ex-post means </a:t>
            </a:r>
            <a:r>
              <a:rPr lang="en-US" altLang="en-US" sz="3200" u="sng" dirty="0">
                <a:solidFill>
                  <a:schemeClr val="tx1">
                    <a:lumMod val="50000"/>
                  </a:schemeClr>
                </a:solidFill>
                <a:latin typeface="Garamond" charset="0"/>
                <a:ea typeface="ＭＳ Ｐゴシック" charset="-128"/>
              </a:rPr>
              <a:t>after</a:t>
            </a:r>
            <a:r>
              <a:rPr lang="en-US" altLang="en-US" sz="3200" dirty="0">
                <a:solidFill>
                  <a:schemeClr val="tx1">
                    <a:lumMod val="50000"/>
                  </a:schemeClr>
                </a:solidFill>
                <a:latin typeface="Garamond" charset="0"/>
                <a:ea typeface="ＭＳ Ｐゴシック" charset="-128"/>
              </a:rPr>
              <a:t> some economic action</a:t>
            </a:r>
          </a:p>
        </p:txBody>
      </p:sp>
    </p:spTree>
    <p:extLst>
      <p:ext uri="{BB962C8B-B14F-4D97-AF65-F5344CB8AC3E}">
        <p14:creationId xmlns:p14="http://schemas.microsoft.com/office/powerpoint/2010/main" val="2049914242"/>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4723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4723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4723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4723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ChangeArrowheads="1"/>
          </p:cNvSpPr>
          <p:nvPr>
            <p:ph type="title"/>
          </p:nvPr>
        </p:nvSpPr>
        <p:spPr>
          <a:xfrm>
            <a:off x="-245934" y="319882"/>
            <a:ext cx="14236313" cy="861774"/>
          </a:xfrm>
        </p:spPr>
        <p:txBody>
          <a:bodyPr/>
          <a:lstStyle/>
          <a:p>
            <a:pPr algn="ctr" eaLnBrk="1" hangingPunct="1">
              <a:defRPr/>
            </a:pPr>
            <a:r>
              <a:rPr lang="en-CA" sz="4400" dirty="0">
                <a:cs typeface="+mj-cs"/>
              </a:rPr>
              <a:t>Opportunity Recognition and Opportunity Creation</a:t>
            </a:r>
          </a:p>
        </p:txBody>
      </p:sp>
      <p:sp>
        <p:nvSpPr>
          <p:cNvPr id="152578" name="Rectangle 5"/>
          <p:cNvSpPr>
            <a:spLocks noGrp="1" noChangeArrowheads="1"/>
          </p:cNvSpPr>
          <p:nvPr>
            <p:ph type="body" idx="4294967295"/>
          </p:nvPr>
        </p:nvSpPr>
        <p:spPr>
          <a:xfrm>
            <a:off x="544574" y="1181656"/>
            <a:ext cx="12655296" cy="5931175"/>
          </a:xfrm>
          <a:prstGeom prst="rect">
            <a:avLst/>
          </a:prstGeom>
        </p:spPr>
        <p:txBody>
          <a:bodyPr/>
          <a:lstStyle/>
          <a:p>
            <a:r>
              <a:rPr lang="en-US" altLang="en-US" sz="3600" i="1" dirty="0">
                <a:solidFill>
                  <a:srgbClr val="FF0000"/>
                </a:solidFill>
                <a:latin typeface="Garamond" charset="0"/>
                <a:ea typeface="ＭＳ Ｐゴシック" charset="-128"/>
              </a:rPr>
              <a:t>Opportunity Creation </a:t>
            </a:r>
            <a:r>
              <a:rPr lang="en-US" altLang="en-US" sz="3600" dirty="0">
                <a:solidFill>
                  <a:schemeClr val="tx1">
                    <a:lumMod val="50000"/>
                  </a:schemeClr>
                </a:solidFill>
                <a:latin typeface="Garamond" charset="0"/>
                <a:ea typeface="ＭＳ Ｐゴシック" charset="-128"/>
              </a:rPr>
              <a:t>refers to entrepreneurial actions that alter market systems to open up new opportunities for economic return.</a:t>
            </a:r>
          </a:p>
          <a:p>
            <a:pPr>
              <a:spcBef>
                <a:spcPts val="0"/>
              </a:spcBef>
            </a:pPr>
            <a:r>
              <a:rPr lang="en-US" sz="3600" i="1" dirty="0">
                <a:solidFill>
                  <a:schemeClr val="tx1">
                    <a:lumMod val="50000"/>
                  </a:schemeClr>
                </a:solidFill>
                <a:latin typeface="Garamond" charset="0"/>
                <a:ea typeface="ＭＳ Ｐゴシック" charset="-128"/>
              </a:rPr>
              <a:t>Human Agency </a:t>
            </a:r>
            <a:r>
              <a:rPr lang="en-US" sz="3600" dirty="0">
                <a:solidFill>
                  <a:schemeClr val="tx1">
                    <a:lumMod val="50000"/>
                  </a:schemeClr>
                </a:solidFill>
                <a:latin typeface="Garamond" charset="0"/>
                <a:ea typeface="ＭＳ Ｐゴシック" charset="-128"/>
              </a:rPr>
              <a:t>is the key to entrepreneurship</a:t>
            </a:r>
          </a:p>
          <a:p>
            <a:pPr lvl="1"/>
            <a:r>
              <a:rPr lang="en-US" sz="3400" dirty="0">
                <a:solidFill>
                  <a:schemeClr val="tx1">
                    <a:lumMod val="50000"/>
                  </a:schemeClr>
                </a:solidFill>
                <a:latin typeface="Garamond" charset="0"/>
                <a:ea typeface="ＭＳ Ｐゴシック" charset="-128"/>
              </a:rPr>
              <a:t>Create demand, build new institutions, influence government policy</a:t>
            </a:r>
          </a:p>
          <a:p>
            <a:pPr lvl="1"/>
            <a:r>
              <a:rPr lang="en-US" sz="3400" dirty="0">
                <a:solidFill>
                  <a:schemeClr val="tx1">
                    <a:lumMod val="50000"/>
                  </a:schemeClr>
                </a:solidFill>
                <a:latin typeface="Garamond" charset="0"/>
                <a:ea typeface="ＭＳ Ｐゴシック" charset="-128"/>
              </a:rPr>
              <a:t>Collective action, charisma, social movements </a:t>
            </a:r>
          </a:p>
          <a:p>
            <a:r>
              <a:rPr lang="en-US" sz="3800" dirty="0">
                <a:solidFill>
                  <a:schemeClr val="tx1">
                    <a:lumMod val="50000"/>
                  </a:schemeClr>
                </a:solidFill>
                <a:latin typeface="Garamond" charset="0"/>
                <a:ea typeface="ＭＳ Ｐゴシック" charset="-128"/>
              </a:rPr>
              <a:t>“Creative Destruction” (Joseph Schumpeter, 1934)</a:t>
            </a:r>
          </a:p>
          <a:p>
            <a:r>
              <a:rPr lang="en-US" sz="3600" dirty="0">
                <a:solidFill>
                  <a:schemeClr val="tx1">
                    <a:lumMod val="50000"/>
                  </a:schemeClr>
                </a:solidFill>
                <a:latin typeface="Garamond" charset="0"/>
                <a:ea typeface="ＭＳ Ｐゴシック" charset="-128"/>
              </a:rPr>
              <a:t>World is subjectively determined through individual action and  interaction with social structures (structuration and instantiation)</a:t>
            </a:r>
          </a:p>
        </p:txBody>
      </p:sp>
    </p:spTree>
    <p:extLst>
      <p:ext uri="{BB962C8B-B14F-4D97-AF65-F5344CB8AC3E}">
        <p14:creationId xmlns:p14="http://schemas.microsoft.com/office/powerpoint/2010/main" val="877434299"/>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descr="Photo of Art work, “Drawing Hands”, 1948 - M.C. Escher - WikiArt.org">
            <a:extLst>
              <a:ext uri="{FF2B5EF4-FFF2-40B4-BE49-F238E27FC236}">
                <a16:creationId xmlns:a16="http://schemas.microsoft.com/office/drawing/2014/main" id="{9D0DAB9C-0DB2-8A4C-C9EA-B7D555B4BC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9500" y="76200"/>
            <a:ext cx="9118600" cy="762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8202996"/>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1745" y="982462"/>
            <a:ext cx="4862405" cy="1794085"/>
          </a:xfrm>
        </p:spPr>
        <p:txBody>
          <a:bodyPr vert="horz" lIns="91440" tIns="91440" rIns="91440" bIns="91440" rtlCol="0" anchor="t" anchorCtr="0">
            <a:normAutofit/>
          </a:bodyPr>
          <a:lstStyle/>
          <a:p>
            <a:pPr>
              <a:lnSpc>
                <a:spcPct val="90000"/>
              </a:lnSpc>
            </a:pPr>
            <a:r>
              <a:rPr lang="en-US" kern="1200">
                <a:latin typeface="+mj-lt"/>
                <a:ea typeface="Century Gothic" charset="0"/>
                <a:cs typeface="Century Gothic" charset="0"/>
              </a:rPr>
              <a:t>Reading Discussion</a:t>
            </a:r>
          </a:p>
        </p:txBody>
      </p:sp>
      <p:sp>
        <p:nvSpPr>
          <p:cNvPr id="3" name="TextBox 2"/>
          <p:cNvSpPr txBox="1"/>
          <p:nvPr/>
        </p:nvSpPr>
        <p:spPr>
          <a:xfrm>
            <a:off x="621745" y="3052261"/>
            <a:ext cx="4862513" cy="3163887"/>
          </a:xfrm>
          <a:prstGeom prst="rect">
            <a:avLst/>
          </a:prstGeom>
        </p:spPr>
        <p:txBody>
          <a:bodyPr vert="horz" lIns="91440" tIns="91440" rIns="91440" bIns="91440" rtlCol="0">
            <a:normAutofit/>
          </a:bodyPr>
          <a:lstStyle/>
          <a:p>
            <a:pPr defTabSz="699614">
              <a:lnSpc>
                <a:spcPct val="120000"/>
              </a:lnSpc>
              <a:spcBef>
                <a:spcPts val="600"/>
              </a:spcBef>
              <a:spcAft>
                <a:spcPts val="600"/>
              </a:spcAft>
            </a:pPr>
            <a:r>
              <a:rPr lang="en-US" sz="2800" dirty="0"/>
              <a:t>What makes Entrepreneurs Entrepreneurial?</a:t>
            </a:r>
          </a:p>
          <a:p>
            <a:pPr defTabSz="699614">
              <a:lnSpc>
                <a:spcPct val="120000"/>
              </a:lnSpc>
              <a:spcBef>
                <a:spcPts val="600"/>
              </a:spcBef>
              <a:spcAft>
                <a:spcPts val="600"/>
              </a:spcAft>
            </a:pPr>
            <a:r>
              <a:rPr lang="en-US" sz="2800" dirty="0"/>
              <a:t>		</a:t>
            </a:r>
            <a:r>
              <a:rPr lang="en-US" sz="2400" dirty="0"/>
              <a:t>By Saras </a:t>
            </a:r>
            <a:r>
              <a:rPr lang="en-US" sz="2400" dirty="0" err="1"/>
              <a:t>Sarasvathy</a:t>
            </a:r>
            <a:endParaRPr lang="en-US" sz="2800" dirty="0"/>
          </a:p>
        </p:txBody>
      </p:sp>
      <p:pic>
        <p:nvPicPr>
          <p:cNvPr id="2050" name="Picture 2" descr="Photo of Saras Sarasvathy – The Shark Group">
            <a:extLst>
              <a:ext uri="{FF2B5EF4-FFF2-40B4-BE49-F238E27FC236}">
                <a16:creationId xmlns:a16="http://schemas.microsoft.com/office/drawing/2014/main" id="{FC3E8D39-499A-4ACF-3C12-3DB9ABAAE67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 b="14329"/>
          <a:stretch/>
        </p:blipFill>
        <p:spPr bwMode="auto">
          <a:xfrm>
            <a:off x="6105893" y="10"/>
            <a:ext cx="7711707" cy="7772390"/>
          </a:xfrm>
          <a:prstGeom prst="rect">
            <a:avLst/>
          </a:prstGeom>
          <a:solidFill>
            <a:srgbClr val="FFFFFF"/>
          </a:solidFill>
        </p:spPr>
      </p:pic>
    </p:spTree>
    <p:extLst>
      <p:ext uri="{BB962C8B-B14F-4D97-AF65-F5344CB8AC3E}">
        <p14:creationId xmlns:p14="http://schemas.microsoft.com/office/powerpoint/2010/main" val="1460705540"/>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02BBB-9DD3-4941-9221-4F7CE3CFD198}"/>
              </a:ext>
            </a:extLst>
          </p:cNvPr>
          <p:cNvSpPr>
            <a:spLocks noGrp="1"/>
          </p:cNvSpPr>
          <p:nvPr>
            <p:ph type="title"/>
          </p:nvPr>
        </p:nvSpPr>
        <p:spPr/>
        <p:txBody>
          <a:bodyPr/>
          <a:lstStyle/>
          <a:p>
            <a:r>
              <a:rPr lang="en-US" dirty="0"/>
              <a:t>Effectuation Videos</a:t>
            </a:r>
          </a:p>
        </p:txBody>
      </p:sp>
      <p:sp>
        <p:nvSpPr>
          <p:cNvPr id="3" name="Text Placeholder 2">
            <a:extLst>
              <a:ext uri="{FF2B5EF4-FFF2-40B4-BE49-F238E27FC236}">
                <a16:creationId xmlns:a16="http://schemas.microsoft.com/office/drawing/2014/main" id="{3CC01EB5-F95B-B745-8A60-9354D88153DE}"/>
              </a:ext>
            </a:extLst>
          </p:cNvPr>
          <p:cNvSpPr>
            <a:spLocks noGrp="1"/>
          </p:cNvSpPr>
          <p:nvPr>
            <p:ph type="body" sz="quarter" idx="10"/>
          </p:nvPr>
        </p:nvSpPr>
        <p:spPr>
          <a:xfrm>
            <a:off x="628075" y="2487883"/>
            <a:ext cx="12561453" cy="2917915"/>
          </a:xfrm>
        </p:spPr>
        <p:txBody>
          <a:bodyPr/>
          <a:lstStyle/>
          <a:p>
            <a:r>
              <a:rPr lang="en-US" dirty="0">
                <a:hlinkClick r:id="rId2"/>
              </a:rPr>
              <a:t>Video: Speech by Saras Sarasvathy (8 minutes)</a:t>
            </a:r>
            <a:endParaRPr lang="en-US" dirty="0"/>
          </a:p>
          <a:p>
            <a:pPr marL="0" indent="0">
              <a:buNone/>
            </a:pPr>
            <a:endParaRPr lang="en-US" dirty="0"/>
          </a:p>
          <a:p>
            <a:r>
              <a:rPr lang="en-US" dirty="0">
                <a:hlinkClick r:id="rId3"/>
              </a:rPr>
              <a:t>Video: Intro to Effectuation (3 minutes)*</a:t>
            </a:r>
            <a:endParaRPr lang="en-US" dirty="0"/>
          </a:p>
          <a:p>
            <a:pPr marL="0" indent="0">
              <a:buNone/>
            </a:pPr>
            <a:endParaRPr lang="en-US" u="sng" dirty="0"/>
          </a:p>
          <a:p>
            <a:r>
              <a:rPr lang="en-US" dirty="0">
                <a:hlinkClick r:id="rId4"/>
              </a:rPr>
              <a:t>Video: Myths of Entrepreneurship – effectuation (10 minutes)</a:t>
            </a:r>
            <a:endParaRPr lang="en-US" dirty="0"/>
          </a:p>
          <a:p>
            <a:endParaRPr lang="en-US" dirty="0"/>
          </a:p>
        </p:txBody>
      </p:sp>
    </p:spTree>
    <p:extLst>
      <p:ext uri="{BB962C8B-B14F-4D97-AF65-F5344CB8AC3E}">
        <p14:creationId xmlns:p14="http://schemas.microsoft.com/office/powerpoint/2010/main" val="56381932"/>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AC55BCA-03B6-314E-A81E-86AB7BFD1D04}"/>
              </a:ext>
            </a:extLst>
          </p:cNvPr>
          <p:cNvPicPr>
            <a:picLocks noChangeAspect="1"/>
          </p:cNvPicPr>
          <p:nvPr/>
        </p:nvPicPr>
        <p:blipFill>
          <a:blip r:embed="rId3"/>
          <a:stretch>
            <a:fillRect/>
          </a:stretch>
        </p:blipFill>
        <p:spPr>
          <a:xfrm>
            <a:off x="198715" y="544512"/>
            <a:ext cx="5528992" cy="2312988"/>
          </a:xfrm>
          <a:prstGeom prst="rect">
            <a:avLst/>
          </a:prstGeom>
        </p:spPr>
      </p:pic>
      <p:pic>
        <p:nvPicPr>
          <p:cNvPr id="7" name="Picture 6" descr="Figure showing 5 principles of Effectuation: Bird in Hand, Affordable Loss, Lemonade, Patchwork Quilt, Pilot in the Plane">
            <a:extLst>
              <a:ext uri="{FF2B5EF4-FFF2-40B4-BE49-F238E27FC236}">
                <a16:creationId xmlns:a16="http://schemas.microsoft.com/office/drawing/2014/main" id="{7F823563-4EA1-7249-B6DD-0372159A8128}"/>
              </a:ext>
            </a:extLst>
          </p:cNvPr>
          <p:cNvPicPr>
            <a:picLocks noChangeAspect="1"/>
          </p:cNvPicPr>
          <p:nvPr/>
        </p:nvPicPr>
        <p:blipFill>
          <a:blip r:embed="rId4"/>
          <a:stretch>
            <a:fillRect/>
          </a:stretch>
        </p:blipFill>
        <p:spPr>
          <a:xfrm>
            <a:off x="5575300" y="-1"/>
            <a:ext cx="8256587" cy="8256587"/>
          </a:xfrm>
          <a:prstGeom prst="rect">
            <a:avLst/>
          </a:prstGeom>
        </p:spPr>
      </p:pic>
    </p:spTree>
    <p:extLst>
      <p:ext uri="{BB962C8B-B14F-4D97-AF65-F5344CB8AC3E}">
        <p14:creationId xmlns:p14="http://schemas.microsoft.com/office/powerpoint/2010/main" val="4032874136"/>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6227019-DCCE-5A4E-BC82-D5F0B143363C}"/>
              </a:ext>
            </a:extLst>
          </p:cNvPr>
          <p:cNvPicPr>
            <a:picLocks noChangeAspect="1"/>
          </p:cNvPicPr>
          <p:nvPr/>
        </p:nvPicPr>
        <p:blipFill>
          <a:blip r:embed="rId3"/>
          <a:stretch>
            <a:fillRect/>
          </a:stretch>
        </p:blipFill>
        <p:spPr>
          <a:xfrm>
            <a:off x="-1" y="955675"/>
            <a:ext cx="13664797" cy="6402387"/>
          </a:xfrm>
          <a:prstGeom prst="rect">
            <a:avLst/>
          </a:prstGeom>
        </p:spPr>
      </p:pic>
    </p:spTree>
    <p:extLst>
      <p:ext uri="{BB962C8B-B14F-4D97-AF65-F5344CB8AC3E}">
        <p14:creationId xmlns:p14="http://schemas.microsoft.com/office/powerpoint/2010/main" val="3735127892"/>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Where Good Ideas come From</a:t>
            </a:r>
          </a:p>
        </p:txBody>
      </p:sp>
      <p:sp>
        <p:nvSpPr>
          <p:cNvPr id="3" name="Text Placeholder 2"/>
          <p:cNvSpPr>
            <a:spLocks noGrp="1"/>
          </p:cNvSpPr>
          <p:nvPr>
            <p:ph type="body" sz="quarter" idx="10"/>
          </p:nvPr>
        </p:nvSpPr>
        <p:spPr>
          <a:xfrm>
            <a:off x="628075" y="2487883"/>
            <a:ext cx="12561453" cy="654153"/>
          </a:xfrm>
        </p:spPr>
        <p:txBody>
          <a:bodyPr/>
          <a:lstStyle/>
          <a:p>
            <a:r>
              <a:rPr lang="en-US" sz="2800" dirty="0">
                <a:hlinkClick r:id="rId3"/>
              </a:rPr>
              <a:t>Video: TED </a:t>
            </a:r>
            <a:r>
              <a:rPr lang="mr-IN" sz="2800" dirty="0">
                <a:hlinkClick r:id="rId3"/>
              </a:rPr>
              <a:t>–</a:t>
            </a:r>
            <a:r>
              <a:rPr lang="en-US" sz="2800" dirty="0">
                <a:hlinkClick r:id="rId3"/>
              </a:rPr>
              <a:t> Steven Johnson (17 minutes)</a:t>
            </a:r>
            <a:endParaRPr lang="en-US" sz="2800" dirty="0"/>
          </a:p>
        </p:txBody>
      </p:sp>
    </p:spTree>
    <p:extLst>
      <p:ext uri="{BB962C8B-B14F-4D97-AF65-F5344CB8AC3E}">
        <p14:creationId xmlns:p14="http://schemas.microsoft.com/office/powerpoint/2010/main" val="1014542936"/>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128562" y="4245985"/>
            <a:ext cx="184731" cy="515077"/>
          </a:xfrm>
          <a:prstGeom prst="rect">
            <a:avLst/>
          </a:prstGeom>
          <a:noFill/>
        </p:spPr>
        <p:txBody>
          <a:bodyPr wrap="none" rtlCol="0">
            <a:spAutoFit/>
          </a:bodyPr>
          <a:lstStyle/>
          <a:p>
            <a:endParaRPr lang="en-US" sz="2747" dirty="0"/>
          </a:p>
        </p:txBody>
      </p:sp>
    </p:spTree>
    <p:extLst>
      <p:ext uri="{BB962C8B-B14F-4D97-AF65-F5344CB8AC3E}">
        <p14:creationId xmlns:p14="http://schemas.microsoft.com/office/powerpoint/2010/main" val="849406200"/>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theme/theme1.xml><?xml version="1.0" encoding="utf-8"?>
<a:theme xmlns:a="http://schemas.openxmlformats.org/drawingml/2006/main" name="Office Theme">
  <a:themeElements>
    <a:clrScheme name="CSU Palette 2016">
      <a:dk1>
        <a:srgbClr val="59595B"/>
      </a:dk1>
      <a:lt1>
        <a:srgbClr val="FFFFFF"/>
      </a:lt1>
      <a:dk2>
        <a:srgbClr val="1E4D2B"/>
      </a:dk2>
      <a:lt2>
        <a:srgbClr val="C8C371"/>
      </a:lt2>
      <a:accent1>
        <a:srgbClr val="D9782C"/>
      </a:accent1>
      <a:accent2>
        <a:srgbClr val="C9D845"/>
      </a:accent2>
      <a:accent3>
        <a:srgbClr val="CC5430"/>
      </a:accent3>
      <a:accent4>
        <a:srgbClr val="105456"/>
      </a:accent4>
      <a:accent5>
        <a:srgbClr val="12A3B6"/>
      </a:accent5>
      <a:accent6>
        <a:srgbClr val="ECC530"/>
      </a:accent6>
      <a:hlink>
        <a:srgbClr val="3246A4"/>
      </a:hlink>
      <a:folHlink>
        <a:srgbClr val="6B15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61546</TotalTime>
  <Words>3337</Words>
  <Application>Microsoft Macintosh PowerPoint</Application>
  <PresentationFormat>Custom</PresentationFormat>
  <Paragraphs>522</Paragraphs>
  <Slides>64</Slides>
  <Notes>55</Notes>
  <HiddenSlides>2</HiddenSlides>
  <MMClips>0</MMClips>
  <ScaleCrop>false</ScaleCrop>
  <HeadingPairs>
    <vt:vector size="8" baseType="variant">
      <vt:variant>
        <vt:lpstr>Fonts Used</vt:lpstr>
      </vt:variant>
      <vt:variant>
        <vt:i4>13</vt:i4>
      </vt:variant>
      <vt:variant>
        <vt:lpstr>Theme</vt:lpstr>
      </vt:variant>
      <vt:variant>
        <vt:i4>1</vt:i4>
      </vt:variant>
      <vt:variant>
        <vt:lpstr>Embedded OLE Servers</vt:lpstr>
      </vt:variant>
      <vt:variant>
        <vt:i4>1</vt:i4>
      </vt:variant>
      <vt:variant>
        <vt:lpstr>Slide Titles</vt:lpstr>
      </vt:variant>
      <vt:variant>
        <vt:i4>64</vt:i4>
      </vt:variant>
    </vt:vector>
  </HeadingPairs>
  <TitlesOfParts>
    <vt:vector size="79" baseType="lpstr">
      <vt:lpstr>MS PGothic</vt:lpstr>
      <vt:lpstr>Arial</vt:lpstr>
      <vt:lpstr>Arial Narrow Special G2</vt:lpstr>
      <vt:lpstr>Book Antiqua</vt:lpstr>
      <vt:lpstr>Calibri</vt:lpstr>
      <vt:lpstr>Courier New</vt:lpstr>
      <vt:lpstr>Franklin Gothic Book</vt:lpstr>
      <vt:lpstr>Garamond</vt:lpstr>
      <vt:lpstr>inherit</vt:lpstr>
      <vt:lpstr>Museo Sans</vt:lpstr>
      <vt:lpstr>Times New Roman</vt:lpstr>
      <vt:lpstr>Wingdings</vt:lpstr>
      <vt:lpstr>ヒラギノ角ゴ Pro W3</vt:lpstr>
      <vt:lpstr>Office Theme</vt:lpstr>
      <vt:lpstr>Image</vt:lpstr>
      <vt:lpstr>PowerPoint Presentation</vt:lpstr>
      <vt:lpstr>AGENDA - Fundamentals of Business Strategy and Entrepreneurial Opportunity</vt:lpstr>
      <vt:lpstr>What is the Role of “Firms” in Market-Based Economies?  In other words, why do we have them?</vt:lpstr>
      <vt:lpstr>The Role of Firms in Market-Based Economies</vt:lpstr>
      <vt:lpstr>Top Management is ultimately responsible for the firm’s “performance”</vt:lpstr>
      <vt:lpstr>Top Management is ultimately responsible for the firm’s “performance”</vt:lpstr>
      <vt:lpstr>PowerPoint Presentation</vt:lpstr>
      <vt:lpstr>PowerPoint Presentation</vt:lpstr>
      <vt:lpstr>PowerPoint Presentation</vt:lpstr>
      <vt:lpstr>“Strategic Management”</vt:lpstr>
      <vt:lpstr>“Strategic Management”</vt:lpstr>
      <vt:lpstr>Reflect…</vt:lpstr>
      <vt:lpstr>Reflect…</vt:lpstr>
      <vt:lpstr>“Economic Profit”</vt:lpstr>
      <vt:lpstr>Value Creation vs. Value Capture</vt:lpstr>
      <vt:lpstr>Levels of Strategy</vt:lpstr>
      <vt:lpstr>Industry Effects vs. Firm Effects In Determining Firm Financial Performance </vt:lpstr>
      <vt:lpstr>Strategic Management Content</vt:lpstr>
      <vt:lpstr>Types of Competition, Rivalry, and Economic Profit</vt:lpstr>
      <vt:lpstr>Industry Structure</vt:lpstr>
      <vt:lpstr>PowerPoint Presentation</vt:lpstr>
      <vt:lpstr>PowerPoint Presentation</vt:lpstr>
      <vt:lpstr>PowerPoint Presentation</vt:lpstr>
      <vt:lpstr>Network Effects/Network Externalities</vt:lpstr>
      <vt:lpstr> </vt:lpstr>
      <vt:lpstr>PowerPoint Presentation</vt:lpstr>
      <vt:lpstr>PowerPoint Presentation</vt:lpstr>
      <vt:lpstr>Threat of New Entrants</vt:lpstr>
      <vt:lpstr>Threat of New Entrants</vt:lpstr>
      <vt:lpstr>Power of Suppliers and Buyers</vt:lpstr>
      <vt:lpstr>PowerPoint Presentation</vt:lpstr>
      <vt:lpstr>PowerPoint Presentation</vt:lpstr>
      <vt:lpstr>PowerPoint Presentation</vt:lpstr>
      <vt:lpstr>PowerPoint Presentation</vt:lpstr>
      <vt:lpstr>PowerPoint Presentation</vt:lpstr>
      <vt:lpstr>Competing brands are  not substitutes</vt:lpstr>
      <vt:lpstr>PowerPoint Presentation</vt:lpstr>
      <vt:lpstr>PowerPoint Presentation</vt:lpstr>
      <vt:lpstr>PowerPoint Presentation</vt:lpstr>
      <vt:lpstr>PowerPoint Presentation</vt:lpstr>
      <vt:lpstr>Strategic Management Content</vt:lpstr>
      <vt:lpstr>Industry Effects vs. Firm Effects In Determining Firm Financial Performance </vt:lpstr>
      <vt:lpstr>Strategy: Key Language</vt:lpstr>
      <vt:lpstr>PowerPoint Presentation</vt:lpstr>
      <vt:lpstr>“Monopolistic Competition”</vt:lpstr>
      <vt:lpstr>Reading Discussion</vt:lpstr>
      <vt:lpstr>PowerPoint Presentation</vt:lpstr>
      <vt:lpstr>PowerPoint Presentation</vt:lpstr>
      <vt:lpstr>Barriers to Entry and/or Imitation</vt:lpstr>
      <vt:lpstr>Barriers to Entry and/or Imitation</vt:lpstr>
      <vt:lpstr>PowerPoint Presentation</vt:lpstr>
      <vt:lpstr>Other thoughts on strategy</vt:lpstr>
      <vt:lpstr>Economic/Entrepreneurial Opportunity </vt:lpstr>
      <vt:lpstr>Moneyball</vt:lpstr>
      <vt:lpstr>Two Perspective on Opportunity: Opportunity Recognition Vs. Opportunity Creation</vt:lpstr>
      <vt:lpstr>Ex-ante and Ex-post Barriers (Limits) to Competition</vt:lpstr>
      <vt:lpstr>Opportunity Recognition and Opportunity Creation</vt:lpstr>
      <vt:lpstr>PowerPoint Presentation</vt:lpstr>
      <vt:lpstr>Reading Discussion</vt:lpstr>
      <vt:lpstr>Effectuation Videos</vt:lpstr>
      <vt:lpstr>PowerPoint Presentation</vt:lpstr>
      <vt:lpstr>PowerPoint Presentation</vt:lpstr>
      <vt:lpstr>Where Good Ideas come From</vt:lpstr>
      <vt:lpstr>PowerPoint Presentation</vt:lpstr>
    </vt:vector>
  </TitlesOfParts>
  <Company>Colorado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Ari Curtis</dc:creator>
  <cp:lastModifiedBy>Tom Dean</cp:lastModifiedBy>
  <cp:revision>308</cp:revision>
  <cp:lastPrinted>2025-09-11T17:58:49Z</cp:lastPrinted>
  <dcterms:created xsi:type="dcterms:W3CDTF">2015-06-30T23:05:53Z</dcterms:created>
  <dcterms:modified xsi:type="dcterms:W3CDTF">2026-09-02T20:47:25Z</dcterms:modified>
</cp:coreProperties>
</file>